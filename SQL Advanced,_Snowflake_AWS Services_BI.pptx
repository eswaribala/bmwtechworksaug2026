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331"/>
  </p:notesMasterIdLst>
  <p:handoutMasterIdLst>
    <p:handoutMasterId r:id="rId332"/>
  </p:handoutMasterIdLst>
  <p:sldIdLst>
    <p:sldId id="316" r:id="rId5"/>
    <p:sldId id="256" r:id="rId6"/>
    <p:sldId id="257" r:id="rId7"/>
    <p:sldId id="258" r:id="rId8"/>
    <p:sldId id="2127" r:id="rId9"/>
    <p:sldId id="2128" r:id="rId10"/>
    <p:sldId id="2129" r:id="rId11"/>
    <p:sldId id="2130" r:id="rId12"/>
    <p:sldId id="2131" r:id="rId13"/>
    <p:sldId id="2132" r:id="rId14"/>
    <p:sldId id="2133" r:id="rId15"/>
    <p:sldId id="2134" r:id="rId16"/>
    <p:sldId id="2135" r:id="rId17"/>
    <p:sldId id="2136" r:id="rId18"/>
    <p:sldId id="2137" r:id="rId19"/>
    <p:sldId id="2138" r:id="rId20"/>
    <p:sldId id="2139" r:id="rId21"/>
    <p:sldId id="2140" r:id="rId22"/>
    <p:sldId id="2141" r:id="rId23"/>
    <p:sldId id="2142" r:id="rId24"/>
    <p:sldId id="2174" r:id="rId25"/>
    <p:sldId id="662" r:id="rId26"/>
    <p:sldId id="663" r:id="rId27"/>
    <p:sldId id="664" r:id="rId28"/>
    <p:sldId id="665" r:id="rId29"/>
    <p:sldId id="666" r:id="rId30"/>
    <p:sldId id="667" r:id="rId31"/>
    <p:sldId id="668" r:id="rId32"/>
    <p:sldId id="670" r:id="rId33"/>
    <p:sldId id="669" r:id="rId34"/>
    <p:sldId id="671" r:id="rId35"/>
    <p:sldId id="672" r:id="rId36"/>
    <p:sldId id="673" r:id="rId37"/>
    <p:sldId id="674" r:id="rId38"/>
    <p:sldId id="675" r:id="rId39"/>
    <p:sldId id="413" r:id="rId40"/>
    <p:sldId id="414" r:id="rId41"/>
    <p:sldId id="415" r:id="rId42"/>
    <p:sldId id="418" r:id="rId43"/>
    <p:sldId id="419" r:id="rId44"/>
    <p:sldId id="420" r:id="rId45"/>
    <p:sldId id="421" r:id="rId46"/>
    <p:sldId id="422" r:id="rId47"/>
    <p:sldId id="427" r:id="rId48"/>
    <p:sldId id="423" r:id="rId49"/>
    <p:sldId id="428" r:id="rId50"/>
    <p:sldId id="424" r:id="rId51"/>
    <p:sldId id="425" r:id="rId52"/>
    <p:sldId id="426" r:id="rId53"/>
    <p:sldId id="641" r:id="rId54"/>
    <p:sldId id="642" r:id="rId55"/>
    <p:sldId id="429" r:id="rId56"/>
    <p:sldId id="430" r:id="rId57"/>
    <p:sldId id="608" r:id="rId58"/>
    <p:sldId id="431" r:id="rId59"/>
    <p:sldId id="609" r:id="rId60"/>
    <p:sldId id="432" r:id="rId61"/>
    <p:sldId id="433" r:id="rId62"/>
    <p:sldId id="434" r:id="rId63"/>
    <p:sldId id="440" r:id="rId64"/>
    <p:sldId id="441" r:id="rId65"/>
    <p:sldId id="610" r:id="rId66"/>
    <p:sldId id="611" r:id="rId67"/>
    <p:sldId id="612" r:id="rId68"/>
    <p:sldId id="442" r:id="rId69"/>
    <p:sldId id="443" r:id="rId70"/>
    <p:sldId id="444" r:id="rId71"/>
    <p:sldId id="445" r:id="rId72"/>
    <p:sldId id="446" r:id="rId73"/>
    <p:sldId id="447" r:id="rId74"/>
    <p:sldId id="448" r:id="rId75"/>
    <p:sldId id="449" r:id="rId76"/>
    <p:sldId id="450" r:id="rId77"/>
    <p:sldId id="643" r:id="rId78"/>
    <p:sldId id="644" r:id="rId79"/>
    <p:sldId id="645" r:id="rId80"/>
    <p:sldId id="646" r:id="rId81"/>
    <p:sldId id="451" r:id="rId82"/>
    <p:sldId id="452" r:id="rId83"/>
    <p:sldId id="453" r:id="rId84"/>
    <p:sldId id="454" r:id="rId85"/>
    <p:sldId id="455" r:id="rId86"/>
    <p:sldId id="456" r:id="rId87"/>
    <p:sldId id="457" r:id="rId88"/>
    <p:sldId id="458" r:id="rId89"/>
    <p:sldId id="459" r:id="rId90"/>
    <p:sldId id="460" r:id="rId91"/>
    <p:sldId id="461" r:id="rId92"/>
    <p:sldId id="462" r:id="rId93"/>
    <p:sldId id="463" r:id="rId94"/>
    <p:sldId id="464" r:id="rId95"/>
    <p:sldId id="465" r:id="rId96"/>
    <p:sldId id="466" r:id="rId97"/>
    <p:sldId id="621" r:id="rId98"/>
    <p:sldId id="622" r:id="rId99"/>
    <p:sldId id="623" r:id="rId100"/>
    <p:sldId id="624" r:id="rId101"/>
    <p:sldId id="625" r:id="rId102"/>
    <p:sldId id="416" r:id="rId103"/>
    <p:sldId id="417" r:id="rId104"/>
    <p:sldId id="676" r:id="rId105"/>
    <p:sldId id="677" r:id="rId106"/>
    <p:sldId id="678" r:id="rId107"/>
    <p:sldId id="679" r:id="rId108"/>
    <p:sldId id="680" r:id="rId109"/>
    <p:sldId id="681" r:id="rId110"/>
    <p:sldId id="682" r:id="rId111"/>
    <p:sldId id="683" r:id="rId112"/>
    <p:sldId id="685" r:id="rId113"/>
    <p:sldId id="686" r:id="rId114"/>
    <p:sldId id="687" r:id="rId115"/>
    <p:sldId id="688" r:id="rId116"/>
    <p:sldId id="689" r:id="rId117"/>
    <p:sldId id="684" r:id="rId118"/>
    <p:sldId id="690" r:id="rId119"/>
    <p:sldId id="691" r:id="rId120"/>
    <p:sldId id="692" r:id="rId121"/>
    <p:sldId id="702" r:id="rId122"/>
    <p:sldId id="693" r:id="rId123"/>
    <p:sldId id="695" r:id="rId124"/>
    <p:sldId id="694" r:id="rId125"/>
    <p:sldId id="696" r:id="rId126"/>
    <p:sldId id="698" r:id="rId127"/>
    <p:sldId id="699" r:id="rId128"/>
    <p:sldId id="700" r:id="rId129"/>
    <p:sldId id="703" r:id="rId130"/>
    <p:sldId id="705" r:id="rId131"/>
    <p:sldId id="704" r:id="rId132"/>
    <p:sldId id="701" r:id="rId133"/>
    <p:sldId id="707" r:id="rId134"/>
    <p:sldId id="706" r:id="rId135"/>
    <p:sldId id="498" r:id="rId136"/>
    <p:sldId id="499" r:id="rId137"/>
    <p:sldId id="503" r:id="rId138"/>
    <p:sldId id="708" r:id="rId139"/>
    <p:sldId id="709" r:id="rId140"/>
    <p:sldId id="710" r:id="rId141"/>
    <p:sldId id="711" r:id="rId142"/>
    <p:sldId id="2143" r:id="rId143"/>
    <p:sldId id="2144" r:id="rId144"/>
    <p:sldId id="2145" r:id="rId145"/>
    <p:sldId id="2146" r:id="rId146"/>
    <p:sldId id="2147" r:id="rId147"/>
    <p:sldId id="2148" r:id="rId148"/>
    <p:sldId id="501" r:id="rId149"/>
    <p:sldId id="500" r:id="rId150"/>
    <p:sldId id="502" r:id="rId151"/>
    <p:sldId id="467" r:id="rId152"/>
    <p:sldId id="613" r:id="rId153"/>
    <p:sldId id="468" r:id="rId154"/>
    <p:sldId id="469" r:id="rId155"/>
    <p:sldId id="614" r:id="rId156"/>
    <p:sldId id="615" r:id="rId157"/>
    <p:sldId id="505" r:id="rId158"/>
    <p:sldId id="506" r:id="rId159"/>
    <p:sldId id="470" r:id="rId160"/>
    <p:sldId id="471" r:id="rId161"/>
    <p:sldId id="504" r:id="rId162"/>
    <p:sldId id="472" r:id="rId163"/>
    <p:sldId id="473" r:id="rId164"/>
    <p:sldId id="617" r:id="rId165"/>
    <p:sldId id="616" r:id="rId166"/>
    <p:sldId id="618" r:id="rId167"/>
    <p:sldId id="619" r:id="rId168"/>
    <p:sldId id="620" r:id="rId169"/>
    <p:sldId id="474" r:id="rId170"/>
    <p:sldId id="475" r:id="rId171"/>
    <p:sldId id="476" r:id="rId172"/>
    <p:sldId id="477" r:id="rId173"/>
    <p:sldId id="478" r:id="rId174"/>
    <p:sldId id="479" r:id="rId175"/>
    <p:sldId id="480" r:id="rId176"/>
    <p:sldId id="481" r:id="rId177"/>
    <p:sldId id="482" r:id="rId178"/>
    <p:sldId id="483" r:id="rId179"/>
    <p:sldId id="507" r:id="rId180"/>
    <p:sldId id="508" r:id="rId181"/>
    <p:sldId id="713" r:id="rId182"/>
    <p:sldId id="712" r:id="rId183"/>
    <p:sldId id="714" r:id="rId184"/>
    <p:sldId id="716" r:id="rId185"/>
    <p:sldId id="715" r:id="rId186"/>
    <p:sldId id="717" r:id="rId187"/>
    <p:sldId id="718" r:id="rId188"/>
    <p:sldId id="719" r:id="rId189"/>
    <p:sldId id="720" r:id="rId190"/>
    <p:sldId id="721" r:id="rId191"/>
    <p:sldId id="722" r:id="rId192"/>
    <p:sldId id="509" r:id="rId193"/>
    <p:sldId id="510" r:id="rId194"/>
    <p:sldId id="511" r:id="rId195"/>
    <p:sldId id="512" r:id="rId196"/>
    <p:sldId id="513" r:id="rId197"/>
    <p:sldId id="514" r:id="rId198"/>
    <p:sldId id="515" r:id="rId199"/>
    <p:sldId id="516" r:id="rId200"/>
    <p:sldId id="517" r:id="rId201"/>
    <p:sldId id="518" r:id="rId202"/>
    <p:sldId id="519" r:id="rId203"/>
    <p:sldId id="520" r:id="rId204"/>
    <p:sldId id="521" r:id="rId205"/>
    <p:sldId id="522" r:id="rId206"/>
    <p:sldId id="523" r:id="rId207"/>
    <p:sldId id="524" r:id="rId208"/>
    <p:sldId id="525" r:id="rId209"/>
    <p:sldId id="526" r:id="rId210"/>
    <p:sldId id="527" r:id="rId211"/>
    <p:sldId id="528" r:id="rId212"/>
    <p:sldId id="529" r:id="rId213"/>
    <p:sldId id="530" r:id="rId214"/>
    <p:sldId id="531" r:id="rId215"/>
    <p:sldId id="532" r:id="rId216"/>
    <p:sldId id="533" r:id="rId217"/>
    <p:sldId id="534" r:id="rId218"/>
    <p:sldId id="535" r:id="rId219"/>
    <p:sldId id="536" r:id="rId220"/>
    <p:sldId id="538" r:id="rId221"/>
    <p:sldId id="539" r:id="rId222"/>
    <p:sldId id="540" r:id="rId223"/>
    <p:sldId id="541" r:id="rId224"/>
    <p:sldId id="542" r:id="rId225"/>
    <p:sldId id="543" r:id="rId226"/>
    <p:sldId id="544" r:id="rId227"/>
    <p:sldId id="545" r:id="rId228"/>
    <p:sldId id="546" r:id="rId229"/>
    <p:sldId id="547" r:id="rId230"/>
    <p:sldId id="548" r:id="rId231"/>
    <p:sldId id="549" r:id="rId232"/>
    <p:sldId id="550" r:id="rId233"/>
    <p:sldId id="551" r:id="rId234"/>
    <p:sldId id="552" r:id="rId235"/>
    <p:sldId id="553" r:id="rId236"/>
    <p:sldId id="554" r:id="rId237"/>
    <p:sldId id="555" r:id="rId238"/>
    <p:sldId id="556" r:id="rId239"/>
    <p:sldId id="557" r:id="rId240"/>
    <p:sldId id="558" r:id="rId241"/>
    <p:sldId id="559" r:id="rId242"/>
    <p:sldId id="560" r:id="rId243"/>
    <p:sldId id="561" r:id="rId244"/>
    <p:sldId id="562" r:id="rId245"/>
    <p:sldId id="563" r:id="rId246"/>
    <p:sldId id="564" r:id="rId247"/>
    <p:sldId id="565" r:id="rId248"/>
    <p:sldId id="566" r:id="rId249"/>
    <p:sldId id="567" r:id="rId250"/>
    <p:sldId id="568" r:id="rId251"/>
    <p:sldId id="569" r:id="rId252"/>
    <p:sldId id="570" r:id="rId253"/>
    <p:sldId id="571" r:id="rId254"/>
    <p:sldId id="572" r:id="rId255"/>
    <p:sldId id="573" r:id="rId256"/>
    <p:sldId id="574" r:id="rId257"/>
    <p:sldId id="575" r:id="rId258"/>
    <p:sldId id="576" r:id="rId259"/>
    <p:sldId id="577" r:id="rId260"/>
    <p:sldId id="578" r:id="rId261"/>
    <p:sldId id="579" r:id="rId262"/>
    <p:sldId id="580" r:id="rId263"/>
    <p:sldId id="581" r:id="rId264"/>
    <p:sldId id="582" r:id="rId265"/>
    <p:sldId id="583" r:id="rId266"/>
    <p:sldId id="584" r:id="rId267"/>
    <p:sldId id="585" r:id="rId268"/>
    <p:sldId id="586" r:id="rId269"/>
    <p:sldId id="587" r:id="rId270"/>
    <p:sldId id="588" r:id="rId271"/>
    <p:sldId id="589" r:id="rId272"/>
    <p:sldId id="590" r:id="rId273"/>
    <p:sldId id="591" r:id="rId274"/>
    <p:sldId id="592" r:id="rId275"/>
    <p:sldId id="598" r:id="rId276"/>
    <p:sldId id="599" r:id="rId277"/>
    <p:sldId id="593" r:id="rId278"/>
    <p:sldId id="594" r:id="rId279"/>
    <p:sldId id="595" r:id="rId280"/>
    <p:sldId id="596" r:id="rId281"/>
    <p:sldId id="597" r:id="rId282"/>
    <p:sldId id="600" r:id="rId283"/>
    <p:sldId id="601" r:id="rId284"/>
    <p:sldId id="602" r:id="rId285"/>
    <p:sldId id="603" r:id="rId286"/>
    <p:sldId id="604" r:id="rId287"/>
    <p:sldId id="605" r:id="rId288"/>
    <p:sldId id="606" r:id="rId289"/>
    <p:sldId id="627" r:id="rId290"/>
    <p:sldId id="628" r:id="rId291"/>
    <p:sldId id="629" r:id="rId292"/>
    <p:sldId id="630" r:id="rId293"/>
    <p:sldId id="631" r:id="rId294"/>
    <p:sldId id="607" r:id="rId295"/>
    <p:sldId id="626" r:id="rId296"/>
    <p:sldId id="732" r:id="rId297"/>
    <p:sldId id="733" r:id="rId298"/>
    <p:sldId id="734" r:id="rId299"/>
    <p:sldId id="2149" r:id="rId300"/>
    <p:sldId id="2150" r:id="rId301"/>
    <p:sldId id="2151" r:id="rId302"/>
    <p:sldId id="2152" r:id="rId303"/>
    <p:sldId id="2153" r:id="rId304"/>
    <p:sldId id="2154" r:id="rId305"/>
    <p:sldId id="2155" r:id="rId306"/>
    <p:sldId id="2156" r:id="rId307"/>
    <p:sldId id="2157" r:id="rId308"/>
    <p:sldId id="2158" r:id="rId309"/>
    <p:sldId id="2159" r:id="rId310"/>
    <p:sldId id="2160" r:id="rId311"/>
    <p:sldId id="2161" r:id="rId312"/>
    <p:sldId id="2162" r:id="rId313"/>
    <p:sldId id="2163" r:id="rId314"/>
    <p:sldId id="2164" r:id="rId315"/>
    <p:sldId id="2165" r:id="rId316"/>
    <p:sldId id="2166" r:id="rId317"/>
    <p:sldId id="2167" r:id="rId318"/>
    <p:sldId id="2168" r:id="rId319"/>
    <p:sldId id="2169" r:id="rId320"/>
    <p:sldId id="2170" r:id="rId321"/>
    <p:sldId id="2171" r:id="rId322"/>
    <p:sldId id="2172" r:id="rId323"/>
    <p:sldId id="2173" r:id="rId324"/>
    <p:sldId id="727" r:id="rId325"/>
    <p:sldId id="735" r:id="rId326"/>
    <p:sldId id="728" r:id="rId327"/>
    <p:sldId id="729" r:id="rId328"/>
    <p:sldId id="730" r:id="rId329"/>
    <p:sldId id="731" r:id="rId330"/>
  </p:sldIdLst>
  <p:sldSz cx="9144000" cy="6858000" type="screen4x3"/>
  <p:notesSz cx="6858000" cy="9144000"/>
  <p:custDataLst>
    <p:tags r:id="rId33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F5FB1F9-9E28-4A76-A613-1C2180CDB4F7}">
          <p14:sldIdLst>
            <p14:sldId id="316"/>
            <p14:sldId id="256"/>
            <p14:sldId id="257"/>
            <p14:sldId id="258"/>
            <p14:sldId id="2127"/>
            <p14:sldId id="2128"/>
            <p14:sldId id="2129"/>
            <p14:sldId id="2130"/>
            <p14:sldId id="2131"/>
            <p14:sldId id="2132"/>
            <p14:sldId id="2133"/>
            <p14:sldId id="2134"/>
            <p14:sldId id="2135"/>
            <p14:sldId id="2136"/>
            <p14:sldId id="2137"/>
            <p14:sldId id="2138"/>
            <p14:sldId id="2139"/>
            <p14:sldId id="2140"/>
            <p14:sldId id="2141"/>
            <p14:sldId id="2142"/>
            <p14:sldId id="2174"/>
            <p14:sldId id="662"/>
            <p14:sldId id="663"/>
            <p14:sldId id="664"/>
            <p14:sldId id="665"/>
            <p14:sldId id="666"/>
            <p14:sldId id="667"/>
            <p14:sldId id="668"/>
            <p14:sldId id="670"/>
            <p14:sldId id="669"/>
            <p14:sldId id="671"/>
            <p14:sldId id="672"/>
            <p14:sldId id="673"/>
            <p14:sldId id="674"/>
            <p14:sldId id="675"/>
            <p14:sldId id="413"/>
            <p14:sldId id="414"/>
            <p14:sldId id="415"/>
            <p14:sldId id="418"/>
            <p14:sldId id="419"/>
            <p14:sldId id="420"/>
            <p14:sldId id="421"/>
            <p14:sldId id="422"/>
            <p14:sldId id="427"/>
            <p14:sldId id="423"/>
            <p14:sldId id="428"/>
            <p14:sldId id="424"/>
            <p14:sldId id="425"/>
            <p14:sldId id="426"/>
            <p14:sldId id="641"/>
            <p14:sldId id="642"/>
            <p14:sldId id="429"/>
            <p14:sldId id="430"/>
            <p14:sldId id="608"/>
            <p14:sldId id="431"/>
            <p14:sldId id="609"/>
            <p14:sldId id="432"/>
            <p14:sldId id="433"/>
            <p14:sldId id="434"/>
            <p14:sldId id="440"/>
            <p14:sldId id="441"/>
            <p14:sldId id="610"/>
            <p14:sldId id="611"/>
            <p14:sldId id="612"/>
            <p14:sldId id="442"/>
            <p14:sldId id="443"/>
            <p14:sldId id="444"/>
            <p14:sldId id="445"/>
            <p14:sldId id="446"/>
            <p14:sldId id="447"/>
            <p14:sldId id="448"/>
            <p14:sldId id="449"/>
            <p14:sldId id="450"/>
            <p14:sldId id="643"/>
            <p14:sldId id="644"/>
            <p14:sldId id="645"/>
            <p14:sldId id="646"/>
            <p14:sldId id="451"/>
            <p14:sldId id="452"/>
            <p14:sldId id="453"/>
            <p14:sldId id="454"/>
            <p14:sldId id="455"/>
            <p14:sldId id="456"/>
            <p14:sldId id="457"/>
            <p14:sldId id="458"/>
            <p14:sldId id="459"/>
            <p14:sldId id="460"/>
            <p14:sldId id="461"/>
            <p14:sldId id="462"/>
            <p14:sldId id="463"/>
            <p14:sldId id="464"/>
            <p14:sldId id="465"/>
            <p14:sldId id="466"/>
            <p14:sldId id="621"/>
            <p14:sldId id="622"/>
            <p14:sldId id="623"/>
            <p14:sldId id="624"/>
            <p14:sldId id="625"/>
            <p14:sldId id="416"/>
            <p14:sldId id="417"/>
            <p14:sldId id="676"/>
            <p14:sldId id="677"/>
            <p14:sldId id="678"/>
            <p14:sldId id="679"/>
            <p14:sldId id="680"/>
            <p14:sldId id="681"/>
            <p14:sldId id="682"/>
            <p14:sldId id="683"/>
            <p14:sldId id="685"/>
            <p14:sldId id="686"/>
            <p14:sldId id="687"/>
            <p14:sldId id="688"/>
            <p14:sldId id="689"/>
            <p14:sldId id="684"/>
            <p14:sldId id="690"/>
            <p14:sldId id="691"/>
            <p14:sldId id="692"/>
            <p14:sldId id="702"/>
            <p14:sldId id="693"/>
            <p14:sldId id="695"/>
            <p14:sldId id="694"/>
            <p14:sldId id="696"/>
            <p14:sldId id="698"/>
            <p14:sldId id="699"/>
            <p14:sldId id="700"/>
            <p14:sldId id="703"/>
            <p14:sldId id="705"/>
            <p14:sldId id="704"/>
            <p14:sldId id="701"/>
            <p14:sldId id="707"/>
            <p14:sldId id="706"/>
            <p14:sldId id="498"/>
            <p14:sldId id="499"/>
            <p14:sldId id="503"/>
            <p14:sldId id="708"/>
            <p14:sldId id="709"/>
            <p14:sldId id="710"/>
            <p14:sldId id="711"/>
            <p14:sldId id="2143"/>
            <p14:sldId id="2144"/>
            <p14:sldId id="2145"/>
            <p14:sldId id="2146"/>
            <p14:sldId id="2147"/>
            <p14:sldId id="2148"/>
            <p14:sldId id="501"/>
            <p14:sldId id="500"/>
            <p14:sldId id="502"/>
            <p14:sldId id="467"/>
            <p14:sldId id="613"/>
            <p14:sldId id="468"/>
            <p14:sldId id="469"/>
            <p14:sldId id="614"/>
            <p14:sldId id="615"/>
            <p14:sldId id="505"/>
            <p14:sldId id="506"/>
            <p14:sldId id="470"/>
            <p14:sldId id="471"/>
            <p14:sldId id="504"/>
            <p14:sldId id="472"/>
            <p14:sldId id="473"/>
            <p14:sldId id="617"/>
            <p14:sldId id="616"/>
            <p14:sldId id="618"/>
            <p14:sldId id="619"/>
            <p14:sldId id="620"/>
            <p14:sldId id="474"/>
            <p14:sldId id="475"/>
            <p14:sldId id="476"/>
            <p14:sldId id="477"/>
            <p14:sldId id="478"/>
            <p14:sldId id="479"/>
            <p14:sldId id="480"/>
            <p14:sldId id="481"/>
            <p14:sldId id="482"/>
            <p14:sldId id="483"/>
            <p14:sldId id="507"/>
            <p14:sldId id="508"/>
            <p14:sldId id="713"/>
            <p14:sldId id="712"/>
            <p14:sldId id="714"/>
            <p14:sldId id="716"/>
            <p14:sldId id="715"/>
            <p14:sldId id="717"/>
            <p14:sldId id="718"/>
            <p14:sldId id="719"/>
            <p14:sldId id="720"/>
            <p14:sldId id="721"/>
            <p14:sldId id="722"/>
            <p14:sldId id="509"/>
            <p14:sldId id="510"/>
            <p14:sldId id="511"/>
            <p14:sldId id="512"/>
            <p14:sldId id="513"/>
            <p14:sldId id="514"/>
            <p14:sldId id="515"/>
            <p14:sldId id="516"/>
            <p14:sldId id="517"/>
            <p14:sldId id="518"/>
            <p14:sldId id="519"/>
            <p14:sldId id="520"/>
            <p14:sldId id="521"/>
            <p14:sldId id="522"/>
            <p14:sldId id="523"/>
            <p14:sldId id="524"/>
            <p14:sldId id="525"/>
            <p14:sldId id="526"/>
            <p14:sldId id="527"/>
            <p14:sldId id="528"/>
            <p14:sldId id="529"/>
            <p14:sldId id="530"/>
            <p14:sldId id="531"/>
            <p14:sldId id="532"/>
            <p14:sldId id="533"/>
            <p14:sldId id="534"/>
            <p14:sldId id="535"/>
            <p14:sldId id="536"/>
            <p14:sldId id="538"/>
            <p14:sldId id="539"/>
            <p14:sldId id="540"/>
            <p14:sldId id="541"/>
            <p14:sldId id="542"/>
            <p14:sldId id="543"/>
            <p14:sldId id="544"/>
            <p14:sldId id="545"/>
            <p14:sldId id="546"/>
            <p14:sldId id="547"/>
            <p14:sldId id="548"/>
            <p14:sldId id="549"/>
            <p14:sldId id="550"/>
            <p14:sldId id="551"/>
            <p14:sldId id="552"/>
            <p14:sldId id="553"/>
            <p14:sldId id="554"/>
            <p14:sldId id="555"/>
            <p14:sldId id="556"/>
            <p14:sldId id="557"/>
            <p14:sldId id="558"/>
            <p14:sldId id="559"/>
            <p14:sldId id="560"/>
            <p14:sldId id="561"/>
            <p14:sldId id="562"/>
            <p14:sldId id="563"/>
            <p14:sldId id="564"/>
            <p14:sldId id="565"/>
            <p14:sldId id="566"/>
            <p14:sldId id="567"/>
            <p14:sldId id="568"/>
            <p14:sldId id="569"/>
            <p14:sldId id="570"/>
            <p14:sldId id="571"/>
            <p14:sldId id="572"/>
            <p14:sldId id="573"/>
            <p14:sldId id="574"/>
            <p14:sldId id="575"/>
            <p14:sldId id="576"/>
            <p14:sldId id="577"/>
            <p14:sldId id="578"/>
            <p14:sldId id="579"/>
            <p14:sldId id="580"/>
            <p14:sldId id="581"/>
            <p14:sldId id="582"/>
            <p14:sldId id="583"/>
            <p14:sldId id="584"/>
            <p14:sldId id="585"/>
            <p14:sldId id="586"/>
            <p14:sldId id="587"/>
            <p14:sldId id="588"/>
            <p14:sldId id="589"/>
            <p14:sldId id="590"/>
            <p14:sldId id="591"/>
            <p14:sldId id="592"/>
            <p14:sldId id="598"/>
            <p14:sldId id="599"/>
            <p14:sldId id="593"/>
            <p14:sldId id="594"/>
            <p14:sldId id="595"/>
            <p14:sldId id="596"/>
            <p14:sldId id="597"/>
            <p14:sldId id="600"/>
            <p14:sldId id="601"/>
            <p14:sldId id="602"/>
            <p14:sldId id="603"/>
            <p14:sldId id="604"/>
            <p14:sldId id="605"/>
            <p14:sldId id="606"/>
            <p14:sldId id="627"/>
            <p14:sldId id="628"/>
            <p14:sldId id="629"/>
            <p14:sldId id="630"/>
            <p14:sldId id="631"/>
            <p14:sldId id="607"/>
            <p14:sldId id="626"/>
            <p14:sldId id="732"/>
            <p14:sldId id="733"/>
            <p14:sldId id="734"/>
            <p14:sldId id="2149"/>
            <p14:sldId id="2150"/>
            <p14:sldId id="2151"/>
            <p14:sldId id="2152"/>
            <p14:sldId id="2153"/>
            <p14:sldId id="2154"/>
            <p14:sldId id="2155"/>
            <p14:sldId id="2156"/>
            <p14:sldId id="2157"/>
            <p14:sldId id="2158"/>
            <p14:sldId id="2159"/>
            <p14:sldId id="2160"/>
            <p14:sldId id="2161"/>
            <p14:sldId id="2162"/>
            <p14:sldId id="2163"/>
            <p14:sldId id="2164"/>
            <p14:sldId id="2165"/>
            <p14:sldId id="2166"/>
            <p14:sldId id="2167"/>
            <p14:sldId id="2168"/>
            <p14:sldId id="2169"/>
            <p14:sldId id="2170"/>
            <p14:sldId id="2171"/>
            <p14:sldId id="2172"/>
            <p14:sldId id="2173"/>
            <p14:sldId id="727"/>
            <p14:sldId id="735"/>
            <p14:sldId id="728"/>
            <p14:sldId id="729"/>
            <p14:sldId id="730"/>
            <p14:sldId id="731"/>
          </p14:sldIdLst>
        </p14:section>
      </p14:sectionLst>
    </p:ext>
    <p:ext uri="{EFAFB233-063F-42B5-8137-9DF3F51BA10A}">
      <p15:sldGuideLst xmlns:p15="http://schemas.microsoft.com/office/powerpoint/2012/main">
        <p15:guide id="1" orient="horz" pos="5">
          <p15:clr>
            <a:srgbClr val="A4A3A4"/>
          </p15:clr>
        </p15:guide>
        <p15:guide id="2" orient="horz" pos="4043">
          <p15:clr>
            <a:srgbClr val="A4A3A4"/>
          </p15:clr>
        </p15:guide>
        <p15:guide id="3" orient="horz" pos="2387">
          <p15:clr>
            <a:srgbClr val="A4A3A4"/>
          </p15:clr>
        </p15:guide>
        <p15:guide id="4" orient="horz" pos="4233">
          <p15:clr>
            <a:srgbClr val="A4A3A4"/>
          </p15:clr>
        </p15:guide>
        <p15:guide id="5" orient="horz" pos="924">
          <p15:clr>
            <a:srgbClr val="A4A3A4"/>
          </p15:clr>
        </p15:guide>
        <p15:guide id="6" orient="horz" pos="736">
          <p15:clr>
            <a:srgbClr val="A4A3A4"/>
          </p15:clr>
        </p15:guide>
        <p15:guide id="7" orient="horz" pos="2882">
          <p15:clr>
            <a:srgbClr val="A4A3A4"/>
          </p15:clr>
        </p15:guide>
        <p15:guide id="8" orient="horz" pos="560">
          <p15:clr>
            <a:srgbClr val="A4A3A4"/>
          </p15:clr>
        </p15:guide>
        <p15:guide id="9" pos="2880">
          <p15:clr>
            <a:srgbClr val="A4A3A4"/>
          </p15:clr>
        </p15:guide>
        <p15:guide id="10" pos="280">
          <p15:clr>
            <a:srgbClr val="A4A3A4"/>
          </p15:clr>
        </p15:guide>
        <p15:guide id="11" pos="5501">
          <p15:clr>
            <a:srgbClr val="A4A3A4"/>
          </p15:clr>
        </p15:guide>
        <p15:guide id="12" pos="2824">
          <p15:clr>
            <a:srgbClr val="A4A3A4"/>
          </p15:clr>
        </p15:guide>
        <p15:guide id="13" pos="2936">
          <p15:clr>
            <a:srgbClr val="A4A3A4"/>
          </p15:clr>
        </p15:guide>
        <p15:guide id="14" pos="4172">
          <p15:clr>
            <a:srgbClr val="A4A3A4"/>
          </p15:clr>
        </p15:guide>
        <p15:guide id="15" pos="158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ndyJ" initials="JB"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992222"/>
    <a:srgbClr val="00BBEE"/>
    <a:srgbClr val="7F7F7F"/>
    <a:srgbClr val="666666"/>
    <a:srgbClr val="FF0000"/>
    <a:srgbClr val="EDCAED"/>
    <a:srgbClr val="C85FC8"/>
    <a:srgbClr val="722772"/>
    <a:srgbClr val="869E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64" autoAdjust="0"/>
    <p:restoredTop sz="95033" autoAdjust="0"/>
  </p:normalViewPr>
  <p:slideViewPr>
    <p:cSldViewPr snapToObjects="1" showGuides="1">
      <p:cViewPr varScale="1">
        <p:scale>
          <a:sx n="74" d="100"/>
          <a:sy n="74" d="100"/>
        </p:scale>
        <p:origin x="1200" y="104"/>
      </p:cViewPr>
      <p:guideLst>
        <p:guide orient="horz" pos="5"/>
        <p:guide orient="horz" pos="4043"/>
        <p:guide orient="horz" pos="2387"/>
        <p:guide orient="horz" pos="4233"/>
        <p:guide orient="horz" pos="924"/>
        <p:guide orient="horz" pos="736"/>
        <p:guide orient="horz" pos="2882"/>
        <p:guide orient="horz" pos="560"/>
        <p:guide pos="2880"/>
        <p:guide pos="280"/>
        <p:guide pos="5501"/>
        <p:guide pos="2824"/>
        <p:guide pos="2936"/>
        <p:guide pos="4172"/>
        <p:guide pos="1585"/>
      </p:guideLst>
    </p:cSldViewPr>
  </p:slideViewPr>
  <p:notesTextViewPr>
    <p:cViewPr>
      <p:scale>
        <a:sx n="1" d="1"/>
        <a:sy n="1" d="1"/>
      </p:scale>
      <p:origin x="0" y="0"/>
    </p:cViewPr>
  </p:notesTextViewPr>
  <p:sorterViewPr>
    <p:cViewPr>
      <p:scale>
        <a:sx n="100" d="100"/>
        <a:sy n="100" d="100"/>
      </p:scale>
      <p:origin x="0" y="0"/>
    </p:cViewPr>
  </p:sorterViewPr>
  <p:notesViewPr>
    <p:cSldViewPr snapToObjects="1" showGuides="1">
      <p:cViewPr varScale="1">
        <p:scale>
          <a:sx n="67" d="100"/>
          <a:sy n="67" d="100"/>
        </p:scale>
        <p:origin x="3120" y="77"/>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99" Type="http://schemas.openxmlformats.org/officeDocument/2006/relationships/slide" Target="slides/slide295.xml"/><Relationship Id="rId21" Type="http://schemas.openxmlformats.org/officeDocument/2006/relationships/slide" Target="slides/slide17.xml"/><Relationship Id="rId63" Type="http://schemas.openxmlformats.org/officeDocument/2006/relationships/slide" Target="slides/slide59.xml"/><Relationship Id="rId159" Type="http://schemas.openxmlformats.org/officeDocument/2006/relationships/slide" Target="slides/slide155.xml"/><Relationship Id="rId324" Type="http://schemas.openxmlformats.org/officeDocument/2006/relationships/slide" Target="slides/slide320.xml"/><Relationship Id="rId170" Type="http://schemas.openxmlformats.org/officeDocument/2006/relationships/slide" Target="slides/slide166.xml"/><Relationship Id="rId226" Type="http://schemas.openxmlformats.org/officeDocument/2006/relationships/slide" Target="slides/slide222.xml"/><Relationship Id="rId268" Type="http://schemas.openxmlformats.org/officeDocument/2006/relationships/slide" Target="slides/slide264.xml"/><Relationship Id="rId32" Type="http://schemas.openxmlformats.org/officeDocument/2006/relationships/slide" Target="slides/slide28.xml"/><Relationship Id="rId74" Type="http://schemas.openxmlformats.org/officeDocument/2006/relationships/slide" Target="slides/slide70.xml"/><Relationship Id="rId128" Type="http://schemas.openxmlformats.org/officeDocument/2006/relationships/slide" Target="slides/slide124.xml"/><Relationship Id="rId335" Type="http://schemas.openxmlformats.org/officeDocument/2006/relationships/presProps" Target="presProps.xml"/><Relationship Id="rId5" Type="http://schemas.openxmlformats.org/officeDocument/2006/relationships/slide" Target="slides/slide1.xml"/><Relationship Id="rId181" Type="http://schemas.openxmlformats.org/officeDocument/2006/relationships/slide" Target="slides/slide177.xml"/><Relationship Id="rId237" Type="http://schemas.openxmlformats.org/officeDocument/2006/relationships/slide" Target="slides/slide233.xml"/><Relationship Id="rId279" Type="http://schemas.openxmlformats.org/officeDocument/2006/relationships/slide" Target="slides/slide275.xml"/><Relationship Id="rId43" Type="http://schemas.openxmlformats.org/officeDocument/2006/relationships/slide" Target="slides/slide39.xml"/><Relationship Id="rId139" Type="http://schemas.openxmlformats.org/officeDocument/2006/relationships/slide" Target="slides/slide135.xml"/><Relationship Id="rId290" Type="http://schemas.openxmlformats.org/officeDocument/2006/relationships/slide" Target="slides/slide286.xml"/><Relationship Id="rId304" Type="http://schemas.openxmlformats.org/officeDocument/2006/relationships/slide" Target="slides/slide300.xml"/><Relationship Id="rId85" Type="http://schemas.openxmlformats.org/officeDocument/2006/relationships/slide" Target="slides/slide81.xml"/><Relationship Id="rId150" Type="http://schemas.openxmlformats.org/officeDocument/2006/relationships/slide" Target="slides/slide146.xml"/><Relationship Id="rId192" Type="http://schemas.openxmlformats.org/officeDocument/2006/relationships/slide" Target="slides/slide188.xml"/><Relationship Id="rId206" Type="http://schemas.openxmlformats.org/officeDocument/2006/relationships/slide" Target="slides/slide202.xml"/><Relationship Id="rId248" Type="http://schemas.openxmlformats.org/officeDocument/2006/relationships/slide" Target="slides/slide244.xml"/><Relationship Id="rId12" Type="http://schemas.openxmlformats.org/officeDocument/2006/relationships/slide" Target="slides/slide8.xml"/><Relationship Id="rId108" Type="http://schemas.openxmlformats.org/officeDocument/2006/relationships/slide" Target="slides/slide104.xml"/><Relationship Id="rId315" Type="http://schemas.openxmlformats.org/officeDocument/2006/relationships/slide" Target="slides/slide311.xml"/><Relationship Id="rId54" Type="http://schemas.openxmlformats.org/officeDocument/2006/relationships/slide" Target="slides/slide50.xml"/><Relationship Id="rId96" Type="http://schemas.openxmlformats.org/officeDocument/2006/relationships/slide" Target="slides/slide92.xml"/><Relationship Id="rId161" Type="http://schemas.openxmlformats.org/officeDocument/2006/relationships/slide" Target="slides/slide157.xml"/><Relationship Id="rId217" Type="http://schemas.openxmlformats.org/officeDocument/2006/relationships/slide" Target="slides/slide213.xml"/><Relationship Id="rId259" Type="http://schemas.openxmlformats.org/officeDocument/2006/relationships/slide" Target="slides/slide255.xml"/><Relationship Id="rId23" Type="http://schemas.openxmlformats.org/officeDocument/2006/relationships/slide" Target="slides/slide19.xml"/><Relationship Id="rId119" Type="http://schemas.openxmlformats.org/officeDocument/2006/relationships/slide" Target="slides/slide115.xml"/><Relationship Id="rId270" Type="http://schemas.openxmlformats.org/officeDocument/2006/relationships/slide" Target="slides/slide266.xml"/><Relationship Id="rId326" Type="http://schemas.openxmlformats.org/officeDocument/2006/relationships/slide" Target="slides/slide322.xml"/><Relationship Id="rId65" Type="http://schemas.openxmlformats.org/officeDocument/2006/relationships/slide" Target="slides/slide61.xml"/><Relationship Id="rId130" Type="http://schemas.openxmlformats.org/officeDocument/2006/relationships/slide" Target="slides/slide126.xml"/><Relationship Id="rId172" Type="http://schemas.openxmlformats.org/officeDocument/2006/relationships/slide" Target="slides/slide168.xml"/><Relationship Id="rId228" Type="http://schemas.openxmlformats.org/officeDocument/2006/relationships/slide" Target="slides/slide224.xml"/><Relationship Id="rId281" Type="http://schemas.openxmlformats.org/officeDocument/2006/relationships/slide" Target="slides/slide277.xml"/><Relationship Id="rId337" Type="http://schemas.openxmlformats.org/officeDocument/2006/relationships/theme" Target="theme/theme1.xml"/><Relationship Id="rId34" Type="http://schemas.openxmlformats.org/officeDocument/2006/relationships/slide" Target="slides/slide30.xml"/><Relationship Id="rId76" Type="http://schemas.openxmlformats.org/officeDocument/2006/relationships/slide" Target="slides/slide72.xml"/><Relationship Id="rId141" Type="http://schemas.openxmlformats.org/officeDocument/2006/relationships/slide" Target="slides/slide137.xml"/><Relationship Id="rId7" Type="http://schemas.openxmlformats.org/officeDocument/2006/relationships/slide" Target="slides/slide3.xml"/><Relationship Id="rId183" Type="http://schemas.openxmlformats.org/officeDocument/2006/relationships/slide" Target="slides/slide179.xml"/><Relationship Id="rId239" Type="http://schemas.openxmlformats.org/officeDocument/2006/relationships/slide" Target="slides/slide235.xml"/><Relationship Id="rId250" Type="http://schemas.openxmlformats.org/officeDocument/2006/relationships/slide" Target="slides/slide246.xml"/><Relationship Id="rId292" Type="http://schemas.openxmlformats.org/officeDocument/2006/relationships/slide" Target="slides/slide288.xml"/><Relationship Id="rId306" Type="http://schemas.openxmlformats.org/officeDocument/2006/relationships/slide" Target="slides/slide302.xml"/><Relationship Id="rId45" Type="http://schemas.openxmlformats.org/officeDocument/2006/relationships/slide" Target="slides/slide41.xml"/><Relationship Id="rId87" Type="http://schemas.openxmlformats.org/officeDocument/2006/relationships/slide" Target="slides/slide83.xml"/><Relationship Id="rId110" Type="http://schemas.openxmlformats.org/officeDocument/2006/relationships/slide" Target="slides/slide106.xml"/><Relationship Id="rId152" Type="http://schemas.openxmlformats.org/officeDocument/2006/relationships/slide" Target="slides/slide148.xml"/><Relationship Id="rId173" Type="http://schemas.openxmlformats.org/officeDocument/2006/relationships/slide" Target="slides/slide169.xml"/><Relationship Id="rId194" Type="http://schemas.openxmlformats.org/officeDocument/2006/relationships/slide" Target="slides/slide190.xml"/><Relationship Id="rId208" Type="http://schemas.openxmlformats.org/officeDocument/2006/relationships/slide" Target="slides/slide204.xml"/><Relationship Id="rId229" Type="http://schemas.openxmlformats.org/officeDocument/2006/relationships/slide" Target="slides/slide225.xml"/><Relationship Id="rId240" Type="http://schemas.openxmlformats.org/officeDocument/2006/relationships/slide" Target="slides/slide236.xml"/><Relationship Id="rId261" Type="http://schemas.openxmlformats.org/officeDocument/2006/relationships/slide" Target="slides/slide257.xml"/><Relationship Id="rId14" Type="http://schemas.openxmlformats.org/officeDocument/2006/relationships/slide" Target="slides/slide10.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282" Type="http://schemas.openxmlformats.org/officeDocument/2006/relationships/slide" Target="slides/slide278.xml"/><Relationship Id="rId317" Type="http://schemas.openxmlformats.org/officeDocument/2006/relationships/slide" Target="slides/slide313.xml"/><Relationship Id="rId338" Type="http://schemas.openxmlformats.org/officeDocument/2006/relationships/tableStyles" Target="tableStyles.xml"/><Relationship Id="rId8" Type="http://schemas.openxmlformats.org/officeDocument/2006/relationships/slide" Target="slides/slide4.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slide" Target="slides/slide180.xml"/><Relationship Id="rId219" Type="http://schemas.openxmlformats.org/officeDocument/2006/relationships/slide" Target="slides/slide215.xml"/><Relationship Id="rId230" Type="http://schemas.openxmlformats.org/officeDocument/2006/relationships/slide" Target="slides/slide226.xml"/><Relationship Id="rId251" Type="http://schemas.openxmlformats.org/officeDocument/2006/relationships/slide" Target="slides/slide247.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72" Type="http://schemas.openxmlformats.org/officeDocument/2006/relationships/slide" Target="slides/slide268.xml"/><Relationship Id="rId293" Type="http://schemas.openxmlformats.org/officeDocument/2006/relationships/slide" Target="slides/slide289.xml"/><Relationship Id="rId307" Type="http://schemas.openxmlformats.org/officeDocument/2006/relationships/slide" Target="slides/slide303.xml"/><Relationship Id="rId328" Type="http://schemas.openxmlformats.org/officeDocument/2006/relationships/slide" Target="slides/slide324.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95" Type="http://schemas.openxmlformats.org/officeDocument/2006/relationships/slide" Target="slides/slide191.xml"/><Relationship Id="rId209" Type="http://schemas.openxmlformats.org/officeDocument/2006/relationships/slide" Target="slides/slide205.xml"/><Relationship Id="rId220" Type="http://schemas.openxmlformats.org/officeDocument/2006/relationships/slide" Target="slides/slide216.xml"/><Relationship Id="rId241" Type="http://schemas.openxmlformats.org/officeDocument/2006/relationships/slide" Target="slides/slide23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262" Type="http://schemas.openxmlformats.org/officeDocument/2006/relationships/slide" Target="slides/slide258.xml"/><Relationship Id="rId283" Type="http://schemas.openxmlformats.org/officeDocument/2006/relationships/slide" Target="slides/slide279.xml"/><Relationship Id="rId318" Type="http://schemas.openxmlformats.org/officeDocument/2006/relationships/slide" Target="slides/slide314.xml"/><Relationship Id="rId78" Type="http://schemas.openxmlformats.org/officeDocument/2006/relationships/slide" Target="slides/slide74.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64" Type="http://schemas.openxmlformats.org/officeDocument/2006/relationships/slide" Target="slides/slide160.xml"/><Relationship Id="rId185" Type="http://schemas.openxmlformats.org/officeDocument/2006/relationships/slide" Target="slides/slide181.xml"/><Relationship Id="rId9" Type="http://schemas.openxmlformats.org/officeDocument/2006/relationships/slide" Target="slides/slide5.xml"/><Relationship Id="rId210" Type="http://schemas.openxmlformats.org/officeDocument/2006/relationships/slide" Target="slides/slide206.xml"/><Relationship Id="rId26" Type="http://schemas.openxmlformats.org/officeDocument/2006/relationships/slide" Target="slides/slide22.xml"/><Relationship Id="rId231" Type="http://schemas.openxmlformats.org/officeDocument/2006/relationships/slide" Target="slides/slide227.xml"/><Relationship Id="rId252" Type="http://schemas.openxmlformats.org/officeDocument/2006/relationships/slide" Target="slides/slide248.xml"/><Relationship Id="rId273" Type="http://schemas.openxmlformats.org/officeDocument/2006/relationships/slide" Target="slides/slide269.xml"/><Relationship Id="rId294" Type="http://schemas.openxmlformats.org/officeDocument/2006/relationships/slide" Target="slides/slide290.xml"/><Relationship Id="rId308" Type="http://schemas.openxmlformats.org/officeDocument/2006/relationships/slide" Target="slides/slide304.xml"/><Relationship Id="rId329" Type="http://schemas.openxmlformats.org/officeDocument/2006/relationships/slide" Target="slides/slide325.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96" Type="http://schemas.openxmlformats.org/officeDocument/2006/relationships/slide" Target="slides/slide192.xml"/><Relationship Id="rId200" Type="http://schemas.openxmlformats.org/officeDocument/2006/relationships/slide" Target="slides/slide196.xml"/><Relationship Id="rId16" Type="http://schemas.openxmlformats.org/officeDocument/2006/relationships/slide" Target="slides/slide12.xml"/><Relationship Id="rId221" Type="http://schemas.openxmlformats.org/officeDocument/2006/relationships/slide" Target="slides/slide217.xml"/><Relationship Id="rId242" Type="http://schemas.openxmlformats.org/officeDocument/2006/relationships/slide" Target="slides/slide238.xml"/><Relationship Id="rId263" Type="http://schemas.openxmlformats.org/officeDocument/2006/relationships/slide" Target="slides/slide259.xml"/><Relationship Id="rId284" Type="http://schemas.openxmlformats.org/officeDocument/2006/relationships/slide" Target="slides/slide280.xml"/><Relationship Id="rId319" Type="http://schemas.openxmlformats.org/officeDocument/2006/relationships/slide" Target="slides/slide315.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330" Type="http://schemas.openxmlformats.org/officeDocument/2006/relationships/slide" Target="slides/slide326.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slide" Target="slides/slide182.xml"/><Relationship Id="rId211" Type="http://schemas.openxmlformats.org/officeDocument/2006/relationships/slide" Target="slides/slide207.xml"/><Relationship Id="rId232" Type="http://schemas.openxmlformats.org/officeDocument/2006/relationships/slide" Target="slides/slide228.xml"/><Relationship Id="rId253" Type="http://schemas.openxmlformats.org/officeDocument/2006/relationships/slide" Target="slides/slide249.xml"/><Relationship Id="rId274" Type="http://schemas.openxmlformats.org/officeDocument/2006/relationships/slide" Target="slides/slide270.xml"/><Relationship Id="rId295" Type="http://schemas.openxmlformats.org/officeDocument/2006/relationships/slide" Target="slides/slide291.xml"/><Relationship Id="rId309" Type="http://schemas.openxmlformats.org/officeDocument/2006/relationships/slide" Target="slides/slide305.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320" Type="http://schemas.openxmlformats.org/officeDocument/2006/relationships/slide" Target="slides/slide316.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97" Type="http://schemas.openxmlformats.org/officeDocument/2006/relationships/slide" Target="slides/slide193.xml"/><Relationship Id="rId201" Type="http://schemas.openxmlformats.org/officeDocument/2006/relationships/slide" Target="slides/slide197.xml"/><Relationship Id="rId222" Type="http://schemas.openxmlformats.org/officeDocument/2006/relationships/slide" Target="slides/slide218.xml"/><Relationship Id="rId243" Type="http://schemas.openxmlformats.org/officeDocument/2006/relationships/slide" Target="slides/slide239.xml"/><Relationship Id="rId264" Type="http://schemas.openxmlformats.org/officeDocument/2006/relationships/slide" Target="slides/slide260.xml"/><Relationship Id="rId285" Type="http://schemas.openxmlformats.org/officeDocument/2006/relationships/slide" Target="slides/slide281.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310" Type="http://schemas.openxmlformats.org/officeDocument/2006/relationships/slide" Target="slides/slide306.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slide" Target="slides/slide183.xml"/><Relationship Id="rId331" Type="http://schemas.openxmlformats.org/officeDocument/2006/relationships/notesMaster" Target="notesMasters/notesMaster1.xml"/><Relationship Id="rId1" Type="http://schemas.openxmlformats.org/officeDocument/2006/relationships/customXml" Target="../customXml/item1.xml"/><Relationship Id="rId212" Type="http://schemas.openxmlformats.org/officeDocument/2006/relationships/slide" Target="slides/slide208.xml"/><Relationship Id="rId233" Type="http://schemas.openxmlformats.org/officeDocument/2006/relationships/slide" Target="slides/slide229.xml"/><Relationship Id="rId254" Type="http://schemas.openxmlformats.org/officeDocument/2006/relationships/slide" Target="slides/slide250.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275" Type="http://schemas.openxmlformats.org/officeDocument/2006/relationships/slide" Target="slides/slide271.xml"/><Relationship Id="rId296" Type="http://schemas.openxmlformats.org/officeDocument/2006/relationships/slide" Target="slides/slide292.xml"/><Relationship Id="rId300" Type="http://schemas.openxmlformats.org/officeDocument/2006/relationships/slide" Target="slides/slide296.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 Id="rId198" Type="http://schemas.openxmlformats.org/officeDocument/2006/relationships/slide" Target="slides/slide194.xml"/><Relationship Id="rId321" Type="http://schemas.openxmlformats.org/officeDocument/2006/relationships/slide" Target="slides/slide317.xml"/><Relationship Id="rId202" Type="http://schemas.openxmlformats.org/officeDocument/2006/relationships/slide" Target="slides/slide198.xml"/><Relationship Id="rId223" Type="http://schemas.openxmlformats.org/officeDocument/2006/relationships/slide" Target="slides/slide219.xml"/><Relationship Id="rId244" Type="http://schemas.openxmlformats.org/officeDocument/2006/relationships/slide" Target="slides/slide240.xml"/><Relationship Id="rId18" Type="http://schemas.openxmlformats.org/officeDocument/2006/relationships/slide" Target="slides/slide14.xml"/><Relationship Id="rId39" Type="http://schemas.openxmlformats.org/officeDocument/2006/relationships/slide" Target="slides/slide35.xml"/><Relationship Id="rId265" Type="http://schemas.openxmlformats.org/officeDocument/2006/relationships/slide" Target="slides/slide261.xml"/><Relationship Id="rId286" Type="http://schemas.openxmlformats.org/officeDocument/2006/relationships/slide" Target="slides/slide282.xml"/><Relationship Id="rId50" Type="http://schemas.openxmlformats.org/officeDocument/2006/relationships/slide" Target="slides/slide46.xml"/><Relationship Id="rId104" Type="http://schemas.openxmlformats.org/officeDocument/2006/relationships/slide" Target="slides/slide100.xml"/><Relationship Id="rId125" Type="http://schemas.openxmlformats.org/officeDocument/2006/relationships/slide" Target="slides/slide121.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slide" Target="slides/slide184.xml"/><Relationship Id="rId311" Type="http://schemas.openxmlformats.org/officeDocument/2006/relationships/slide" Target="slides/slide307.xml"/><Relationship Id="rId332" Type="http://schemas.openxmlformats.org/officeDocument/2006/relationships/handoutMaster" Target="handoutMasters/handoutMaster1.xml"/><Relationship Id="rId71" Type="http://schemas.openxmlformats.org/officeDocument/2006/relationships/slide" Target="slides/slide67.xml"/><Relationship Id="rId92" Type="http://schemas.openxmlformats.org/officeDocument/2006/relationships/slide" Target="slides/slide88.xml"/><Relationship Id="rId213" Type="http://schemas.openxmlformats.org/officeDocument/2006/relationships/slide" Target="slides/slide209.xml"/><Relationship Id="rId234" Type="http://schemas.openxmlformats.org/officeDocument/2006/relationships/slide" Target="slides/slide230.xml"/><Relationship Id="rId2" Type="http://schemas.openxmlformats.org/officeDocument/2006/relationships/customXml" Target="../customXml/item2.xml"/><Relationship Id="rId29" Type="http://schemas.openxmlformats.org/officeDocument/2006/relationships/slide" Target="slides/slide25.xml"/><Relationship Id="rId255" Type="http://schemas.openxmlformats.org/officeDocument/2006/relationships/slide" Target="slides/slide251.xml"/><Relationship Id="rId276" Type="http://schemas.openxmlformats.org/officeDocument/2006/relationships/slide" Target="slides/slide272.xml"/><Relationship Id="rId297" Type="http://schemas.openxmlformats.org/officeDocument/2006/relationships/slide" Target="slides/slide293.xml"/><Relationship Id="rId40" Type="http://schemas.openxmlformats.org/officeDocument/2006/relationships/slide" Target="slides/slide36.xml"/><Relationship Id="rId115" Type="http://schemas.openxmlformats.org/officeDocument/2006/relationships/slide" Target="slides/slide111.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301" Type="http://schemas.openxmlformats.org/officeDocument/2006/relationships/slide" Target="slides/slide297.xml"/><Relationship Id="rId322" Type="http://schemas.openxmlformats.org/officeDocument/2006/relationships/slide" Target="slides/slide318.xml"/><Relationship Id="rId61" Type="http://schemas.openxmlformats.org/officeDocument/2006/relationships/slide" Target="slides/slide57.xml"/><Relationship Id="rId82" Type="http://schemas.openxmlformats.org/officeDocument/2006/relationships/slide" Target="slides/slide78.xml"/><Relationship Id="rId199" Type="http://schemas.openxmlformats.org/officeDocument/2006/relationships/slide" Target="slides/slide195.xml"/><Relationship Id="rId203" Type="http://schemas.openxmlformats.org/officeDocument/2006/relationships/slide" Target="slides/slide199.xml"/><Relationship Id="rId19" Type="http://schemas.openxmlformats.org/officeDocument/2006/relationships/slide" Target="slides/slide15.xml"/><Relationship Id="rId224" Type="http://schemas.openxmlformats.org/officeDocument/2006/relationships/slide" Target="slides/slide220.xml"/><Relationship Id="rId245" Type="http://schemas.openxmlformats.org/officeDocument/2006/relationships/slide" Target="slides/slide241.xml"/><Relationship Id="rId266" Type="http://schemas.openxmlformats.org/officeDocument/2006/relationships/slide" Target="slides/slide262.xml"/><Relationship Id="rId287" Type="http://schemas.openxmlformats.org/officeDocument/2006/relationships/slide" Target="slides/slide283.xml"/><Relationship Id="rId30" Type="http://schemas.openxmlformats.org/officeDocument/2006/relationships/slide" Target="slides/slide2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312" Type="http://schemas.openxmlformats.org/officeDocument/2006/relationships/slide" Target="slides/slide308.xml"/><Relationship Id="rId333" Type="http://schemas.openxmlformats.org/officeDocument/2006/relationships/tags" Target="tags/tag1.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189" Type="http://schemas.openxmlformats.org/officeDocument/2006/relationships/slide" Target="slides/slide185.xml"/><Relationship Id="rId3" Type="http://schemas.openxmlformats.org/officeDocument/2006/relationships/customXml" Target="../customXml/item3.xml"/><Relationship Id="rId214" Type="http://schemas.openxmlformats.org/officeDocument/2006/relationships/slide" Target="slides/slide210.xml"/><Relationship Id="rId235" Type="http://schemas.openxmlformats.org/officeDocument/2006/relationships/slide" Target="slides/slide231.xml"/><Relationship Id="rId256" Type="http://schemas.openxmlformats.org/officeDocument/2006/relationships/slide" Target="slides/slide252.xml"/><Relationship Id="rId277" Type="http://schemas.openxmlformats.org/officeDocument/2006/relationships/slide" Target="slides/slide273.xml"/><Relationship Id="rId298" Type="http://schemas.openxmlformats.org/officeDocument/2006/relationships/slide" Target="slides/slide294.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302" Type="http://schemas.openxmlformats.org/officeDocument/2006/relationships/slide" Target="slides/slide298.xml"/><Relationship Id="rId323" Type="http://schemas.openxmlformats.org/officeDocument/2006/relationships/slide" Target="slides/slide319.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179" Type="http://schemas.openxmlformats.org/officeDocument/2006/relationships/slide" Target="slides/slide175.xml"/><Relationship Id="rId190" Type="http://schemas.openxmlformats.org/officeDocument/2006/relationships/slide" Target="slides/slide186.xml"/><Relationship Id="rId204" Type="http://schemas.openxmlformats.org/officeDocument/2006/relationships/slide" Target="slides/slide200.xml"/><Relationship Id="rId225" Type="http://schemas.openxmlformats.org/officeDocument/2006/relationships/slide" Target="slides/slide221.xml"/><Relationship Id="rId246" Type="http://schemas.openxmlformats.org/officeDocument/2006/relationships/slide" Target="slides/slide242.xml"/><Relationship Id="rId267" Type="http://schemas.openxmlformats.org/officeDocument/2006/relationships/slide" Target="slides/slide263.xml"/><Relationship Id="rId288" Type="http://schemas.openxmlformats.org/officeDocument/2006/relationships/slide" Target="slides/slide284.xml"/><Relationship Id="rId106" Type="http://schemas.openxmlformats.org/officeDocument/2006/relationships/slide" Target="slides/slide102.xml"/><Relationship Id="rId127" Type="http://schemas.openxmlformats.org/officeDocument/2006/relationships/slide" Target="slides/slide123.xml"/><Relationship Id="rId313" Type="http://schemas.openxmlformats.org/officeDocument/2006/relationships/slide" Target="slides/slide309.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94" Type="http://schemas.openxmlformats.org/officeDocument/2006/relationships/slide" Target="slides/slide90.xml"/><Relationship Id="rId148" Type="http://schemas.openxmlformats.org/officeDocument/2006/relationships/slide" Target="slides/slide144.xml"/><Relationship Id="rId169" Type="http://schemas.openxmlformats.org/officeDocument/2006/relationships/slide" Target="slides/slide165.xml"/><Relationship Id="rId334" Type="http://schemas.openxmlformats.org/officeDocument/2006/relationships/commentAuthors" Target="commentAuthors.xml"/><Relationship Id="rId4" Type="http://schemas.openxmlformats.org/officeDocument/2006/relationships/slideMaster" Target="slideMasters/slideMaster1.xml"/><Relationship Id="rId180" Type="http://schemas.openxmlformats.org/officeDocument/2006/relationships/slide" Target="slides/slide176.xml"/><Relationship Id="rId215" Type="http://schemas.openxmlformats.org/officeDocument/2006/relationships/slide" Target="slides/slide211.xml"/><Relationship Id="rId236" Type="http://schemas.openxmlformats.org/officeDocument/2006/relationships/slide" Target="slides/slide232.xml"/><Relationship Id="rId257" Type="http://schemas.openxmlformats.org/officeDocument/2006/relationships/slide" Target="slides/slide253.xml"/><Relationship Id="rId278" Type="http://schemas.openxmlformats.org/officeDocument/2006/relationships/slide" Target="slides/slide274.xml"/><Relationship Id="rId303" Type="http://schemas.openxmlformats.org/officeDocument/2006/relationships/slide" Target="slides/slide299.xml"/><Relationship Id="rId42" Type="http://schemas.openxmlformats.org/officeDocument/2006/relationships/slide" Target="slides/slide38.xml"/><Relationship Id="rId84" Type="http://schemas.openxmlformats.org/officeDocument/2006/relationships/slide" Target="slides/slide80.xml"/><Relationship Id="rId138" Type="http://schemas.openxmlformats.org/officeDocument/2006/relationships/slide" Target="slides/slide134.xml"/><Relationship Id="rId191" Type="http://schemas.openxmlformats.org/officeDocument/2006/relationships/slide" Target="slides/slide187.xml"/><Relationship Id="rId205" Type="http://schemas.openxmlformats.org/officeDocument/2006/relationships/slide" Target="slides/slide201.xml"/><Relationship Id="rId247" Type="http://schemas.openxmlformats.org/officeDocument/2006/relationships/slide" Target="slides/slide243.xml"/><Relationship Id="rId107" Type="http://schemas.openxmlformats.org/officeDocument/2006/relationships/slide" Target="slides/slide103.xml"/><Relationship Id="rId289" Type="http://schemas.openxmlformats.org/officeDocument/2006/relationships/slide" Target="slides/slide285.xml"/><Relationship Id="rId11" Type="http://schemas.openxmlformats.org/officeDocument/2006/relationships/slide" Target="slides/slide7.xml"/><Relationship Id="rId53" Type="http://schemas.openxmlformats.org/officeDocument/2006/relationships/slide" Target="slides/slide49.xml"/><Relationship Id="rId149" Type="http://schemas.openxmlformats.org/officeDocument/2006/relationships/slide" Target="slides/slide145.xml"/><Relationship Id="rId314" Type="http://schemas.openxmlformats.org/officeDocument/2006/relationships/slide" Target="slides/slide310.xml"/><Relationship Id="rId95" Type="http://schemas.openxmlformats.org/officeDocument/2006/relationships/slide" Target="slides/slide91.xml"/><Relationship Id="rId160" Type="http://schemas.openxmlformats.org/officeDocument/2006/relationships/slide" Target="slides/slide156.xml"/><Relationship Id="rId216" Type="http://schemas.openxmlformats.org/officeDocument/2006/relationships/slide" Target="slides/slide212.xml"/><Relationship Id="rId258" Type="http://schemas.openxmlformats.org/officeDocument/2006/relationships/slide" Target="slides/slide254.xml"/><Relationship Id="rId22" Type="http://schemas.openxmlformats.org/officeDocument/2006/relationships/slide" Target="slides/slide18.xml"/><Relationship Id="rId64" Type="http://schemas.openxmlformats.org/officeDocument/2006/relationships/slide" Target="slides/slide60.xml"/><Relationship Id="rId118" Type="http://schemas.openxmlformats.org/officeDocument/2006/relationships/slide" Target="slides/slide114.xml"/><Relationship Id="rId325" Type="http://schemas.openxmlformats.org/officeDocument/2006/relationships/slide" Target="slides/slide321.xml"/><Relationship Id="rId171" Type="http://schemas.openxmlformats.org/officeDocument/2006/relationships/slide" Target="slides/slide167.xml"/><Relationship Id="rId227" Type="http://schemas.openxmlformats.org/officeDocument/2006/relationships/slide" Target="slides/slide223.xml"/><Relationship Id="rId269" Type="http://schemas.openxmlformats.org/officeDocument/2006/relationships/slide" Target="slides/slide265.xml"/><Relationship Id="rId33" Type="http://schemas.openxmlformats.org/officeDocument/2006/relationships/slide" Target="slides/slide29.xml"/><Relationship Id="rId129" Type="http://schemas.openxmlformats.org/officeDocument/2006/relationships/slide" Target="slides/slide125.xml"/><Relationship Id="rId280" Type="http://schemas.openxmlformats.org/officeDocument/2006/relationships/slide" Target="slides/slide276.xml"/><Relationship Id="rId336" Type="http://schemas.openxmlformats.org/officeDocument/2006/relationships/viewProps" Target="viewProps.xml"/><Relationship Id="rId75" Type="http://schemas.openxmlformats.org/officeDocument/2006/relationships/slide" Target="slides/slide71.xml"/><Relationship Id="rId140" Type="http://schemas.openxmlformats.org/officeDocument/2006/relationships/slide" Target="slides/slide136.xml"/><Relationship Id="rId182" Type="http://schemas.openxmlformats.org/officeDocument/2006/relationships/slide" Target="slides/slide178.xml"/><Relationship Id="rId6" Type="http://schemas.openxmlformats.org/officeDocument/2006/relationships/slide" Target="slides/slide2.xml"/><Relationship Id="rId238" Type="http://schemas.openxmlformats.org/officeDocument/2006/relationships/slide" Target="slides/slide234.xml"/><Relationship Id="rId291" Type="http://schemas.openxmlformats.org/officeDocument/2006/relationships/slide" Target="slides/slide287.xml"/><Relationship Id="rId305" Type="http://schemas.openxmlformats.org/officeDocument/2006/relationships/slide" Target="slides/slide301.xml"/><Relationship Id="rId44" Type="http://schemas.openxmlformats.org/officeDocument/2006/relationships/slide" Target="slides/slide40.xml"/><Relationship Id="rId86" Type="http://schemas.openxmlformats.org/officeDocument/2006/relationships/slide" Target="slides/slide82.xml"/><Relationship Id="rId151" Type="http://schemas.openxmlformats.org/officeDocument/2006/relationships/slide" Target="slides/slide147.xml"/><Relationship Id="rId193" Type="http://schemas.openxmlformats.org/officeDocument/2006/relationships/slide" Target="slides/slide189.xml"/><Relationship Id="rId207" Type="http://schemas.openxmlformats.org/officeDocument/2006/relationships/slide" Target="slides/slide203.xml"/><Relationship Id="rId249" Type="http://schemas.openxmlformats.org/officeDocument/2006/relationships/slide" Target="slides/slide245.xml"/><Relationship Id="rId13" Type="http://schemas.openxmlformats.org/officeDocument/2006/relationships/slide" Target="slides/slide9.xml"/><Relationship Id="rId109" Type="http://schemas.openxmlformats.org/officeDocument/2006/relationships/slide" Target="slides/slide105.xml"/><Relationship Id="rId260" Type="http://schemas.openxmlformats.org/officeDocument/2006/relationships/slide" Target="slides/slide256.xml"/><Relationship Id="rId316" Type="http://schemas.openxmlformats.org/officeDocument/2006/relationships/slide" Target="slides/slide312.xml"/><Relationship Id="rId55" Type="http://schemas.openxmlformats.org/officeDocument/2006/relationships/slide" Target="slides/slide51.xml"/><Relationship Id="rId97" Type="http://schemas.openxmlformats.org/officeDocument/2006/relationships/slide" Target="slides/slide93.xml"/><Relationship Id="rId120" Type="http://schemas.openxmlformats.org/officeDocument/2006/relationships/slide" Target="slides/slide116.xml"/><Relationship Id="rId162" Type="http://schemas.openxmlformats.org/officeDocument/2006/relationships/slide" Target="slides/slide158.xml"/><Relationship Id="rId218" Type="http://schemas.openxmlformats.org/officeDocument/2006/relationships/slide" Target="slides/slide214.xml"/><Relationship Id="rId271" Type="http://schemas.openxmlformats.org/officeDocument/2006/relationships/slide" Target="slides/slide267.xml"/><Relationship Id="rId24" Type="http://schemas.openxmlformats.org/officeDocument/2006/relationships/slide" Target="slides/slide20.xml"/><Relationship Id="rId66" Type="http://schemas.openxmlformats.org/officeDocument/2006/relationships/slide" Target="slides/slide62.xml"/><Relationship Id="rId131" Type="http://schemas.openxmlformats.org/officeDocument/2006/relationships/slide" Target="slides/slide127.xml"/><Relationship Id="rId327" Type="http://schemas.openxmlformats.org/officeDocument/2006/relationships/slide" Target="slides/slide32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8FA3CA-5725-4BA7-A851-72A62AC5A8EE}" type="datetimeFigureOut">
              <a:rPr lang="en-CA" smtClean="0"/>
              <a:pPr/>
              <a:t>2026-08-27</a:t>
            </a:fld>
            <a:endParaRPr lang="en-CA"/>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F873CA4-7EF9-467F-99BD-6DDCB9451CF6}" type="slidenum">
              <a:rPr lang="en-CA" smtClean="0"/>
              <a:pPr/>
              <a:t>‹#›</a:t>
            </a:fld>
            <a:endParaRPr lang="en-CA"/>
          </a:p>
        </p:txBody>
      </p:sp>
    </p:spTree>
    <p:extLst>
      <p:ext uri="{BB962C8B-B14F-4D97-AF65-F5344CB8AC3E}">
        <p14:creationId xmlns:p14="http://schemas.microsoft.com/office/powerpoint/2010/main" val="21754703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B58700-9FA2-48CE-AC88-D71D45EB490A}" type="datetimeFigureOut">
              <a:rPr lang="en-US" smtClean="0"/>
              <a:pPr/>
              <a:t>8/27/2026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E9BC4E5-2BC1-4F43-85DD-A1B8F74CB7EB}" type="slidenum">
              <a:rPr lang="en-US" smtClean="0"/>
              <a:pPr/>
              <a:t>‹#›</a:t>
            </a:fld>
            <a:endParaRPr lang="en-US"/>
          </a:p>
        </p:txBody>
      </p:sp>
    </p:spTree>
    <p:extLst>
      <p:ext uri="{BB962C8B-B14F-4D97-AF65-F5344CB8AC3E}">
        <p14:creationId xmlns:p14="http://schemas.microsoft.com/office/powerpoint/2010/main" val="1409004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34700-1611-C834-3464-E44CE23E3C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7BF874-00B0-E104-2094-5A32730E571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592D7A7-CD12-84F0-5F5D-CF335308A5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7173A7-3059-9072-39B7-A879775ED2E6}"/>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8872564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9351D-CF67-BE9A-7F46-D3AEADC3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17C1D1-C3AA-7ED1-5807-4A413B9EDEA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245D4C1-55CB-D8B2-1AD2-AE27F41034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03B8D9-1749-963A-ADAE-7B775E4DF2E8}"/>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5096967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F5251-FEE6-1DAE-3E12-4EEBE44F24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E26FFB-F09D-CA04-AC83-E3E6EF7227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3B3F142-8274-A60E-FFCB-BECDA6FE5D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C80DA2-666A-66A3-7610-F2D1986816E7}"/>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5069521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D5AA8-1836-2510-6D1B-90358C497F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C264DF-C747-6C94-8E4B-331E362A4C6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83FB5AE-E651-6EF6-D482-6743958451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16C4A0-B427-CF45-F090-8D7F77B523A7}"/>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5965690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D77E0-A398-1BD6-BDDC-012AEC288D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B277ED-EC61-6DD0-4CCC-4E92361AEB0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0919FEA-52FC-D8A1-A1F4-E131215BC1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25EDB4-0287-6555-6F05-745CCD225713}"/>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8708851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B34CB-6AC9-8CB2-0B2C-022C983297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BC6396-6649-7BAD-1C2E-AA5B0421E76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D50947B-336F-6F99-6A19-DC1B21DC20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9DFFB6-FC25-B260-FDBF-A6E3DD76C7E4}"/>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8950454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5B0B8-9220-2D4E-C2C0-3845687B71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C837F5-82A3-7D0D-E175-02145EAA7EC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70B3770-2394-35E1-B9F8-38EFBA6551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3D72BC-10D6-40C8-082F-110B9E5042E1}"/>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4145550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354EC-02C0-70B4-5B1B-03045FA093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FA4F48-2BCF-F950-529C-D17B8BBBBC8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E552900-F208-B97F-4618-AC6E58DACA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467A0C-6B74-57FA-BECA-9BD73161E9D1}"/>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552864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0510C-949A-A5B7-60D7-5B02FA4C96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437E21-6EDD-EC9B-5F35-ED6F4338E5A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15E799A-5DF4-AA95-B45D-1F35DCD854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A18920-461E-D203-C1B7-F0451A347F59}"/>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763339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7753F-708A-EBED-D41B-783ACB6B49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2CDA9B-5442-8E3B-E3B2-D1A8A706636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F24799E-509E-0279-F514-7F870DA226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CFD658-CE24-DB09-4AB0-8F9B204C7D17}"/>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9756236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20BAA-A3AC-B546-C666-76C8E90FDB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6C83E5-D16E-E1BC-F09B-FAED9D5160A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BCC41CC-420A-54EB-011D-B1E9B7FFA3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31A174-1CE1-4AB1-EF45-1BCFC7D86614}"/>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7492438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96D85-F230-D7EA-B0B4-D815DE5D9C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2BD81A-98A5-C13B-8FEB-C3618D1DD5C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121853A-3776-2AF6-01F0-651518DF43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79053B-2D16-ED9E-161F-F10929C2D6C3}"/>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5257940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2D583-1279-9CF9-9B4B-B58882D580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93BFB5-4E61-2950-84A3-05C022A8A0B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E4F8774-A05B-141F-EAC5-5E98631F44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2685A0-097C-5BB2-937D-FBE1D0DC002E}"/>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662370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20373-E280-700B-5082-765EAAA2ED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0AB380-468C-0B12-221A-969E2A8066F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291BF6B-AD4E-EEAC-5481-FCD94C5D5F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17B940-4EB3-FBF1-B4BC-34214E901817}"/>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912570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CE1D4-2323-B4AB-2249-3113BBEE2B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BC210D-DE38-7DA6-C8ED-682AAA6765C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07E9BB4-B66E-7EED-8011-D10AAE040C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50C3D7-6448-5CEC-360D-2F49EEE752C5}"/>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8991741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2F9E5-584D-3648-0D25-015BE68BB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5DBA05-7BB7-3856-29FC-6A8A1CB2339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17781D7-C91E-6E98-ADD3-4AB161AA1B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ECB478-C0BF-6995-AA01-96460F53F072}"/>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26903866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Black Signature">
    <p:spTree>
      <p:nvGrpSpPr>
        <p:cNvPr id="1" name=""/>
        <p:cNvGrpSpPr/>
        <p:nvPr/>
      </p:nvGrpSpPr>
      <p:grpSpPr>
        <a:xfrm>
          <a:off x="0" y="0"/>
          <a:ext cx="0" cy="0"/>
          <a:chOff x="0" y="0"/>
          <a:chExt cx="0" cy="0"/>
        </a:xfrm>
      </p:grpSpPr>
      <p:pic>
        <p:nvPicPr>
          <p:cNvPr id="13" name="Picture 12" descr="swf_photo2.jpg"/>
          <p:cNvPicPr>
            <a:picLocks noChangeAspect="1"/>
          </p:cNvPicPr>
          <p:nvPr userDrawn="1"/>
        </p:nvPicPr>
        <p:blipFill>
          <a:blip r:embed="rId2" cstate="print"/>
          <a:stretch>
            <a:fillRect/>
          </a:stretch>
        </p:blipFill>
        <p:spPr>
          <a:xfrm>
            <a:off x="0" y="0"/>
            <a:ext cx="9144000" cy="6858000"/>
          </a:xfrm>
          <a:prstGeom prst="rect">
            <a:avLst/>
          </a:prstGeom>
        </p:spPr>
      </p:pic>
      <p:sp>
        <p:nvSpPr>
          <p:cNvPr id="9" name="Text Placeholder 8"/>
          <p:cNvSpPr>
            <a:spLocks noGrp="1"/>
          </p:cNvSpPr>
          <p:nvPr>
            <p:ph type="body" sz="quarter" idx="10" hasCustomPrompt="1"/>
          </p:nvPr>
        </p:nvSpPr>
        <p:spPr>
          <a:xfrm>
            <a:off x="458788" y="544531"/>
            <a:ext cx="4811856" cy="1854206"/>
          </a:xfrm>
        </p:spPr>
        <p:txBody>
          <a:bodyPr anchor="b" anchorCtr="0">
            <a:noAutofit/>
          </a:bodyPr>
          <a:lstStyle>
            <a:lvl1pPr marL="0" indent="0">
              <a:lnSpc>
                <a:spcPts val="3900"/>
              </a:lnSpc>
              <a:spcBef>
                <a:spcPts val="0"/>
              </a:spcBef>
              <a:spcAft>
                <a:spcPts val="0"/>
              </a:spcAft>
              <a:buNone/>
              <a:defRPr sz="3600" baseline="0">
                <a:solidFill>
                  <a:schemeClr val="accent1"/>
                </a:solidFill>
              </a:defRPr>
            </a:lvl1pPr>
            <a:lvl2pPr marL="0" indent="0">
              <a:lnSpc>
                <a:spcPct val="100000"/>
              </a:lnSpc>
              <a:spcAft>
                <a:spcPts val="0"/>
              </a:spcAft>
              <a:buNone/>
              <a:defRPr sz="1900">
                <a:solidFill>
                  <a:schemeClr val="bg1"/>
                </a:solidFill>
              </a:defRPr>
            </a:lvl2pPr>
            <a:lvl3pPr marL="468000" indent="0">
              <a:buNone/>
              <a:defRPr/>
            </a:lvl3pPr>
          </a:lstStyle>
          <a:p>
            <a:pPr lvl="0"/>
            <a:r>
              <a:rPr lang="en-US" dirty="0"/>
              <a:t>Master Title Slide Headline</a:t>
            </a:r>
          </a:p>
        </p:txBody>
      </p:sp>
      <p:grpSp>
        <p:nvGrpSpPr>
          <p:cNvPr id="4" name="Group 3"/>
          <p:cNvGrpSpPr/>
          <p:nvPr userDrawn="1"/>
        </p:nvGrpSpPr>
        <p:grpSpPr>
          <a:xfrm>
            <a:off x="5701703" y="2274980"/>
            <a:ext cx="3074395" cy="2060440"/>
            <a:chOff x="5701703" y="682760"/>
            <a:chExt cx="3074395" cy="2060440"/>
          </a:xfrm>
        </p:grpSpPr>
        <p:sp>
          <p:nvSpPr>
            <p:cNvPr id="5" name="Freeform 4"/>
            <p:cNvSpPr/>
            <p:nvPr/>
          </p:nvSpPr>
          <p:spPr>
            <a:xfrm>
              <a:off x="6164291" y="682760"/>
              <a:ext cx="2013677" cy="2060440"/>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01703" y="1523009"/>
              <a:ext cx="3074395" cy="251999"/>
            </a:xfrm>
            <a:prstGeom prst="rect">
              <a:avLst/>
            </a:prstGeom>
          </p:spPr>
        </p:pic>
      </p:grpSp>
      <p:pic>
        <p:nvPicPr>
          <p:cNvPr id="11" name="Pictur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173817" y="6279323"/>
            <a:ext cx="2520922" cy="176078"/>
          </a:xfrm>
          <a:prstGeom prst="rect">
            <a:avLst/>
          </a:prstGeom>
        </p:spPr>
      </p:pic>
      <p:cxnSp>
        <p:nvCxnSpPr>
          <p:cNvPr id="12" name="Straight Connector 11"/>
          <p:cNvCxnSpPr/>
          <p:nvPr userDrawn="1"/>
        </p:nvCxnSpPr>
        <p:spPr>
          <a:xfrm>
            <a:off x="457200" y="6570921"/>
            <a:ext cx="8686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8"/>
          <p:cNvSpPr>
            <a:spLocks noGrp="1"/>
          </p:cNvSpPr>
          <p:nvPr>
            <p:ph type="body" sz="quarter" idx="11" hasCustomPrompt="1"/>
          </p:nvPr>
        </p:nvSpPr>
        <p:spPr>
          <a:xfrm>
            <a:off x="459320" y="2543510"/>
            <a:ext cx="4811323" cy="1233311"/>
          </a:xfrm>
        </p:spPr>
        <p:txBody>
          <a:bodyPr>
            <a:noAutofit/>
          </a:bodyPr>
          <a:lstStyle>
            <a:lvl1pPr marL="0" indent="0">
              <a:lnSpc>
                <a:spcPts val="3900"/>
              </a:lnSpc>
              <a:spcBef>
                <a:spcPts val="0"/>
              </a:spcBef>
              <a:spcAft>
                <a:spcPts val="0"/>
              </a:spcAft>
              <a:buNone/>
              <a:defRPr sz="2400" baseline="0">
                <a:solidFill>
                  <a:schemeClr val="bg2"/>
                </a:solidFill>
              </a:defRPr>
            </a:lvl1pPr>
            <a:lvl2pPr marL="0" indent="0">
              <a:lnSpc>
                <a:spcPct val="100000"/>
              </a:lnSpc>
              <a:spcAft>
                <a:spcPts val="0"/>
              </a:spcAft>
              <a:buNone/>
              <a:defRPr sz="1900">
                <a:solidFill>
                  <a:schemeClr val="bg1"/>
                </a:solidFill>
              </a:defRPr>
            </a:lvl2pPr>
            <a:lvl3pPr marL="468000" indent="0">
              <a:buNone/>
              <a:defRPr/>
            </a:lvl3pPr>
          </a:lstStyle>
          <a:p>
            <a:pPr lvl="0"/>
            <a:r>
              <a:rPr lang="en-US" dirty="0"/>
              <a:t>Master Title Slide Headline</a:t>
            </a:r>
          </a:p>
        </p:txBody>
      </p:sp>
    </p:spTree>
    <p:extLst>
      <p:ext uri="{BB962C8B-B14F-4D97-AF65-F5344CB8AC3E}">
        <p14:creationId xmlns:p14="http://schemas.microsoft.com/office/powerpoint/2010/main" val="41953770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Slide ">
    <p:bg>
      <p:bgPr>
        <a:solidFill>
          <a:schemeClr val="tx2"/>
        </a:solidFill>
        <a:effectLst/>
      </p:bgPr>
    </p:bg>
    <p:spTree>
      <p:nvGrpSpPr>
        <p:cNvPr id="1" name=""/>
        <p:cNvGrpSpPr/>
        <p:nvPr/>
      </p:nvGrpSpPr>
      <p:grpSpPr>
        <a:xfrm>
          <a:off x="0" y="0"/>
          <a:ext cx="0" cy="0"/>
          <a:chOff x="0" y="0"/>
          <a:chExt cx="0" cy="0"/>
        </a:xfrm>
      </p:grpSpPr>
      <p:pic>
        <p:nvPicPr>
          <p:cNvPr id="3" name="Picture 2" descr="stk318019rkn.jpg"/>
          <p:cNvPicPr>
            <a:picLocks noChangeAspect="1"/>
          </p:cNvPicPr>
          <p:nvPr userDrawn="1"/>
        </p:nvPicPr>
        <p:blipFill>
          <a:blip r:embed="rId2" cstate="print"/>
          <a:stretch>
            <a:fillRect/>
          </a:stretch>
        </p:blipFill>
        <p:spPr>
          <a:xfrm>
            <a:off x="0" y="0"/>
            <a:ext cx="9144000" cy="6858000"/>
          </a:xfrm>
          <a:prstGeom prst="rect">
            <a:avLst/>
          </a:prstGeom>
        </p:spPr>
      </p:pic>
      <p:sp>
        <p:nvSpPr>
          <p:cNvPr id="5" name="Text Placeholder 8"/>
          <p:cNvSpPr>
            <a:spLocks noGrp="1"/>
          </p:cNvSpPr>
          <p:nvPr>
            <p:ph type="body" sz="quarter" idx="10" hasCustomPrompt="1"/>
          </p:nvPr>
        </p:nvSpPr>
        <p:spPr>
          <a:xfrm>
            <a:off x="457200" y="310097"/>
            <a:ext cx="8228013" cy="670326"/>
          </a:xfrm>
        </p:spPr>
        <p:txBody>
          <a:bodyPr lIns="0" rIns="0" anchor="b" anchorCtr="0">
            <a:noAutofit/>
          </a:bodyPr>
          <a:lstStyle>
            <a:lvl1pPr marL="0" indent="0" algn="l">
              <a:lnSpc>
                <a:spcPts val="3900"/>
              </a:lnSpc>
              <a:spcBef>
                <a:spcPts val="0"/>
              </a:spcBef>
              <a:spcAft>
                <a:spcPts val="0"/>
              </a:spcAft>
              <a:buNone/>
              <a:defRPr sz="4000" b="0" baseline="0">
                <a:solidFill>
                  <a:schemeClr val="tx2"/>
                </a:solidFill>
              </a:defRPr>
            </a:lvl1pPr>
            <a:lvl2pPr marL="0" indent="0">
              <a:lnSpc>
                <a:spcPct val="100000"/>
              </a:lnSpc>
              <a:spcAft>
                <a:spcPts val="0"/>
              </a:spcAft>
              <a:buNone/>
              <a:defRPr sz="1900">
                <a:solidFill>
                  <a:schemeClr val="bg1"/>
                </a:solidFill>
              </a:defRPr>
            </a:lvl2pPr>
            <a:lvl3pPr marL="468000" indent="0">
              <a:buNone/>
              <a:defRPr/>
            </a:lvl3pPr>
          </a:lstStyle>
          <a:p>
            <a:pPr lvl="0"/>
            <a:r>
              <a:rPr lang="en-US" dirty="0"/>
              <a:t>Master Divider Slide Headline</a:t>
            </a:r>
          </a:p>
        </p:txBody>
      </p:sp>
    </p:spTree>
    <p:extLst>
      <p:ext uri="{BB962C8B-B14F-4D97-AF65-F5344CB8AC3E}">
        <p14:creationId xmlns:p14="http://schemas.microsoft.com/office/powerpoint/2010/main" val="2309944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Content Placeholder 9"/>
          <p:cNvSpPr>
            <a:spLocks noGrp="1"/>
          </p:cNvSpPr>
          <p:nvPr>
            <p:ph sz="quarter" idx="12" hasCustomPrompt="1"/>
          </p:nvPr>
        </p:nvSpPr>
        <p:spPr/>
        <p:txBody>
          <a:bodyPr/>
          <a:lstStyle>
            <a:lvl2pPr>
              <a:defRPr/>
            </a:lvl2pPr>
            <a:lvl3pPr>
              <a:defRPr/>
            </a:lvl3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cxnSp>
        <p:nvCxnSpPr>
          <p:cNvPr id="7" name="Straight Connector 6"/>
          <p:cNvCxnSpPr/>
          <p:nvPr userDrawn="1"/>
        </p:nvCxnSpPr>
        <p:spPr>
          <a:xfrm>
            <a:off x="457994" y="1162050"/>
            <a:ext cx="868600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hasCustomPrompt="1"/>
          </p:nvPr>
        </p:nvSpPr>
        <p:spPr/>
        <p:txBody>
          <a:bodyPr/>
          <a:lstStyle/>
          <a:p>
            <a:r>
              <a:rPr lang="en-US" dirty="0"/>
              <a:t>Master Title Slide Headline</a:t>
            </a:r>
            <a:endParaRPr lang="en-CA" dirty="0"/>
          </a:p>
        </p:txBody>
      </p:sp>
      <p:sp>
        <p:nvSpPr>
          <p:cNvPr id="8" name="TextBox 7"/>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7F7F7F"/>
                </a:solidFill>
                <a:latin typeface="Arial" pitchFamily="34" charset="0"/>
                <a:cs typeface="Arial" pitchFamily="34" charset="0"/>
              </a:rPr>
              <a:pPr algn="r"/>
              <a:t>‹#›</a:t>
            </a:fld>
            <a:endParaRPr lang="en-CA" sz="900" dirty="0">
              <a:solidFill>
                <a:srgbClr val="7F7F7F"/>
              </a:solidFill>
              <a:latin typeface="Arial" pitchFamily="34" charset="0"/>
              <a:cs typeface="Arial" pitchFamily="34" charset="0"/>
            </a:endParaRPr>
          </a:p>
        </p:txBody>
      </p:sp>
      <p:sp>
        <p:nvSpPr>
          <p:cNvPr id="2" name="AutoShape 2" descr="Image result for microservice logo"/>
          <p:cNvSpPr>
            <a:spLocks noChangeAspect="1" noChangeArrowheads="1"/>
          </p:cNvSpPr>
          <p:nvPr userDrawn="1"/>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27097" y="33068"/>
            <a:ext cx="1371601" cy="1317695"/>
          </a:xfrm>
          <a:prstGeom prst="rect">
            <a:avLst/>
          </a:prstGeom>
        </p:spPr>
      </p:pic>
    </p:spTree>
    <p:extLst>
      <p:ext uri="{BB962C8B-B14F-4D97-AF65-F5344CB8AC3E}">
        <p14:creationId xmlns:p14="http://schemas.microsoft.com/office/powerpoint/2010/main" val="35032379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Paragraphs">
    <p:spTree>
      <p:nvGrpSpPr>
        <p:cNvPr id="1" name=""/>
        <p:cNvGrpSpPr/>
        <p:nvPr/>
      </p:nvGrpSpPr>
      <p:grpSpPr>
        <a:xfrm>
          <a:off x="0" y="0"/>
          <a:ext cx="0" cy="0"/>
          <a:chOff x="0" y="0"/>
          <a:chExt cx="0" cy="0"/>
        </a:xfrm>
      </p:grpSpPr>
      <p:sp>
        <p:nvSpPr>
          <p:cNvPr id="10" name="Content Placeholder 9"/>
          <p:cNvSpPr>
            <a:spLocks noGrp="1"/>
          </p:cNvSpPr>
          <p:nvPr>
            <p:ph sz="quarter" idx="12" hasCustomPrompt="1"/>
          </p:nvPr>
        </p:nvSpPr>
        <p:spPr/>
        <p:txBody>
          <a:bodyPr/>
          <a:lstStyle>
            <a:lvl1pPr marL="0" indent="0">
              <a:spcBef>
                <a:spcPts val="1200"/>
              </a:spcBef>
              <a:spcAft>
                <a:spcPts val="0"/>
              </a:spcAft>
              <a:buNone/>
              <a:defRPr sz="2400" b="1">
                <a:solidFill>
                  <a:schemeClr val="bg2"/>
                </a:solidFill>
              </a:defRPr>
            </a:lvl1pPr>
            <a:lvl2pPr marL="231775" indent="-231775">
              <a:spcBef>
                <a:spcPts val="624"/>
              </a:spcBef>
              <a:buFont typeface="Arial" pitchFamily="34" charset="0"/>
              <a:buChar char="•"/>
              <a:defRPr/>
            </a:lvl2pPr>
            <a:lvl3pPr marL="457200" indent="-231775">
              <a:buFont typeface="Arial" pitchFamily="34" charset="0"/>
              <a:buChar char="–"/>
              <a:defRPr/>
            </a:lvl3pPr>
            <a:lvl4pPr marL="688975" indent="-225425">
              <a:buFont typeface="Arial" pitchFamily="34" charset="0"/>
              <a:buChar char="•"/>
              <a:defRPr/>
            </a:lvl4pPr>
            <a:lvl5pPr marL="914400" indent="-225425">
              <a:buFont typeface="Arial" pitchFamily="34" charset="0"/>
              <a:buChar char="–"/>
              <a:tabLst/>
              <a:defRPr/>
            </a:lvl5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cxnSp>
        <p:nvCxnSpPr>
          <p:cNvPr id="8" name="Straight Connector 7"/>
          <p:cNvCxnSpPr/>
          <p:nvPr userDrawn="1"/>
        </p:nvCxnSpPr>
        <p:spPr>
          <a:xfrm>
            <a:off x="457994" y="1162050"/>
            <a:ext cx="868600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itle 2"/>
          <p:cNvSpPr>
            <a:spLocks noGrp="1"/>
          </p:cNvSpPr>
          <p:nvPr>
            <p:ph type="title" hasCustomPrompt="1"/>
          </p:nvPr>
        </p:nvSpPr>
        <p:spPr/>
        <p:txBody>
          <a:bodyPr/>
          <a:lstStyle/>
          <a:p>
            <a:r>
              <a:rPr lang="en-US" dirty="0"/>
              <a:t>Master Title Slide Headline</a:t>
            </a:r>
            <a:endParaRPr lang="en-CA" dirty="0"/>
          </a:p>
        </p:txBody>
      </p:sp>
      <p:sp>
        <p:nvSpPr>
          <p:cNvPr id="9" name="TextBox 8"/>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7F7F7F"/>
                </a:solidFill>
                <a:latin typeface="Arial" pitchFamily="34" charset="0"/>
                <a:cs typeface="Arial" pitchFamily="34" charset="0"/>
              </a:rPr>
              <a:pPr algn="r"/>
              <a:t>‹#›</a:t>
            </a:fld>
            <a:endParaRPr lang="en-CA" sz="900" dirty="0">
              <a:solidFill>
                <a:srgbClr val="7F7F7F"/>
              </a:solidFill>
              <a:latin typeface="Arial" pitchFamily="34" charset="0"/>
              <a:cs typeface="Arial" pitchFamily="34" charset="0"/>
            </a:endParaRPr>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91400" y="7937"/>
            <a:ext cx="1641894" cy="1229836"/>
          </a:xfrm>
          <a:prstGeom prst="rect">
            <a:avLst/>
          </a:prstGeom>
        </p:spPr>
      </p:pic>
    </p:spTree>
    <p:extLst>
      <p:ext uri="{BB962C8B-B14F-4D97-AF65-F5344CB8AC3E}">
        <p14:creationId xmlns:p14="http://schemas.microsoft.com/office/powerpoint/2010/main" val="3503237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2-Content">
    <p:spTree>
      <p:nvGrpSpPr>
        <p:cNvPr id="1" name=""/>
        <p:cNvGrpSpPr/>
        <p:nvPr/>
      </p:nvGrpSpPr>
      <p:grpSpPr>
        <a:xfrm>
          <a:off x="0" y="0"/>
          <a:ext cx="0" cy="0"/>
          <a:chOff x="0" y="0"/>
          <a:chExt cx="0" cy="0"/>
        </a:xfrm>
      </p:grpSpPr>
      <p:sp>
        <p:nvSpPr>
          <p:cNvPr id="10" name="Content Placeholder 9"/>
          <p:cNvSpPr>
            <a:spLocks noGrp="1"/>
          </p:cNvSpPr>
          <p:nvPr>
            <p:ph sz="quarter" idx="12" hasCustomPrompt="1"/>
          </p:nvPr>
        </p:nvSpPr>
        <p:spPr>
          <a:xfrm>
            <a:off x="457201" y="1381125"/>
            <a:ext cx="4025899" cy="4824414"/>
          </a:xfrm>
        </p:spPr>
        <p:txBody>
          <a:bodyPr>
            <a:normAutofit/>
          </a:bodyPr>
          <a:lstStyle>
            <a:lvl1pPr>
              <a:defRPr sz="2000"/>
            </a:lvl1pPr>
            <a:lvl2pPr>
              <a:defRPr sz="1800"/>
            </a:lvl2pPr>
            <a:lvl3pPr>
              <a:defRPr sz="1600"/>
            </a:lvl3pPr>
            <a:lvl4pPr>
              <a:defRPr sz="1400"/>
            </a:lvl4pPr>
            <a:lvl5pPr>
              <a:defRPr sz="1200"/>
            </a:lvl5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sp>
        <p:nvSpPr>
          <p:cNvPr id="9" name="Content Placeholder 9"/>
          <p:cNvSpPr>
            <a:spLocks noGrp="1"/>
          </p:cNvSpPr>
          <p:nvPr>
            <p:ph sz="quarter" idx="13" hasCustomPrompt="1"/>
          </p:nvPr>
        </p:nvSpPr>
        <p:spPr>
          <a:xfrm>
            <a:off x="4659314" y="1381125"/>
            <a:ext cx="4025899" cy="4824414"/>
          </a:xfrm>
        </p:spPr>
        <p:txBody>
          <a:bodyPr>
            <a:normAutofit/>
          </a:bodyPr>
          <a:lstStyle>
            <a:lvl1pPr>
              <a:defRPr sz="2000"/>
            </a:lvl1pPr>
            <a:lvl2pPr>
              <a:defRPr sz="1800"/>
            </a:lvl2pPr>
            <a:lvl3pPr>
              <a:defRPr sz="1600"/>
            </a:lvl3pPr>
            <a:lvl4pPr>
              <a:defRPr sz="1400"/>
            </a:lvl4pPr>
            <a:lvl5pPr>
              <a:defRPr sz="1200"/>
            </a:lvl5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cxnSp>
        <p:nvCxnSpPr>
          <p:cNvPr id="11" name="Straight Connector 10"/>
          <p:cNvCxnSpPr/>
          <p:nvPr userDrawn="1"/>
        </p:nvCxnSpPr>
        <p:spPr>
          <a:xfrm>
            <a:off x="457994" y="1162050"/>
            <a:ext cx="868600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itle 2"/>
          <p:cNvSpPr>
            <a:spLocks noGrp="1"/>
          </p:cNvSpPr>
          <p:nvPr>
            <p:ph type="title" hasCustomPrompt="1"/>
          </p:nvPr>
        </p:nvSpPr>
        <p:spPr/>
        <p:txBody>
          <a:bodyPr/>
          <a:lstStyle/>
          <a:p>
            <a:r>
              <a:rPr lang="en-US" dirty="0"/>
              <a:t>Master Title Slide Headline</a:t>
            </a:r>
            <a:endParaRPr lang="en-CA" dirty="0"/>
          </a:p>
        </p:txBody>
      </p:sp>
      <p:sp>
        <p:nvSpPr>
          <p:cNvPr id="8" name="TextBox 7"/>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7F7F7F"/>
                </a:solidFill>
                <a:latin typeface="Arial" pitchFamily="34" charset="0"/>
                <a:cs typeface="Arial" pitchFamily="34" charset="0"/>
              </a:rPr>
              <a:pPr algn="r"/>
              <a:t>‹#›</a:t>
            </a:fld>
            <a:endParaRPr lang="en-CA" sz="900" dirty="0">
              <a:solidFill>
                <a:srgbClr val="7F7F7F"/>
              </a:solidFill>
              <a:latin typeface="Arial" pitchFamily="34" charset="0"/>
              <a:cs typeface="Arial" pitchFamily="34" charset="0"/>
            </a:endParaRPr>
          </a:p>
        </p:txBody>
      </p:sp>
    </p:spTree>
    <p:extLst>
      <p:ext uri="{BB962C8B-B14F-4D97-AF65-F5344CB8AC3E}">
        <p14:creationId xmlns:p14="http://schemas.microsoft.com/office/powerpoint/2010/main" val="316202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2-content Paragraphs">
    <p:spTree>
      <p:nvGrpSpPr>
        <p:cNvPr id="1" name=""/>
        <p:cNvGrpSpPr/>
        <p:nvPr/>
      </p:nvGrpSpPr>
      <p:grpSpPr>
        <a:xfrm>
          <a:off x="0" y="0"/>
          <a:ext cx="0" cy="0"/>
          <a:chOff x="0" y="0"/>
          <a:chExt cx="0" cy="0"/>
        </a:xfrm>
      </p:grpSpPr>
      <p:sp>
        <p:nvSpPr>
          <p:cNvPr id="10" name="Content Placeholder 9"/>
          <p:cNvSpPr>
            <a:spLocks noGrp="1"/>
          </p:cNvSpPr>
          <p:nvPr>
            <p:ph sz="quarter" idx="12" hasCustomPrompt="1"/>
          </p:nvPr>
        </p:nvSpPr>
        <p:spPr>
          <a:xfrm>
            <a:off x="457202" y="1381125"/>
            <a:ext cx="4025898" cy="4824414"/>
          </a:xfrm>
        </p:spPr>
        <p:txBody>
          <a:bodyPr>
            <a:normAutofit/>
          </a:bodyPr>
          <a:lstStyle>
            <a:lvl1pPr marL="0" indent="0">
              <a:spcBef>
                <a:spcPts val="1200"/>
              </a:spcBef>
              <a:spcAft>
                <a:spcPts val="0"/>
              </a:spcAft>
              <a:buNone/>
              <a:defRPr sz="2000" b="1">
                <a:solidFill>
                  <a:schemeClr val="bg2"/>
                </a:solidFill>
              </a:defRPr>
            </a:lvl1pPr>
            <a:lvl2pPr marL="231775" indent="-231775">
              <a:buFont typeface="Arial" pitchFamily="34" charset="0"/>
              <a:buChar char="•"/>
              <a:defRPr sz="2000"/>
            </a:lvl2pPr>
            <a:lvl3pPr marL="457200" indent="-231775">
              <a:buFont typeface="Arial" pitchFamily="34" charset="0"/>
              <a:buChar char="–"/>
              <a:defRPr sz="1800"/>
            </a:lvl3pPr>
            <a:lvl4pPr marL="688975" indent="-225425">
              <a:buFont typeface="Arial" pitchFamily="34" charset="0"/>
              <a:buChar char="•"/>
              <a:defRPr sz="1600"/>
            </a:lvl4pPr>
            <a:lvl5pPr marL="914400" indent="-225425">
              <a:buFont typeface="Arial" pitchFamily="34" charset="0"/>
              <a:buChar char="–"/>
              <a:tabLst/>
              <a:defRPr sz="1400"/>
            </a:lvl5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sp>
        <p:nvSpPr>
          <p:cNvPr id="8" name="Content Placeholder 9"/>
          <p:cNvSpPr>
            <a:spLocks noGrp="1"/>
          </p:cNvSpPr>
          <p:nvPr>
            <p:ph sz="quarter" idx="14" hasCustomPrompt="1"/>
          </p:nvPr>
        </p:nvSpPr>
        <p:spPr>
          <a:xfrm>
            <a:off x="4660900" y="1381125"/>
            <a:ext cx="4025898" cy="4824414"/>
          </a:xfrm>
        </p:spPr>
        <p:txBody>
          <a:bodyPr>
            <a:normAutofit/>
          </a:bodyPr>
          <a:lstStyle>
            <a:lvl1pPr marL="0" indent="0">
              <a:spcBef>
                <a:spcPts val="1200"/>
              </a:spcBef>
              <a:spcAft>
                <a:spcPts val="0"/>
              </a:spcAft>
              <a:buNone/>
              <a:defRPr sz="2000" b="1">
                <a:solidFill>
                  <a:schemeClr val="bg2"/>
                </a:solidFill>
              </a:defRPr>
            </a:lvl1pPr>
            <a:lvl2pPr marL="231775" indent="-231775">
              <a:buFont typeface="Arial" pitchFamily="34" charset="0"/>
              <a:buChar char="•"/>
              <a:defRPr sz="2000"/>
            </a:lvl2pPr>
            <a:lvl3pPr marL="457200" indent="-231775">
              <a:buFont typeface="Arial" pitchFamily="34" charset="0"/>
              <a:buChar char="–"/>
              <a:defRPr sz="1800"/>
            </a:lvl3pPr>
            <a:lvl4pPr marL="688975" indent="-225425">
              <a:buFont typeface="Arial" pitchFamily="34" charset="0"/>
              <a:buChar char="•"/>
              <a:defRPr sz="1600"/>
            </a:lvl4pPr>
            <a:lvl5pPr marL="914400" indent="-225425">
              <a:buFont typeface="Arial" pitchFamily="34" charset="0"/>
              <a:buChar char="–"/>
              <a:tabLst/>
              <a:defRPr sz="1400"/>
            </a:lvl5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cxnSp>
        <p:nvCxnSpPr>
          <p:cNvPr id="11" name="Straight Connector 10"/>
          <p:cNvCxnSpPr/>
          <p:nvPr userDrawn="1"/>
        </p:nvCxnSpPr>
        <p:spPr>
          <a:xfrm>
            <a:off x="457994" y="1162050"/>
            <a:ext cx="868600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itle 2"/>
          <p:cNvSpPr>
            <a:spLocks noGrp="1"/>
          </p:cNvSpPr>
          <p:nvPr>
            <p:ph type="title" hasCustomPrompt="1"/>
          </p:nvPr>
        </p:nvSpPr>
        <p:spPr/>
        <p:txBody>
          <a:bodyPr/>
          <a:lstStyle/>
          <a:p>
            <a:r>
              <a:rPr lang="en-US" dirty="0"/>
              <a:t>Master Title Slide Headline</a:t>
            </a:r>
            <a:endParaRPr lang="en-CA" dirty="0"/>
          </a:p>
        </p:txBody>
      </p:sp>
      <p:sp>
        <p:nvSpPr>
          <p:cNvPr id="9" name="TextBox 8"/>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666666"/>
                </a:solidFill>
                <a:latin typeface="Arial" pitchFamily="34" charset="0"/>
                <a:cs typeface="Arial" pitchFamily="34" charset="0"/>
              </a:rPr>
              <a:pPr algn="r"/>
              <a:t>‹#›</a:t>
            </a:fld>
            <a:endParaRPr lang="en-CA" sz="900" dirty="0">
              <a:solidFill>
                <a:srgbClr val="666666"/>
              </a:solidFill>
              <a:latin typeface="Arial" pitchFamily="34" charset="0"/>
              <a:cs typeface="Arial" pitchFamily="34" charset="0"/>
            </a:endParaRPr>
          </a:p>
        </p:txBody>
      </p:sp>
    </p:spTree>
    <p:extLst>
      <p:ext uri="{BB962C8B-B14F-4D97-AF65-F5344CB8AC3E}">
        <p14:creationId xmlns:p14="http://schemas.microsoft.com/office/powerpoint/2010/main" val="3503237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cxnSp>
        <p:nvCxnSpPr>
          <p:cNvPr id="7" name="Straight Connector 6"/>
          <p:cNvCxnSpPr/>
          <p:nvPr userDrawn="1"/>
        </p:nvCxnSpPr>
        <p:spPr>
          <a:xfrm>
            <a:off x="457994" y="1162050"/>
            <a:ext cx="868600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itle 2"/>
          <p:cNvSpPr>
            <a:spLocks noGrp="1"/>
          </p:cNvSpPr>
          <p:nvPr>
            <p:ph type="title" hasCustomPrompt="1"/>
          </p:nvPr>
        </p:nvSpPr>
        <p:spPr/>
        <p:txBody>
          <a:bodyPr/>
          <a:lstStyle/>
          <a:p>
            <a:r>
              <a:rPr lang="en-US" dirty="0"/>
              <a:t>Master Title Slide Headline</a:t>
            </a:r>
            <a:endParaRPr lang="en-CA" dirty="0"/>
          </a:p>
        </p:txBody>
      </p:sp>
      <p:sp>
        <p:nvSpPr>
          <p:cNvPr id="6" name="TextBox 5"/>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7F7F7F"/>
                </a:solidFill>
                <a:latin typeface="Arial" pitchFamily="34" charset="0"/>
                <a:cs typeface="Arial" pitchFamily="34" charset="0"/>
              </a:rPr>
              <a:pPr algn="r"/>
              <a:t>‹#›</a:t>
            </a:fld>
            <a:endParaRPr lang="en-CA" sz="900" dirty="0">
              <a:solidFill>
                <a:srgbClr val="7F7F7F"/>
              </a:solidFill>
              <a:latin typeface="Arial" pitchFamily="34" charset="0"/>
              <a:cs typeface="Arial" pitchFamily="34" charset="0"/>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91400" y="7937"/>
            <a:ext cx="1641894" cy="1229836"/>
          </a:xfrm>
          <a:prstGeom prst="rect">
            <a:avLst/>
          </a:prstGeom>
        </p:spPr>
      </p:pic>
    </p:spTree>
    <p:extLst>
      <p:ext uri="{BB962C8B-B14F-4D97-AF65-F5344CB8AC3E}">
        <p14:creationId xmlns:p14="http://schemas.microsoft.com/office/powerpoint/2010/main" val="1954005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extBox 2"/>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7F7F7F"/>
                </a:solidFill>
                <a:latin typeface="Arial" pitchFamily="34" charset="0"/>
                <a:cs typeface="Arial" pitchFamily="34" charset="0"/>
              </a:rPr>
              <a:pPr algn="r"/>
              <a:t>‹#›</a:t>
            </a:fld>
            <a:endParaRPr lang="en-CA" sz="900" dirty="0">
              <a:solidFill>
                <a:srgbClr val="7F7F7F"/>
              </a:solidFill>
              <a:latin typeface="Arial" pitchFamily="34" charset="0"/>
              <a:cs typeface="Arial" pitchFamily="34" charset="0"/>
            </a:endParaRP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91400" y="7937"/>
            <a:ext cx="1641894" cy="1229836"/>
          </a:xfrm>
          <a:prstGeom prst="rect">
            <a:avLst/>
          </a:prstGeom>
        </p:spPr>
      </p:pic>
    </p:spTree>
    <p:extLst>
      <p:ext uri="{BB962C8B-B14F-4D97-AF65-F5344CB8AC3E}">
        <p14:creationId xmlns:p14="http://schemas.microsoft.com/office/powerpoint/2010/main" val="3179293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estions">
    <p:bg>
      <p:bgPr>
        <a:solidFill>
          <a:schemeClr val="tx2"/>
        </a:solidFill>
        <a:effectLst/>
      </p:bgPr>
    </p:bg>
    <p:spTree>
      <p:nvGrpSpPr>
        <p:cNvPr id="1" name=""/>
        <p:cNvGrpSpPr/>
        <p:nvPr/>
      </p:nvGrpSpPr>
      <p:grpSpPr>
        <a:xfrm>
          <a:off x="0" y="0"/>
          <a:ext cx="0" cy="0"/>
          <a:chOff x="0" y="0"/>
          <a:chExt cx="0" cy="0"/>
        </a:xfrm>
      </p:grpSpPr>
      <p:pic>
        <p:nvPicPr>
          <p:cNvPr id="3" name="Picture 2" descr="123583599.jpg"/>
          <p:cNvPicPr>
            <a:picLocks noChangeAspect="1"/>
          </p:cNvPicPr>
          <p:nvPr userDrawn="1"/>
        </p:nvPicPr>
        <p:blipFill>
          <a:blip r:embed="rId2" cstate="print"/>
          <a:stretch>
            <a:fillRect/>
          </a:stretch>
        </p:blipFill>
        <p:spPr>
          <a:xfrm>
            <a:off x="0" y="0"/>
            <a:ext cx="9144000" cy="6858000"/>
          </a:xfrm>
          <a:prstGeom prst="rect">
            <a:avLst/>
          </a:prstGeom>
        </p:spPr>
      </p:pic>
      <p:sp>
        <p:nvSpPr>
          <p:cNvPr id="5" name="Text Placeholder 8"/>
          <p:cNvSpPr>
            <a:spLocks noGrp="1"/>
          </p:cNvSpPr>
          <p:nvPr>
            <p:ph type="body" sz="quarter" idx="10" hasCustomPrompt="1"/>
          </p:nvPr>
        </p:nvSpPr>
        <p:spPr>
          <a:xfrm>
            <a:off x="457200" y="359082"/>
            <a:ext cx="8228013" cy="605012"/>
          </a:xfrm>
        </p:spPr>
        <p:txBody>
          <a:bodyPr lIns="0" rIns="0" anchor="b" anchorCtr="0">
            <a:noAutofit/>
          </a:bodyPr>
          <a:lstStyle>
            <a:lvl1pPr marL="0" indent="0" algn="l">
              <a:lnSpc>
                <a:spcPts val="3900"/>
              </a:lnSpc>
              <a:spcBef>
                <a:spcPts val="0"/>
              </a:spcBef>
              <a:spcAft>
                <a:spcPts val="0"/>
              </a:spcAft>
              <a:buNone/>
              <a:defRPr sz="4000" b="0" baseline="0">
                <a:solidFill>
                  <a:schemeClr val="tx2"/>
                </a:solidFill>
              </a:defRPr>
            </a:lvl1pPr>
            <a:lvl2pPr marL="0" indent="0">
              <a:lnSpc>
                <a:spcPct val="100000"/>
              </a:lnSpc>
              <a:spcAft>
                <a:spcPts val="0"/>
              </a:spcAft>
              <a:buNone/>
              <a:defRPr sz="1900">
                <a:solidFill>
                  <a:schemeClr val="bg1"/>
                </a:solidFill>
              </a:defRPr>
            </a:lvl2pPr>
            <a:lvl3pPr marL="468000" indent="0">
              <a:buNone/>
              <a:defRPr/>
            </a:lvl3pPr>
          </a:lstStyle>
          <a:p>
            <a:pPr lvl="0"/>
            <a:r>
              <a:rPr lang="en-US" dirty="0"/>
              <a:t>Master Divider Slide Headline</a:t>
            </a:r>
          </a:p>
        </p:txBody>
      </p:sp>
    </p:spTree>
    <p:extLst>
      <p:ext uri="{BB962C8B-B14F-4D97-AF65-F5344CB8AC3E}">
        <p14:creationId xmlns:p14="http://schemas.microsoft.com/office/powerpoint/2010/main" val="2309944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troductions">
    <p:bg>
      <p:bgPr>
        <a:solidFill>
          <a:schemeClr val="tx2"/>
        </a:solidFill>
        <a:effectLst/>
      </p:bgPr>
    </p:bg>
    <p:spTree>
      <p:nvGrpSpPr>
        <p:cNvPr id="1" name=""/>
        <p:cNvGrpSpPr/>
        <p:nvPr/>
      </p:nvGrpSpPr>
      <p:grpSpPr>
        <a:xfrm>
          <a:off x="0" y="0"/>
          <a:ext cx="0" cy="0"/>
          <a:chOff x="0" y="0"/>
          <a:chExt cx="0" cy="0"/>
        </a:xfrm>
      </p:grpSpPr>
      <p:pic>
        <p:nvPicPr>
          <p:cNvPr id="4" name="Picture 3" descr="stk153597rke.jpg"/>
          <p:cNvPicPr>
            <a:picLocks noChangeAspect="1"/>
          </p:cNvPicPr>
          <p:nvPr userDrawn="1"/>
        </p:nvPicPr>
        <p:blipFill>
          <a:blip r:embed="rId2" cstate="print"/>
          <a:stretch>
            <a:fillRect/>
          </a:stretch>
        </p:blipFill>
        <p:spPr>
          <a:xfrm>
            <a:off x="0" y="0"/>
            <a:ext cx="9144000" cy="6858000"/>
          </a:xfrm>
          <a:prstGeom prst="rect">
            <a:avLst/>
          </a:prstGeom>
        </p:spPr>
      </p:pic>
      <p:sp>
        <p:nvSpPr>
          <p:cNvPr id="5" name="Text Placeholder 8"/>
          <p:cNvSpPr>
            <a:spLocks noGrp="1"/>
          </p:cNvSpPr>
          <p:nvPr>
            <p:ph type="body" sz="quarter" idx="10" hasCustomPrompt="1"/>
          </p:nvPr>
        </p:nvSpPr>
        <p:spPr>
          <a:xfrm>
            <a:off x="457200" y="359082"/>
            <a:ext cx="8228013" cy="605012"/>
          </a:xfrm>
        </p:spPr>
        <p:txBody>
          <a:bodyPr lIns="0" rIns="0" anchor="b" anchorCtr="0">
            <a:noAutofit/>
          </a:bodyPr>
          <a:lstStyle>
            <a:lvl1pPr marL="0" indent="0" algn="l">
              <a:lnSpc>
                <a:spcPts val="3900"/>
              </a:lnSpc>
              <a:spcBef>
                <a:spcPts val="0"/>
              </a:spcBef>
              <a:spcAft>
                <a:spcPts val="0"/>
              </a:spcAft>
              <a:buNone/>
              <a:defRPr sz="4000" b="0" baseline="0">
                <a:solidFill>
                  <a:schemeClr val="tx2"/>
                </a:solidFill>
              </a:defRPr>
            </a:lvl1pPr>
            <a:lvl2pPr marL="0" indent="0">
              <a:lnSpc>
                <a:spcPct val="100000"/>
              </a:lnSpc>
              <a:spcAft>
                <a:spcPts val="0"/>
              </a:spcAft>
              <a:buNone/>
              <a:defRPr sz="1900">
                <a:solidFill>
                  <a:schemeClr val="bg1"/>
                </a:solidFill>
              </a:defRPr>
            </a:lvl2pPr>
            <a:lvl3pPr marL="468000" indent="0">
              <a:buNone/>
              <a:defRPr/>
            </a:lvl3pPr>
          </a:lstStyle>
          <a:p>
            <a:pPr lvl="0"/>
            <a:r>
              <a:rPr lang="en-US" dirty="0"/>
              <a:t>Master Divider Slide Headline</a:t>
            </a:r>
          </a:p>
        </p:txBody>
      </p:sp>
    </p:spTree>
    <p:extLst>
      <p:ext uri="{BB962C8B-B14F-4D97-AF65-F5344CB8AC3E}">
        <p14:creationId xmlns:p14="http://schemas.microsoft.com/office/powerpoint/2010/main" val="2309944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ext Steps">
    <p:spTree>
      <p:nvGrpSpPr>
        <p:cNvPr id="1" name=""/>
        <p:cNvGrpSpPr/>
        <p:nvPr/>
      </p:nvGrpSpPr>
      <p:grpSpPr>
        <a:xfrm>
          <a:off x="0" y="0"/>
          <a:ext cx="0" cy="0"/>
          <a:chOff x="0" y="0"/>
          <a:chExt cx="0" cy="0"/>
        </a:xfrm>
      </p:grpSpPr>
      <p:sp>
        <p:nvSpPr>
          <p:cNvPr id="10" name="Content Placeholder 9"/>
          <p:cNvSpPr>
            <a:spLocks noGrp="1"/>
          </p:cNvSpPr>
          <p:nvPr>
            <p:ph sz="quarter" idx="12" hasCustomPrompt="1"/>
          </p:nvPr>
        </p:nvSpPr>
        <p:spPr>
          <a:xfrm>
            <a:off x="457201" y="1381125"/>
            <a:ext cx="8228012" cy="5037138"/>
          </a:xfrm>
        </p:spPr>
        <p:txBody>
          <a:bodyPr/>
          <a:lstStyle>
            <a:lvl2pPr>
              <a:defRPr/>
            </a:lvl2pPr>
            <a:lvl3pPr>
              <a:defRPr/>
            </a:lvl3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pic>
        <p:nvPicPr>
          <p:cNvPr id="9" name="Picture 8" descr="Power_PC [Converted].png"/>
          <p:cNvPicPr>
            <a:picLocks noChangeAspect="1"/>
          </p:cNvPicPr>
          <p:nvPr userDrawn="1"/>
        </p:nvPicPr>
        <p:blipFill>
          <a:blip r:embed="rId2" cstate="print"/>
          <a:stretch>
            <a:fillRect/>
          </a:stretch>
        </p:blipFill>
        <p:spPr>
          <a:xfrm>
            <a:off x="7294652" y="170122"/>
            <a:ext cx="1535846" cy="1781155"/>
          </a:xfrm>
          <a:prstGeom prst="rect">
            <a:avLst/>
          </a:prstGeom>
        </p:spPr>
      </p:pic>
      <p:cxnSp>
        <p:nvCxnSpPr>
          <p:cNvPr id="7" name="Straight Connector 6"/>
          <p:cNvCxnSpPr/>
          <p:nvPr userDrawn="1"/>
        </p:nvCxnSpPr>
        <p:spPr>
          <a:xfrm>
            <a:off x="457994" y="1162050"/>
            <a:ext cx="868600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hasCustomPrompt="1"/>
          </p:nvPr>
        </p:nvSpPr>
        <p:spPr/>
        <p:txBody>
          <a:bodyPr/>
          <a:lstStyle/>
          <a:p>
            <a:r>
              <a:rPr lang="en-US" dirty="0"/>
              <a:t>Master Title Slide Headline</a:t>
            </a:r>
            <a:endParaRPr lang="en-CA" dirty="0"/>
          </a:p>
        </p:txBody>
      </p:sp>
      <p:sp>
        <p:nvSpPr>
          <p:cNvPr id="8" name="TextBox 7"/>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7F7F7F"/>
                </a:solidFill>
                <a:latin typeface="Arial" pitchFamily="34" charset="0"/>
                <a:cs typeface="Arial" pitchFamily="34" charset="0"/>
              </a:rPr>
              <a:pPr algn="r"/>
              <a:t>‹#›</a:t>
            </a:fld>
            <a:endParaRPr lang="en-CA" sz="900" dirty="0">
              <a:solidFill>
                <a:srgbClr val="7F7F7F"/>
              </a:solidFill>
              <a:latin typeface="Arial" pitchFamily="34" charset="0"/>
              <a:cs typeface="Arial" pitchFamily="34" charset="0"/>
            </a:endParaRPr>
          </a:p>
        </p:txBody>
      </p:sp>
    </p:spTree>
    <p:extLst>
      <p:ext uri="{BB962C8B-B14F-4D97-AF65-F5344CB8AC3E}">
        <p14:creationId xmlns:p14="http://schemas.microsoft.com/office/powerpoint/2010/main" val="3503237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pic>
        <p:nvPicPr>
          <p:cNvPr id="11" name="Picture 10" descr="Light Bulb_PC [Converted].png"/>
          <p:cNvPicPr>
            <a:picLocks noChangeAspect="1"/>
          </p:cNvPicPr>
          <p:nvPr userDrawn="1"/>
        </p:nvPicPr>
        <p:blipFill>
          <a:blip r:embed="rId2" cstate="print"/>
          <a:stretch>
            <a:fillRect/>
          </a:stretch>
        </p:blipFill>
        <p:spPr>
          <a:xfrm>
            <a:off x="7315201" y="170122"/>
            <a:ext cx="1388650" cy="2239199"/>
          </a:xfrm>
          <a:prstGeom prst="rect">
            <a:avLst/>
          </a:prstGeom>
        </p:spPr>
      </p:pic>
      <p:sp>
        <p:nvSpPr>
          <p:cNvPr id="10" name="Content Placeholder 9"/>
          <p:cNvSpPr>
            <a:spLocks noGrp="1"/>
          </p:cNvSpPr>
          <p:nvPr>
            <p:ph sz="quarter" idx="12" hasCustomPrompt="1"/>
          </p:nvPr>
        </p:nvSpPr>
        <p:spPr>
          <a:xfrm>
            <a:off x="457201" y="1381125"/>
            <a:ext cx="8228012" cy="5037138"/>
          </a:xfrm>
        </p:spPr>
        <p:txBody>
          <a:bodyPr/>
          <a:lstStyle>
            <a:lvl2pPr>
              <a:defRPr/>
            </a:lvl2pPr>
            <a:lvl3pPr>
              <a:defRPr/>
            </a:lvl3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cxnSp>
        <p:nvCxnSpPr>
          <p:cNvPr id="7" name="Straight Connector 6"/>
          <p:cNvCxnSpPr/>
          <p:nvPr userDrawn="1"/>
        </p:nvCxnSpPr>
        <p:spPr>
          <a:xfrm>
            <a:off x="457994" y="1162050"/>
            <a:ext cx="868600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hasCustomPrompt="1"/>
          </p:nvPr>
        </p:nvSpPr>
        <p:spPr/>
        <p:txBody>
          <a:bodyPr/>
          <a:lstStyle/>
          <a:p>
            <a:r>
              <a:rPr lang="en-US" dirty="0"/>
              <a:t>Master Title Slide Headline</a:t>
            </a:r>
            <a:endParaRPr lang="en-CA" dirty="0"/>
          </a:p>
        </p:txBody>
      </p:sp>
      <p:sp>
        <p:nvSpPr>
          <p:cNvPr id="8" name="TextBox 7"/>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7F7F7F"/>
                </a:solidFill>
                <a:latin typeface="Arial" pitchFamily="34" charset="0"/>
                <a:cs typeface="Arial" pitchFamily="34" charset="0"/>
              </a:rPr>
              <a:pPr algn="r"/>
              <a:t>‹#›</a:t>
            </a:fld>
            <a:endParaRPr lang="en-CA" sz="900" dirty="0">
              <a:solidFill>
                <a:srgbClr val="7F7F7F"/>
              </a:solidFill>
              <a:latin typeface="Arial" pitchFamily="34" charset="0"/>
              <a:cs typeface="Arial" pitchFamily="34" charset="0"/>
            </a:endParaRPr>
          </a:p>
        </p:txBody>
      </p:sp>
    </p:spTree>
    <p:extLst>
      <p:ext uri="{BB962C8B-B14F-4D97-AF65-F5344CB8AC3E}">
        <p14:creationId xmlns:p14="http://schemas.microsoft.com/office/powerpoint/2010/main" val="35032379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9" name="Picture 8" descr="Magnify_PC [Converted].png"/>
          <p:cNvPicPr>
            <a:picLocks noChangeAspect="1"/>
          </p:cNvPicPr>
          <p:nvPr userDrawn="1"/>
        </p:nvPicPr>
        <p:blipFill>
          <a:blip r:embed="rId2" cstate="print"/>
          <a:stretch>
            <a:fillRect/>
          </a:stretch>
        </p:blipFill>
        <p:spPr>
          <a:xfrm>
            <a:off x="7017943" y="158624"/>
            <a:ext cx="2000897" cy="2006852"/>
          </a:xfrm>
          <a:prstGeom prst="rect">
            <a:avLst/>
          </a:prstGeom>
        </p:spPr>
      </p:pic>
      <p:sp>
        <p:nvSpPr>
          <p:cNvPr id="10" name="Content Placeholder 9"/>
          <p:cNvSpPr>
            <a:spLocks noGrp="1"/>
          </p:cNvSpPr>
          <p:nvPr>
            <p:ph sz="quarter" idx="12" hasCustomPrompt="1"/>
          </p:nvPr>
        </p:nvSpPr>
        <p:spPr>
          <a:xfrm>
            <a:off x="457201" y="1381125"/>
            <a:ext cx="8228012" cy="5037138"/>
          </a:xfrm>
        </p:spPr>
        <p:txBody>
          <a:bodyPr/>
          <a:lstStyle>
            <a:lvl2pPr>
              <a:defRPr/>
            </a:lvl2pPr>
            <a:lvl3pPr>
              <a:defRPr/>
            </a:lvl3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cxnSp>
        <p:nvCxnSpPr>
          <p:cNvPr id="7" name="Straight Connector 6"/>
          <p:cNvCxnSpPr/>
          <p:nvPr userDrawn="1"/>
        </p:nvCxnSpPr>
        <p:spPr>
          <a:xfrm>
            <a:off x="457994" y="1162050"/>
            <a:ext cx="868600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hasCustomPrompt="1"/>
          </p:nvPr>
        </p:nvSpPr>
        <p:spPr/>
        <p:txBody>
          <a:bodyPr/>
          <a:lstStyle/>
          <a:p>
            <a:r>
              <a:rPr lang="en-US" dirty="0"/>
              <a:t>Master Title Slide Headline</a:t>
            </a:r>
            <a:endParaRPr lang="en-CA" dirty="0"/>
          </a:p>
        </p:txBody>
      </p:sp>
      <p:sp>
        <p:nvSpPr>
          <p:cNvPr id="8" name="TextBox 7"/>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7F7F7F"/>
                </a:solidFill>
                <a:latin typeface="Arial" pitchFamily="34" charset="0"/>
                <a:cs typeface="Arial" pitchFamily="34" charset="0"/>
              </a:rPr>
              <a:pPr algn="r"/>
              <a:t>‹#›</a:t>
            </a:fld>
            <a:endParaRPr lang="en-CA" sz="900" dirty="0">
              <a:solidFill>
                <a:srgbClr val="7F7F7F"/>
              </a:solidFill>
              <a:latin typeface="Arial" pitchFamily="34" charset="0"/>
              <a:cs typeface="Arial" pitchFamily="34" charset="0"/>
            </a:endParaRPr>
          </a:p>
        </p:txBody>
      </p:sp>
    </p:spTree>
    <p:extLst>
      <p:ext uri="{BB962C8B-B14F-4D97-AF65-F5344CB8AC3E}">
        <p14:creationId xmlns:p14="http://schemas.microsoft.com/office/powerpoint/2010/main" val="35032379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scussion">
    <p:spTree>
      <p:nvGrpSpPr>
        <p:cNvPr id="1" name=""/>
        <p:cNvGrpSpPr/>
        <p:nvPr/>
      </p:nvGrpSpPr>
      <p:grpSpPr>
        <a:xfrm>
          <a:off x="0" y="0"/>
          <a:ext cx="0" cy="0"/>
          <a:chOff x="0" y="0"/>
          <a:chExt cx="0" cy="0"/>
        </a:xfrm>
      </p:grpSpPr>
      <p:pic>
        <p:nvPicPr>
          <p:cNvPr id="11" name="Picture 10" descr="Speaker_PC [Converted].png"/>
          <p:cNvPicPr>
            <a:picLocks noChangeAspect="1"/>
          </p:cNvPicPr>
          <p:nvPr userDrawn="1"/>
        </p:nvPicPr>
        <p:blipFill>
          <a:blip r:embed="rId2" cstate="print"/>
          <a:stretch>
            <a:fillRect/>
          </a:stretch>
        </p:blipFill>
        <p:spPr>
          <a:xfrm>
            <a:off x="6642376" y="195281"/>
            <a:ext cx="2191150" cy="1808840"/>
          </a:xfrm>
          <a:prstGeom prst="rect">
            <a:avLst/>
          </a:prstGeom>
        </p:spPr>
      </p:pic>
      <p:sp>
        <p:nvSpPr>
          <p:cNvPr id="10" name="Content Placeholder 9"/>
          <p:cNvSpPr>
            <a:spLocks noGrp="1"/>
          </p:cNvSpPr>
          <p:nvPr>
            <p:ph sz="quarter" idx="12" hasCustomPrompt="1"/>
          </p:nvPr>
        </p:nvSpPr>
        <p:spPr>
          <a:xfrm>
            <a:off x="457201" y="1381125"/>
            <a:ext cx="8228012" cy="5037138"/>
          </a:xfrm>
        </p:spPr>
        <p:txBody>
          <a:bodyPr/>
          <a:lstStyle>
            <a:lvl2pPr>
              <a:defRPr/>
            </a:lvl2pPr>
            <a:lvl3pPr>
              <a:defRPr/>
            </a:lvl3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cxnSp>
        <p:nvCxnSpPr>
          <p:cNvPr id="7" name="Straight Connector 6"/>
          <p:cNvCxnSpPr/>
          <p:nvPr userDrawn="1"/>
        </p:nvCxnSpPr>
        <p:spPr>
          <a:xfrm>
            <a:off x="457994" y="1162050"/>
            <a:ext cx="868600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hasCustomPrompt="1"/>
          </p:nvPr>
        </p:nvSpPr>
        <p:spPr/>
        <p:txBody>
          <a:bodyPr/>
          <a:lstStyle/>
          <a:p>
            <a:r>
              <a:rPr lang="en-US" dirty="0"/>
              <a:t>Master Title Slide Headline</a:t>
            </a:r>
            <a:endParaRPr lang="en-CA" dirty="0"/>
          </a:p>
        </p:txBody>
      </p:sp>
      <p:sp>
        <p:nvSpPr>
          <p:cNvPr id="8" name="TextBox 7"/>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7F7F7F"/>
                </a:solidFill>
                <a:latin typeface="Arial" pitchFamily="34" charset="0"/>
                <a:cs typeface="Arial" pitchFamily="34" charset="0"/>
              </a:rPr>
              <a:pPr algn="r"/>
              <a:t>‹#›</a:t>
            </a:fld>
            <a:endParaRPr lang="en-CA" sz="900" dirty="0">
              <a:solidFill>
                <a:srgbClr val="7F7F7F"/>
              </a:solidFill>
              <a:latin typeface="Arial" pitchFamily="34" charset="0"/>
              <a:cs typeface="Arial" pitchFamily="34" charset="0"/>
            </a:endParaRPr>
          </a:p>
        </p:txBody>
      </p:sp>
    </p:spTree>
    <p:extLst>
      <p:ext uri="{BB962C8B-B14F-4D97-AF65-F5344CB8AC3E}">
        <p14:creationId xmlns:p14="http://schemas.microsoft.com/office/powerpoint/2010/main" val="35032379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ctivity">
    <p:spTree>
      <p:nvGrpSpPr>
        <p:cNvPr id="1" name=""/>
        <p:cNvGrpSpPr/>
        <p:nvPr/>
      </p:nvGrpSpPr>
      <p:grpSpPr>
        <a:xfrm>
          <a:off x="0" y="0"/>
          <a:ext cx="0" cy="0"/>
          <a:chOff x="0" y="0"/>
          <a:chExt cx="0" cy="0"/>
        </a:xfrm>
      </p:grpSpPr>
      <p:pic>
        <p:nvPicPr>
          <p:cNvPr id="11" name="Picture 10" descr="140258517.png"/>
          <p:cNvPicPr>
            <a:picLocks noChangeAspect="1"/>
          </p:cNvPicPr>
          <p:nvPr userDrawn="1"/>
        </p:nvPicPr>
        <p:blipFill>
          <a:blip r:embed="rId2" cstate="print"/>
          <a:stretch>
            <a:fillRect/>
          </a:stretch>
        </p:blipFill>
        <p:spPr>
          <a:xfrm>
            <a:off x="5189368" y="3429000"/>
            <a:ext cx="4114286" cy="3419048"/>
          </a:xfrm>
          <a:prstGeom prst="rect">
            <a:avLst/>
          </a:prstGeom>
        </p:spPr>
      </p:pic>
      <p:sp>
        <p:nvSpPr>
          <p:cNvPr id="10" name="Content Placeholder 9"/>
          <p:cNvSpPr>
            <a:spLocks noGrp="1"/>
          </p:cNvSpPr>
          <p:nvPr>
            <p:ph sz="quarter" idx="12" hasCustomPrompt="1"/>
          </p:nvPr>
        </p:nvSpPr>
        <p:spPr/>
        <p:txBody>
          <a:bodyPr/>
          <a:lstStyle>
            <a:lvl2pPr>
              <a:defRPr/>
            </a:lvl2pPr>
            <a:lvl3pPr>
              <a:defRPr/>
            </a:lvl3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cxnSp>
        <p:nvCxnSpPr>
          <p:cNvPr id="7" name="Straight Connector 6"/>
          <p:cNvCxnSpPr/>
          <p:nvPr userDrawn="1"/>
        </p:nvCxnSpPr>
        <p:spPr>
          <a:xfrm>
            <a:off x="457994" y="1162050"/>
            <a:ext cx="868600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hasCustomPrompt="1"/>
          </p:nvPr>
        </p:nvSpPr>
        <p:spPr/>
        <p:txBody>
          <a:bodyPr/>
          <a:lstStyle/>
          <a:p>
            <a:r>
              <a:rPr lang="en-US" dirty="0"/>
              <a:t>Master Title Slide Headline</a:t>
            </a:r>
            <a:endParaRPr lang="en-CA" dirty="0"/>
          </a:p>
        </p:txBody>
      </p:sp>
      <p:sp>
        <p:nvSpPr>
          <p:cNvPr id="8" name="TextBox 7"/>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7F7F7F"/>
                </a:solidFill>
                <a:latin typeface="Arial" pitchFamily="34" charset="0"/>
                <a:cs typeface="Arial" pitchFamily="34" charset="0"/>
              </a:rPr>
              <a:pPr algn="r"/>
              <a:t>‹#›</a:t>
            </a:fld>
            <a:endParaRPr lang="en-CA" sz="900" dirty="0">
              <a:solidFill>
                <a:srgbClr val="7F7F7F"/>
              </a:solidFill>
              <a:latin typeface="Arial" pitchFamily="34" charset="0"/>
              <a:cs typeface="Arial" pitchFamily="34" charset="0"/>
            </a:endParaRPr>
          </a:p>
        </p:txBody>
      </p:sp>
    </p:spTree>
    <p:extLst>
      <p:ext uri="{BB962C8B-B14F-4D97-AF65-F5344CB8AC3E}">
        <p14:creationId xmlns:p14="http://schemas.microsoft.com/office/powerpoint/2010/main" val="35032379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pic>
        <p:nvPicPr>
          <p:cNvPr id="9" name="Picture 8" descr="100605056.png"/>
          <p:cNvPicPr>
            <a:picLocks noChangeAspect="1"/>
          </p:cNvPicPr>
          <p:nvPr userDrawn="1"/>
        </p:nvPicPr>
        <p:blipFill>
          <a:blip r:embed="rId2" cstate="print"/>
          <a:stretch>
            <a:fillRect/>
          </a:stretch>
        </p:blipFill>
        <p:spPr>
          <a:xfrm>
            <a:off x="6218677" y="3062745"/>
            <a:ext cx="2447619" cy="3657143"/>
          </a:xfrm>
          <a:prstGeom prst="rect">
            <a:avLst/>
          </a:prstGeom>
        </p:spPr>
      </p:pic>
      <p:sp>
        <p:nvSpPr>
          <p:cNvPr id="10" name="Content Placeholder 9"/>
          <p:cNvSpPr>
            <a:spLocks noGrp="1"/>
          </p:cNvSpPr>
          <p:nvPr>
            <p:ph sz="quarter" idx="12" hasCustomPrompt="1"/>
          </p:nvPr>
        </p:nvSpPr>
        <p:spPr/>
        <p:txBody>
          <a:bodyPr/>
          <a:lstStyle>
            <a:lvl2pPr>
              <a:defRPr/>
            </a:lvl2pPr>
            <a:lvl3pPr>
              <a:defRPr/>
            </a:lvl3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cxnSp>
        <p:nvCxnSpPr>
          <p:cNvPr id="7" name="Straight Connector 6"/>
          <p:cNvCxnSpPr/>
          <p:nvPr userDrawn="1"/>
        </p:nvCxnSpPr>
        <p:spPr>
          <a:xfrm>
            <a:off x="457994" y="1162050"/>
            <a:ext cx="868600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hasCustomPrompt="1"/>
          </p:nvPr>
        </p:nvSpPr>
        <p:spPr/>
        <p:txBody>
          <a:bodyPr/>
          <a:lstStyle/>
          <a:p>
            <a:r>
              <a:rPr lang="en-US" dirty="0"/>
              <a:t>Master Title Slide Headline</a:t>
            </a:r>
            <a:endParaRPr lang="en-CA" dirty="0"/>
          </a:p>
        </p:txBody>
      </p:sp>
      <p:sp>
        <p:nvSpPr>
          <p:cNvPr id="8" name="TextBox 7"/>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7F7F7F"/>
                </a:solidFill>
                <a:latin typeface="Arial" pitchFamily="34" charset="0"/>
                <a:cs typeface="Arial" pitchFamily="34" charset="0"/>
              </a:rPr>
              <a:pPr algn="r"/>
              <a:t>‹#›</a:t>
            </a:fld>
            <a:endParaRPr lang="en-CA" sz="900" dirty="0">
              <a:solidFill>
                <a:srgbClr val="7F7F7F"/>
              </a:solidFill>
              <a:latin typeface="Arial" pitchFamily="34" charset="0"/>
              <a:cs typeface="Arial" pitchFamily="34" charset="0"/>
            </a:endParaRPr>
          </a:p>
        </p:txBody>
      </p:sp>
    </p:spTree>
    <p:extLst>
      <p:ext uri="{BB962C8B-B14F-4D97-AF65-F5344CB8AC3E}">
        <p14:creationId xmlns:p14="http://schemas.microsoft.com/office/powerpoint/2010/main" val="35032379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urse Goals">
    <p:spTree>
      <p:nvGrpSpPr>
        <p:cNvPr id="1" name=""/>
        <p:cNvGrpSpPr/>
        <p:nvPr/>
      </p:nvGrpSpPr>
      <p:grpSpPr>
        <a:xfrm>
          <a:off x="0" y="0"/>
          <a:ext cx="0" cy="0"/>
          <a:chOff x="0" y="0"/>
          <a:chExt cx="0" cy="0"/>
        </a:xfrm>
      </p:grpSpPr>
      <p:pic>
        <p:nvPicPr>
          <p:cNvPr id="11" name="Picture 10" descr="AA053798.png"/>
          <p:cNvPicPr>
            <a:picLocks noChangeAspect="1"/>
          </p:cNvPicPr>
          <p:nvPr userDrawn="1"/>
        </p:nvPicPr>
        <p:blipFill>
          <a:blip r:embed="rId2" cstate="print"/>
          <a:stretch>
            <a:fillRect/>
          </a:stretch>
        </p:blipFill>
        <p:spPr>
          <a:xfrm>
            <a:off x="3510986" y="4689478"/>
            <a:ext cx="5485715" cy="2019048"/>
          </a:xfrm>
          <a:prstGeom prst="rect">
            <a:avLst/>
          </a:prstGeom>
        </p:spPr>
      </p:pic>
      <p:sp>
        <p:nvSpPr>
          <p:cNvPr id="10" name="Content Placeholder 9"/>
          <p:cNvSpPr>
            <a:spLocks noGrp="1"/>
          </p:cNvSpPr>
          <p:nvPr>
            <p:ph sz="quarter" idx="12" hasCustomPrompt="1"/>
          </p:nvPr>
        </p:nvSpPr>
        <p:spPr/>
        <p:txBody>
          <a:bodyPr/>
          <a:lstStyle>
            <a:lvl2pPr>
              <a:defRPr/>
            </a:lvl2pPr>
            <a:lvl3pPr>
              <a:defRPr/>
            </a:lvl3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cxnSp>
        <p:nvCxnSpPr>
          <p:cNvPr id="7" name="Straight Connector 6"/>
          <p:cNvCxnSpPr/>
          <p:nvPr userDrawn="1"/>
        </p:nvCxnSpPr>
        <p:spPr>
          <a:xfrm>
            <a:off x="457994" y="1162050"/>
            <a:ext cx="868600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hasCustomPrompt="1"/>
          </p:nvPr>
        </p:nvSpPr>
        <p:spPr/>
        <p:txBody>
          <a:bodyPr/>
          <a:lstStyle/>
          <a:p>
            <a:r>
              <a:rPr lang="en-US" dirty="0"/>
              <a:t>Master Title Slide Headline</a:t>
            </a:r>
            <a:endParaRPr lang="en-CA" dirty="0"/>
          </a:p>
        </p:txBody>
      </p:sp>
      <p:sp>
        <p:nvSpPr>
          <p:cNvPr id="8" name="TextBox 7"/>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7F7F7F"/>
                </a:solidFill>
                <a:latin typeface="Arial" pitchFamily="34" charset="0"/>
                <a:cs typeface="Arial" pitchFamily="34" charset="0"/>
              </a:rPr>
              <a:pPr algn="r"/>
              <a:t>‹#›</a:t>
            </a:fld>
            <a:endParaRPr lang="en-CA" sz="900" dirty="0">
              <a:solidFill>
                <a:srgbClr val="7F7F7F"/>
              </a:solidFill>
              <a:latin typeface="Arial" pitchFamily="34" charset="0"/>
              <a:cs typeface="Arial" pitchFamily="34" charset="0"/>
            </a:endParaRPr>
          </a:p>
        </p:txBody>
      </p:sp>
    </p:spTree>
    <p:extLst>
      <p:ext uri="{BB962C8B-B14F-4D97-AF65-F5344CB8AC3E}">
        <p14:creationId xmlns:p14="http://schemas.microsoft.com/office/powerpoint/2010/main" val="35032379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urse Summary">
    <p:spTree>
      <p:nvGrpSpPr>
        <p:cNvPr id="1" name=""/>
        <p:cNvGrpSpPr/>
        <p:nvPr/>
      </p:nvGrpSpPr>
      <p:grpSpPr>
        <a:xfrm>
          <a:off x="0" y="0"/>
          <a:ext cx="0" cy="0"/>
          <a:chOff x="0" y="0"/>
          <a:chExt cx="0" cy="0"/>
        </a:xfrm>
      </p:grpSpPr>
      <p:pic>
        <p:nvPicPr>
          <p:cNvPr id="9" name="Picture 8" descr="AA053797.png"/>
          <p:cNvPicPr>
            <a:picLocks noChangeAspect="1"/>
          </p:cNvPicPr>
          <p:nvPr userDrawn="1"/>
        </p:nvPicPr>
        <p:blipFill>
          <a:blip r:embed="rId2" cstate="print"/>
          <a:stretch>
            <a:fillRect/>
          </a:stretch>
        </p:blipFill>
        <p:spPr>
          <a:xfrm>
            <a:off x="3510986" y="4584716"/>
            <a:ext cx="5485715" cy="2123810"/>
          </a:xfrm>
          <a:prstGeom prst="rect">
            <a:avLst/>
          </a:prstGeom>
        </p:spPr>
      </p:pic>
      <p:sp>
        <p:nvSpPr>
          <p:cNvPr id="10" name="Content Placeholder 9"/>
          <p:cNvSpPr>
            <a:spLocks noGrp="1"/>
          </p:cNvSpPr>
          <p:nvPr>
            <p:ph sz="quarter" idx="12" hasCustomPrompt="1"/>
          </p:nvPr>
        </p:nvSpPr>
        <p:spPr/>
        <p:txBody>
          <a:bodyPr/>
          <a:lstStyle>
            <a:lvl2pPr>
              <a:defRPr/>
            </a:lvl2pPr>
            <a:lvl3pPr>
              <a:defRPr/>
            </a:lvl3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cxnSp>
        <p:nvCxnSpPr>
          <p:cNvPr id="7" name="Straight Connector 6"/>
          <p:cNvCxnSpPr/>
          <p:nvPr userDrawn="1"/>
        </p:nvCxnSpPr>
        <p:spPr>
          <a:xfrm>
            <a:off x="457994" y="1162050"/>
            <a:ext cx="868600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hasCustomPrompt="1"/>
          </p:nvPr>
        </p:nvSpPr>
        <p:spPr/>
        <p:txBody>
          <a:bodyPr/>
          <a:lstStyle/>
          <a:p>
            <a:r>
              <a:rPr lang="en-US" dirty="0"/>
              <a:t>Master Title Slide Headline</a:t>
            </a:r>
            <a:endParaRPr lang="en-CA" dirty="0"/>
          </a:p>
        </p:txBody>
      </p:sp>
      <p:sp>
        <p:nvSpPr>
          <p:cNvPr id="8" name="TextBox 7"/>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7F7F7F"/>
                </a:solidFill>
                <a:latin typeface="Arial" pitchFamily="34" charset="0"/>
                <a:cs typeface="Arial" pitchFamily="34" charset="0"/>
              </a:rPr>
              <a:pPr algn="r"/>
              <a:t>‹#›</a:t>
            </a:fld>
            <a:endParaRPr lang="en-CA" sz="900" dirty="0">
              <a:solidFill>
                <a:srgbClr val="7F7F7F"/>
              </a:solidFill>
              <a:latin typeface="Arial" pitchFamily="34" charset="0"/>
              <a:cs typeface="Arial" pitchFamily="34" charset="0"/>
            </a:endParaRPr>
          </a:p>
        </p:txBody>
      </p:sp>
    </p:spTree>
    <p:extLst>
      <p:ext uri="{BB962C8B-B14F-4D97-AF65-F5344CB8AC3E}">
        <p14:creationId xmlns:p14="http://schemas.microsoft.com/office/powerpoint/2010/main" val="35032379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eflections">
    <p:spTree>
      <p:nvGrpSpPr>
        <p:cNvPr id="1" name=""/>
        <p:cNvGrpSpPr/>
        <p:nvPr/>
      </p:nvGrpSpPr>
      <p:grpSpPr>
        <a:xfrm>
          <a:off x="0" y="0"/>
          <a:ext cx="0" cy="0"/>
          <a:chOff x="0" y="0"/>
          <a:chExt cx="0" cy="0"/>
        </a:xfrm>
      </p:grpSpPr>
      <p:pic>
        <p:nvPicPr>
          <p:cNvPr id="11" name="Picture 10" descr="skd186908sdc.png"/>
          <p:cNvPicPr>
            <a:picLocks noChangeAspect="1"/>
          </p:cNvPicPr>
          <p:nvPr userDrawn="1"/>
        </p:nvPicPr>
        <p:blipFill>
          <a:blip r:embed="rId2" cstate="print"/>
          <a:stretch>
            <a:fillRect/>
          </a:stretch>
        </p:blipFill>
        <p:spPr>
          <a:xfrm>
            <a:off x="5405212" y="3953896"/>
            <a:ext cx="3657143" cy="2733334"/>
          </a:xfrm>
          <a:prstGeom prst="rect">
            <a:avLst/>
          </a:prstGeom>
        </p:spPr>
      </p:pic>
      <p:sp>
        <p:nvSpPr>
          <p:cNvPr id="10" name="Content Placeholder 9"/>
          <p:cNvSpPr>
            <a:spLocks noGrp="1"/>
          </p:cNvSpPr>
          <p:nvPr>
            <p:ph sz="quarter" idx="12" hasCustomPrompt="1"/>
          </p:nvPr>
        </p:nvSpPr>
        <p:spPr/>
        <p:txBody>
          <a:bodyPr/>
          <a:lstStyle>
            <a:lvl2pPr>
              <a:defRPr/>
            </a:lvl2pPr>
            <a:lvl3pPr>
              <a:defRPr/>
            </a:lvl3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cxnSp>
        <p:nvCxnSpPr>
          <p:cNvPr id="7" name="Straight Connector 6"/>
          <p:cNvCxnSpPr/>
          <p:nvPr userDrawn="1"/>
        </p:nvCxnSpPr>
        <p:spPr>
          <a:xfrm>
            <a:off x="457994" y="1162050"/>
            <a:ext cx="868600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hasCustomPrompt="1"/>
          </p:nvPr>
        </p:nvSpPr>
        <p:spPr/>
        <p:txBody>
          <a:bodyPr/>
          <a:lstStyle/>
          <a:p>
            <a:r>
              <a:rPr lang="en-US" dirty="0"/>
              <a:t>Master Title Slide Headline</a:t>
            </a:r>
            <a:endParaRPr lang="en-CA" dirty="0"/>
          </a:p>
        </p:txBody>
      </p:sp>
      <p:sp>
        <p:nvSpPr>
          <p:cNvPr id="8" name="TextBox 7"/>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7F7F7F"/>
                </a:solidFill>
                <a:latin typeface="Arial" pitchFamily="34" charset="0"/>
                <a:cs typeface="Arial" pitchFamily="34" charset="0"/>
              </a:rPr>
              <a:pPr algn="r"/>
              <a:t>‹#›</a:t>
            </a:fld>
            <a:endParaRPr lang="en-CA" sz="900" dirty="0">
              <a:solidFill>
                <a:srgbClr val="7F7F7F"/>
              </a:solidFill>
              <a:latin typeface="Arial" pitchFamily="34" charset="0"/>
              <a:cs typeface="Arial" pitchFamily="34" charset="0"/>
            </a:endParaRPr>
          </a:p>
        </p:txBody>
      </p:sp>
    </p:spTree>
    <p:extLst>
      <p:ext uri="{BB962C8B-B14F-4D97-AF65-F5344CB8AC3E}">
        <p14:creationId xmlns:p14="http://schemas.microsoft.com/office/powerpoint/2010/main" val="35032379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1973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1" y="1381125"/>
            <a:ext cx="8228012" cy="4824414"/>
          </a:xfrm>
          <a:prstGeom prst="rect">
            <a:avLst/>
          </a:prstGeom>
        </p:spPr>
        <p:txBody>
          <a:bodyPr vert="horz" lIns="0" tIns="0" rIns="0" bIns="0" rtlCol="0">
            <a:normAutofit/>
          </a:body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endParaRPr lang="en-US" dirty="0"/>
          </a:p>
        </p:txBody>
      </p:sp>
      <p:sp>
        <p:nvSpPr>
          <p:cNvPr id="9" name="Title Placeholder 1"/>
          <p:cNvSpPr>
            <a:spLocks noGrp="1"/>
          </p:cNvSpPr>
          <p:nvPr>
            <p:ph type="title"/>
          </p:nvPr>
        </p:nvSpPr>
        <p:spPr>
          <a:xfrm>
            <a:off x="461035" y="170122"/>
            <a:ext cx="8205261" cy="785553"/>
          </a:xfrm>
          <a:prstGeom prst="rect">
            <a:avLst/>
          </a:prstGeom>
        </p:spPr>
        <p:txBody>
          <a:bodyPr vert="horz" lIns="0" tIns="0" rIns="0" bIns="0" rtlCol="0" anchor="b" anchorCtr="0">
            <a:normAutofit/>
          </a:bodyPr>
          <a:lstStyle/>
          <a:p>
            <a:r>
              <a:rPr lang="en-US" dirty="0"/>
              <a:t>Master Title Slide Headline</a:t>
            </a:r>
            <a:endParaRPr lang="en-CA" dirty="0"/>
          </a:p>
        </p:txBody>
      </p:sp>
    </p:spTree>
    <p:extLst>
      <p:ext uri="{BB962C8B-B14F-4D97-AF65-F5344CB8AC3E}">
        <p14:creationId xmlns:p14="http://schemas.microsoft.com/office/powerpoint/2010/main" val="481531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1" r:id="rId10"/>
    <p:sldLayoutId id="2147483657" r:id="rId11"/>
    <p:sldLayoutId id="2147483658" r:id="rId12"/>
    <p:sldLayoutId id="2147483659" r:id="rId13"/>
    <p:sldLayoutId id="2147483663" r:id="rId14"/>
    <p:sldLayoutId id="2147483662" r:id="rId15"/>
    <p:sldLayoutId id="2147483664" r:id="rId16"/>
    <p:sldLayoutId id="2147483665" r:id="rId17"/>
    <p:sldLayoutId id="2147483666" r:id="rId18"/>
    <p:sldLayoutId id="2147483667" r:id="rId19"/>
    <p:sldLayoutId id="2147483669" r:id="rId20"/>
  </p:sldLayoutIdLst>
  <p:hf sldNum="0" hdr="0" ftr="0" dt="0"/>
  <p:txStyles>
    <p:titleStyle>
      <a:lvl1pPr algn="l" defTabSz="914400" rtl="0" eaLnBrk="1" latinLnBrk="0" hangingPunct="1">
        <a:lnSpc>
          <a:spcPts val="2600"/>
        </a:lnSpc>
        <a:spcBef>
          <a:spcPct val="0"/>
        </a:spcBef>
        <a:buNone/>
        <a:defRPr sz="2600" b="1" kern="1200">
          <a:solidFill>
            <a:schemeClr val="accent1"/>
          </a:solidFill>
          <a:latin typeface="Arial" pitchFamily="34" charset="0"/>
          <a:ea typeface="+mj-ea"/>
          <a:cs typeface="Arial" pitchFamily="34" charset="0"/>
        </a:defRPr>
      </a:lvl1pPr>
    </p:titleStyle>
    <p:bodyStyle>
      <a:lvl1pPr marL="231775" indent="-231775" algn="l" defTabSz="914400" rtl="0" eaLnBrk="1" latinLnBrk="0" hangingPunct="1">
        <a:lnSpc>
          <a:spcPct val="100000"/>
        </a:lnSpc>
        <a:spcBef>
          <a:spcPts val="1200"/>
        </a:spcBef>
        <a:spcAft>
          <a:spcPts val="0"/>
        </a:spcAft>
        <a:buClr>
          <a:schemeClr val="tx1"/>
        </a:buClr>
        <a:buSzPct val="80000"/>
        <a:buFont typeface="Arial" pitchFamily="34" charset="0"/>
        <a:buChar char="•"/>
        <a:defRPr sz="2600" b="0" kern="1200">
          <a:solidFill>
            <a:schemeClr val="tx1"/>
          </a:solidFill>
          <a:latin typeface="Arial" pitchFamily="34" charset="0"/>
          <a:ea typeface="+mn-ea"/>
          <a:cs typeface="Arial" pitchFamily="34" charset="0"/>
        </a:defRPr>
      </a:lvl1pPr>
      <a:lvl2pPr marL="457200" indent="-231775" algn="l" defTabSz="914400" rtl="0" eaLnBrk="1" latinLnBrk="0" hangingPunct="1">
        <a:lnSpc>
          <a:spcPct val="100000"/>
        </a:lnSpc>
        <a:spcBef>
          <a:spcPts val="624"/>
        </a:spcBef>
        <a:spcAft>
          <a:spcPts val="0"/>
        </a:spcAft>
        <a:buClr>
          <a:schemeClr val="tx1"/>
        </a:buClr>
        <a:buSzPct val="80000"/>
        <a:buFont typeface="Arial" pitchFamily="34" charset="0"/>
        <a:buChar char="–"/>
        <a:defRPr sz="2400" kern="1200">
          <a:solidFill>
            <a:srgbClr val="000000"/>
          </a:solidFill>
          <a:latin typeface="Arial" pitchFamily="34" charset="0"/>
          <a:ea typeface="+mn-ea"/>
          <a:cs typeface="Arial" pitchFamily="34" charset="0"/>
        </a:defRPr>
      </a:lvl2pPr>
      <a:lvl3pPr marL="688975" indent="-231775" algn="l" defTabSz="914400" rtl="0" eaLnBrk="1" latinLnBrk="0" hangingPunct="1">
        <a:lnSpc>
          <a:spcPct val="100000"/>
        </a:lnSpc>
        <a:spcBef>
          <a:spcPts val="576"/>
        </a:spcBef>
        <a:spcAft>
          <a:spcPts val="0"/>
        </a:spcAft>
        <a:buClr>
          <a:schemeClr val="tx1"/>
        </a:buClr>
        <a:buSzPct val="80000"/>
        <a:buFont typeface="Arial" pitchFamily="34" charset="0"/>
        <a:buChar char="•"/>
        <a:defRPr sz="2000" kern="1200" baseline="0">
          <a:solidFill>
            <a:srgbClr val="000000"/>
          </a:solidFill>
          <a:latin typeface="Arial" pitchFamily="34" charset="0"/>
          <a:ea typeface="+mn-ea"/>
          <a:cs typeface="Arial" pitchFamily="34" charset="0"/>
        </a:defRPr>
      </a:lvl3pPr>
      <a:lvl4pPr marL="914400" indent="-225425" algn="l" defTabSz="914400" rtl="0" eaLnBrk="1" latinLnBrk="0" hangingPunct="1">
        <a:lnSpc>
          <a:spcPct val="100000"/>
        </a:lnSpc>
        <a:spcBef>
          <a:spcPts val="528"/>
        </a:spcBef>
        <a:spcAft>
          <a:spcPts val="0"/>
        </a:spcAft>
        <a:buClr>
          <a:schemeClr val="tx1"/>
        </a:buClr>
        <a:buSzPct val="80000"/>
        <a:buFont typeface="Arial" pitchFamily="34" charset="0"/>
        <a:buChar char="–"/>
        <a:defRPr sz="1800" kern="1200" baseline="0">
          <a:solidFill>
            <a:srgbClr val="000000"/>
          </a:solidFill>
          <a:latin typeface="Arial" pitchFamily="34" charset="0"/>
          <a:ea typeface="+mn-ea"/>
          <a:cs typeface="Arial" pitchFamily="34" charset="0"/>
        </a:defRPr>
      </a:lvl4pPr>
      <a:lvl5pPr marL="1146175" indent="-231775" algn="l" defTabSz="914400" rtl="0" eaLnBrk="1" latinLnBrk="0" hangingPunct="1">
        <a:lnSpc>
          <a:spcPct val="100000"/>
        </a:lnSpc>
        <a:spcBef>
          <a:spcPts val="480"/>
        </a:spcBef>
        <a:spcAft>
          <a:spcPts val="0"/>
        </a:spcAft>
        <a:buClr>
          <a:schemeClr val="tx1"/>
        </a:buClr>
        <a:buSzPct val="80000"/>
        <a:buFont typeface="Arial" pitchFamily="34" charset="0"/>
        <a:buChar char="•"/>
        <a:defRPr sz="1600" kern="1200" baseline="0">
          <a:solidFill>
            <a:srgbClr val="000000"/>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1.emf"/><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1.emf"/><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emf"/><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45.emf"/><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slideLayout" Target="../slideLayouts/slideLayout3.xml"/><Relationship Id="rId4" Type="http://schemas.openxmlformats.org/officeDocument/2006/relationships/image" Target="../media/image49.emf"/></Relationships>
</file>

<file path=ppt/slides/_rels/slide80.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50.emf"/><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emf"/><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image" Target="../media/image55.emf"/><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image" Target="../media/image60.emf"/><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image" Target="../media/image63.emf"/><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3.xml"/></Relationships>
</file>

<file path=ppt/slides/_rels/slide14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2.xml.rels><?xml version="1.0" encoding="UTF-8" standalone="yes"?>
<Relationships xmlns="http://schemas.openxmlformats.org/package/2006/relationships"><Relationship Id="rId2" Type="http://schemas.openxmlformats.org/officeDocument/2006/relationships/image" Target="../media/image78.gif"/><Relationship Id="rId1" Type="http://schemas.openxmlformats.org/officeDocument/2006/relationships/slideLayout" Target="../slideLayouts/slideLayout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3.xml"/></Relationships>
</file>

<file path=ppt/slides/_rels/slide15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3.xml"/></Relationships>
</file>

<file path=ppt/slides/_rels/slide157.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3.xml"/></Relationships>
</file>

<file path=ppt/slides/_rels/slide158.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3.xml"/></Relationships>
</file>

<file path=ppt/slides/_rels/slide159.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3.xml"/></Relationships>
</file>

<file path=ppt/slides/_rels/slide160.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3.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2.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4.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3.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3.xml"/></Relationships>
</file>

<file path=ppt/slides/_rels/slide168.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3.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5.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3.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4.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3.xml"/></Relationships>
</file>

<file path=ppt/slides/_rels/slide195.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3.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8.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3.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5.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3.xml"/></Relationships>
</file>

<file path=ppt/slides/_rels/slide236.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3.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2.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3.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2.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3.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458788" y="1295399"/>
            <a:ext cx="5942012" cy="1103337"/>
          </a:xfrm>
        </p:spPr>
        <p:txBody>
          <a:bodyPr/>
          <a:lstStyle/>
          <a:p>
            <a:r>
              <a:rPr lang="en-US" dirty="0"/>
              <a:t>SQL Advanced, Snowflake, AWS Services &amp; BI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1040130"/>
            <a:ext cx="8412480" cy="365760"/>
          </a:xfrm>
          <a:prstGeom prst="rect">
            <a:avLst/>
          </a:prstGeom>
          <a:noFill/>
          <a:ln/>
        </p:spPr>
        <p:txBody>
          <a:bodyPr wrap="square" lIns="0" tIns="0" rIns="0" bIns="0" rtlCol="0" anchor="ctr"/>
          <a:lstStyle/>
          <a:p>
            <a:pPr algn="ctr"/>
            <a:r>
              <a:rPr lang="en-US" sz="2600" b="1" dirty="0">
                <a:solidFill>
                  <a:srgbClr val="F8FAFC"/>
                </a:solidFill>
                <a:latin typeface="Arial" pitchFamily="34" charset="0"/>
                <a:ea typeface="Arial" pitchFamily="34" charset="-122"/>
                <a:cs typeface="Arial" pitchFamily="34" charset="-120"/>
              </a:rPr>
              <a:t>PySpark Training Objectives</a:t>
            </a:r>
            <a:endParaRPr lang="en-US" sz="2600" dirty="0"/>
          </a:p>
        </p:txBody>
      </p:sp>
      <p:sp>
        <p:nvSpPr>
          <p:cNvPr id="16" name="Content Placeholder 15">
            <a:extLst>
              <a:ext uri="{FF2B5EF4-FFF2-40B4-BE49-F238E27FC236}">
                <a16:creationId xmlns:a16="http://schemas.microsoft.com/office/drawing/2014/main" id="{D9C83853-BC21-3BC9-FBD3-4D4C38667C76}"/>
              </a:ext>
            </a:extLst>
          </p:cNvPr>
          <p:cNvSpPr>
            <a:spLocks noGrp="1"/>
          </p:cNvSpPr>
          <p:nvPr>
            <p:ph sz="quarter" idx="12"/>
          </p:nvPr>
        </p:nvSpPr>
        <p:spPr/>
        <p:txBody>
          <a:bodyPr>
            <a:normAutofit fontScale="92500" lnSpcReduction="20000"/>
          </a:bodyPr>
          <a:lstStyle/>
          <a:p>
            <a:r>
              <a:rPr lang="en-IN" b="1" dirty="0"/>
              <a:t>SQL &amp; RDBMS Mastery</a:t>
            </a:r>
          </a:p>
          <a:p>
            <a:pPr lvl="1"/>
            <a:r>
              <a:rPr lang="en-IN" dirty="0"/>
              <a:t>Understand the </a:t>
            </a:r>
            <a:r>
              <a:rPr lang="en-IN" b="1" dirty="0"/>
              <a:t>relational database model</a:t>
            </a:r>
            <a:r>
              <a:rPr lang="en-IN" dirty="0"/>
              <a:t> and relationships between tables. </a:t>
            </a:r>
          </a:p>
          <a:p>
            <a:pPr lvl="1"/>
            <a:r>
              <a:rPr lang="en-IN" dirty="0"/>
              <a:t>Identify and use </a:t>
            </a:r>
            <a:r>
              <a:rPr lang="en-IN" b="1" dirty="0"/>
              <a:t>Primary, Foreign, Candidate, Composite, and Unique keys</a:t>
            </a:r>
            <a:r>
              <a:rPr lang="en-IN" dirty="0"/>
              <a:t>. </a:t>
            </a:r>
          </a:p>
          <a:p>
            <a:pPr lvl="1"/>
            <a:r>
              <a:rPr lang="en-IN" dirty="0"/>
              <a:t>Design database tables using appropriate </a:t>
            </a:r>
            <a:r>
              <a:rPr lang="en-IN" b="1" dirty="0"/>
              <a:t>constraints and normalization principles</a:t>
            </a:r>
            <a:r>
              <a:rPr lang="en-IN" dirty="0"/>
              <a:t>. </a:t>
            </a:r>
          </a:p>
          <a:p>
            <a:pPr lvl="1"/>
            <a:r>
              <a:rPr lang="en-IN" dirty="0"/>
              <a:t>Perform </a:t>
            </a:r>
            <a:r>
              <a:rPr lang="en-IN" b="1" dirty="0"/>
              <a:t>DDL operations</a:t>
            </a:r>
            <a:r>
              <a:rPr lang="en-IN" dirty="0"/>
              <a:t> using CREATE, ALTER, DROP, and TRUNCATE. </a:t>
            </a:r>
          </a:p>
          <a:p>
            <a:pPr lvl="1"/>
            <a:r>
              <a:rPr lang="en-IN" dirty="0"/>
              <a:t>Perform </a:t>
            </a:r>
            <a:r>
              <a:rPr lang="en-IN" b="1" dirty="0"/>
              <a:t>DML operations</a:t>
            </a:r>
            <a:r>
              <a:rPr lang="en-IN" dirty="0"/>
              <a:t> using INSERT, UPDATE, DELETE, and MERGE/UPSERT. </a:t>
            </a:r>
          </a:p>
          <a:p>
            <a:pPr lvl="1"/>
            <a:r>
              <a:rPr lang="en-IN" dirty="0"/>
              <a:t>Develop </a:t>
            </a:r>
            <a:r>
              <a:rPr lang="en-IN" b="1" dirty="0"/>
              <a:t>stored procedures</a:t>
            </a:r>
            <a:r>
              <a:rPr lang="en-IN" dirty="0"/>
              <a:t> with IN/OUT parameters, conditional logic, loops, and error handling. </a:t>
            </a:r>
          </a:p>
          <a:p>
            <a:pPr lvl="1"/>
            <a:r>
              <a:rPr lang="en-IN" dirty="0"/>
              <a:t>Create and use </a:t>
            </a:r>
            <a:r>
              <a:rPr lang="en-IN" b="1" dirty="0"/>
              <a:t>scalar, table-valued, and built-in SQL functions</a:t>
            </a:r>
            <a:r>
              <a:rPr lang="en-IN" dirty="0"/>
              <a:t>.</a:t>
            </a:r>
          </a:p>
          <a:p>
            <a:endParaRPr lang="en-IN" dirty="0"/>
          </a:p>
        </p:txBody>
      </p:sp>
      <p:sp>
        <p:nvSpPr>
          <p:cNvPr id="15" name="Title 14">
            <a:extLst>
              <a:ext uri="{FF2B5EF4-FFF2-40B4-BE49-F238E27FC236}">
                <a16:creationId xmlns:a16="http://schemas.microsoft.com/office/drawing/2014/main" id="{676A0ECA-B266-B41A-1873-3A2383C56341}"/>
              </a:ext>
            </a:extLst>
          </p:cNvPr>
          <p:cNvSpPr>
            <a:spLocks noGrp="1"/>
          </p:cNvSpPr>
          <p:nvPr>
            <p:ph type="title"/>
          </p:nvPr>
        </p:nvSpPr>
        <p:spPr/>
        <p:txBody>
          <a:bodyPr/>
          <a:lstStyle/>
          <a:p>
            <a:r>
              <a:rPr lang="en-IN" dirty="0"/>
              <a:t>Goals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1040130"/>
            <a:ext cx="8412480" cy="365760"/>
          </a:xfrm>
          <a:prstGeom prst="rect">
            <a:avLst/>
          </a:prstGeom>
          <a:noFill/>
          <a:ln/>
        </p:spPr>
        <p:txBody>
          <a:bodyPr wrap="square" lIns="0" tIns="0" rIns="0" bIns="0" rtlCol="0" anchor="ctr"/>
          <a:lstStyle/>
          <a:p>
            <a:pPr algn="ctr"/>
            <a:r>
              <a:rPr lang="en-US" sz="2600" b="1" dirty="0">
                <a:solidFill>
                  <a:srgbClr val="F8FAFC"/>
                </a:solidFill>
                <a:latin typeface="Arial" pitchFamily="34" charset="0"/>
                <a:ea typeface="Arial" pitchFamily="34" charset="-122"/>
                <a:cs typeface="Arial" pitchFamily="34" charset="-120"/>
              </a:rPr>
              <a:t>PySpark Training Objectives</a:t>
            </a:r>
            <a:endParaRPr lang="en-US" sz="2600" dirty="0"/>
          </a:p>
        </p:txBody>
      </p:sp>
      <p:sp>
        <p:nvSpPr>
          <p:cNvPr id="16" name="Content Placeholder 15">
            <a:extLst>
              <a:ext uri="{FF2B5EF4-FFF2-40B4-BE49-F238E27FC236}">
                <a16:creationId xmlns:a16="http://schemas.microsoft.com/office/drawing/2014/main" id="{69AD0B9F-8534-B5E6-9383-6B9BE9F36ACA}"/>
              </a:ext>
            </a:extLst>
          </p:cNvPr>
          <p:cNvSpPr>
            <a:spLocks noGrp="1"/>
          </p:cNvSpPr>
          <p:nvPr>
            <p:ph sz="quarter" idx="12"/>
          </p:nvPr>
        </p:nvSpPr>
        <p:spPr>
          <a:xfrm>
            <a:off x="457201" y="1381125"/>
            <a:ext cx="8228012" cy="5248275"/>
          </a:xfrm>
        </p:spPr>
        <p:txBody>
          <a:bodyPr>
            <a:normAutofit fontScale="92500" lnSpcReduction="10000"/>
          </a:bodyPr>
          <a:lstStyle/>
          <a:p>
            <a:pPr lvl="1"/>
            <a:r>
              <a:rPr lang="en-IN" dirty="0"/>
              <a:t>Create and manage </a:t>
            </a:r>
            <a:r>
              <a:rPr lang="en-IN" b="1" dirty="0"/>
              <a:t>views and materialized views</a:t>
            </a:r>
            <a:r>
              <a:rPr lang="en-IN" dirty="0"/>
              <a:t> for abstraction and performance. </a:t>
            </a:r>
          </a:p>
          <a:p>
            <a:pPr lvl="1"/>
            <a:r>
              <a:rPr lang="en-IN" dirty="0"/>
              <a:t>Apply </a:t>
            </a:r>
            <a:r>
              <a:rPr lang="en-IN" b="1" dirty="0"/>
              <a:t>UNION, UNION ALL, INTERSECT, and EXCEPT</a:t>
            </a:r>
            <a:r>
              <a:rPr lang="en-IN" dirty="0"/>
              <a:t> for combining query results. </a:t>
            </a:r>
          </a:p>
          <a:p>
            <a:pPr lvl="1"/>
            <a:r>
              <a:rPr lang="en-IN" dirty="0"/>
              <a:t>Perform data summarization using </a:t>
            </a:r>
            <a:r>
              <a:rPr lang="en-IN" b="1" dirty="0"/>
              <a:t>SUM, AVG, COUNT, MAX, MIN, GROUP BY, and HAVING</a:t>
            </a:r>
            <a:r>
              <a:rPr lang="en-IN" dirty="0"/>
              <a:t>. </a:t>
            </a:r>
          </a:p>
          <a:p>
            <a:pPr lvl="1"/>
            <a:r>
              <a:rPr lang="en-IN" dirty="0"/>
              <a:t>Implement complex data relationships using </a:t>
            </a:r>
            <a:r>
              <a:rPr lang="en-IN" b="1" dirty="0"/>
              <a:t>INNER, LEFT, RIGHT, FULL OUTER, CROSS, and Self JOINs</a:t>
            </a:r>
            <a:r>
              <a:rPr lang="en-IN" dirty="0"/>
              <a:t>. </a:t>
            </a:r>
          </a:p>
          <a:p>
            <a:pPr lvl="1"/>
            <a:r>
              <a:rPr lang="en-IN" dirty="0"/>
              <a:t>Apply advanced </a:t>
            </a:r>
            <a:r>
              <a:rPr lang="en-IN" b="1" dirty="0"/>
              <a:t>window functions</a:t>
            </a:r>
            <a:r>
              <a:rPr lang="en-IN" dirty="0"/>
              <a:t> including ROW_NUMBER, RANK, DENSE_RANK, NTILE, LAG, LEAD, FIRST_VALUE, and LAST_VALUE. </a:t>
            </a:r>
          </a:p>
          <a:p>
            <a:pPr lvl="1"/>
            <a:r>
              <a:rPr lang="en-IN" dirty="0"/>
              <a:t>Use </a:t>
            </a:r>
            <a:r>
              <a:rPr lang="en-IN" b="1" dirty="0"/>
              <a:t>PARTITION BY, ORDER BY, and window frame specifications</a:t>
            </a:r>
            <a:r>
              <a:rPr lang="en-IN" dirty="0"/>
              <a:t> such as ROWS BETWEEN. </a:t>
            </a:r>
          </a:p>
          <a:p>
            <a:pPr lvl="1"/>
            <a:r>
              <a:rPr lang="en-IN" dirty="0"/>
              <a:t>Build modular queries using </a:t>
            </a:r>
            <a:r>
              <a:rPr lang="en-IN" b="1" dirty="0"/>
              <a:t>CTEs</a:t>
            </a:r>
            <a:r>
              <a:rPr lang="en-IN" dirty="0"/>
              <a:t> and hierarchical queries using </a:t>
            </a:r>
            <a:r>
              <a:rPr lang="en-IN" b="1" dirty="0"/>
              <a:t>recursive CTEs</a:t>
            </a:r>
            <a:r>
              <a:rPr lang="en-IN" dirty="0"/>
              <a:t>. </a:t>
            </a:r>
          </a:p>
          <a:p>
            <a:endParaRPr lang="en-IN" dirty="0"/>
          </a:p>
        </p:txBody>
      </p:sp>
      <p:sp>
        <p:nvSpPr>
          <p:cNvPr id="15" name="Title 14">
            <a:extLst>
              <a:ext uri="{FF2B5EF4-FFF2-40B4-BE49-F238E27FC236}">
                <a16:creationId xmlns:a16="http://schemas.microsoft.com/office/drawing/2014/main" id="{4B2EA439-9E8A-3AD6-EFD5-B1FEE6EBF63A}"/>
              </a:ext>
            </a:extLst>
          </p:cNvPr>
          <p:cNvSpPr>
            <a:spLocks noGrp="1"/>
          </p:cNvSpPr>
          <p:nvPr>
            <p:ph type="title"/>
          </p:nvPr>
        </p:nvSpPr>
        <p:spPr/>
        <p:txBody>
          <a:bodyPr/>
          <a:lstStyle/>
          <a:p>
            <a:r>
              <a:rPr lang="en-IN" dirty="0"/>
              <a:t>Goals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1040130"/>
            <a:ext cx="8412480" cy="365760"/>
          </a:xfrm>
          <a:prstGeom prst="rect">
            <a:avLst/>
          </a:prstGeom>
          <a:noFill/>
          <a:ln/>
        </p:spPr>
        <p:txBody>
          <a:bodyPr wrap="square" lIns="0" tIns="0" rIns="0" bIns="0" rtlCol="0" anchor="ctr"/>
          <a:lstStyle/>
          <a:p>
            <a:pPr algn="ctr"/>
            <a:r>
              <a:rPr lang="en-US" sz="2600" b="1" dirty="0">
                <a:solidFill>
                  <a:srgbClr val="F8FAFC"/>
                </a:solidFill>
                <a:latin typeface="Arial" pitchFamily="34" charset="0"/>
                <a:ea typeface="Arial" pitchFamily="34" charset="-122"/>
                <a:cs typeface="Arial" pitchFamily="34" charset="-120"/>
              </a:rPr>
              <a:t>PySpark Training Objectives</a:t>
            </a:r>
            <a:endParaRPr lang="en-US" sz="2600" dirty="0"/>
          </a:p>
        </p:txBody>
      </p:sp>
      <p:sp>
        <p:nvSpPr>
          <p:cNvPr id="16" name="Content Placeholder 15">
            <a:extLst>
              <a:ext uri="{FF2B5EF4-FFF2-40B4-BE49-F238E27FC236}">
                <a16:creationId xmlns:a16="http://schemas.microsoft.com/office/drawing/2014/main" id="{6AC756AE-8A8A-0B18-9ED2-A4B1160E426A}"/>
              </a:ext>
            </a:extLst>
          </p:cNvPr>
          <p:cNvSpPr>
            <a:spLocks noGrp="1"/>
          </p:cNvSpPr>
          <p:nvPr>
            <p:ph sz="quarter" idx="12"/>
          </p:nvPr>
        </p:nvSpPr>
        <p:spPr/>
        <p:txBody>
          <a:bodyPr>
            <a:normAutofit lnSpcReduction="10000"/>
          </a:bodyPr>
          <a:lstStyle/>
          <a:p>
            <a:pPr lvl="1"/>
            <a:r>
              <a:rPr lang="en-IN" dirty="0"/>
              <a:t>Decide when to use </a:t>
            </a:r>
            <a:r>
              <a:rPr lang="en-IN" b="1" dirty="0"/>
              <a:t>CTEs versus temporary tables</a:t>
            </a:r>
            <a:r>
              <a:rPr lang="en-IN" dirty="0"/>
              <a:t>. </a:t>
            </a:r>
          </a:p>
          <a:p>
            <a:pPr lvl="1"/>
            <a:r>
              <a:rPr lang="en-IN" dirty="0"/>
              <a:t>Use analytical SQL techniques for reporting and business intelligence. </a:t>
            </a:r>
          </a:p>
          <a:p>
            <a:pPr lvl="1"/>
            <a:r>
              <a:rPr lang="en-IN" dirty="0" err="1"/>
              <a:t>Analyze</a:t>
            </a:r>
            <a:r>
              <a:rPr lang="en-IN" dirty="0"/>
              <a:t> </a:t>
            </a:r>
            <a:r>
              <a:rPr lang="en-IN" b="1" dirty="0"/>
              <a:t>query execution plans</a:t>
            </a:r>
            <a:r>
              <a:rPr lang="en-IN" dirty="0"/>
              <a:t> and identify performance bottlenecks.</a:t>
            </a:r>
          </a:p>
          <a:p>
            <a:pPr lvl="1"/>
            <a:r>
              <a:rPr lang="en-IN" dirty="0"/>
              <a:t>Optimize queries using appropriate </a:t>
            </a:r>
            <a:r>
              <a:rPr lang="en-IN" b="1" dirty="0"/>
              <a:t>indexes, predicates, joins, and query hints</a:t>
            </a:r>
            <a:r>
              <a:rPr lang="en-IN" dirty="0"/>
              <a:t>. </a:t>
            </a:r>
          </a:p>
          <a:p>
            <a:pPr lvl="1"/>
            <a:r>
              <a:rPr lang="en-IN" dirty="0"/>
              <a:t>Understand and use </a:t>
            </a:r>
            <a:r>
              <a:rPr lang="en-IN" b="1" dirty="0"/>
              <a:t>clustered, non-clustered, B-tree, bitmap, and full-text indexes</a:t>
            </a:r>
            <a:r>
              <a:rPr lang="en-IN" dirty="0"/>
              <a:t>. </a:t>
            </a:r>
          </a:p>
          <a:p>
            <a:pPr lvl="1"/>
            <a:r>
              <a:rPr lang="en-IN" dirty="0"/>
              <a:t>Understand database </a:t>
            </a:r>
            <a:r>
              <a:rPr lang="en-IN" b="1" dirty="0"/>
              <a:t>ACID transaction properties</a:t>
            </a:r>
            <a:r>
              <a:rPr lang="en-IN" dirty="0"/>
              <a:t>. </a:t>
            </a:r>
          </a:p>
          <a:p>
            <a:pPr lvl="1"/>
            <a:r>
              <a:rPr lang="en-IN" dirty="0"/>
              <a:t>Select appropriate transaction isolation levels: </a:t>
            </a:r>
            <a:r>
              <a:rPr lang="en-IN" b="1" dirty="0"/>
              <a:t>READ UNCOMMITTED, READ COMMITTED, REPEATABLE READ, and SERIALIZABLE</a:t>
            </a:r>
            <a:r>
              <a:rPr lang="en-IN" dirty="0"/>
              <a:t>.</a:t>
            </a:r>
          </a:p>
          <a:p>
            <a:endParaRPr lang="en-IN" dirty="0"/>
          </a:p>
        </p:txBody>
      </p:sp>
      <p:sp>
        <p:nvSpPr>
          <p:cNvPr id="15" name="Title 14">
            <a:extLst>
              <a:ext uri="{FF2B5EF4-FFF2-40B4-BE49-F238E27FC236}">
                <a16:creationId xmlns:a16="http://schemas.microsoft.com/office/drawing/2014/main" id="{FA6BAEB8-F3A5-A000-DFAA-A65295598087}"/>
              </a:ext>
            </a:extLst>
          </p:cNvPr>
          <p:cNvSpPr>
            <a:spLocks noGrp="1"/>
          </p:cNvSpPr>
          <p:nvPr>
            <p:ph type="title"/>
          </p:nvPr>
        </p:nvSpPr>
        <p:spPr/>
        <p:txBody>
          <a:bodyPr/>
          <a:lstStyle/>
          <a:p>
            <a:r>
              <a:rPr lang="en-IN" dirty="0"/>
              <a:t>Goals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778EE-36AC-379B-1850-3083B568410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B3D12DB-1257-B3ED-9B5C-166F9F9ACA1B}"/>
              </a:ext>
            </a:extLst>
          </p:cNvPr>
          <p:cNvSpPr/>
          <p:nvPr/>
        </p:nvSpPr>
        <p:spPr>
          <a:xfrm>
            <a:off x="365760" y="1040130"/>
            <a:ext cx="8412480" cy="365760"/>
          </a:xfrm>
          <a:prstGeom prst="rect">
            <a:avLst/>
          </a:prstGeom>
          <a:noFill/>
          <a:ln/>
        </p:spPr>
        <p:txBody>
          <a:bodyPr wrap="square" lIns="0" tIns="0" rIns="0" bIns="0" rtlCol="0" anchor="ctr"/>
          <a:lstStyle/>
          <a:p>
            <a:pPr algn="ctr"/>
            <a:r>
              <a:rPr lang="en-US" sz="2600" b="1" dirty="0">
                <a:solidFill>
                  <a:srgbClr val="F8FAFC"/>
                </a:solidFill>
                <a:latin typeface="Arial" pitchFamily="34" charset="0"/>
                <a:ea typeface="Arial" pitchFamily="34" charset="-122"/>
                <a:cs typeface="Arial" pitchFamily="34" charset="-120"/>
              </a:rPr>
              <a:t>PySpark Training Objectives</a:t>
            </a:r>
            <a:endParaRPr lang="en-US" sz="2600" dirty="0"/>
          </a:p>
        </p:txBody>
      </p:sp>
      <p:sp>
        <p:nvSpPr>
          <p:cNvPr id="16" name="Content Placeholder 15">
            <a:extLst>
              <a:ext uri="{FF2B5EF4-FFF2-40B4-BE49-F238E27FC236}">
                <a16:creationId xmlns:a16="http://schemas.microsoft.com/office/drawing/2014/main" id="{72E89F6F-477A-DE33-18DA-719145DBAFF5}"/>
              </a:ext>
            </a:extLst>
          </p:cNvPr>
          <p:cNvSpPr>
            <a:spLocks noGrp="1"/>
          </p:cNvSpPr>
          <p:nvPr>
            <p:ph sz="quarter" idx="12"/>
          </p:nvPr>
        </p:nvSpPr>
        <p:spPr>
          <a:xfrm>
            <a:off x="457201" y="1381125"/>
            <a:ext cx="8228012" cy="5095875"/>
          </a:xfrm>
        </p:spPr>
        <p:txBody>
          <a:bodyPr>
            <a:normAutofit fontScale="92500" lnSpcReduction="10000"/>
          </a:bodyPr>
          <a:lstStyle/>
          <a:p>
            <a:r>
              <a:rPr lang="en-IN" b="1" dirty="0"/>
              <a:t>2. AWS </a:t>
            </a:r>
            <a:r>
              <a:rPr lang="en-IN" b="1" dirty="0" err="1"/>
              <a:t>QuickSight</a:t>
            </a:r>
            <a:endParaRPr lang="en-IN" b="1" dirty="0"/>
          </a:p>
          <a:p>
            <a:pPr lvl="1"/>
            <a:r>
              <a:rPr lang="en-IN" dirty="0"/>
              <a:t>Connect </a:t>
            </a:r>
            <a:r>
              <a:rPr lang="en-IN" dirty="0" err="1"/>
              <a:t>QuickSight</a:t>
            </a:r>
            <a:r>
              <a:rPr lang="en-IN" dirty="0"/>
              <a:t> to </a:t>
            </a:r>
            <a:r>
              <a:rPr lang="en-IN" b="1" dirty="0"/>
              <a:t>S3, RDS, Athena, Redshift, Snowflake, and CSV datasets</a:t>
            </a:r>
            <a:r>
              <a:rPr lang="en-IN" dirty="0"/>
              <a:t>. </a:t>
            </a:r>
          </a:p>
          <a:p>
            <a:pPr lvl="1"/>
            <a:r>
              <a:rPr lang="en-IN" dirty="0"/>
              <a:t>Understand </a:t>
            </a:r>
            <a:r>
              <a:rPr lang="en-IN" b="1" dirty="0"/>
              <a:t>SPICE architecture</a:t>
            </a:r>
            <a:r>
              <a:rPr lang="en-IN" dirty="0"/>
              <a:t> and use in-memory datasets for faster analytics. </a:t>
            </a:r>
          </a:p>
          <a:p>
            <a:pPr lvl="1"/>
            <a:r>
              <a:rPr lang="en-IN" dirty="0"/>
              <a:t>Manage </a:t>
            </a:r>
            <a:r>
              <a:rPr lang="en-IN" b="1" dirty="0"/>
              <a:t>SPICE capacity, full refresh, and incremental refresh</a:t>
            </a:r>
            <a:r>
              <a:rPr lang="en-IN" dirty="0"/>
              <a:t>. </a:t>
            </a:r>
          </a:p>
          <a:p>
            <a:pPr lvl="1"/>
            <a:r>
              <a:rPr lang="en-IN" dirty="0"/>
              <a:t>Create datasets and perform </a:t>
            </a:r>
            <a:r>
              <a:rPr lang="en-IN" b="1" dirty="0"/>
              <a:t>joins, type conversions, column renaming, filters, and aggregations</a:t>
            </a:r>
            <a:r>
              <a:rPr lang="en-IN" dirty="0"/>
              <a:t>. </a:t>
            </a:r>
          </a:p>
          <a:p>
            <a:pPr lvl="1"/>
            <a:r>
              <a:rPr lang="en-IN" dirty="0"/>
              <a:t>Build calculated fields using </a:t>
            </a:r>
            <a:r>
              <a:rPr lang="en-IN" b="1" dirty="0"/>
              <a:t>arithmetic, conditional, string, date, and aggregation functions</a:t>
            </a:r>
            <a:r>
              <a:rPr lang="en-IN" dirty="0"/>
              <a:t>. </a:t>
            </a:r>
          </a:p>
          <a:p>
            <a:pPr lvl="1"/>
            <a:r>
              <a:rPr lang="en-IN" dirty="0"/>
              <a:t>Prepare analytical datasets using </a:t>
            </a:r>
            <a:r>
              <a:rPr lang="en-IN" b="1" dirty="0"/>
              <a:t>custom SQL and data transformations</a:t>
            </a:r>
            <a:r>
              <a:rPr lang="en-IN" dirty="0"/>
              <a:t>. </a:t>
            </a:r>
          </a:p>
          <a:p>
            <a:pPr lvl="1"/>
            <a:r>
              <a:rPr lang="en-IN" dirty="0"/>
              <a:t>Create </a:t>
            </a:r>
            <a:r>
              <a:rPr lang="en-IN" b="1" dirty="0"/>
              <a:t>bar, line, pie, scatter, heat map, pivot table, KPI, combo, and geospatial visualizations</a:t>
            </a:r>
            <a:r>
              <a:rPr lang="en-IN" dirty="0"/>
              <a:t>. </a:t>
            </a:r>
          </a:p>
          <a:p>
            <a:endParaRPr lang="en-IN" dirty="0"/>
          </a:p>
        </p:txBody>
      </p:sp>
      <p:sp>
        <p:nvSpPr>
          <p:cNvPr id="15" name="Title 14">
            <a:extLst>
              <a:ext uri="{FF2B5EF4-FFF2-40B4-BE49-F238E27FC236}">
                <a16:creationId xmlns:a16="http://schemas.microsoft.com/office/drawing/2014/main" id="{4EDFB9A6-DC43-C184-7487-9AC428D596FC}"/>
              </a:ext>
            </a:extLst>
          </p:cNvPr>
          <p:cNvSpPr>
            <a:spLocks noGrp="1"/>
          </p:cNvSpPr>
          <p:nvPr>
            <p:ph type="title"/>
          </p:nvPr>
        </p:nvSpPr>
        <p:spPr/>
        <p:txBody>
          <a:bodyPr/>
          <a:lstStyle/>
          <a:p>
            <a:r>
              <a:rPr lang="en-IN" dirty="0"/>
              <a:t>Goals</a:t>
            </a:r>
          </a:p>
        </p:txBody>
      </p:sp>
    </p:spTree>
    <p:extLst>
      <p:ext uri="{BB962C8B-B14F-4D97-AF65-F5344CB8AC3E}">
        <p14:creationId xmlns:p14="http://schemas.microsoft.com/office/powerpoint/2010/main" val="1245425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EE991-1246-1567-E3EC-C48C1F7403C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9A9518C-B100-C784-9269-0D1BC2B9A017}"/>
              </a:ext>
            </a:extLst>
          </p:cNvPr>
          <p:cNvSpPr/>
          <p:nvPr/>
        </p:nvSpPr>
        <p:spPr>
          <a:xfrm>
            <a:off x="365760" y="1040130"/>
            <a:ext cx="8412480" cy="365760"/>
          </a:xfrm>
          <a:prstGeom prst="rect">
            <a:avLst/>
          </a:prstGeom>
          <a:noFill/>
          <a:ln/>
        </p:spPr>
        <p:txBody>
          <a:bodyPr wrap="square" lIns="0" tIns="0" rIns="0" bIns="0" rtlCol="0" anchor="ctr"/>
          <a:lstStyle/>
          <a:p>
            <a:pPr algn="ctr"/>
            <a:r>
              <a:rPr lang="en-US" sz="2600" b="1" dirty="0">
                <a:solidFill>
                  <a:srgbClr val="F8FAFC"/>
                </a:solidFill>
                <a:latin typeface="Arial" pitchFamily="34" charset="0"/>
                <a:ea typeface="Arial" pitchFamily="34" charset="-122"/>
                <a:cs typeface="Arial" pitchFamily="34" charset="-120"/>
              </a:rPr>
              <a:t>PySpark Training Objectives</a:t>
            </a:r>
            <a:endParaRPr lang="en-US" sz="2600" dirty="0"/>
          </a:p>
        </p:txBody>
      </p:sp>
      <p:sp>
        <p:nvSpPr>
          <p:cNvPr id="16" name="Content Placeholder 15">
            <a:extLst>
              <a:ext uri="{FF2B5EF4-FFF2-40B4-BE49-F238E27FC236}">
                <a16:creationId xmlns:a16="http://schemas.microsoft.com/office/drawing/2014/main" id="{7215C9F5-3AB1-C21D-D9DA-2A4ED9249DC8}"/>
              </a:ext>
            </a:extLst>
          </p:cNvPr>
          <p:cNvSpPr>
            <a:spLocks noGrp="1"/>
          </p:cNvSpPr>
          <p:nvPr>
            <p:ph sz="quarter" idx="12"/>
          </p:nvPr>
        </p:nvSpPr>
        <p:spPr>
          <a:xfrm>
            <a:off x="457201" y="1381125"/>
            <a:ext cx="8228012" cy="5248275"/>
          </a:xfrm>
        </p:spPr>
        <p:txBody>
          <a:bodyPr>
            <a:normAutofit fontScale="85000" lnSpcReduction="10000"/>
          </a:bodyPr>
          <a:lstStyle/>
          <a:p>
            <a:r>
              <a:rPr lang="en-IN" b="1" dirty="0"/>
              <a:t>2. AWS </a:t>
            </a:r>
            <a:r>
              <a:rPr lang="en-IN" b="1" dirty="0" err="1"/>
              <a:t>QuickSight</a:t>
            </a:r>
            <a:endParaRPr lang="en-IN" b="1" dirty="0"/>
          </a:p>
          <a:p>
            <a:pPr lvl="1"/>
            <a:r>
              <a:rPr lang="en-IN" dirty="0"/>
              <a:t>Design professional </a:t>
            </a:r>
            <a:r>
              <a:rPr lang="en-IN" b="1" dirty="0"/>
              <a:t>interactive dashboards</a:t>
            </a:r>
            <a:r>
              <a:rPr lang="en-IN" dirty="0"/>
              <a:t> with multiple visualizations. </a:t>
            </a:r>
          </a:p>
          <a:p>
            <a:pPr lvl="1"/>
            <a:r>
              <a:rPr lang="en-IN" dirty="0"/>
              <a:t>Implement </a:t>
            </a:r>
            <a:r>
              <a:rPr lang="en-IN" b="1" dirty="0"/>
              <a:t>filters, parameters, drill-downs, and visual actions</a:t>
            </a:r>
            <a:r>
              <a:rPr lang="en-IN" dirty="0"/>
              <a:t>. </a:t>
            </a:r>
          </a:p>
          <a:p>
            <a:pPr lvl="1"/>
            <a:r>
              <a:rPr lang="en-IN" dirty="0"/>
              <a:t>Use parameters to implement </a:t>
            </a:r>
            <a:r>
              <a:rPr lang="en-IN" b="1" dirty="0"/>
              <a:t>what-if analysis</a:t>
            </a:r>
            <a:r>
              <a:rPr lang="en-IN" dirty="0"/>
              <a:t>. </a:t>
            </a:r>
          </a:p>
          <a:p>
            <a:pPr lvl="1"/>
            <a:r>
              <a:rPr lang="en-IN" dirty="0"/>
              <a:t>Configure </a:t>
            </a:r>
            <a:r>
              <a:rPr lang="en-IN" b="1" dirty="0"/>
              <a:t>Row-Level Security (RLS)</a:t>
            </a:r>
            <a:r>
              <a:rPr lang="en-IN" dirty="0"/>
              <a:t> for user- and group-specific data access. </a:t>
            </a:r>
          </a:p>
          <a:p>
            <a:pPr lvl="1"/>
            <a:r>
              <a:rPr lang="en-IN" dirty="0"/>
              <a:t>Optimize </a:t>
            </a:r>
            <a:r>
              <a:rPr lang="en-IN" dirty="0" err="1"/>
              <a:t>QuickSight</a:t>
            </a:r>
            <a:r>
              <a:rPr lang="en-IN" dirty="0"/>
              <a:t> datasets by reducing data volume and using </a:t>
            </a:r>
            <a:r>
              <a:rPr lang="en-IN" b="1" dirty="0"/>
              <a:t>aggregated datasets and incremental refreshes</a:t>
            </a:r>
            <a:r>
              <a:rPr lang="en-IN" dirty="0"/>
              <a:t>. </a:t>
            </a:r>
          </a:p>
          <a:p>
            <a:pPr lvl="1"/>
            <a:r>
              <a:rPr lang="en-IN" dirty="0"/>
              <a:t>Share dashboards with users and groups and configure </a:t>
            </a:r>
            <a:r>
              <a:rPr lang="en-IN" b="1" dirty="0"/>
              <a:t>scheduled email reports</a:t>
            </a:r>
            <a:r>
              <a:rPr lang="en-IN" dirty="0"/>
              <a:t>. </a:t>
            </a:r>
          </a:p>
          <a:p>
            <a:pPr lvl="1"/>
            <a:r>
              <a:rPr lang="en-IN" dirty="0"/>
              <a:t>Understand </a:t>
            </a:r>
            <a:r>
              <a:rPr lang="en-IN" b="1" dirty="0"/>
              <a:t>viewer, author, and administrative permissions</a:t>
            </a:r>
            <a:r>
              <a:rPr lang="en-IN" dirty="0"/>
              <a:t>. </a:t>
            </a:r>
          </a:p>
          <a:p>
            <a:pPr lvl="1"/>
            <a:r>
              <a:rPr lang="en-IN" dirty="0"/>
              <a:t>Organize dashboards and analyses using appropriate access-control mechanisms. </a:t>
            </a:r>
          </a:p>
          <a:p>
            <a:pPr lvl="1"/>
            <a:r>
              <a:rPr lang="en-IN" dirty="0"/>
              <a:t>Embed </a:t>
            </a:r>
            <a:r>
              <a:rPr lang="en-IN" dirty="0" err="1"/>
              <a:t>QuickSight</a:t>
            </a:r>
            <a:r>
              <a:rPr lang="en-IN" dirty="0"/>
              <a:t> dashboards into applications using </a:t>
            </a:r>
            <a:r>
              <a:rPr lang="en-IN" b="1" dirty="0" err="1"/>
              <a:t>iframe</a:t>
            </a:r>
            <a:r>
              <a:rPr lang="en-IN" b="1" dirty="0"/>
              <a:t> and SDK-based embedding</a:t>
            </a:r>
            <a:r>
              <a:rPr lang="en-IN" dirty="0"/>
              <a:t>.</a:t>
            </a:r>
          </a:p>
          <a:p>
            <a:endParaRPr lang="en-IN" dirty="0"/>
          </a:p>
        </p:txBody>
      </p:sp>
      <p:sp>
        <p:nvSpPr>
          <p:cNvPr id="15" name="Title 14">
            <a:extLst>
              <a:ext uri="{FF2B5EF4-FFF2-40B4-BE49-F238E27FC236}">
                <a16:creationId xmlns:a16="http://schemas.microsoft.com/office/drawing/2014/main" id="{4DD671CC-5FA6-C259-D69E-6BE195F6D876}"/>
              </a:ext>
            </a:extLst>
          </p:cNvPr>
          <p:cNvSpPr>
            <a:spLocks noGrp="1"/>
          </p:cNvSpPr>
          <p:nvPr>
            <p:ph type="title"/>
          </p:nvPr>
        </p:nvSpPr>
        <p:spPr/>
        <p:txBody>
          <a:bodyPr/>
          <a:lstStyle/>
          <a:p>
            <a:r>
              <a:rPr lang="en-IN" dirty="0"/>
              <a:t>Goals</a:t>
            </a:r>
          </a:p>
        </p:txBody>
      </p:sp>
    </p:spTree>
    <p:extLst>
      <p:ext uri="{BB962C8B-B14F-4D97-AF65-F5344CB8AC3E}">
        <p14:creationId xmlns:p14="http://schemas.microsoft.com/office/powerpoint/2010/main" val="3845978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16B00-DC27-4634-5422-2EFF3D5FD56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30F4DD7-D95F-7C16-D8F2-99F0532C7C09}"/>
              </a:ext>
            </a:extLst>
          </p:cNvPr>
          <p:cNvSpPr/>
          <p:nvPr/>
        </p:nvSpPr>
        <p:spPr>
          <a:xfrm>
            <a:off x="365760" y="1040130"/>
            <a:ext cx="8412480" cy="365760"/>
          </a:xfrm>
          <a:prstGeom prst="rect">
            <a:avLst/>
          </a:prstGeom>
          <a:noFill/>
          <a:ln/>
        </p:spPr>
        <p:txBody>
          <a:bodyPr wrap="square" lIns="0" tIns="0" rIns="0" bIns="0" rtlCol="0" anchor="ctr"/>
          <a:lstStyle/>
          <a:p>
            <a:pPr algn="ctr"/>
            <a:r>
              <a:rPr lang="en-US" sz="2600" b="1" dirty="0">
                <a:solidFill>
                  <a:srgbClr val="F8FAFC"/>
                </a:solidFill>
                <a:latin typeface="Arial" pitchFamily="34" charset="0"/>
                <a:ea typeface="Arial" pitchFamily="34" charset="-122"/>
                <a:cs typeface="Arial" pitchFamily="34" charset="-120"/>
              </a:rPr>
              <a:t>PySpark Training Objectives</a:t>
            </a:r>
            <a:endParaRPr lang="en-US" sz="2600" dirty="0"/>
          </a:p>
        </p:txBody>
      </p:sp>
      <p:sp>
        <p:nvSpPr>
          <p:cNvPr id="16" name="Content Placeholder 15">
            <a:extLst>
              <a:ext uri="{FF2B5EF4-FFF2-40B4-BE49-F238E27FC236}">
                <a16:creationId xmlns:a16="http://schemas.microsoft.com/office/drawing/2014/main" id="{F2487880-5ED7-5640-CC4C-34C03A9B917A}"/>
              </a:ext>
            </a:extLst>
          </p:cNvPr>
          <p:cNvSpPr>
            <a:spLocks noGrp="1"/>
          </p:cNvSpPr>
          <p:nvPr>
            <p:ph sz="quarter" idx="12"/>
          </p:nvPr>
        </p:nvSpPr>
        <p:spPr>
          <a:xfrm>
            <a:off x="457201" y="1381125"/>
            <a:ext cx="8228012" cy="5248275"/>
          </a:xfrm>
        </p:spPr>
        <p:txBody>
          <a:bodyPr>
            <a:normAutofit fontScale="92500" lnSpcReduction="20000"/>
          </a:bodyPr>
          <a:lstStyle/>
          <a:p>
            <a:r>
              <a:rPr lang="en-IN" b="1" dirty="0"/>
              <a:t>3. Modern Data Lake Technologies</a:t>
            </a:r>
          </a:p>
          <a:p>
            <a:pPr lvl="1"/>
            <a:r>
              <a:rPr lang="en-IN" dirty="0"/>
              <a:t>Understand the purpose and architecture of </a:t>
            </a:r>
            <a:r>
              <a:rPr lang="en-IN" b="1" dirty="0"/>
              <a:t>Delta Lake and Apache Iceberg</a:t>
            </a:r>
            <a:r>
              <a:rPr lang="en-IN" dirty="0"/>
              <a:t>. </a:t>
            </a:r>
          </a:p>
          <a:p>
            <a:pPr lvl="1"/>
            <a:r>
              <a:rPr lang="en-IN" dirty="0"/>
              <a:t>Compare traditional data lakes with </a:t>
            </a:r>
            <a:r>
              <a:rPr lang="en-IN" b="1" dirty="0"/>
              <a:t>transactional </a:t>
            </a:r>
            <a:r>
              <a:rPr lang="en-IN" b="1" dirty="0" err="1"/>
              <a:t>lakehouse</a:t>
            </a:r>
            <a:r>
              <a:rPr lang="en-IN" b="1" dirty="0"/>
              <a:t> formats</a:t>
            </a:r>
            <a:r>
              <a:rPr lang="en-IN" dirty="0"/>
              <a:t>. </a:t>
            </a:r>
          </a:p>
          <a:p>
            <a:pPr lvl="1"/>
            <a:r>
              <a:rPr lang="en-IN" dirty="0"/>
              <a:t>Understand schema evolution, partitioning, metadata management, and ACID capabilities in modern </a:t>
            </a:r>
            <a:r>
              <a:rPr lang="en-IN" dirty="0" err="1"/>
              <a:t>lakehouse</a:t>
            </a:r>
            <a:r>
              <a:rPr lang="en-IN" dirty="0"/>
              <a:t> platforms. </a:t>
            </a:r>
          </a:p>
          <a:p>
            <a:r>
              <a:rPr lang="en-IN" b="1" dirty="0"/>
              <a:t>4. AWS Lake Formation</a:t>
            </a:r>
          </a:p>
          <a:p>
            <a:pPr lvl="1"/>
            <a:r>
              <a:rPr lang="en-IN" dirty="0"/>
              <a:t>Understand the role of </a:t>
            </a:r>
            <a:r>
              <a:rPr lang="en-IN" b="1" dirty="0"/>
              <a:t>AWS Lake Formation</a:t>
            </a:r>
            <a:r>
              <a:rPr lang="en-IN" dirty="0"/>
              <a:t> in building and governing enterprise data lakes. </a:t>
            </a:r>
          </a:p>
          <a:p>
            <a:pPr lvl="1"/>
            <a:r>
              <a:rPr lang="en-IN" dirty="0"/>
              <a:t>Configure centralized data access and permissions. </a:t>
            </a:r>
          </a:p>
          <a:p>
            <a:pPr lvl="1"/>
            <a:r>
              <a:rPr lang="en-IN" dirty="0"/>
              <a:t>Integrate Lake Formation with </a:t>
            </a:r>
            <a:r>
              <a:rPr lang="en-IN" b="1" dirty="0"/>
              <a:t>S3, Glue Data </a:t>
            </a:r>
            <a:r>
              <a:rPr lang="en-IN" b="1" dirty="0" err="1"/>
              <a:t>Catalog</a:t>
            </a:r>
            <a:r>
              <a:rPr lang="en-IN" b="1" dirty="0"/>
              <a:t>, Athena, and other AWS analytics services</a:t>
            </a:r>
            <a:r>
              <a:rPr lang="en-IN" dirty="0"/>
              <a:t>. </a:t>
            </a:r>
          </a:p>
          <a:p>
            <a:pPr lvl="1"/>
            <a:r>
              <a:rPr lang="en-IN" dirty="0"/>
              <a:t>Apply fine-grained data governance and security policies.</a:t>
            </a:r>
          </a:p>
          <a:p>
            <a:endParaRPr lang="en-IN" dirty="0"/>
          </a:p>
        </p:txBody>
      </p:sp>
      <p:sp>
        <p:nvSpPr>
          <p:cNvPr id="15" name="Title 14">
            <a:extLst>
              <a:ext uri="{FF2B5EF4-FFF2-40B4-BE49-F238E27FC236}">
                <a16:creationId xmlns:a16="http://schemas.microsoft.com/office/drawing/2014/main" id="{933514B3-0E9C-86EE-24BE-DDA1D729759A}"/>
              </a:ext>
            </a:extLst>
          </p:cNvPr>
          <p:cNvSpPr>
            <a:spLocks noGrp="1"/>
          </p:cNvSpPr>
          <p:nvPr>
            <p:ph type="title"/>
          </p:nvPr>
        </p:nvSpPr>
        <p:spPr/>
        <p:txBody>
          <a:bodyPr/>
          <a:lstStyle/>
          <a:p>
            <a:r>
              <a:rPr lang="en-IN" dirty="0"/>
              <a:t>Goals</a:t>
            </a:r>
          </a:p>
        </p:txBody>
      </p:sp>
    </p:spTree>
    <p:extLst>
      <p:ext uri="{BB962C8B-B14F-4D97-AF65-F5344CB8AC3E}">
        <p14:creationId xmlns:p14="http://schemas.microsoft.com/office/powerpoint/2010/main" val="944442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0BDD2-8DD4-0EB9-DCAE-96C8BDABEF8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757EA3F-6F0F-8BFE-3FDC-F19040F12A59}"/>
              </a:ext>
            </a:extLst>
          </p:cNvPr>
          <p:cNvSpPr/>
          <p:nvPr/>
        </p:nvSpPr>
        <p:spPr>
          <a:xfrm>
            <a:off x="365760" y="1040130"/>
            <a:ext cx="8412480" cy="365760"/>
          </a:xfrm>
          <a:prstGeom prst="rect">
            <a:avLst/>
          </a:prstGeom>
          <a:noFill/>
          <a:ln/>
        </p:spPr>
        <p:txBody>
          <a:bodyPr wrap="square" lIns="0" tIns="0" rIns="0" bIns="0" rtlCol="0" anchor="ctr"/>
          <a:lstStyle/>
          <a:p>
            <a:pPr algn="ctr"/>
            <a:r>
              <a:rPr lang="en-US" sz="2600" b="1" dirty="0">
                <a:solidFill>
                  <a:srgbClr val="F8FAFC"/>
                </a:solidFill>
                <a:latin typeface="Arial" pitchFamily="34" charset="0"/>
                <a:ea typeface="Arial" pitchFamily="34" charset="-122"/>
                <a:cs typeface="Arial" pitchFamily="34" charset="-120"/>
              </a:rPr>
              <a:t>PySpark Training Objectives</a:t>
            </a:r>
            <a:endParaRPr lang="en-US" sz="2600" dirty="0"/>
          </a:p>
        </p:txBody>
      </p:sp>
      <p:sp>
        <p:nvSpPr>
          <p:cNvPr id="16" name="Content Placeholder 15">
            <a:extLst>
              <a:ext uri="{FF2B5EF4-FFF2-40B4-BE49-F238E27FC236}">
                <a16:creationId xmlns:a16="http://schemas.microsoft.com/office/drawing/2014/main" id="{6AAD1DD2-DED6-5B94-7058-BE1E63BB326E}"/>
              </a:ext>
            </a:extLst>
          </p:cNvPr>
          <p:cNvSpPr>
            <a:spLocks noGrp="1"/>
          </p:cNvSpPr>
          <p:nvPr>
            <p:ph sz="quarter" idx="12"/>
          </p:nvPr>
        </p:nvSpPr>
        <p:spPr>
          <a:xfrm>
            <a:off x="457201" y="1381125"/>
            <a:ext cx="8228012" cy="5248275"/>
          </a:xfrm>
        </p:spPr>
        <p:txBody>
          <a:bodyPr>
            <a:normAutofit lnSpcReduction="10000"/>
          </a:bodyPr>
          <a:lstStyle/>
          <a:p>
            <a:r>
              <a:rPr lang="en-IN" b="1" dirty="0"/>
              <a:t>5. AWS Athena</a:t>
            </a:r>
          </a:p>
          <a:p>
            <a:pPr lvl="1"/>
            <a:r>
              <a:rPr lang="en-IN" dirty="0"/>
              <a:t>Understand Athena as a </a:t>
            </a:r>
            <a:r>
              <a:rPr lang="en-IN" b="1" dirty="0"/>
              <a:t>serverless SQL query engine for S3</a:t>
            </a:r>
            <a:r>
              <a:rPr lang="en-IN" dirty="0"/>
              <a:t>. </a:t>
            </a:r>
          </a:p>
          <a:p>
            <a:pPr lvl="1"/>
            <a:r>
              <a:rPr lang="en-IN" dirty="0"/>
              <a:t>Create schemas and tables over data stored in S3. </a:t>
            </a:r>
          </a:p>
          <a:p>
            <a:pPr lvl="1"/>
            <a:r>
              <a:rPr lang="en-IN" dirty="0"/>
              <a:t>Integrate Athena with the </a:t>
            </a:r>
            <a:r>
              <a:rPr lang="en-IN" b="1" dirty="0"/>
              <a:t>AWS Glue Data </a:t>
            </a:r>
            <a:r>
              <a:rPr lang="en-IN" b="1" dirty="0" err="1"/>
              <a:t>Catalog</a:t>
            </a:r>
            <a:r>
              <a:rPr lang="en-IN" dirty="0"/>
              <a:t>. </a:t>
            </a:r>
          </a:p>
          <a:p>
            <a:pPr lvl="1"/>
            <a:r>
              <a:rPr lang="en-IN" dirty="0"/>
              <a:t>Query </a:t>
            </a:r>
            <a:r>
              <a:rPr lang="en-IN" b="1" dirty="0"/>
              <a:t>CSV, JSON, Parquet, ORC, and Avro</a:t>
            </a:r>
            <a:r>
              <a:rPr lang="en-IN" dirty="0"/>
              <a:t> datasets. </a:t>
            </a:r>
          </a:p>
          <a:p>
            <a:pPr lvl="1"/>
            <a:r>
              <a:rPr lang="en-IN" dirty="0"/>
              <a:t>Implement </a:t>
            </a:r>
            <a:r>
              <a:rPr lang="en-IN" b="1" dirty="0"/>
              <a:t>partitioning by date, region, or business dimensions</a:t>
            </a:r>
            <a:r>
              <a:rPr lang="en-IN" dirty="0"/>
              <a:t> to reduce scanned data. </a:t>
            </a:r>
          </a:p>
          <a:p>
            <a:pPr lvl="1"/>
            <a:r>
              <a:rPr lang="en-IN" dirty="0"/>
              <a:t>Improve query performance using </a:t>
            </a:r>
            <a:r>
              <a:rPr lang="en-IN" b="1" dirty="0"/>
              <a:t>Parquet/ORC, compression, partition pruning, and column pruning</a:t>
            </a:r>
            <a:r>
              <a:rPr lang="en-IN" dirty="0"/>
              <a:t>. </a:t>
            </a:r>
          </a:p>
          <a:p>
            <a:pPr lvl="1"/>
            <a:r>
              <a:rPr lang="en-IN" dirty="0"/>
              <a:t>Understand the cost impact of </a:t>
            </a:r>
            <a:r>
              <a:rPr lang="en-IN" b="1" dirty="0"/>
              <a:t>data scanned per query</a:t>
            </a:r>
            <a:r>
              <a:rPr lang="en-IN" dirty="0"/>
              <a:t>. </a:t>
            </a:r>
          </a:p>
          <a:p>
            <a:pPr lvl="1"/>
            <a:r>
              <a:rPr lang="en-IN" dirty="0"/>
              <a:t>Avoid the </a:t>
            </a:r>
            <a:r>
              <a:rPr lang="en-IN" b="1" dirty="0"/>
              <a:t>small-files problem</a:t>
            </a:r>
            <a:r>
              <a:rPr lang="en-IN" dirty="0"/>
              <a:t> by designing efficient S3 file layouts.</a:t>
            </a:r>
          </a:p>
          <a:p>
            <a:endParaRPr lang="en-IN" dirty="0"/>
          </a:p>
        </p:txBody>
      </p:sp>
      <p:sp>
        <p:nvSpPr>
          <p:cNvPr id="15" name="Title 14">
            <a:extLst>
              <a:ext uri="{FF2B5EF4-FFF2-40B4-BE49-F238E27FC236}">
                <a16:creationId xmlns:a16="http://schemas.microsoft.com/office/drawing/2014/main" id="{5C1FF324-E366-E604-D1FD-B34AC8582D5C}"/>
              </a:ext>
            </a:extLst>
          </p:cNvPr>
          <p:cNvSpPr>
            <a:spLocks noGrp="1"/>
          </p:cNvSpPr>
          <p:nvPr>
            <p:ph type="title"/>
          </p:nvPr>
        </p:nvSpPr>
        <p:spPr/>
        <p:txBody>
          <a:bodyPr/>
          <a:lstStyle/>
          <a:p>
            <a:r>
              <a:rPr lang="en-IN" dirty="0"/>
              <a:t>Goals</a:t>
            </a:r>
          </a:p>
        </p:txBody>
      </p:sp>
    </p:spTree>
    <p:extLst>
      <p:ext uri="{BB962C8B-B14F-4D97-AF65-F5344CB8AC3E}">
        <p14:creationId xmlns:p14="http://schemas.microsoft.com/office/powerpoint/2010/main" val="1204227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7CCC0-CE46-8295-BF75-2BD3403A5DB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1810A08-8B74-9C43-2510-7C28B5F273D3}"/>
              </a:ext>
            </a:extLst>
          </p:cNvPr>
          <p:cNvSpPr/>
          <p:nvPr/>
        </p:nvSpPr>
        <p:spPr>
          <a:xfrm>
            <a:off x="365760" y="1040130"/>
            <a:ext cx="8412480" cy="365760"/>
          </a:xfrm>
          <a:prstGeom prst="rect">
            <a:avLst/>
          </a:prstGeom>
          <a:noFill/>
          <a:ln/>
        </p:spPr>
        <p:txBody>
          <a:bodyPr wrap="square" lIns="0" tIns="0" rIns="0" bIns="0" rtlCol="0" anchor="ctr"/>
          <a:lstStyle/>
          <a:p>
            <a:pPr algn="ctr"/>
            <a:r>
              <a:rPr lang="en-US" sz="2600" b="1" dirty="0">
                <a:solidFill>
                  <a:srgbClr val="F8FAFC"/>
                </a:solidFill>
                <a:latin typeface="Arial" pitchFamily="34" charset="0"/>
                <a:ea typeface="Arial" pitchFamily="34" charset="-122"/>
                <a:cs typeface="Arial" pitchFamily="34" charset="-120"/>
              </a:rPr>
              <a:t>PySpark Training Objectives</a:t>
            </a:r>
            <a:endParaRPr lang="en-US" sz="2600" dirty="0"/>
          </a:p>
        </p:txBody>
      </p:sp>
      <p:sp>
        <p:nvSpPr>
          <p:cNvPr id="16" name="Content Placeholder 15">
            <a:extLst>
              <a:ext uri="{FF2B5EF4-FFF2-40B4-BE49-F238E27FC236}">
                <a16:creationId xmlns:a16="http://schemas.microsoft.com/office/drawing/2014/main" id="{5DA61279-ABB9-6EF9-C357-3F3654D3764B}"/>
              </a:ext>
            </a:extLst>
          </p:cNvPr>
          <p:cNvSpPr>
            <a:spLocks noGrp="1"/>
          </p:cNvSpPr>
          <p:nvPr>
            <p:ph sz="quarter" idx="12"/>
          </p:nvPr>
        </p:nvSpPr>
        <p:spPr>
          <a:xfrm>
            <a:off x="457201" y="1381125"/>
            <a:ext cx="8228012" cy="5248275"/>
          </a:xfrm>
        </p:spPr>
        <p:txBody>
          <a:bodyPr>
            <a:normAutofit fontScale="92500" lnSpcReduction="10000"/>
          </a:bodyPr>
          <a:lstStyle/>
          <a:p>
            <a:r>
              <a:rPr lang="en-IN" b="1" dirty="0"/>
              <a:t>7. AWS Lambda</a:t>
            </a:r>
          </a:p>
          <a:p>
            <a:pPr lvl="1"/>
            <a:r>
              <a:rPr lang="en-IN" dirty="0"/>
              <a:t>Develop and deploy </a:t>
            </a:r>
            <a:r>
              <a:rPr lang="en-IN" b="1" dirty="0"/>
              <a:t>serverless Lambda functions</a:t>
            </a:r>
            <a:r>
              <a:rPr lang="en-IN" dirty="0"/>
              <a:t>. </a:t>
            </a:r>
          </a:p>
          <a:p>
            <a:pPr lvl="1"/>
            <a:r>
              <a:rPr lang="en-IN" dirty="0"/>
              <a:t>Integrate Lambda with </a:t>
            </a:r>
            <a:r>
              <a:rPr lang="en-IN" b="1" dirty="0"/>
              <a:t>S3, SQS, SNS, </a:t>
            </a:r>
            <a:r>
              <a:rPr lang="en-IN" b="1" dirty="0" err="1"/>
              <a:t>EventBridge</a:t>
            </a:r>
            <a:r>
              <a:rPr lang="en-IN" b="1" dirty="0"/>
              <a:t>, and API Gateway</a:t>
            </a:r>
            <a:r>
              <a:rPr lang="en-IN" dirty="0"/>
              <a:t>. </a:t>
            </a:r>
          </a:p>
          <a:p>
            <a:pPr lvl="1"/>
            <a:r>
              <a:rPr lang="en-IN" dirty="0"/>
              <a:t>Understand the Lambda </a:t>
            </a:r>
            <a:r>
              <a:rPr lang="en-IN" b="1" dirty="0"/>
              <a:t>handler and execution lifecycle</a:t>
            </a:r>
            <a:r>
              <a:rPr lang="en-IN" dirty="0"/>
              <a:t>. </a:t>
            </a:r>
          </a:p>
          <a:p>
            <a:pPr lvl="1"/>
            <a:r>
              <a:rPr lang="en-IN" dirty="0"/>
              <a:t>Configure </a:t>
            </a:r>
            <a:r>
              <a:rPr lang="en-IN" b="1" dirty="0"/>
              <a:t>reserved and provisioned concurrency</a:t>
            </a:r>
            <a:r>
              <a:rPr lang="en-IN" dirty="0"/>
              <a:t>. </a:t>
            </a:r>
          </a:p>
          <a:p>
            <a:pPr lvl="1"/>
            <a:r>
              <a:rPr lang="en-IN" dirty="0"/>
              <a:t>Reduce </a:t>
            </a:r>
            <a:r>
              <a:rPr lang="en-IN" b="1" dirty="0"/>
              <a:t>cold-start latency</a:t>
            </a:r>
            <a:r>
              <a:rPr lang="en-IN" dirty="0"/>
              <a:t>. </a:t>
            </a:r>
          </a:p>
          <a:p>
            <a:pPr lvl="1"/>
            <a:r>
              <a:rPr lang="en-IN" dirty="0"/>
              <a:t>Configure memory, CPU, timeout, and environment variables. </a:t>
            </a:r>
          </a:p>
          <a:p>
            <a:pPr lvl="1"/>
            <a:r>
              <a:rPr lang="en-IN" dirty="0"/>
              <a:t>Understand the </a:t>
            </a:r>
            <a:r>
              <a:rPr lang="en-IN" b="1" dirty="0"/>
              <a:t>15-minute maximum execution time</a:t>
            </a:r>
            <a:r>
              <a:rPr lang="en-IN" dirty="0"/>
              <a:t>. </a:t>
            </a:r>
          </a:p>
          <a:p>
            <a:pPr lvl="1"/>
            <a:r>
              <a:rPr lang="en-IN" dirty="0"/>
              <a:t>Manage dependencies using </a:t>
            </a:r>
            <a:r>
              <a:rPr lang="en-IN" b="1" dirty="0"/>
              <a:t>Lambda Layers</a:t>
            </a:r>
            <a:r>
              <a:rPr lang="en-IN" dirty="0"/>
              <a:t>. </a:t>
            </a:r>
          </a:p>
          <a:p>
            <a:pPr lvl="1"/>
            <a:r>
              <a:rPr lang="en-IN" dirty="0"/>
              <a:t>Understand </a:t>
            </a:r>
            <a:r>
              <a:rPr lang="en-IN" b="1" dirty="0"/>
              <a:t>synchronous versus asynchronous invocation</a:t>
            </a:r>
            <a:r>
              <a:rPr lang="en-IN" dirty="0"/>
              <a:t>. </a:t>
            </a:r>
          </a:p>
          <a:p>
            <a:pPr lvl="1"/>
            <a:r>
              <a:rPr lang="en-IN" dirty="0"/>
              <a:t>Implement retries and robust error-handling strategies. </a:t>
            </a:r>
          </a:p>
          <a:p>
            <a:pPr lvl="1"/>
            <a:r>
              <a:rPr lang="en-IN" dirty="0"/>
              <a:t>Configure </a:t>
            </a:r>
            <a:r>
              <a:rPr lang="en-IN" b="1" dirty="0"/>
              <a:t>Dead Letter Queues</a:t>
            </a:r>
            <a:r>
              <a:rPr lang="en-IN" dirty="0"/>
              <a:t> and failure destinations.</a:t>
            </a:r>
          </a:p>
          <a:p>
            <a:endParaRPr lang="en-IN" dirty="0"/>
          </a:p>
        </p:txBody>
      </p:sp>
      <p:sp>
        <p:nvSpPr>
          <p:cNvPr id="15" name="Title 14">
            <a:extLst>
              <a:ext uri="{FF2B5EF4-FFF2-40B4-BE49-F238E27FC236}">
                <a16:creationId xmlns:a16="http://schemas.microsoft.com/office/drawing/2014/main" id="{D964C6F4-6D74-CB3F-AEE0-805CDBC1ACB9}"/>
              </a:ext>
            </a:extLst>
          </p:cNvPr>
          <p:cNvSpPr>
            <a:spLocks noGrp="1"/>
          </p:cNvSpPr>
          <p:nvPr>
            <p:ph type="title"/>
          </p:nvPr>
        </p:nvSpPr>
        <p:spPr/>
        <p:txBody>
          <a:bodyPr/>
          <a:lstStyle/>
          <a:p>
            <a:r>
              <a:rPr lang="en-IN" dirty="0"/>
              <a:t>Goals</a:t>
            </a:r>
          </a:p>
        </p:txBody>
      </p:sp>
    </p:spTree>
    <p:extLst>
      <p:ext uri="{BB962C8B-B14F-4D97-AF65-F5344CB8AC3E}">
        <p14:creationId xmlns:p14="http://schemas.microsoft.com/office/powerpoint/2010/main" val="3940138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0526F-1370-C612-2305-0FD454B1047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2123CE4-63B8-7E2E-F90D-DBA161FFA5E4}"/>
              </a:ext>
            </a:extLst>
          </p:cNvPr>
          <p:cNvSpPr/>
          <p:nvPr/>
        </p:nvSpPr>
        <p:spPr>
          <a:xfrm>
            <a:off x="365760" y="1040130"/>
            <a:ext cx="8412480" cy="365760"/>
          </a:xfrm>
          <a:prstGeom prst="rect">
            <a:avLst/>
          </a:prstGeom>
          <a:noFill/>
          <a:ln/>
        </p:spPr>
        <p:txBody>
          <a:bodyPr wrap="square" lIns="0" tIns="0" rIns="0" bIns="0" rtlCol="0" anchor="ctr"/>
          <a:lstStyle/>
          <a:p>
            <a:pPr algn="ctr"/>
            <a:r>
              <a:rPr lang="en-US" sz="2600" b="1" dirty="0">
                <a:solidFill>
                  <a:srgbClr val="F8FAFC"/>
                </a:solidFill>
                <a:latin typeface="Arial" pitchFamily="34" charset="0"/>
                <a:ea typeface="Arial" pitchFamily="34" charset="-122"/>
                <a:cs typeface="Arial" pitchFamily="34" charset="-120"/>
              </a:rPr>
              <a:t>PySpark Training Objectives</a:t>
            </a:r>
            <a:endParaRPr lang="en-US" sz="2600" dirty="0"/>
          </a:p>
        </p:txBody>
      </p:sp>
      <p:sp>
        <p:nvSpPr>
          <p:cNvPr id="16" name="Content Placeholder 15">
            <a:extLst>
              <a:ext uri="{FF2B5EF4-FFF2-40B4-BE49-F238E27FC236}">
                <a16:creationId xmlns:a16="http://schemas.microsoft.com/office/drawing/2014/main" id="{E1B958E9-2DF9-6C94-A6FE-65D24C1DA8C0}"/>
              </a:ext>
            </a:extLst>
          </p:cNvPr>
          <p:cNvSpPr>
            <a:spLocks noGrp="1"/>
          </p:cNvSpPr>
          <p:nvPr>
            <p:ph sz="quarter" idx="12"/>
          </p:nvPr>
        </p:nvSpPr>
        <p:spPr>
          <a:xfrm>
            <a:off x="457201" y="1381125"/>
            <a:ext cx="8228012" cy="5248275"/>
          </a:xfrm>
        </p:spPr>
        <p:txBody>
          <a:bodyPr>
            <a:normAutofit fontScale="92500" lnSpcReduction="10000"/>
          </a:bodyPr>
          <a:lstStyle/>
          <a:p>
            <a:r>
              <a:rPr lang="en-IN" b="1" dirty="0"/>
              <a:t>8. AWS SQS &amp; SNS</a:t>
            </a:r>
          </a:p>
          <a:p>
            <a:pPr lvl="1"/>
            <a:r>
              <a:rPr lang="en-IN" dirty="0"/>
              <a:t>Understand asynchronous messaging using </a:t>
            </a:r>
            <a:r>
              <a:rPr lang="en-IN" b="1" dirty="0"/>
              <a:t>Amazon SQS</a:t>
            </a:r>
            <a:r>
              <a:rPr lang="en-IN" dirty="0"/>
              <a:t>. </a:t>
            </a:r>
          </a:p>
          <a:p>
            <a:pPr lvl="1"/>
            <a:r>
              <a:rPr lang="en-IN" dirty="0"/>
              <a:t>Compare </a:t>
            </a:r>
            <a:r>
              <a:rPr lang="en-IN" b="1" dirty="0"/>
              <a:t>Standard and FIFO queues</a:t>
            </a:r>
            <a:r>
              <a:rPr lang="en-IN" dirty="0"/>
              <a:t>. </a:t>
            </a:r>
          </a:p>
          <a:p>
            <a:pPr lvl="1"/>
            <a:r>
              <a:rPr lang="en-IN" dirty="0"/>
              <a:t>Configure </a:t>
            </a:r>
            <a:r>
              <a:rPr lang="en-IN" b="1" dirty="0"/>
              <a:t>visibility timeout</a:t>
            </a:r>
            <a:r>
              <a:rPr lang="en-IN" dirty="0"/>
              <a:t> and message-processing </a:t>
            </a:r>
            <a:r>
              <a:rPr lang="en-IN" dirty="0" err="1"/>
              <a:t>behavior</a:t>
            </a:r>
            <a:r>
              <a:rPr lang="en-IN" dirty="0"/>
              <a:t>. </a:t>
            </a:r>
          </a:p>
          <a:p>
            <a:pPr lvl="1"/>
            <a:r>
              <a:rPr lang="en-IN" dirty="0"/>
              <a:t>Handle poison messages using </a:t>
            </a:r>
            <a:r>
              <a:rPr lang="en-IN" b="1" dirty="0"/>
              <a:t>Dead Letter Queues</a:t>
            </a:r>
            <a:r>
              <a:rPr lang="en-IN" dirty="0"/>
              <a:t>. </a:t>
            </a:r>
          </a:p>
          <a:p>
            <a:pPr lvl="1"/>
            <a:r>
              <a:rPr lang="en-IN" dirty="0"/>
              <a:t>Understand ordering, deduplication, scalability, and delivery guarantees. </a:t>
            </a:r>
          </a:p>
          <a:p>
            <a:pPr lvl="1"/>
            <a:r>
              <a:rPr lang="en-IN" dirty="0"/>
              <a:t>Implement pub/sub messaging using </a:t>
            </a:r>
            <a:r>
              <a:rPr lang="en-IN" b="1" dirty="0"/>
              <a:t>Amazon SNS</a:t>
            </a:r>
            <a:r>
              <a:rPr lang="en-IN" dirty="0"/>
              <a:t>. </a:t>
            </a:r>
          </a:p>
          <a:p>
            <a:pPr lvl="1"/>
            <a:r>
              <a:rPr lang="en-IN" dirty="0"/>
              <a:t>Create </a:t>
            </a:r>
            <a:r>
              <a:rPr lang="en-IN" b="1" dirty="0"/>
              <a:t>topics and subscriptions</a:t>
            </a:r>
            <a:r>
              <a:rPr lang="en-IN" dirty="0"/>
              <a:t>. </a:t>
            </a:r>
          </a:p>
          <a:p>
            <a:pPr lvl="1"/>
            <a:r>
              <a:rPr lang="en-IN" dirty="0"/>
              <a:t>Implement the </a:t>
            </a:r>
            <a:r>
              <a:rPr lang="en-IN" b="1" dirty="0"/>
              <a:t>SNS fanout pattern</a:t>
            </a:r>
            <a:r>
              <a:rPr lang="en-IN" dirty="0"/>
              <a:t> using multiple SQS queues. </a:t>
            </a:r>
          </a:p>
          <a:p>
            <a:pPr lvl="1"/>
            <a:r>
              <a:rPr lang="en-IN" dirty="0"/>
              <a:t>Integrate SQS and SNS with </a:t>
            </a:r>
            <a:r>
              <a:rPr lang="en-IN" b="1" dirty="0"/>
              <a:t>AWS Lambda</a:t>
            </a:r>
            <a:r>
              <a:rPr lang="en-IN" dirty="0"/>
              <a:t> for event-driven applications.</a:t>
            </a:r>
          </a:p>
          <a:p>
            <a:endParaRPr lang="en-IN" dirty="0"/>
          </a:p>
        </p:txBody>
      </p:sp>
      <p:sp>
        <p:nvSpPr>
          <p:cNvPr id="15" name="Title 14">
            <a:extLst>
              <a:ext uri="{FF2B5EF4-FFF2-40B4-BE49-F238E27FC236}">
                <a16:creationId xmlns:a16="http://schemas.microsoft.com/office/drawing/2014/main" id="{E3A52105-36D5-23D8-4A35-4B62BBC20F8E}"/>
              </a:ext>
            </a:extLst>
          </p:cNvPr>
          <p:cNvSpPr>
            <a:spLocks noGrp="1"/>
          </p:cNvSpPr>
          <p:nvPr>
            <p:ph type="title"/>
          </p:nvPr>
        </p:nvSpPr>
        <p:spPr/>
        <p:txBody>
          <a:bodyPr/>
          <a:lstStyle/>
          <a:p>
            <a:r>
              <a:rPr lang="en-IN" dirty="0"/>
              <a:t>Goals</a:t>
            </a:r>
          </a:p>
        </p:txBody>
      </p:sp>
    </p:spTree>
    <p:extLst>
      <p:ext uri="{BB962C8B-B14F-4D97-AF65-F5344CB8AC3E}">
        <p14:creationId xmlns:p14="http://schemas.microsoft.com/office/powerpoint/2010/main" val="30258973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9AEAE-6735-D5ED-F021-91144E62FE4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F006C57-90E1-1148-7966-B88F4F314AB1}"/>
              </a:ext>
            </a:extLst>
          </p:cNvPr>
          <p:cNvSpPr/>
          <p:nvPr/>
        </p:nvSpPr>
        <p:spPr>
          <a:xfrm>
            <a:off x="365760" y="1040130"/>
            <a:ext cx="8412480" cy="365760"/>
          </a:xfrm>
          <a:prstGeom prst="rect">
            <a:avLst/>
          </a:prstGeom>
          <a:noFill/>
          <a:ln/>
        </p:spPr>
        <p:txBody>
          <a:bodyPr wrap="square" lIns="0" tIns="0" rIns="0" bIns="0" rtlCol="0" anchor="ctr"/>
          <a:lstStyle/>
          <a:p>
            <a:pPr algn="ctr"/>
            <a:r>
              <a:rPr lang="en-US" sz="2600" b="1" dirty="0">
                <a:solidFill>
                  <a:srgbClr val="F8FAFC"/>
                </a:solidFill>
                <a:latin typeface="Arial" pitchFamily="34" charset="0"/>
                <a:ea typeface="Arial" pitchFamily="34" charset="-122"/>
                <a:cs typeface="Arial" pitchFamily="34" charset="-120"/>
              </a:rPr>
              <a:t>PySpark Training Objectives</a:t>
            </a:r>
            <a:endParaRPr lang="en-US" sz="2600" dirty="0"/>
          </a:p>
        </p:txBody>
      </p:sp>
      <p:sp>
        <p:nvSpPr>
          <p:cNvPr id="16" name="Content Placeholder 15">
            <a:extLst>
              <a:ext uri="{FF2B5EF4-FFF2-40B4-BE49-F238E27FC236}">
                <a16:creationId xmlns:a16="http://schemas.microsoft.com/office/drawing/2014/main" id="{10628C20-2B91-5425-A33C-1568785506D8}"/>
              </a:ext>
            </a:extLst>
          </p:cNvPr>
          <p:cNvSpPr>
            <a:spLocks noGrp="1"/>
          </p:cNvSpPr>
          <p:nvPr>
            <p:ph sz="quarter" idx="12"/>
          </p:nvPr>
        </p:nvSpPr>
        <p:spPr>
          <a:xfrm>
            <a:off x="457201" y="1381125"/>
            <a:ext cx="8228012" cy="5248275"/>
          </a:xfrm>
        </p:spPr>
        <p:txBody>
          <a:bodyPr>
            <a:normAutofit fontScale="92500" lnSpcReduction="10000"/>
          </a:bodyPr>
          <a:lstStyle/>
          <a:p>
            <a:r>
              <a:rPr lang="en-IN" b="1" dirty="0"/>
              <a:t>9. AWS EMR</a:t>
            </a:r>
          </a:p>
          <a:p>
            <a:pPr lvl="1"/>
            <a:r>
              <a:rPr lang="en-IN" dirty="0"/>
              <a:t>Understand </a:t>
            </a:r>
            <a:r>
              <a:rPr lang="en-IN" b="1" dirty="0"/>
              <a:t>Amazon EMR architecture</a:t>
            </a:r>
            <a:r>
              <a:rPr lang="en-IN" dirty="0"/>
              <a:t> for Hadoop and Spark workloads. </a:t>
            </a:r>
          </a:p>
          <a:p>
            <a:pPr lvl="1"/>
            <a:r>
              <a:rPr lang="en-IN" dirty="0"/>
              <a:t>Design clusters using </a:t>
            </a:r>
            <a:r>
              <a:rPr lang="en-IN" b="1" dirty="0"/>
              <a:t>Primary/Master, Core, and Task nodes</a:t>
            </a:r>
            <a:r>
              <a:rPr lang="en-IN" dirty="0"/>
              <a:t>. </a:t>
            </a:r>
          </a:p>
          <a:p>
            <a:pPr lvl="1"/>
            <a:r>
              <a:rPr lang="en-IN" dirty="0"/>
              <a:t>Select appropriate cluster sizes for data-processing workloads. </a:t>
            </a:r>
          </a:p>
          <a:p>
            <a:pPr lvl="1"/>
            <a:r>
              <a:rPr lang="en-IN" dirty="0"/>
              <a:t>Configure </a:t>
            </a:r>
            <a:r>
              <a:rPr lang="en-IN" b="1" dirty="0"/>
              <a:t>autoscaling policies</a:t>
            </a:r>
            <a:r>
              <a:rPr lang="en-IN" dirty="0"/>
              <a:t>. </a:t>
            </a:r>
          </a:p>
          <a:p>
            <a:pPr lvl="1"/>
            <a:r>
              <a:rPr lang="en-IN" dirty="0"/>
              <a:t>Tune Spark </a:t>
            </a:r>
            <a:r>
              <a:rPr lang="en-IN" b="1" dirty="0"/>
              <a:t>executor memory, executor cores, and parallelism</a:t>
            </a:r>
            <a:r>
              <a:rPr lang="en-IN" dirty="0"/>
              <a:t>. </a:t>
            </a:r>
          </a:p>
          <a:p>
            <a:pPr lvl="1"/>
            <a:r>
              <a:rPr lang="en-IN" dirty="0"/>
              <a:t>Optimize cluster utilization and application performance. </a:t>
            </a:r>
          </a:p>
          <a:p>
            <a:pPr lvl="1"/>
            <a:r>
              <a:rPr lang="en-IN" dirty="0"/>
              <a:t>Use </a:t>
            </a:r>
            <a:r>
              <a:rPr lang="en-IN" b="1" dirty="0"/>
              <a:t>Spot Instances</a:t>
            </a:r>
            <a:r>
              <a:rPr lang="en-IN" dirty="0"/>
              <a:t> appropriately to reduce processing cost. </a:t>
            </a:r>
          </a:p>
          <a:p>
            <a:pPr lvl="1"/>
            <a:r>
              <a:rPr lang="en-IN" dirty="0"/>
              <a:t>Decide when EMR is more appropriate than serverless alternatives.</a:t>
            </a:r>
          </a:p>
          <a:p>
            <a:endParaRPr lang="en-IN" dirty="0"/>
          </a:p>
        </p:txBody>
      </p:sp>
      <p:sp>
        <p:nvSpPr>
          <p:cNvPr id="15" name="Title 14">
            <a:extLst>
              <a:ext uri="{FF2B5EF4-FFF2-40B4-BE49-F238E27FC236}">
                <a16:creationId xmlns:a16="http://schemas.microsoft.com/office/drawing/2014/main" id="{0E24EC96-6808-BF24-4E45-74417A331CB5}"/>
              </a:ext>
            </a:extLst>
          </p:cNvPr>
          <p:cNvSpPr>
            <a:spLocks noGrp="1"/>
          </p:cNvSpPr>
          <p:nvPr>
            <p:ph type="title"/>
          </p:nvPr>
        </p:nvSpPr>
        <p:spPr/>
        <p:txBody>
          <a:bodyPr/>
          <a:lstStyle/>
          <a:p>
            <a:r>
              <a:rPr lang="en-IN" dirty="0"/>
              <a:t>Goals</a:t>
            </a:r>
          </a:p>
        </p:txBody>
      </p:sp>
    </p:spTree>
    <p:extLst>
      <p:ext uri="{BB962C8B-B14F-4D97-AF65-F5344CB8AC3E}">
        <p14:creationId xmlns:p14="http://schemas.microsoft.com/office/powerpoint/2010/main" val="1723010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7DF2B-030F-76CB-690F-EB185ACA8A0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43460EC-0B1E-263A-F25E-12730367E286}"/>
              </a:ext>
            </a:extLst>
          </p:cNvPr>
          <p:cNvSpPr/>
          <p:nvPr/>
        </p:nvSpPr>
        <p:spPr>
          <a:xfrm>
            <a:off x="365760" y="1040130"/>
            <a:ext cx="8412480" cy="365760"/>
          </a:xfrm>
          <a:prstGeom prst="rect">
            <a:avLst/>
          </a:prstGeom>
          <a:noFill/>
          <a:ln/>
        </p:spPr>
        <p:txBody>
          <a:bodyPr wrap="square" lIns="0" tIns="0" rIns="0" bIns="0" rtlCol="0" anchor="ctr"/>
          <a:lstStyle/>
          <a:p>
            <a:pPr algn="ctr"/>
            <a:r>
              <a:rPr lang="en-US" sz="2600" b="1" dirty="0">
                <a:solidFill>
                  <a:srgbClr val="F8FAFC"/>
                </a:solidFill>
                <a:latin typeface="Arial" pitchFamily="34" charset="0"/>
                <a:ea typeface="Arial" pitchFamily="34" charset="-122"/>
                <a:cs typeface="Arial" pitchFamily="34" charset="-120"/>
              </a:rPr>
              <a:t>PySpark Training Objectives</a:t>
            </a:r>
            <a:endParaRPr lang="en-US" sz="2600" dirty="0"/>
          </a:p>
        </p:txBody>
      </p:sp>
      <p:sp>
        <p:nvSpPr>
          <p:cNvPr id="16" name="Content Placeholder 15">
            <a:extLst>
              <a:ext uri="{FF2B5EF4-FFF2-40B4-BE49-F238E27FC236}">
                <a16:creationId xmlns:a16="http://schemas.microsoft.com/office/drawing/2014/main" id="{B19BFA35-F0B8-6966-C62C-F99224F905A4}"/>
              </a:ext>
            </a:extLst>
          </p:cNvPr>
          <p:cNvSpPr>
            <a:spLocks noGrp="1"/>
          </p:cNvSpPr>
          <p:nvPr>
            <p:ph sz="quarter" idx="12"/>
          </p:nvPr>
        </p:nvSpPr>
        <p:spPr>
          <a:xfrm>
            <a:off x="457201" y="1381125"/>
            <a:ext cx="8228012" cy="5248275"/>
          </a:xfrm>
        </p:spPr>
        <p:txBody>
          <a:bodyPr>
            <a:normAutofit fontScale="92500"/>
          </a:bodyPr>
          <a:lstStyle/>
          <a:p>
            <a:r>
              <a:rPr lang="en-IN" b="1" dirty="0"/>
              <a:t>10. AWS Glue</a:t>
            </a:r>
          </a:p>
          <a:p>
            <a:pPr lvl="1"/>
            <a:r>
              <a:rPr lang="en-IN" dirty="0"/>
              <a:t>Understand AWS Glue as a </a:t>
            </a:r>
            <a:r>
              <a:rPr lang="en-IN" b="1" dirty="0"/>
              <a:t>serverless ETL platform</a:t>
            </a:r>
            <a:r>
              <a:rPr lang="en-IN" dirty="0"/>
              <a:t>. </a:t>
            </a:r>
          </a:p>
          <a:p>
            <a:pPr lvl="1"/>
            <a:r>
              <a:rPr lang="en-IN" dirty="0"/>
              <a:t>Develop </a:t>
            </a:r>
            <a:r>
              <a:rPr lang="en-IN" b="1" dirty="0"/>
              <a:t>Spark-based Glue ETL jobs and Python Shell jobs</a:t>
            </a:r>
            <a:r>
              <a:rPr lang="en-IN" dirty="0"/>
              <a:t>. </a:t>
            </a:r>
          </a:p>
          <a:p>
            <a:pPr lvl="1"/>
            <a:r>
              <a:rPr lang="en-IN" dirty="0"/>
              <a:t>Use the </a:t>
            </a:r>
            <a:r>
              <a:rPr lang="en-IN" b="1" dirty="0"/>
              <a:t>Glue Data </a:t>
            </a:r>
            <a:r>
              <a:rPr lang="en-IN" b="1" dirty="0" err="1"/>
              <a:t>Catalog</a:t>
            </a:r>
            <a:r>
              <a:rPr lang="en-IN" dirty="0"/>
              <a:t> for centralized metadata. </a:t>
            </a:r>
          </a:p>
          <a:p>
            <a:pPr lvl="1"/>
            <a:r>
              <a:rPr lang="en-IN" dirty="0"/>
              <a:t>Configure </a:t>
            </a:r>
            <a:r>
              <a:rPr lang="en-IN" b="1" dirty="0"/>
              <a:t>Glue Crawlers</a:t>
            </a:r>
            <a:r>
              <a:rPr lang="en-IN" dirty="0"/>
              <a:t> for automatic schema discovery. </a:t>
            </a:r>
          </a:p>
          <a:p>
            <a:pPr lvl="1"/>
            <a:r>
              <a:rPr lang="en-IN" dirty="0"/>
              <a:t>Create Glue connections to databases and external systems. </a:t>
            </a:r>
          </a:p>
          <a:p>
            <a:pPr lvl="1"/>
            <a:r>
              <a:rPr lang="en-IN" dirty="0"/>
              <a:t>Compare </a:t>
            </a:r>
            <a:r>
              <a:rPr lang="en-IN" b="1" dirty="0"/>
              <a:t>Glue </a:t>
            </a:r>
            <a:r>
              <a:rPr lang="en-IN" b="1" dirty="0" err="1"/>
              <a:t>DynamicFrames</a:t>
            </a:r>
            <a:r>
              <a:rPr lang="en-IN" b="1" dirty="0"/>
              <a:t> and Spark </a:t>
            </a:r>
            <a:r>
              <a:rPr lang="en-IN" b="1" dirty="0" err="1"/>
              <a:t>DataFrames</a:t>
            </a:r>
            <a:r>
              <a:rPr lang="en-IN" dirty="0"/>
              <a:t>. </a:t>
            </a:r>
          </a:p>
          <a:p>
            <a:pPr lvl="1"/>
            <a:r>
              <a:rPr lang="en-IN" dirty="0"/>
              <a:t>Transform and clean data in Glue jobs. </a:t>
            </a:r>
          </a:p>
          <a:p>
            <a:pPr lvl="1"/>
            <a:r>
              <a:rPr lang="en-IN" dirty="0"/>
              <a:t>Implement incremental ETL using </a:t>
            </a:r>
            <a:r>
              <a:rPr lang="en-IN" b="1" dirty="0"/>
              <a:t>Glue Job Bookmarks</a:t>
            </a:r>
            <a:r>
              <a:rPr lang="en-IN" dirty="0"/>
              <a:t>. </a:t>
            </a:r>
          </a:p>
          <a:p>
            <a:pPr lvl="1"/>
            <a:r>
              <a:rPr lang="en-IN" dirty="0"/>
              <a:t>Build Glue-based pipelines that integrate </a:t>
            </a:r>
            <a:r>
              <a:rPr lang="en-IN" b="1" dirty="0"/>
              <a:t>S3, Athena, Redshift, RDS, and other AWS services</a:t>
            </a:r>
            <a:r>
              <a:rPr lang="en-IN" dirty="0"/>
              <a:t>.</a:t>
            </a:r>
          </a:p>
          <a:p>
            <a:endParaRPr lang="en-IN" dirty="0"/>
          </a:p>
        </p:txBody>
      </p:sp>
      <p:sp>
        <p:nvSpPr>
          <p:cNvPr id="15" name="Title 14">
            <a:extLst>
              <a:ext uri="{FF2B5EF4-FFF2-40B4-BE49-F238E27FC236}">
                <a16:creationId xmlns:a16="http://schemas.microsoft.com/office/drawing/2014/main" id="{658CF41A-258C-568C-1067-21FE63D70E40}"/>
              </a:ext>
            </a:extLst>
          </p:cNvPr>
          <p:cNvSpPr>
            <a:spLocks noGrp="1"/>
          </p:cNvSpPr>
          <p:nvPr>
            <p:ph type="title"/>
          </p:nvPr>
        </p:nvSpPr>
        <p:spPr/>
        <p:txBody>
          <a:bodyPr/>
          <a:lstStyle/>
          <a:p>
            <a:r>
              <a:rPr lang="en-IN" dirty="0"/>
              <a:t>Goals</a:t>
            </a:r>
          </a:p>
        </p:txBody>
      </p:sp>
    </p:spTree>
    <p:extLst>
      <p:ext uri="{BB962C8B-B14F-4D97-AF65-F5344CB8AC3E}">
        <p14:creationId xmlns:p14="http://schemas.microsoft.com/office/powerpoint/2010/main" val="6623284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36278-6E47-47B4-1C2F-0C926361674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C919CDA-C058-7DAF-C640-2530F23194F9}"/>
              </a:ext>
            </a:extLst>
          </p:cNvPr>
          <p:cNvSpPr/>
          <p:nvPr/>
        </p:nvSpPr>
        <p:spPr>
          <a:xfrm>
            <a:off x="365760" y="1040130"/>
            <a:ext cx="8412480" cy="365760"/>
          </a:xfrm>
          <a:prstGeom prst="rect">
            <a:avLst/>
          </a:prstGeom>
          <a:noFill/>
          <a:ln/>
        </p:spPr>
        <p:txBody>
          <a:bodyPr wrap="square" lIns="0" tIns="0" rIns="0" bIns="0" rtlCol="0" anchor="ctr"/>
          <a:lstStyle/>
          <a:p>
            <a:pPr algn="ctr"/>
            <a:r>
              <a:rPr lang="en-US" sz="2600" b="1" dirty="0">
                <a:solidFill>
                  <a:srgbClr val="F8FAFC"/>
                </a:solidFill>
                <a:latin typeface="Arial" pitchFamily="34" charset="0"/>
                <a:ea typeface="Arial" pitchFamily="34" charset="-122"/>
                <a:cs typeface="Arial" pitchFamily="34" charset="-120"/>
              </a:rPr>
              <a:t>PySpark Training Objectives</a:t>
            </a:r>
            <a:endParaRPr lang="en-US" sz="2600" dirty="0"/>
          </a:p>
        </p:txBody>
      </p:sp>
      <p:sp>
        <p:nvSpPr>
          <p:cNvPr id="16" name="Content Placeholder 15">
            <a:extLst>
              <a:ext uri="{FF2B5EF4-FFF2-40B4-BE49-F238E27FC236}">
                <a16:creationId xmlns:a16="http://schemas.microsoft.com/office/drawing/2014/main" id="{5B5856D2-A56D-A949-443E-F3A0143923BA}"/>
              </a:ext>
            </a:extLst>
          </p:cNvPr>
          <p:cNvSpPr>
            <a:spLocks noGrp="1"/>
          </p:cNvSpPr>
          <p:nvPr>
            <p:ph sz="quarter" idx="12"/>
          </p:nvPr>
        </p:nvSpPr>
        <p:spPr>
          <a:xfrm>
            <a:off x="457201" y="1381125"/>
            <a:ext cx="8228012" cy="5248275"/>
          </a:xfrm>
        </p:spPr>
        <p:txBody>
          <a:bodyPr>
            <a:normAutofit lnSpcReduction="10000"/>
          </a:bodyPr>
          <a:lstStyle/>
          <a:p>
            <a:r>
              <a:rPr lang="en-IN" b="1" dirty="0"/>
              <a:t>11. Snowflake Architecture</a:t>
            </a:r>
          </a:p>
          <a:p>
            <a:pPr lvl="1"/>
            <a:r>
              <a:rPr lang="en-IN" dirty="0"/>
              <a:t>Understand Snowflake's </a:t>
            </a:r>
            <a:r>
              <a:rPr lang="en-IN" b="1" dirty="0"/>
              <a:t>cloud-native architecture</a:t>
            </a:r>
            <a:r>
              <a:rPr lang="en-IN" dirty="0"/>
              <a:t>. </a:t>
            </a:r>
          </a:p>
          <a:p>
            <a:pPr lvl="1"/>
            <a:r>
              <a:rPr lang="en-IN" dirty="0"/>
              <a:t>Explain the separation of </a:t>
            </a:r>
            <a:r>
              <a:rPr lang="en-IN" b="1" dirty="0"/>
              <a:t>storage, compute, and cloud services</a:t>
            </a:r>
            <a:r>
              <a:rPr lang="en-IN" dirty="0"/>
              <a:t>. </a:t>
            </a:r>
          </a:p>
          <a:p>
            <a:pPr lvl="1"/>
            <a:r>
              <a:rPr lang="en-IN" dirty="0"/>
              <a:t>Understand how Snowflake supports independent compute scaling using </a:t>
            </a:r>
            <a:r>
              <a:rPr lang="en-IN" b="1" dirty="0"/>
              <a:t>Virtual Warehouses</a:t>
            </a:r>
            <a:r>
              <a:rPr lang="en-IN" dirty="0"/>
              <a:t>. </a:t>
            </a:r>
          </a:p>
          <a:p>
            <a:pPr lvl="1"/>
            <a:r>
              <a:rPr lang="en-IN" dirty="0"/>
              <a:t>Select warehouse sizes from </a:t>
            </a:r>
            <a:r>
              <a:rPr lang="en-IN" b="1" dirty="0"/>
              <a:t>X-Small through larger warehouse configurations</a:t>
            </a:r>
            <a:r>
              <a:rPr lang="en-IN" dirty="0"/>
              <a:t>. </a:t>
            </a:r>
          </a:p>
          <a:p>
            <a:pPr lvl="1"/>
            <a:r>
              <a:rPr lang="en-IN" dirty="0"/>
              <a:t>Configure </a:t>
            </a:r>
            <a:r>
              <a:rPr lang="en-IN" b="1" dirty="0"/>
              <a:t>auto-suspend and auto-resume</a:t>
            </a:r>
            <a:r>
              <a:rPr lang="en-IN" dirty="0"/>
              <a:t>. </a:t>
            </a:r>
          </a:p>
          <a:p>
            <a:pPr lvl="1"/>
            <a:r>
              <a:rPr lang="en-IN" dirty="0"/>
              <a:t>Use </a:t>
            </a:r>
            <a:r>
              <a:rPr lang="en-IN" b="1" dirty="0"/>
              <a:t>multi-cluster warehouses</a:t>
            </a:r>
            <a:r>
              <a:rPr lang="en-IN" dirty="0"/>
              <a:t> to handle concurrent workloads. </a:t>
            </a:r>
          </a:p>
          <a:p>
            <a:pPr lvl="1"/>
            <a:r>
              <a:rPr lang="en-IN" dirty="0"/>
              <a:t>Understand </a:t>
            </a:r>
            <a:r>
              <a:rPr lang="en-IN" b="1" dirty="0"/>
              <a:t>query queueing and workload concurrency</a:t>
            </a:r>
            <a:r>
              <a:rPr lang="en-IN" dirty="0"/>
              <a:t>. </a:t>
            </a:r>
          </a:p>
          <a:p>
            <a:pPr lvl="1"/>
            <a:r>
              <a:rPr lang="en-IN" dirty="0" err="1"/>
              <a:t>Analyze</a:t>
            </a:r>
            <a:r>
              <a:rPr lang="en-IN" dirty="0"/>
              <a:t> queries using the </a:t>
            </a:r>
            <a:r>
              <a:rPr lang="en-IN" b="1" dirty="0"/>
              <a:t>Snowflake Query Profile</a:t>
            </a:r>
            <a:r>
              <a:rPr lang="en-IN" dirty="0"/>
              <a:t>.</a:t>
            </a:r>
          </a:p>
          <a:p>
            <a:endParaRPr lang="en-IN" dirty="0"/>
          </a:p>
        </p:txBody>
      </p:sp>
      <p:sp>
        <p:nvSpPr>
          <p:cNvPr id="15" name="Title 14">
            <a:extLst>
              <a:ext uri="{FF2B5EF4-FFF2-40B4-BE49-F238E27FC236}">
                <a16:creationId xmlns:a16="http://schemas.microsoft.com/office/drawing/2014/main" id="{30AB2EE6-6B3A-FD44-6BB9-4856484B65BA}"/>
              </a:ext>
            </a:extLst>
          </p:cNvPr>
          <p:cNvSpPr>
            <a:spLocks noGrp="1"/>
          </p:cNvSpPr>
          <p:nvPr>
            <p:ph type="title"/>
          </p:nvPr>
        </p:nvSpPr>
        <p:spPr/>
        <p:txBody>
          <a:bodyPr/>
          <a:lstStyle/>
          <a:p>
            <a:r>
              <a:rPr lang="en-IN" dirty="0"/>
              <a:t>Goals</a:t>
            </a:r>
          </a:p>
        </p:txBody>
      </p:sp>
    </p:spTree>
    <p:extLst>
      <p:ext uri="{BB962C8B-B14F-4D97-AF65-F5344CB8AC3E}">
        <p14:creationId xmlns:p14="http://schemas.microsoft.com/office/powerpoint/2010/main" val="12249238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3ACE5-3598-7821-0044-DD221C0F855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D5A9E3F-E1C6-897C-86CB-D66E73E865D3}"/>
              </a:ext>
            </a:extLst>
          </p:cNvPr>
          <p:cNvSpPr/>
          <p:nvPr/>
        </p:nvSpPr>
        <p:spPr>
          <a:xfrm>
            <a:off x="365760" y="1040130"/>
            <a:ext cx="8412480" cy="365760"/>
          </a:xfrm>
          <a:prstGeom prst="rect">
            <a:avLst/>
          </a:prstGeom>
          <a:noFill/>
          <a:ln/>
        </p:spPr>
        <p:txBody>
          <a:bodyPr wrap="square" lIns="0" tIns="0" rIns="0" bIns="0" rtlCol="0" anchor="ctr"/>
          <a:lstStyle/>
          <a:p>
            <a:pPr algn="ctr"/>
            <a:r>
              <a:rPr lang="en-US" sz="2600" b="1" dirty="0">
                <a:solidFill>
                  <a:srgbClr val="F8FAFC"/>
                </a:solidFill>
                <a:latin typeface="Arial" pitchFamily="34" charset="0"/>
                <a:ea typeface="Arial" pitchFamily="34" charset="-122"/>
                <a:cs typeface="Arial" pitchFamily="34" charset="-120"/>
              </a:rPr>
              <a:t>PySpark Training Objectives</a:t>
            </a:r>
            <a:endParaRPr lang="en-US" sz="2600" dirty="0"/>
          </a:p>
        </p:txBody>
      </p:sp>
      <p:sp>
        <p:nvSpPr>
          <p:cNvPr id="16" name="Content Placeholder 15">
            <a:extLst>
              <a:ext uri="{FF2B5EF4-FFF2-40B4-BE49-F238E27FC236}">
                <a16:creationId xmlns:a16="http://schemas.microsoft.com/office/drawing/2014/main" id="{45458C61-9FEE-9CF6-83C9-9AB5865C7DF2}"/>
              </a:ext>
            </a:extLst>
          </p:cNvPr>
          <p:cNvSpPr>
            <a:spLocks noGrp="1"/>
          </p:cNvSpPr>
          <p:nvPr>
            <p:ph sz="quarter" idx="12"/>
          </p:nvPr>
        </p:nvSpPr>
        <p:spPr>
          <a:xfrm>
            <a:off x="457201" y="1381125"/>
            <a:ext cx="8228012" cy="5248275"/>
          </a:xfrm>
        </p:spPr>
        <p:txBody>
          <a:bodyPr>
            <a:normAutofit/>
          </a:bodyPr>
          <a:lstStyle/>
          <a:p>
            <a:r>
              <a:rPr lang="en-IN" b="1" dirty="0"/>
              <a:t>12. Snowflake Database Objects</a:t>
            </a:r>
          </a:p>
          <a:p>
            <a:pPr lvl="1"/>
            <a:r>
              <a:rPr lang="en-IN" dirty="0"/>
              <a:t>Create and manage </a:t>
            </a:r>
            <a:r>
              <a:rPr lang="en-IN" b="1" dirty="0"/>
              <a:t>databases, schemas, tables, views, and materialized views</a:t>
            </a:r>
            <a:r>
              <a:rPr lang="en-IN" dirty="0"/>
              <a:t>. </a:t>
            </a:r>
          </a:p>
          <a:p>
            <a:pPr lvl="1"/>
            <a:r>
              <a:rPr lang="en-IN" dirty="0"/>
              <a:t>Work with </a:t>
            </a:r>
            <a:r>
              <a:rPr lang="en-IN" b="1" dirty="0"/>
              <a:t>permanent, temporary, and transient tables</a:t>
            </a:r>
            <a:r>
              <a:rPr lang="en-IN" dirty="0"/>
              <a:t>. </a:t>
            </a:r>
          </a:p>
          <a:p>
            <a:pPr lvl="1"/>
            <a:r>
              <a:rPr lang="en-IN" dirty="0"/>
              <a:t>Understand when transient tables are appropriate for </a:t>
            </a:r>
            <a:r>
              <a:rPr lang="en-IN" b="1" dirty="0"/>
              <a:t>ETL and staging</a:t>
            </a:r>
            <a:r>
              <a:rPr lang="en-IN" dirty="0"/>
              <a:t>. </a:t>
            </a:r>
          </a:p>
          <a:p>
            <a:pPr lvl="1"/>
            <a:r>
              <a:rPr lang="en-IN" dirty="0"/>
              <a:t>Create </a:t>
            </a:r>
            <a:r>
              <a:rPr lang="en-IN" b="1" dirty="0"/>
              <a:t>external tables</a:t>
            </a:r>
            <a:r>
              <a:rPr lang="en-IN" dirty="0"/>
              <a:t> for data stored in S3 or other object stores. </a:t>
            </a:r>
          </a:p>
          <a:p>
            <a:pPr lvl="1"/>
            <a:r>
              <a:rPr lang="en-IN" dirty="0"/>
              <a:t>Work with Snowflake </a:t>
            </a:r>
            <a:r>
              <a:rPr lang="en-IN" b="1" dirty="0"/>
              <a:t>string, date, numeric, semi-structured, and JSON functions</a:t>
            </a:r>
            <a:r>
              <a:rPr lang="en-IN" dirty="0"/>
              <a:t>. </a:t>
            </a:r>
          </a:p>
          <a:p>
            <a:pPr lvl="1"/>
            <a:r>
              <a:rPr lang="en-IN" dirty="0"/>
              <a:t>Develop Snowflake </a:t>
            </a:r>
            <a:r>
              <a:rPr lang="en-IN" b="1" dirty="0"/>
              <a:t>SQL and procedural logic</a:t>
            </a:r>
            <a:r>
              <a:rPr lang="en-IN" dirty="0"/>
              <a:t>.</a:t>
            </a:r>
          </a:p>
          <a:p>
            <a:endParaRPr lang="en-IN" dirty="0"/>
          </a:p>
        </p:txBody>
      </p:sp>
      <p:sp>
        <p:nvSpPr>
          <p:cNvPr id="15" name="Title 14">
            <a:extLst>
              <a:ext uri="{FF2B5EF4-FFF2-40B4-BE49-F238E27FC236}">
                <a16:creationId xmlns:a16="http://schemas.microsoft.com/office/drawing/2014/main" id="{D6CCF0E7-97C1-C4CD-7DD4-BC17BC495214}"/>
              </a:ext>
            </a:extLst>
          </p:cNvPr>
          <p:cNvSpPr>
            <a:spLocks noGrp="1"/>
          </p:cNvSpPr>
          <p:nvPr>
            <p:ph type="title"/>
          </p:nvPr>
        </p:nvSpPr>
        <p:spPr/>
        <p:txBody>
          <a:bodyPr/>
          <a:lstStyle/>
          <a:p>
            <a:r>
              <a:rPr lang="en-IN" dirty="0"/>
              <a:t>Goals</a:t>
            </a:r>
          </a:p>
        </p:txBody>
      </p:sp>
    </p:spTree>
    <p:extLst>
      <p:ext uri="{BB962C8B-B14F-4D97-AF65-F5344CB8AC3E}">
        <p14:creationId xmlns:p14="http://schemas.microsoft.com/office/powerpoint/2010/main" val="3660471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28A3E-7D23-E52E-AB96-9C01B69454E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615C459-CEA3-6EB5-C4AD-A561C2DB2317}"/>
              </a:ext>
            </a:extLst>
          </p:cNvPr>
          <p:cNvSpPr/>
          <p:nvPr/>
        </p:nvSpPr>
        <p:spPr>
          <a:xfrm>
            <a:off x="365760" y="1040130"/>
            <a:ext cx="8412480" cy="365760"/>
          </a:xfrm>
          <a:prstGeom prst="rect">
            <a:avLst/>
          </a:prstGeom>
          <a:noFill/>
          <a:ln/>
        </p:spPr>
        <p:txBody>
          <a:bodyPr wrap="square" lIns="0" tIns="0" rIns="0" bIns="0" rtlCol="0" anchor="ctr"/>
          <a:lstStyle/>
          <a:p>
            <a:pPr algn="ctr"/>
            <a:r>
              <a:rPr lang="en-US" sz="2600" b="1" dirty="0">
                <a:solidFill>
                  <a:srgbClr val="F8FAFC"/>
                </a:solidFill>
                <a:latin typeface="Arial" pitchFamily="34" charset="0"/>
                <a:ea typeface="Arial" pitchFamily="34" charset="-122"/>
                <a:cs typeface="Arial" pitchFamily="34" charset="-120"/>
              </a:rPr>
              <a:t>PySpark Training Objectives</a:t>
            </a:r>
            <a:endParaRPr lang="en-US" sz="2600" dirty="0"/>
          </a:p>
        </p:txBody>
      </p:sp>
      <p:sp>
        <p:nvSpPr>
          <p:cNvPr id="16" name="Content Placeholder 15">
            <a:extLst>
              <a:ext uri="{FF2B5EF4-FFF2-40B4-BE49-F238E27FC236}">
                <a16:creationId xmlns:a16="http://schemas.microsoft.com/office/drawing/2014/main" id="{56D1F800-F8B2-8D7B-BC7B-930D5F32BDB4}"/>
              </a:ext>
            </a:extLst>
          </p:cNvPr>
          <p:cNvSpPr>
            <a:spLocks noGrp="1"/>
          </p:cNvSpPr>
          <p:nvPr>
            <p:ph sz="quarter" idx="12"/>
          </p:nvPr>
        </p:nvSpPr>
        <p:spPr>
          <a:xfrm>
            <a:off x="457201" y="1381125"/>
            <a:ext cx="8228012" cy="5248275"/>
          </a:xfrm>
        </p:spPr>
        <p:txBody>
          <a:bodyPr>
            <a:normAutofit/>
          </a:bodyPr>
          <a:lstStyle/>
          <a:p>
            <a:r>
              <a:rPr lang="en-IN" b="1" dirty="0"/>
              <a:t>13. Snowflake Performance</a:t>
            </a:r>
          </a:p>
          <a:p>
            <a:pPr lvl="1"/>
            <a:r>
              <a:rPr lang="en-IN" dirty="0"/>
              <a:t>Understand Snowflake </a:t>
            </a:r>
            <a:r>
              <a:rPr lang="en-IN" b="1" dirty="0"/>
              <a:t>micro-partitions</a:t>
            </a:r>
            <a:r>
              <a:rPr lang="en-IN" dirty="0"/>
              <a:t>. </a:t>
            </a:r>
          </a:p>
          <a:p>
            <a:pPr lvl="1"/>
            <a:r>
              <a:rPr lang="en-IN" dirty="0"/>
              <a:t>Explain automatic partitioning and metadata collection. </a:t>
            </a:r>
          </a:p>
          <a:p>
            <a:pPr lvl="1"/>
            <a:r>
              <a:rPr lang="en-IN" dirty="0"/>
              <a:t>Use </a:t>
            </a:r>
            <a:r>
              <a:rPr lang="en-IN" b="1" dirty="0"/>
              <a:t>micro-partition pruning</a:t>
            </a:r>
            <a:r>
              <a:rPr lang="en-IN" dirty="0"/>
              <a:t> to reduce scanned data. </a:t>
            </a:r>
          </a:p>
          <a:p>
            <a:pPr lvl="1"/>
            <a:r>
              <a:rPr lang="en-IN" dirty="0"/>
              <a:t>Identify poorly clustered tables. </a:t>
            </a:r>
          </a:p>
          <a:p>
            <a:pPr lvl="1"/>
            <a:r>
              <a:rPr lang="en-IN" dirty="0"/>
              <a:t>Apply </a:t>
            </a:r>
            <a:r>
              <a:rPr lang="en-IN" b="1" dirty="0"/>
              <a:t>clustering keys</a:t>
            </a:r>
            <a:r>
              <a:rPr lang="en-IN" dirty="0"/>
              <a:t> when appropriate. </a:t>
            </a:r>
          </a:p>
          <a:p>
            <a:pPr lvl="1"/>
            <a:r>
              <a:rPr lang="en-IN" dirty="0"/>
              <a:t>Optimize queries using warehouse sizing and Query Profile analysis.</a:t>
            </a:r>
          </a:p>
          <a:p>
            <a:endParaRPr lang="en-IN" dirty="0"/>
          </a:p>
        </p:txBody>
      </p:sp>
      <p:sp>
        <p:nvSpPr>
          <p:cNvPr id="15" name="Title 14">
            <a:extLst>
              <a:ext uri="{FF2B5EF4-FFF2-40B4-BE49-F238E27FC236}">
                <a16:creationId xmlns:a16="http://schemas.microsoft.com/office/drawing/2014/main" id="{C908BAED-8330-A23E-CC93-AC6DA209E5F4}"/>
              </a:ext>
            </a:extLst>
          </p:cNvPr>
          <p:cNvSpPr>
            <a:spLocks noGrp="1"/>
          </p:cNvSpPr>
          <p:nvPr>
            <p:ph type="title"/>
          </p:nvPr>
        </p:nvSpPr>
        <p:spPr/>
        <p:txBody>
          <a:bodyPr/>
          <a:lstStyle/>
          <a:p>
            <a:r>
              <a:rPr lang="en-IN" dirty="0"/>
              <a:t>Goals</a:t>
            </a:r>
          </a:p>
        </p:txBody>
      </p:sp>
    </p:spTree>
    <p:extLst>
      <p:ext uri="{BB962C8B-B14F-4D97-AF65-F5344CB8AC3E}">
        <p14:creationId xmlns:p14="http://schemas.microsoft.com/office/powerpoint/2010/main" val="33268289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23DD4-59F2-455E-4075-0356A3D08B7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E330700-5B8B-6648-C7A8-8468A6BD1BDA}"/>
              </a:ext>
            </a:extLst>
          </p:cNvPr>
          <p:cNvSpPr/>
          <p:nvPr/>
        </p:nvSpPr>
        <p:spPr>
          <a:xfrm>
            <a:off x="365760" y="1040130"/>
            <a:ext cx="8412480" cy="365760"/>
          </a:xfrm>
          <a:prstGeom prst="rect">
            <a:avLst/>
          </a:prstGeom>
          <a:noFill/>
          <a:ln/>
        </p:spPr>
        <p:txBody>
          <a:bodyPr wrap="square" lIns="0" tIns="0" rIns="0" bIns="0" rtlCol="0" anchor="ctr"/>
          <a:lstStyle/>
          <a:p>
            <a:pPr algn="ctr"/>
            <a:r>
              <a:rPr lang="en-US" sz="2600" b="1" dirty="0">
                <a:solidFill>
                  <a:srgbClr val="F8FAFC"/>
                </a:solidFill>
                <a:latin typeface="Arial" pitchFamily="34" charset="0"/>
                <a:ea typeface="Arial" pitchFamily="34" charset="-122"/>
                <a:cs typeface="Arial" pitchFamily="34" charset="-120"/>
              </a:rPr>
              <a:t>PySpark Training Objectives</a:t>
            </a:r>
            <a:endParaRPr lang="en-US" sz="2600" dirty="0"/>
          </a:p>
        </p:txBody>
      </p:sp>
      <p:sp>
        <p:nvSpPr>
          <p:cNvPr id="16" name="Content Placeholder 15">
            <a:extLst>
              <a:ext uri="{FF2B5EF4-FFF2-40B4-BE49-F238E27FC236}">
                <a16:creationId xmlns:a16="http://schemas.microsoft.com/office/drawing/2014/main" id="{1F52C61D-20D9-6811-507E-F0B687E19DFF}"/>
              </a:ext>
            </a:extLst>
          </p:cNvPr>
          <p:cNvSpPr>
            <a:spLocks noGrp="1"/>
          </p:cNvSpPr>
          <p:nvPr>
            <p:ph sz="quarter" idx="12"/>
          </p:nvPr>
        </p:nvSpPr>
        <p:spPr>
          <a:xfrm>
            <a:off x="457201" y="1381125"/>
            <a:ext cx="8228012" cy="5248275"/>
          </a:xfrm>
        </p:spPr>
        <p:txBody>
          <a:bodyPr>
            <a:normAutofit/>
          </a:bodyPr>
          <a:lstStyle/>
          <a:p>
            <a:r>
              <a:rPr lang="en-IN" b="1" dirty="0"/>
              <a:t>14. Snowflake Data Protection</a:t>
            </a:r>
          </a:p>
          <a:p>
            <a:pPr lvl="1"/>
            <a:r>
              <a:rPr lang="en-IN" dirty="0"/>
              <a:t>Use </a:t>
            </a:r>
            <a:r>
              <a:rPr lang="en-IN" b="1" dirty="0"/>
              <a:t>Time Travel</a:t>
            </a:r>
            <a:r>
              <a:rPr lang="en-IN" dirty="0"/>
              <a:t> to query historical versions of data. </a:t>
            </a:r>
          </a:p>
          <a:p>
            <a:pPr lvl="1"/>
            <a:r>
              <a:rPr lang="en-IN" dirty="0"/>
              <a:t>Recover accidentally deleted data using UNDROP. </a:t>
            </a:r>
          </a:p>
          <a:p>
            <a:pPr lvl="1"/>
            <a:r>
              <a:rPr lang="en-IN" dirty="0"/>
              <a:t>Understand Time Travel retention periods for different table types and account editions. </a:t>
            </a:r>
          </a:p>
          <a:p>
            <a:pPr lvl="1"/>
            <a:r>
              <a:rPr lang="en-IN" dirty="0"/>
              <a:t>Understand Snowflake </a:t>
            </a:r>
            <a:r>
              <a:rPr lang="en-IN" b="1" dirty="0"/>
              <a:t>Fail-safe</a:t>
            </a:r>
            <a:r>
              <a:rPr lang="en-IN" dirty="0"/>
              <a:t> and its role in disaster recovery. </a:t>
            </a:r>
          </a:p>
          <a:p>
            <a:pPr lvl="1"/>
            <a:r>
              <a:rPr lang="en-IN" dirty="0"/>
              <a:t>Differentiate between </a:t>
            </a:r>
            <a:r>
              <a:rPr lang="en-IN" b="1" dirty="0"/>
              <a:t>Time Travel and Fail-safe</a:t>
            </a:r>
            <a:r>
              <a:rPr lang="en-IN" dirty="0"/>
              <a:t>.</a:t>
            </a:r>
          </a:p>
          <a:p>
            <a:endParaRPr lang="en-IN" dirty="0"/>
          </a:p>
        </p:txBody>
      </p:sp>
      <p:sp>
        <p:nvSpPr>
          <p:cNvPr id="15" name="Title 14">
            <a:extLst>
              <a:ext uri="{FF2B5EF4-FFF2-40B4-BE49-F238E27FC236}">
                <a16:creationId xmlns:a16="http://schemas.microsoft.com/office/drawing/2014/main" id="{A77D59C1-DBEA-1E91-29FD-C4F305C969ED}"/>
              </a:ext>
            </a:extLst>
          </p:cNvPr>
          <p:cNvSpPr>
            <a:spLocks noGrp="1"/>
          </p:cNvSpPr>
          <p:nvPr>
            <p:ph type="title"/>
          </p:nvPr>
        </p:nvSpPr>
        <p:spPr/>
        <p:txBody>
          <a:bodyPr/>
          <a:lstStyle/>
          <a:p>
            <a:r>
              <a:rPr lang="en-IN" dirty="0"/>
              <a:t>Goals</a:t>
            </a:r>
          </a:p>
        </p:txBody>
      </p:sp>
    </p:spTree>
    <p:extLst>
      <p:ext uri="{BB962C8B-B14F-4D97-AF65-F5344CB8AC3E}">
        <p14:creationId xmlns:p14="http://schemas.microsoft.com/office/powerpoint/2010/main" val="40166500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7F2EA-104B-F6FF-05FD-58A1A117BF8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3069194-339E-F12F-AE42-0A4793B1996C}"/>
              </a:ext>
            </a:extLst>
          </p:cNvPr>
          <p:cNvSpPr/>
          <p:nvPr/>
        </p:nvSpPr>
        <p:spPr>
          <a:xfrm>
            <a:off x="365760" y="1040130"/>
            <a:ext cx="8412480" cy="365760"/>
          </a:xfrm>
          <a:prstGeom prst="rect">
            <a:avLst/>
          </a:prstGeom>
          <a:noFill/>
          <a:ln/>
        </p:spPr>
        <p:txBody>
          <a:bodyPr wrap="square" lIns="0" tIns="0" rIns="0" bIns="0" rtlCol="0" anchor="ctr"/>
          <a:lstStyle/>
          <a:p>
            <a:pPr algn="ctr"/>
            <a:r>
              <a:rPr lang="en-US" sz="2600" b="1" dirty="0">
                <a:solidFill>
                  <a:srgbClr val="F8FAFC"/>
                </a:solidFill>
                <a:latin typeface="Arial" pitchFamily="34" charset="0"/>
                <a:ea typeface="Arial" pitchFamily="34" charset="-122"/>
                <a:cs typeface="Arial" pitchFamily="34" charset="-120"/>
              </a:rPr>
              <a:t>PySpark Training Objectives</a:t>
            </a:r>
            <a:endParaRPr lang="en-US" sz="2600" dirty="0"/>
          </a:p>
        </p:txBody>
      </p:sp>
      <p:sp>
        <p:nvSpPr>
          <p:cNvPr id="16" name="Content Placeholder 15">
            <a:extLst>
              <a:ext uri="{FF2B5EF4-FFF2-40B4-BE49-F238E27FC236}">
                <a16:creationId xmlns:a16="http://schemas.microsoft.com/office/drawing/2014/main" id="{337DAC02-C006-E876-3F3D-E09ACCD9E0D7}"/>
              </a:ext>
            </a:extLst>
          </p:cNvPr>
          <p:cNvSpPr>
            <a:spLocks noGrp="1"/>
          </p:cNvSpPr>
          <p:nvPr>
            <p:ph sz="quarter" idx="12"/>
          </p:nvPr>
        </p:nvSpPr>
        <p:spPr>
          <a:xfrm>
            <a:off x="457201" y="1381125"/>
            <a:ext cx="8228012" cy="5248275"/>
          </a:xfrm>
        </p:spPr>
        <p:txBody>
          <a:bodyPr>
            <a:normAutofit/>
          </a:bodyPr>
          <a:lstStyle/>
          <a:p>
            <a:r>
              <a:rPr lang="en-IN" b="1" dirty="0"/>
              <a:t>15. Snowflake CDC &amp; Automation</a:t>
            </a:r>
          </a:p>
          <a:p>
            <a:pPr lvl="1"/>
            <a:r>
              <a:rPr lang="en-IN" dirty="0"/>
              <a:t>Implement </a:t>
            </a:r>
            <a:r>
              <a:rPr lang="en-IN" b="1" dirty="0"/>
              <a:t>Change Data Capture using Streams</a:t>
            </a:r>
            <a:r>
              <a:rPr lang="en-IN" dirty="0"/>
              <a:t>. </a:t>
            </a:r>
          </a:p>
          <a:p>
            <a:pPr lvl="1"/>
            <a:r>
              <a:rPr lang="en-IN" dirty="0"/>
              <a:t>Process INSERT, UPDATE, and DELETE changes incrementally. </a:t>
            </a:r>
          </a:p>
          <a:p>
            <a:pPr lvl="1"/>
            <a:r>
              <a:rPr lang="en-IN" dirty="0"/>
              <a:t>Automate SQL processing using </a:t>
            </a:r>
            <a:r>
              <a:rPr lang="en-IN" b="1" dirty="0"/>
              <a:t>Snowflake Tasks</a:t>
            </a:r>
            <a:r>
              <a:rPr lang="en-IN" dirty="0"/>
              <a:t>. </a:t>
            </a:r>
          </a:p>
          <a:p>
            <a:pPr lvl="1"/>
            <a:r>
              <a:rPr lang="en-IN" dirty="0"/>
              <a:t>Configure </a:t>
            </a:r>
            <a:r>
              <a:rPr lang="en-IN" b="1" dirty="0"/>
              <a:t>CRON-based schedules</a:t>
            </a:r>
            <a:r>
              <a:rPr lang="en-IN" dirty="0"/>
              <a:t>. </a:t>
            </a:r>
          </a:p>
          <a:p>
            <a:pPr lvl="1"/>
            <a:r>
              <a:rPr lang="en-IN" dirty="0"/>
              <a:t>Build dependencies between Tasks to create </a:t>
            </a:r>
            <a:r>
              <a:rPr lang="en-IN" b="1" dirty="0"/>
              <a:t>task DAGs</a:t>
            </a:r>
            <a:r>
              <a:rPr lang="en-IN" dirty="0"/>
              <a:t>. </a:t>
            </a:r>
          </a:p>
          <a:p>
            <a:pPr lvl="1"/>
            <a:r>
              <a:rPr lang="en-IN" dirty="0"/>
              <a:t>Invoke stored procedures and SQL workloads from Tasks.</a:t>
            </a:r>
          </a:p>
          <a:p>
            <a:endParaRPr lang="en-IN" dirty="0"/>
          </a:p>
        </p:txBody>
      </p:sp>
      <p:sp>
        <p:nvSpPr>
          <p:cNvPr id="15" name="Title 14">
            <a:extLst>
              <a:ext uri="{FF2B5EF4-FFF2-40B4-BE49-F238E27FC236}">
                <a16:creationId xmlns:a16="http://schemas.microsoft.com/office/drawing/2014/main" id="{F0A8F796-53C4-E2A7-051A-7035F3E70A9E}"/>
              </a:ext>
            </a:extLst>
          </p:cNvPr>
          <p:cNvSpPr>
            <a:spLocks noGrp="1"/>
          </p:cNvSpPr>
          <p:nvPr>
            <p:ph type="title"/>
          </p:nvPr>
        </p:nvSpPr>
        <p:spPr/>
        <p:txBody>
          <a:bodyPr/>
          <a:lstStyle/>
          <a:p>
            <a:r>
              <a:rPr lang="en-IN" dirty="0"/>
              <a:t>Goals</a:t>
            </a:r>
          </a:p>
        </p:txBody>
      </p:sp>
    </p:spTree>
    <p:extLst>
      <p:ext uri="{BB962C8B-B14F-4D97-AF65-F5344CB8AC3E}">
        <p14:creationId xmlns:p14="http://schemas.microsoft.com/office/powerpoint/2010/main" val="21728358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8D3FC-E818-7DB7-31D9-23D2D925488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64F2269-A8F9-F4B5-E769-7C8AAF127399}"/>
              </a:ext>
            </a:extLst>
          </p:cNvPr>
          <p:cNvSpPr/>
          <p:nvPr/>
        </p:nvSpPr>
        <p:spPr>
          <a:xfrm>
            <a:off x="365760" y="1040130"/>
            <a:ext cx="8412480" cy="365760"/>
          </a:xfrm>
          <a:prstGeom prst="rect">
            <a:avLst/>
          </a:prstGeom>
          <a:noFill/>
          <a:ln/>
        </p:spPr>
        <p:txBody>
          <a:bodyPr wrap="square" lIns="0" tIns="0" rIns="0" bIns="0" rtlCol="0" anchor="ctr"/>
          <a:lstStyle/>
          <a:p>
            <a:pPr algn="ctr"/>
            <a:r>
              <a:rPr lang="en-US" sz="2600" b="1" dirty="0">
                <a:solidFill>
                  <a:srgbClr val="F8FAFC"/>
                </a:solidFill>
                <a:latin typeface="Arial" pitchFamily="34" charset="0"/>
                <a:ea typeface="Arial" pitchFamily="34" charset="-122"/>
                <a:cs typeface="Arial" pitchFamily="34" charset="-120"/>
              </a:rPr>
              <a:t>PySpark Training Objectives</a:t>
            </a:r>
            <a:endParaRPr lang="en-US" sz="2600" dirty="0"/>
          </a:p>
        </p:txBody>
      </p:sp>
      <p:sp>
        <p:nvSpPr>
          <p:cNvPr id="16" name="Content Placeholder 15">
            <a:extLst>
              <a:ext uri="{FF2B5EF4-FFF2-40B4-BE49-F238E27FC236}">
                <a16:creationId xmlns:a16="http://schemas.microsoft.com/office/drawing/2014/main" id="{2B61A4CA-1E62-12D2-DF45-364D319E0091}"/>
              </a:ext>
            </a:extLst>
          </p:cNvPr>
          <p:cNvSpPr>
            <a:spLocks noGrp="1"/>
          </p:cNvSpPr>
          <p:nvPr>
            <p:ph sz="quarter" idx="12"/>
          </p:nvPr>
        </p:nvSpPr>
        <p:spPr>
          <a:xfrm>
            <a:off x="457201" y="1381125"/>
            <a:ext cx="8228012" cy="5248275"/>
          </a:xfrm>
        </p:spPr>
        <p:txBody>
          <a:bodyPr>
            <a:normAutofit/>
          </a:bodyPr>
          <a:lstStyle/>
          <a:p>
            <a:r>
              <a:rPr lang="en-IN" b="1" dirty="0"/>
              <a:t>16. Snowflake Data Ingestion</a:t>
            </a:r>
          </a:p>
          <a:p>
            <a:pPr lvl="1"/>
            <a:r>
              <a:rPr lang="en-IN" dirty="0"/>
              <a:t>Implement continuous ingestion using </a:t>
            </a:r>
            <a:r>
              <a:rPr lang="en-IN" b="1" dirty="0" err="1"/>
              <a:t>Snowpipe</a:t>
            </a:r>
            <a:r>
              <a:rPr lang="en-IN" dirty="0"/>
              <a:t>. </a:t>
            </a:r>
          </a:p>
          <a:p>
            <a:pPr lvl="1"/>
            <a:r>
              <a:rPr lang="en-IN" dirty="0"/>
              <a:t>Configure automatic ingestion from </a:t>
            </a:r>
            <a:r>
              <a:rPr lang="en-IN" b="1" dirty="0"/>
              <a:t>Amazon S3 events</a:t>
            </a:r>
            <a:r>
              <a:rPr lang="en-IN" dirty="0"/>
              <a:t>. </a:t>
            </a:r>
          </a:p>
          <a:p>
            <a:pPr lvl="1"/>
            <a:r>
              <a:rPr lang="en-IN" dirty="0"/>
              <a:t>Understand </a:t>
            </a:r>
            <a:r>
              <a:rPr lang="en-IN" dirty="0" err="1"/>
              <a:t>Snowpipe's</a:t>
            </a:r>
            <a:r>
              <a:rPr lang="en-IN" dirty="0"/>
              <a:t> </a:t>
            </a:r>
            <a:r>
              <a:rPr lang="en-IN" b="1" dirty="0"/>
              <a:t>continuous micro-batch processing model</a:t>
            </a:r>
            <a:r>
              <a:rPr lang="en-IN" dirty="0"/>
              <a:t>. </a:t>
            </a:r>
          </a:p>
          <a:p>
            <a:pPr lvl="1"/>
            <a:r>
              <a:rPr lang="en-IN" dirty="0"/>
              <a:t>Design efficient data-loading patterns for high-volume datasets.</a:t>
            </a:r>
          </a:p>
          <a:p>
            <a:endParaRPr lang="en-IN" dirty="0"/>
          </a:p>
        </p:txBody>
      </p:sp>
      <p:sp>
        <p:nvSpPr>
          <p:cNvPr id="15" name="Title 14">
            <a:extLst>
              <a:ext uri="{FF2B5EF4-FFF2-40B4-BE49-F238E27FC236}">
                <a16:creationId xmlns:a16="http://schemas.microsoft.com/office/drawing/2014/main" id="{592DB5A9-3984-B838-CE6A-8B20438529BA}"/>
              </a:ext>
            </a:extLst>
          </p:cNvPr>
          <p:cNvSpPr>
            <a:spLocks noGrp="1"/>
          </p:cNvSpPr>
          <p:nvPr>
            <p:ph type="title"/>
          </p:nvPr>
        </p:nvSpPr>
        <p:spPr/>
        <p:txBody>
          <a:bodyPr/>
          <a:lstStyle/>
          <a:p>
            <a:r>
              <a:rPr lang="en-IN" dirty="0"/>
              <a:t>Goals</a:t>
            </a:r>
          </a:p>
        </p:txBody>
      </p:sp>
    </p:spTree>
    <p:extLst>
      <p:ext uri="{BB962C8B-B14F-4D97-AF65-F5344CB8AC3E}">
        <p14:creationId xmlns:p14="http://schemas.microsoft.com/office/powerpoint/2010/main" val="10401184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0946C-2DB7-4BCB-5518-20030F06C36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1785917-7C09-1A42-5260-C4571D4C295E}"/>
              </a:ext>
            </a:extLst>
          </p:cNvPr>
          <p:cNvSpPr/>
          <p:nvPr/>
        </p:nvSpPr>
        <p:spPr>
          <a:xfrm>
            <a:off x="365760" y="1040130"/>
            <a:ext cx="8412480" cy="365760"/>
          </a:xfrm>
          <a:prstGeom prst="rect">
            <a:avLst/>
          </a:prstGeom>
          <a:noFill/>
          <a:ln/>
        </p:spPr>
        <p:txBody>
          <a:bodyPr wrap="square" lIns="0" tIns="0" rIns="0" bIns="0" rtlCol="0" anchor="ctr"/>
          <a:lstStyle/>
          <a:p>
            <a:pPr algn="ctr"/>
            <a:r>
              <a:rPr lang="en-US" sz="2600" b="1" dirty="0">
                <a:solidFill>
                  <a:srgbClr val="F8FAFC"/>
                </a:solidFill>
                <a:latin typeface="Arial" pitchFamily="34" charset="0"/>
                <a:ea typeface="Arial" pitchFamily="34" charset="-122"/>
                <a:cs typeface="Arial" pitchFamily="34" charset="-120"/>
              </a:rPr>
              <a:t>PySpark Training Objectives</a:t>
            </a:r>
            <a:endParaRPr lang="en-US" sz="2600" dirty="0"/>
          </a:p>
        </p:txBody>
      </p:sp>
      <p:sp>
        <p:nvSpPr>
          <p:cNvPr id="16" name="Content Placeholder 15">
            <a:extLst>
              <a:ext uri="{FF2B5EF4-FFF2-40B4-BE49-F238E27FC236}">
                <a16:creationId xmlns:a16="http://schemas.microsoft.com/office/drawing/2014/main" id="{5E701E6F-136E-3635-FD83-8BE545303CC4}"/>
              </a:ext>
            </a:extLst>
          </p:cNvPr>
          <p:cNvSpPr>
            <a:spLocks noGrp="1"/>
          </p:cNvSpPr>
          <p:nvPr>
            <p:ph sz="quarter" idx="12"/>
          </p:nvPr>
        </p:nvSpPr>
        <p:spPr>
          <a:xfrm>
            <a:off x="457201" y="1381125"/>
            <a:ext cx="8228012" cy="5248275"/>
          </a:xfrm>
        </p:spPr>
        <p:txBody>
          <a:bodyPr>
            <a:normAutofit/>
          </a:bodyPr>
          <a:lstStyle/>
          <a:p>
            <a:r>
              <a:rPr lang="en-IN" b="1" dirty="0"/>
              <a:t>17. Snowflake Advanced Capabilities</a:t>
            </a:r>
          </a:p>
          <a:p>
            <a:pPr lvl="1"/>
            <a:r>
              <a:rPr lang="en-IN" dirty="0"/>
              <a:t>Create </a:t>
            </a:r>
            <a:r>
              <a:rPr lang="en-IN" b="1" dirty="0"/>
              <a:t>zero-copy clones</a:t>
            </a:r>
            <a:r>
              <a:rPr lang="en-IN" dirty="0"/>
              <a:t> of tables, schemas, and databases. </a:t>
            </a:r>
          </a:p>
          <a:p>
            <a:pPr lvl="1"/>
            <a:r>
              <a:rPr lang="en-IN" dirty="0"/>
              <a:t>Use cloning to create efficient </a:t>
            </a:r>
            <a:r>
              <a:rPr lang="en-IN" b="1" dirty="0"/>
              <a:t>development, testing, and QA environments</a:t>
            </a:r>
            <a:r>
              <a:rPr lang="en-IN" dirty="0"/>
              <a:t>. </a:t>
            </a:r>
          </a:p>
          <a:p>
            <a:pPr lvl="1"/>
            <a:r>
              <a:rPr lang="en-IN" dirty="0"/>
              <a:t>Share data securely between Snowflake accounts using </a:t>
            </a:r>
            <a:r>
              <a:rPr lang="en-IN" b="1" dirty="0"/>
              <a:t>Secure Data Sharing</a:t>
            </a:r>
            <a:r>
              <a:rPr lang="en-IN" dirty="0"/>
              <a:t>. </a:t>
            </a:r>
          </a:p>
          <a:p>
            <a:pPr lvl="1"/>
            <a:r>
              <a:rPr lang="en-IN" dirty="0"/>
              <a:t>Understand how Snowflake enables data sharing </a:t>
            </a:r>
            <a:r>
              <a:rPr lang="en-IN" b="1" dirty="0"/>
              <a:t>without physically copying data</a:t>
            </a:r>
            <a:r>
              <a:rPr lang="en-IN" dirty="0"/>
              <a:t>.</a:t>
            </a:r>
          </a:p>
          <a:p>
            <a:endParaRPr lang="en-IN" dirty="0"/>
          </a:p>
        </p:txBody>
      </p:sp>
      <p:sp>
        <p:nvSpPr>
          <p:cNvPr id="15" name="Title 14">
            <a:extLst>
              <a:ext uri="{FF2B5EF4-FFF2-40B4-BE49-F238E27FC236}">
                <a16:creationId xmlns:a16="http://schemas.microsoft.com/office/drawing/2014/main" id="{AC9EC09E-A843-70D4-E3D9-13144D04558C}"/>
              </a:ext>
            </a:extLst>
          </p:cNvPr>
          <p:cNvSpPr>
            <a:spLocks noGrp="1"/>
          </p:cNvSpPr>
          <p:nvPr>
            <p:ph type="title"/>
          </p:nvPr>
        </p:nvSpPr>
        <p:spPr/>
        <p:txBody>
          <a:bodyPr/>
          <a:lstStyle/>
          <a:p>
            <a:r>
              <a:rPr lang="en-IN" dirty="0"/>
              <a:t>Goals</a:t>
            </a:r>
          </a:p>
        </p:txBody>
      </p:sp>
    </p:spTree>
    <p:extLst>
      <p:ext uri="{BB962C8B-B14F-4D97-AF65-F5344CB8AC3E}">
        <p14:creationId xmlns:p14="http://schemas.microsoft.com/office/powerpoint/2010/main" val="31076913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36022-B0F6-3836-06FA-299BA0F73CE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1CF2F43-67F0-2D72-CBD9-35590C7A69FF}"/>
              </a:ext>
            </a:extLst>
          </p:cNvPr>
          <p:cNvSpPr/>
          <p:nvPr/>
        </p:nvSpPr>
        <p:spPr>
          <a:xfrm>
            <a:off x="365760" y="1040130"/>
            <a:ext cx="8412480" cy="365760"/>
          </a:xfrm>
          <a:prstGeom prst="rect">
            <a:avLst/>
          </a:prstGeom>
          <a:noFill/>
          <a:ln/>
        </p:spPr>
        <p:txBody>
          <a:bodyPr wrap="square" lIns="0" tIns="0" rIns="0" bIns="0" rtlCol="0" anchor="ctr"/>
          <a:lstStyle/>
          <a:p>
            <a:pPr algn="ctr"/>
            <a:r>
              <a:rPr lang="en-US" sz="2600" b="1" dirty="0">
                <a:solidFill>
                  <a:srgbClr val="F8FAFC"/>
                </a:solidFill>
                <a:latin typeface="Arial" pitchFamily="34" charset="0"/>
                <a:ea typeface="Arial" pitchFamily="34" charset="-122"/>
                <a:cs typeface="Arial" pitchFamily="34" charset="-120"/>
              </a:rPr>
              <a:t>PySpark Training Objectives</a:t>
            </a:r>
            <a:endParaRPr lang="en-US" sz="2600" dirty="0"/>
          </a:p>
        </p:txBody>
      </p:sp>
      <p:sp>
        <p:nvSpPr>
          <p:cNvPr id="16" name="Content Placeholder 15">
            <a:extLst>
              <a:ext uri="{FF2B5EF4-FFF2-40B4-BE49-F238E27FC236}">
                <a16:creationId xmlns:a16="http://schemas.microsoft.com/office/drawing/2014/main" id="{973C74C0-2C3A-EBCD-E3C9-5D35A6D1D3F7}"/>
              </a:ext>
            </a:extLst>
          </p:cNvPr>
          <p:cNvSpPr>
            <a:spLocks noGrp="1"/>
          </p:cNvSpPr>
          <p:nvPr>
            <p:ph sz="quarter" idx="12"/>
          </p:nvPr>
        </p:nvSpPr>
        <p:spPr>
          <a:xfrm>
            <a:off x="457201" y="1381125"/>
            <a:ext cx="8228012" cy="5248275"/>
          </a:xfrm>
        </p:spPr>
        <p:txBody>
          <a:bodyPr>
            <a:normAutofit/>
          </a:bodyPr>
          <a:lstStyle/>
          <a:p>
            <a:r>
              <a:rPr lang="en-IN" b="1" dirty="0"/>
              <a:t>18. Snowflake Security</a:t>
            </a:r>
          </a:p>
          <a:p>
            <a:pPr lvl="1"/>
            <a:r>
              <a:rPr lang="en-IN" dirty="0"/>
              <a:t>Implement </a:t>
            </a:r>
            <a:r>
              <a:rPr lang="en-IN" b="1" dirty="0"/>
              <a:t>Role-Based Access Control (RBAC)</a:t>
            </a:r>
            <a:r>
              <a:rPr lang="en-IN" dirty="0"/>
              <a:t>. </a:t>
            </a:r>
          </a:p>
          <a:p>
            <a:pPr lvl="1"/>
            <a:r>
              <a:rPr lang="en-IN" dirty="0"/>
              <a:t>Design appropriate role and privilege hierarchies. </a:t>
            </a:r>
          </a:p>
          <a:p>
            <a:pPr lvl="1"/>
            <a:r>
              <a:rPr lang="en-IN" dirty="0"/>
              <a:t>Understand encryption </a:t>
            </a:r>
            <a:r>
              <a:rPr lang="en-IN" b="1" dirty="0"/>
              <a:t>at rest and in transit</a:t>
            </a:r>
            <a:r>
              <a:rPr lang="en-IN" dirty="0"/>
              <a:t>. </a:t>
            </a:r>
          </a:p>
          <a:p>
            <a:pPr lvl="1"/>
            <a:r>
              <a:rPr lang="en-IN" dirty="0"/>
              <a:t>Configure </a:t>
            </a:r>
            <a:r>
              <a:rPr lang="en-IN" b="1" dirty="0"/>
              <a:t>network policies</a:t>
            </a:r>
            <a:r>
              <a:rPr lang="en-IN" dirty="0"/>
              <a:t>. </a:t>
            </a:r>
          </a:p>
          <a:p>
            <a:pPr lvl="1"/>
            <a:r>
              <a:rPr lang="en-IN" dirty="0"/>
              <a:t>Use </a:t>
            </a:r>
            <a:r>
              <a:rPr lang="en-IN" b="1" dirty="0"/>
              <a:t>MFA and security controls</a:t>
            </a:r>
            <a:r>
              <a:rPr lang="en-IN" dirty="0"/>
              <a:t> to protect Snowflake accounts.</a:t>
            </a:r>
          </a:p>
          <a:p>
            <a:endParaRPr lang="en-IN" dirty="0"/>
          </a:p>
        </p:txBody>
      </p:sp>
      <p:sp>
        <p:nvSpPr>
          <p:cNvPr id="15" name="Title 14">
            <a:extLst>
              <a:ext uri="{FF2B5EF4-FFF2-40B4-BE49-F238E27FC236}">
                <a16:creationId xmlns:a16="http://schemas.microsoft.com/office/drawing/2014/main" id="{C89B9190-EF80-1D94-B651-AA7C57722E5A}"/>
              </a:ext>
            </a:extLst>
          </p:cNvPr>
          <p:cNvSpPr>
            <a:spLocks noGrp="1"/>
          </p:cNvSpPr>
          <p:nvPr>
            <p:ph type="title"/>
          </p:nvPr>
        </p:nvSpPr>
        <p:spPr/>
        <p:txBody>
          <a:bodyPr/>
          <a:lstStyle/>
          <a:p>
            <a:r>
              <a:rPr lang="en-IN" dirty="0"/>
              <a:t>Goals</a:t>
            </a:r>
          </a:p>
        </p:txBody>
      </p:sp>
    </p:spTree>
    <p:extLst>
      <p:ext uri="{BB962C8B-B14F-4D97-AF65-F5344CB8AC3E}">
        <p14:creationId xmlns:p14="http://schemas.microsoft.com/office/powerpoint/2010/main" val="18597207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46C8D7-E936-6426-3522-56BECD310D9A}"/>
              </a:ext>
            </a:extLst>
          </p:cNvPr>
          <p:cNvSpPr>
            <a:spLocks noGrp="1"/>
          </p:cNvSpPr>
          <p:nvPr>
            <p:ph type="title"/>
          </p:nvPr>
        </p:nvSpPr>
        <p:spPr/>
        <p:txBody>
          <a:bodyPr/>
          <a:lstStyle/>
          <a:p>
            <a:r>
              <a:rPr lang="en-IN" dirty="0"/>
              <a:t>Postgres Client in </a:t>
            </a:r>
            <a:r>
              <a:rPr lang="en-IN" dirty="0" err="1"/>
              <a:t>VSCode</a:t>
            </a:r>
            <a:endParaRPr lang="en-IN" dirty="0"/>
          </a:p>
        </p:txBody>
      </p:sp>
      <p:sp>
        <p:nvSpPr>
          <p:cNvPr id="6" name="TextBox 5">
            <a:extLst>
              <a:ext uri="{FF2B5EF4-FFF2-40B4-BE49-F238E27FC236}">
                <a16:creationId xmlns:a16="http://schemas.microsoft.com/office/drawing/2014/main" id="{060704D4-F886-DC4A-3321-740228616B38}"/>
              </a:ext>
            </a:extLst>
          </p:cNvPr>
          <p:cNvSpPr txBox="1"/>
          <p:nvPr/>
        </p:nvSpPr>
        <p:spPr>
          <a:xfrm>
            <a:off x="1600200" y="1181985"/>
            <a:ext cx="5779146" cy="369332"/>
          </a:xfrm>
          <a:prstGeom prst="rect">
            <a:avLst/>
          </a:prstGeom>
          <a:noFill/>
        </p:spPr>
        <p:txBody>
          <a:bodyPr wrap="none" rtlCol="0">
            <a:spAutoFit/>
          </a:bodyPr>
          <a:lstStyle/>
          <a:p>
            <a:r>
              <a:rPr lang="en-IN" dirty="0"/>
              <a:t>postgresql://postgres:postgres@postgres:5432/bmwdb</a:t>
            </a:r>
          </a:p>
        </p:txBody>
      </p:sp>
      <p:pic>
        <p:nvPicPr>
          <p:cNvPr id="8" name="Picture 7">
            <a:extLst>
              <a:ext uri="{FF2B5EF4-FFF2-40B4-BE49-F238E27FC236}">
                <a16:creationId xmlns:a16="http://schemas.microsoft.com/office/drawing/2014/main" id="{D2A75F9D-BE93-0911-D3BF-4A01FBC3788A}"/>
              </a:ext>
            </a:extLst>
          </p:cNvPr>
          <p:cNvPicPr>
            <a:picLocks noChangeAspect="1"/>
          </p:cNvPicPr>
          <p:nvPr/>
        </p:nvPicPr>
        <p:blipFill>
          <a:blip r:embed="rId2"/>
          <a:stretch>
            <a:fillRect/>
          </a:stretch>
        </p:blipFill>
        <p:spPr>
          <a:xfrm>
            <a:off x="461035" y="1539815"/>
            <a:ext cx="8301965" cy="4991379"/>
          </a:xfrm>
          <a:prstGeom prst="rect">
            <a:avLst/>
          </a:prstGeom>
        </p:spPr>
      </p:pic>
    </p:spTree>
    <p:extLst>
      <p:ext uri="{BB962C8B-B14F-4D97-AF65-F5344CB8AC3E}">
        <p14:creationId xmlns:p14="http://schemas.microsoft.com/office/powerpoint/2010/main" val="28152250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72C47-4FAF-BB53-DC2E-4D6F2B092F4E}"/>
              </a:ext>
            </a:extLst>
          </p:cNvPr>
          <p:cNvSpPr>
            <a:spLocks noGrp="1"/>
          </p:cNvSpPr>
          <p:nvPr>
            <p:ph sz="quarter" idx="12"/>
          </p:nvPr>
        </p:nvSpPr>
        <p:spPr>
          <a:xfrm>
            <a:off x="457201" y="1381124"/>
            <a:ext cx="8228012" cy="5096677"/>
          </a:xfrm>
        </p:spPr>
        <p:txBody>
          <a:bodyPr>
            <a:normAutofit lnSpcReduction="10000"/>
          </a:bodyPr>
          <a:lstStyle/>
          <a:p>
            <a:r>
              <a:rPr lang="en-US" b="1" dirty="0"/>
              <a:t>Advanced SQL Compliance</a:t>
            </a:r>
            <a:r>
              <a:rPr lang="en-US" dirty="0"/>
              <a:t>: Full support for SQL standard, including window functions, CTEs(</a:t>
            </a:r>
            <a:r>
              <a:rPr lang="en-IN" dirty="0"/>
              <a:t>Common Table Expressions)</a:t>
            </a:r>
            <a:r>
              <a:rPr lang="en-US" dirty="0"/>
              <a:t>, and more.</a:t>
            </a:r>
          </a:p>
          <a:p>
            <a:r>
              <a:rPr lang="en-US" b="1" dirty="0"/>
              <a:t>Extensibility</a:t>
            </a:r>
            <a:r>
              <a:rPr lang="en-US" dirty="0"/>
              <a:t>: You can define custom data types, operators, functions, and index methods.</a:t>
            </a:r>
          </a:p>
          <a:p>
            <a:r>
              <a:rPr lang="en-US" b="1" dirty="0"/>
              <a:t>Strong JSON/JSONB</a:t>
            </a:r>
            <a:r>
              <a:rPr lang="en-US" dirty="0"/>
              <a:t>: Can be used for hybrid NoSQL use-cases.</a:t>
            </a:r>
          </a:p>
          <a:p>
            <a:r>
              <a:rPr lang="en-US" b="1" dirty="0"/>
              <a:t>Rich Indexing</a:t>
            </a:r>
            <a:r>
              <a:rPr lang="en-US" dirty="0"/>
              <a:t>: Supports B-tree, </a:t>
            </a:r>
            <a:r>
              <a:rPr lang="en-US" dirty="0" err="1"/>
              <a:t>GiST</a:t>
            </a:r>
            <a:r>
              <a:rPr lang="en-US" dirty="0"/>
              <a:t>, GIN, BRIN, Hash, covering a wide range of use-cases.</a:t>
            </a:r>
          </a:p>
          <a:p>
            <a:r>
              <a:rPr lang="en-US" b="1" dirty="0"/>
              <a:t>MVCC</a:t>
            </a:r>
            <a:r>
              <a:rPr lang="en-US" dirty="0"/>
              <a:t>: Superior concurrency without locking readers.</a:t>
            </a:r>
          </a:p>
          <a:p>
            <a:r>
              <a:rPr lang="en-US" b="1" dirty="0"/>
              <a:t>Open Source &amp; Free for Commercial Use</a:t>
            </a:r>
            <a:r>
              <a:rPr lang="en-US" dirty="0"/>
              <a:t>: No licensing restrictions.</a:t>
            </a:r>
          </a:p>
          <a:p>
            <a:endParaRPr lang="en-IN" dirty="0"/>
          </a:p>
        </p:txBody>
      </p:sp>
      <p:sp>
        <p:nvSpPr>
          <p:cNvPr id="3" name="Title 2">
            <a:extLst>
              <a:ext uri="{FF2B5EF4-FFF2-40B4-BE49-F238E27FC236}">
                <a16:creationId xmlns:a16="http://schemas.microsoft.com/office/drawing/2014/main" id="{FD063DD2-3D7C-4EDB-2CDA-2FF41F9A01BE}"/>
              </a:ext>
            </a:extLst>
          </p:cNvPr>
          <p:cNvSpPr>
            <a:spLocks noGrp="1"/>
          </p:cNvSpPr>
          <p:nvPr>
            <p:ph type="title"/>
          </p:nvPr>
        </p:nvSpPr>
        <p:spPr/>
        <p:txBody>
          <a:bodyPr/>
          <a:lstStyle/>
          <a:p>
            <a:r>
              <a:rPr lang="en-IN" dirty="0"/>
              <a:t>PostgreSQL Strengths</a:t>
            </a:r>
          </a:p>
        </p:txBody>
      </p:sp>
    </p:spTree>
    <p:extLst>
      <p:ext uri="{BB962C8B-B14F-4D97-AF65-F5344CB8AC3E}">
        <p14:creationId xmlns:p14="http://schemas.microsoft.com/office/powerpoint/2010/main" val="1037012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FECAB1F-CE0C-32F7-3870-F8409B7D8990}"/>
              </a:ext>
            </a:extLst>
          </p:cNvPr>
          <p:cNvSpPr>
            <a:spLocks noGrp="1"/>
          </p:cNvSpPr>
          <p:nvPr>
            <p:ph type="title"/>
          </p:nvPr>
        </p:nvSpPr>
        <p:spPr/>
        <p:txBody>
          <a:bodyPr/>
          <a:lstStyle/>
          <a:p>
            <a:r>
              <a:rPr lang="en-IN" dirty="0"/>
              <a:t>When to Choose What?</a:t>
            </a:r>
          </a:p>
        </p:txBody>
      </p:sp>
      <p:graphicFrame>
        <p:nvGraphicFramePr>
          <p:cNvPr id="4" name="Table 3">
            <a:extLst>
              <a:ext uri="{FF2B5EF4-FFF2-40B4-BE49-F238E27FC236}">
                <a16:creationId xmlns:a16="http://schemas.microsoft.com/office/drawing/2014/main" id="{6DF2E528-643F-7213-98A0-A9F5D684420B}"/>
              </a:ext>
            </a:extLst>
          </p:cNvPr>
          <p:cNvGraphicFramePr>
            <a:graphicFrameLocks noGrp="1"/>
          </p:cNvGraphicFramePr>
          <p:nvPr/>
        </p:nvGraphicFramePr>
        <p:xfrm>
          <a:off x="457200" y="1415890"/>
          <a:ext cx="8388417" cy="4956031"/>
        </p:xfrm>
        <a:graphic>
          <a:graphicData uri="http://schemas.openxmlformats.org/drawingml/2006/table">
            <a:tbl>
              <a:tblPr>
                <a:tableStyleId>{3C2FFA5D-87B4-456A-9821-1D502468CF0F}</a:tableStyleId>
              </a:tblPr>
              <a:tblGrid>
                <a:gridCol w="2796139">
                  <a:extLst>
                    <a:ext uri="{9D8B030D-6E8A-4147-A177-3AD203B41FA5}">
                      <a16:colId xmlns:a16="http://schemas.microsoft.com/office/drawing/2014/main" val="1462792715"/>
                    </a:ext>
                  </a:extLst>
                </a:gridCol>
                <a:gridCol w="2796139">
                  <a:extLst>
                    <a:ext uri="{9D8B030D-6E8A-4147-A177-3AD203B41FA5}">
                      <a16:colId xmlns:a16="http://schemas.microsoft.com/office/drawing/2014/main" val="1431498676"/>
                    </a:ext>
                  </a:extLst>
                </a:gridCol>
                <a:gridCol w="2796139">
                  <a:extLst>
                    <a:ext uri="{9D8B030D-6E8A-4147-A177-3AD203B41FA5}">
                      <a16:colId xmlns:a16="http://schemas.microsoft.com/office/drawing/2014/main" val="1654933164"/>
                    </a:ext>
                  </a:extLst>
                </a:gridCol>
              </a:tblGrid>
              <a:tr h="381233">
                <a:tc>
                  <a:txBody>
                    <a:bodyPr/>
                    <a:lstStyle/>
                    <a:p>
                      <a:pPr>
                        <a:buNone/>
                      </a:pPr>
                      <a:r>
                        <a:rPr lang="en-IN"/>
                        <a:t>Use Case</a:t>
                      </a:r>
                    </a:p>
                  </a:txBody>
                  <a:tcPr anchor="ctr"/>
                </a:tc>
                <a:tc>
                  <a:txBody>
                    <a:bodyPr/>
                    <a:lstStyle/>
                    <a:p>
                      <a:pPr>
                        <a:buNone/>
                      </a:pPr>
                      <a:r>
                        <a:rPr lang="en-IN"/>
                        <a:t>Recommended DB</a:t>
                      </a:r>
                    </a:p>
                  </a:txBody>
                  <a:tcPr anchor="ctr"/>
                </a:tc>
                <a:tc>
                  <a:txBody>
                    <a:bodyPr/>
                    <a:lstStyle/>
                    <a:p>
                      <a:pPr>
                        <a:buNone/>
                      </a:pPr>
                      <a:r>
                        <a:rPr lang="en-IN"/>
                        <a:t>Reason</a:t>
                      </a:r>
                    </a:p>
                  </a:txBody>
                  <a:tcPr anchor="ctr"/>
                </a:tc>
                <a:extLst>
                  <a:ext uri="{0D108BD9-81ED-4DB2-BD59-A6C34878D82A}">
                    <a16:rowId xmlns:a16="http://schemas.microsoft.com/office/drawing/2014/main" val="3748037488"/>
                  </a:ext>
                </a:extLst>
              </a:tr>
              <a:tr h="953083">
                <a:tc>
                  <a:txBody>
                    <a:bodyPr/>
                    <a:lstStyle/>
                    <a:p>
                      <a:pPr>
                        <a:buNone/>
                      </a:pPr>
                      <a:r>
                        <a:rPr lang="en-US"/>
                        <a:t>Web applications needing performance + ease</a:t>
                      </a:r>
                    </a:p>
                  </a:txBody>
                  <a:tcPr anchor="ctr"/>
                </a:tc>
                <a:tc>
                  <a:txBody>
                    <a:bodyPr/>
                    <a:lstStyle/>
                    <a:p>
                      <a:pPr>
                        <a:buNone/>
                      </a:pPr>
                      <a:r>
                        <a:rPr lang="en-IN"/>
                        <a:t>MySQL</a:t>
                      </a:r>
                    </a:p>
                  </a:txBody>
                  <a:tcPr anchor="ctr"/>
                </a:tc>
                <a:tc>
                  <a:txBody>
                    <a:bodyPr/>
                    <a:lstStyle/>
                    <a:p>
                      <a:pPr>
                        <a:buNone/>
                      </a:pPr>
                      <a:r>
                        <a:rPr lang="en-US"/>
                        <a:t>Fast, easy, well-supported in LAMP stacks</a:t>
                      </a:r>
                    </a:p>
                  </a:txBody>
                  <a:tcPr anchor="ctr"/>
                </a:tc>
                <a:extLst>
                  <a:ext uri="{0D108BD9-81ED-4DB2-BD59-A6C34878D82A}">
                    <a16:rowId xmlns:a16="http://schemas.microsoft.com/office/drawing/2014/main" val="2106664835"/>
                  </a:ext>
                </a:extLst>
              </a:tr>
              <a:tr h="953083">
                <a:tc>
                  <a:txBody>
                    <a:bodyPr/>
                    <a:lstStyle/>
                    <a:p>
                      <a:pPr>
                        <a:buNone/>
                      </a:pPr>
                      <a:r>
                        <a:rPr lang="en-US"/>
                        <a:t>Enterprise-grade systems with complex logic</a:t>
                      </a:r>
                    </a:p>
                  </a:txBody>
                  <a:tcPr anchor="ctr"/>
                </a:tc>
                <a:tc>
                  <a:txBody>
                    <a:bodyPr/>
                    <a:lstStyle/>
                    <a:p>
                      <a:pPr>
                        <a:buNone/>
                      </a:pPr>
                      <a:r>
                        <a:rPr lang="en-IN"/>
                        <a:t>Oracle DB</a:t>
                      </a:r>
                    </a:p>
                  </a:txBody>
                  <a:tcPr anchor="ctr"/>
                </a:tc>
                <a:tc>
                  <a:txBody>
                    <a:bodyPr/>
                    <a:lstStyle/>
                    <a:p>
                      <a:pPr>
                        <a:buNone/>
                      </a:pPr>
                      <a:r>
                        <a:rPr lang="en-US"/>
                        <a:t>Strong security, clustering, and tooling</a:t>
                      </a:r>
                    </a:p>
                  </a:txBody>
                  <a:tcPr anchor="ctr"/>
                </a:tc>
                <a:extLst>
                  <a:ext uri="{0D108BD9-81ED-4DB2-BD59-A6C34878D82A}">
                    <a16:rowId xmlns:a16="http://schemas.microsoft.com/office/drawing/2014/main" val="4132178257"/>
                  </a:ext>
                </a:extLst>
              </a:tr>
              <a:tr h="667158">
                <a:tc>
                  <a:txBody>
                    <a:bodyPr/>
                    <a:lstStyle/>
                    <a:p>
                      <a:pPr>
                        <a:buNone/>
                      </a:pPr>
                      <a:r>
                        <a:rPr lang="en-IN"/>
                        <a:t>Windows-heavy enterprise systems</a:t>
                      </a:r>
                    </a:p>
                  </a:txBody>
                  <a:tcPr anchor="ctr"/>
                </a:tc>
                <a:tc>
                  <a:txBody>
                    <a:bodyPr/>
                    <a:lstStyle/>
                    <a:p>
                      <a:pPr>
                        <a:buNone/>
                      </a:pPr>
                      <a:r>
                        <a:rPr lang="en-IN"/>
                        <a:t>SQL Server</a:t>
                      </a:r>
                    </a:p>
                  </a:txBody>
                  <a:tcPr anchor="ctr"/>
                </a:tc>
                <a:tc>
                  <a:txBody>
                    <a:bodyPr/>
                    <a:lstStyle/>
                    <a:p>
                      <a:pPr>
                        <a:buNone/>
                      </a:pPr>
                      <a:r>
                        <a:rPr lang="en-US"/>
                        <a:t>Good .NET integration, SSIS/SSRS tools</a:t>
                      </a:r>
                    </a:p>
                  </a:txBody>
                  <a:tcPr anchor="ctr"/>
                </a:tc>
                <a:extLst>
                  <a:ext uri="{0D108BD9-81ED-4DB2-BD59-A6C34878D82A}">
                    <a16:rowId xmlns:a16="http://schemas.microsoft.com/office/drawing/2014/main" val="1731274478"/>
                  </a:ext>
                </a:extLst>
              </a:tr>
              <a:tr h="667158">
                <a:tc>
                  <a:txBody>
                    <a:bodyPr/>
                    <a:lstStyle/>
                    <a:p>
                      <a:pPr>
                        <a:buNone/>
                      </a:pPr>
                      <a:r>
                        <a:rPr lang="en-IN"/>
                        <a:t>Research, spatial/geospatial apps</a:t>
                      </a:r>
                    </a:p>
                  </a:txBody>
                  <a:tcPr anchor="ctr"/>
                </a:tc>
                <a:tc>
                  <a:txBody>
                    <a:bodyPr/>
                    <a:lstStyle/>
                    <a:p>
                      <a:pPr>
                        <a:buNone/>
                      </a:pPr>
                      <a:r>
                        <a:rPr lang="en-IN"/>
                        <a:t>PostgreSQL (PostGIS)</a:t>
                      </a:r>
                    </a:p>
                  </a:txBody>
                  <a:tcPr anchor="ctr"/>
                </a:tc>
                <a:tc>
                  <a:txBody>
                    <a:bodyPr/>
                    <a:lstStyle/>
                    <a:p>
                      <a:pPr>
                        <a:buNone/>
                      </a:pPr>
                      <a:r>
                        <a:rPr lang="en-US"/>
                        <a:t>Best GIS support, complex query support</a:t>
                      </a:r>
                    </a:p>
                  </a:txBody>
                  <a:tcPr anchor="ctr"/>
                </a:tc>
                <a:extLst>
                  <a:ext uri="{0D108BD9-81ED-4DB2-BD59-A6C34878D82A}">
                    <a16:rowId xmlns:a16="http://schemas.microsoft.com/office/drawing/2014/main" val="1645368616"/>
                  </a:ext>
                </a:extLst>
              </a:tr>
              <a:tr h="667158">
                <a:tc>
                  <a:txBody>
                    <a:bodyPr/>
                    <a:lstStyle/>
                    <a:p>
                      <a:pPr>
                        <a:buNone/>
                      </a:pPr>
                      <a:r>
                        <a:rPr lang="en-IN"/>
                        <a:t>Mobile or embedded applications</a:t>
                      </a:r>
                    </a:p>
                  </a:txBody>
                  <a:tcPr anchor="ctr"/>
                </a:tc>
                <a:tc>
                  <a:txBody>
                    <a:bodyPr/>
                    <a:lstStyle/>
                    <a:p>
                      <a:pPr>
                        <a:buNone/>
                      </a:pPr>
                      <a:r>
                        <a:rPr lang="en-IN"/>
                        <a:t>SQLite</a:t>
                      </a:r>
                    </a:p>
                  </a:txBody>
                  <a:tcPr anchor="ctr"/>
                </a:tc>
                <a:tc>
                  <a:txBody>
                    <a:bodyPr/>
                    <a:lstStyle/>
                    <a:p>
                      <a:pPr>
                        <a:buNone/>
                      </a:pPr>
                      <a:r>
                        <a:rPr lang="en-US"/>
                        <a:t>Lightweight, file-based, no server needed</a:t>
                      </a:r>
                    </a:p>
                  </a:txBody>
                  <a:tcPr anchor="ctr"/>
                </a:tc>
                <a:extLst>
                  <a:ext uri="{0D108BD9-81ED-4DB2-BD59-A6C34878D82A}">
                    <a16:rowId xmlns:a16="http://schemas.microsoft.com/office/drawing/2014/main" val="4019135494"/>
                  </a:ext>
                </a:extLst>
              </a:tr>
              <a:tr h="667158">
                <a:tc>
                  <a:txBody>
                    <a:bodyPr/>
                    <a:lstStyle/>
                    <a:p>
                      <a:pPr>
                        <a:buNone/>
                      </a:pPr>
                      <a:r>
                        <a:rPr lang="en-IN"/>
                        <a:t>Cloud-native or analytics-heavy systems</a:t>
                      </a:r>
                    </a:p>
                  </a:txBody>
                  <a:tcPr anchor="ctr"/>
                </a:tc>
                <a:tc>
                  <a:txBody>
                    <a:bodyPr/>
                    <a:lstStyle/>
                    <a:p>
                      <a:pPr>
                        <a:buNone/>
                      </a:pPr>
                      <a:r>
                        <a:rPr lang="en-IN"/>
                        <a:t>PostgreSQL</a:t>
                      </a:r>
                    </a:p>
                  </a:txBody>
                  <a:tcPr anchor="ctr"/>
                </a:tc>
                <a:tc>
                  <a:txBody>
                    <a:bodyPr/>
                    <a:lstStyle/>
                    <a:p>
                      <a:pPr>
                        <a:buNone/>
                      </a:pPr>
                      <a:r>
                        <a:rPr lang="en-US" dirty="0"/>
                        <a:t>Modern features, cloud support, and analytics</a:t>
                      </a:r>
                    </a:p>
                  </a:txBody>
                  <a:tcPr anchor="ctr"/>
                </a:tc>
                <a:extLst>
                  <a:ext uri="{0D108BD9-81ED-4DB2-BD59-A6C34878D82A}">
                    <a16:rowId xmlns:a16="http://schemas.microsoft.com/office/drawing/2014/main" val="2540990328"/>
                  </a:ext>
                </a:extLst>
              </a:tr>
            </a:tbl>
          </a:graphicData>
        </a:graphic>
      </p:graphicFrame>
    </p:spTree>
    <p:extLst>
      <p:ext uri="{BB962C8B-B14F-4D97-AF65-F5344CB8AC3E}">
        <p14:creationId xmlns:p14="http://schemas.microsoft.com/office/powerpoint/2010/main" val="38466463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1BB2AE8-9FCA-AED3-8E1C-62EEB97E27F7}"/>
              </a:ext>
            </a:extLst>
          </p:cNvPr>
          <p:cNvSpPr>
            <a:spLocks noGrp="1"/>
          </p:cNvSpPr>
          <p:nvPr>
            <p:ph type="title"/>
          </p:nvPr>
        </p:nvSpPr>
        <p:spPr/>
        <p:txBody>
          <a:bodyPr/>
          <a:lstStyle/>
          <a:p>
            <a:r>
              <a:rPr lang="en-IN" dirty="0"/>
              <a:t> Security &amp; Role Management</a:t>
            </a:r>
          </a:p>
        </p:txBody>
      </p:sp>
      <p:graphicFrame>
        <p:nvGraphicFramePr>
          <p:cNvPr id="4" name="Table 3">
            <a:extLst>
              <a:ext uri="{FF2B5EF4-FFF2-40B4-BE49-F238E27FC236}">
                <a16:creationId xmlns:a16="http://schemas.microsoft.com/office/drawing/2014/main" id="{9606A126-4A92-E6F1-294F-419676811A10}"/>
              </a:ext>
            </a:extLst>
          </p:cNvPr>
          <p:cNvGraphicFramePr>
            <a:graphicFrameLocks noGrp="1"/>
          </p:cNvGraphicFramePr>
          <p:nvPr/>
        </p:nvGraphicFramePr>
        <p:xfrm>
          <a:off x="457200" y="1873091"/>
          <a:ext cx="8228012" cy="3840480"/>
        </p:xfrm>
        <a:graphic>
          <a:graphicData uri="http://schemas.openxmlformats.org/drawingml/2006/table">
            <a:tbl>
              <a:tblPr>
                <a:tableStyleId>{3C2FFA5D-87B4-456A-9821-1D502468CF0F}</a:tableStyleId>
              </a:tblPr>
              <a:tblGrid>
                <a:gridCol w="2057003">
                  <a:extLst>
                    <a:ext uri="{9D8B030D-6E8A-4147-A177-3AD203B41FA5}">
                      <a16:colId xmlns:a16="http://schemas.microsoft.com/office/drawing/2014/main" val="851964317"/>
                    </a:ext>
                  </a:extLst>
                </a:gridCol>
                <a:gridCol w="2057003">
                  <a:extLst>
                    <a:ext uri="{9D8B030D-6E8A-4147-A177-3AD203B41FA5}">
                      <a16:colId xmlns:a16="http://schemas.microsoft.com/office/drawing/2014/main" val="935933444"/>
                    </a:ext>
                  </a:extLst>
                </a:gridCol>
                <a:gridCol w="2057003">
                  <a:extLst>
                    <a:ext uri="{9D8B030D-6E8A-4147-A177-3AD203B41FA5}">
                      <a16:colId xmlns:a16="http://schemas.microsoft.com/office/drawing/2014/main" val="1207150317"/>
                    </a:ext>
                  </a:extLst>
                </a:gridCol>
                <a:gridCol w="2057003">
                  <a:extLst>
                    <a:ext uri="{9D8B030D-6E8A-4147-A177-3AD203B41FA5}">
                      <a16:colId xmlns:a16="http://schemas.microsoft.com/office/drawing/2014/main" val="2575445559"/>
                    </a:ext>
                  </a:extLst>
                </a:gridCol>
              </a:tblGrid>
              <a:tr h="0">
                <a:tc>
                  <a:txBody>
                    <a:bodyPr/>
                    <a:lstStyle/>
                    <a:p>
                      <a:pPr>
                        <a:buNone/>
                      </a:pPr>
                      <a:r>
                        <a:rPr lang="en-IN"/>
                        <a:t>DB</a:t>
                      </a:r>
                    </a:p>
                  </a:txBody>
                  <a:tcPr anchor="ctr"/>
                </a:tc>
                <a:tc>
                  <a:txBody>
                    <a:bodyPr/>
                    <a:lstStyle/>
                    <a:p>
                      <a:pPr>
                        <a:buNone/>
                      </a:pPr>
                      <a:r>
                        <a:rPr lang="en-IN"/>
                        <a:t>Role Management</a:t>
                      </a:r>
                    </a:p>
                  </a:txBody>
                  <a:tcPr anchor="ctr"/>
                </a:tc>
                <a:tc>
                  <a:txBody>
                    <a:bodyPr/>
                    <a:lstStyle/>
                    <a:p>
                      <a:pPr>
                        <a:buNone/>
                      </a:pPr>
                      <a:r>
                        <a:rPr lang="en-IN"/>
                        <a:t>Row-Level Security</a:t>
                      </a:r>
                    </a:p>
                  </a:txBody>
                  <a:tcPr anchor="ctr"/>
                </a:tc>
                <a:tc>
                  <a:txBody>
                    <a:bodyPr/>
                    <a:lstStyle/>
                    <a:p>
                      <a:pPr>
                        <a:buNone/>
                      </a:pPr>
                      <a:r>
                        <a:rPr lang="en-IN"/>
                        <a:t>Encryption</a:t>
                      </a:r>
                    </a:p>
                  </a:txBody>
                  <a:tcPr anchor="ctr"/>
                </a:tc>
                <a:extLst>
                  <a:ext uri="{0D108BD9-81ED-4DB2-BD59-A6C34878D82A}">
                    <a16:rowId xmlns:a16="http://schemas.microsoft.com/office/drawing/2014/main" val="3122871325"/>
                  </a:ext>
                </a:extLst>
              </a:tr>
              <a:tr h="0">
                <a:tc>
                  <a:txBody>
                    <a:bodyPr/>
                    <a:lstStyle/>
                    <a:p>
                      <a:pPr>
                        <a:buNone/>
                      </a:pPr>
                      <a:r>
                        <a:rPr lang="en-IN"/>
                        <a:t>PostgreSQL</a:t>
                      </a:r>
                    </a:p>
                  </a:txBody>
                  <a:tcPr anchor="ctr"/>
                </a:tc>
                <a:tc>
                  <a:txBody>
                    <a:bodyPr/>
                    <a:lstStyle/>
                    <a:p>
                      <a:pPr>
                        <a:buNone/>
                      </a:pPr>
                      <a:r>
                        <a:rPr lang="en-IN"/>
                        <a:t>✅ Roles, schemas</a:t>
                      </a:r>
                    </a:p>
                  </a:txBody>
                  <a:tcPr anchor="ctr"/>
                </a:tc>
                <a:tc>
                  <a:txBody>
                    <a:bodyPr/>
                    <a:lstStyle/>
                    <a:p>
                      <a:pPr>
                        <a:buNone/>
                      </a:pPr>
                      <a:r>
                        <a:rPr lang="en-IN"/>
                        <a:t>✅ Built-in</a:t>
                      </a:r>
                    </a:p>
                  </a:txBody>
                  <a:tcPr anchor="ctr"/>
                </a:tc>
                <a:tc>
                  <a:txBody>
                    <a:bodyPr/>
                    <a:lstStyle/>
                    <a:p>
                      <a:pPr>
                        <a:buNone/>
                      </a:pPr>
                      <a:r>
                        <a:rPr lang="en-IN"/>
                        <a:t>✅ SSL, TDE via extensions</a:t>
                      </a:r>
                    </a:p>
                  </a:txBody>
                  <a:tcPr anchor="ctr"/>
                </a:tc>
                <a:extLst>
                  <a:ext uri="{0D108BD9-81ED-4DB2-BD59-A6C34878D82A}">
                    <a16:rowId xmlns:a16="http://schemas.microsoft.com/office/drawing/2014/main" val="351321066"/>
                  </a:ext>
                </a:extLst>
              </a:tr>
              <a:tr h="0">
                <a:tc>
                  <a:txBody>
                    <a:bodyPr/>
                    <a:lstStyle/>
                    <a:p>
                      <a:pPr>
                        <a:buNone/>
                      </a:pPr>
                      <a:r>
                        <a:rPr lang="en-IN"/>
                        <a:t>MySQL</a:t>
                      </a:r>
                    </a:p>
                  </a:txBody>
                  <a:tcPr anchor="ctr"/>
                </a:tc>
                <a:tc>
                  <a:txBody>
                    <a:bodyPr/>
                    <a:lstStyle/>
                    <a:p>
                      <a:pPr>
                        <a:buNone/>
                      </a:pPr>
                      <a:r>
                        <a:rPr lang="en-IN"/>
                        <a:t>✅ Users, privileges</a:t>
                      </a:r>
                    </a:p>
                  </a:txBody>
                  <a:tcPr anchor="ctr"/>
                </a:tc>
                <a:tc>
                  <a:txBody>
                    <a:bodyPr/>
                    <a:lstStyle/>
                    <a:p>
                      <a:pPr>
                        <a:buNone/>
                      </a:pPr>
                      <a:r>
                        <a:rPr lang="en-IN"/>
                        <a:t>❌ Limited</a:t>
                      </a:r>
                    </a:p>
                  </a:txBody>
                  <a:tcPr anchor="ctr"/>
                </a:tc>
                <a:tc>
                  <a:txBody>
                    <a:bodyPr/>
                    <a:lstStyle/>
                    <a:p>
                      <a:pPr>
                        <a:buNone/>
                      </a:pPr>
                      <a:r>
                        <a:rPr lang="en-IN"/>
                        <a:t>✅ SSL only</a:t>
                      </a:r>
                    </a:p>
                  </a:txBody>
                  <a:tcPr anchor="ctr"/>
                </a:tc>
                <a:extLst>
                  <a:ext uri="{0D108BD9-81ED-4DB2-BD59-A6C34878D82A}">
                    <a16:rowId xmlns:a16="http://schemas.microsoft.com/office/drawing/2014/main" val="850292001"/>
                  </a:ext>
                </a:extLst>
              </a:tr>
              <a:tr h="0">
                <a:tc>
                  <a:txBody>
                    <a:bodyPr/>
                    <a:lstStyle/>
                    <a:p>
                      <a:pPr>
                        <a:buNone/>
                      </a:pPr>
                      <a:r>
                        <a:rPr lang="en-IN"/>
                        <a:t>Oracle</a:t>
                      </a:r>
                    </a:p>
                  </a:txBody>
                  <a:tcPr anchor="ctr"/>
                </a:tc>
                <a:tc>
                  <a:txBody>
                    <a:bodyPr/>
                    <a:lstStyle/>
                    <a:p>
                      <a:pPr>
                        <a:buNone/>
                      </a:pPr>
                      <a:r>
                        <a:rPr lang="en-IN"/>
                        <a:t>✅ Advanced</a:t>
                      </a:r>
                    </a:p>
                  </a:txBody>
                  <a:tcPr anchor="ctr"/>
                </a:tc>
                <a:tc>
                  <a:txBody>
                    <a:bodyPr/>
                    <a:lstStyle/>
                    <a:p>
                      <a:pPr>
                        <a:buNone/>
                      </a:pPr>
                      <a:r>
                        <a:rPr lang="en-IN"/>
                        <a:t>✅ VPD, Label Sec</a:t>
                      </a:r>
                    </a:p>
                  </a:txBody>
                  <a:tcPr anchor="ctr"/>
                </a:tc>
                <a:tc>
                  <a:txBody>
                    <a:bodyPr/>
                    <a:lstStyle/>
                    <a:p>
                      <a:pPr>
                        <a:buNone/>
                      </a:pPr>
                      <a:r>
                        <a:rPr lang="en-IN"/>
                        <a:t>✅ TDE, Data Redaction</a:t>
                      </a:r>
                    </a:p>
                  </a:txBody>
                  <a:tcPr anchor="ctr"/>
                </a:tc>
                <a:extLst>
                  <a:ext uri="{0D108BD9-81ED-4DB2-BD59-A6C34878D82A}">
                    <a16:rowId xmlns:a16="http://schemas.microsoft.com/office/drawing/2014/main" val="790154022"/>
                  </a:ext>
                </a:extLst>
              </a:tr>
              <a:tr h="0">
                <a:tc>
                  <a:txBody>
                    <a:bodyPr/>
                    <a:lstStyle/>
                    <a:p>
                      <a:pPr>
                        <a:buNone/>
                      </a:pPr>
                      <a:r>
                        <a:rPr lang="en-IN"/>
                        <a:t>SQL Server</a:t>
                      </a:r>
                    </a:p>
                  </a:txBody>
                  <a:tcPr anchor="ctr"/>
                </a:tc>
                <a:tc>
                  <a:txBody>
                    <a:bodyPr/>
                    <a:lstStyle/>
                    <a:p>
                      <a:pPr>
                        <a:buNone/>
                      </a:pPr>
                      <a:r>
                        <a:rPr lang="en-IN"/>
                        <a:t>✅ Windows/SQL Auth</a:t>
                      </a:r>
                    </a:p>
                  </a:txBody>
                  <a:tcPr anchor="ctr"/>
                </a:tc>
                <a:tc>
                  <a:txBody>
                    <a:bodyPr/>
                    <a:lstStyle/>
                    <a:p>
                      <a:pPr>
                        <a:buNone/>
                      </a:pPr>
                      <a:r>
                        <a:rPr lang="en-IN"/>
                        <a:t>✅ RLS</a:t>
                      </a:r>
                    </a:p>
                  </a:txBody>
                  <a:tcPr anchor="ctr"/>
                </a:tc>
                <a:tc>
                  <a:txBody>
                    <a:bodyPr/>
                    <a:lstStyle/>
                    <a:p>
                      <a:pPr>
                        <a:buNone/>
                      </a:pPr>
                      <a:r>
                        <a:rPr lang="en-IN"/>
                        <a:t>✅ TDE, Always Encrypted</a:t>
                      </a:r>
                    </a:p>
                  </a:txBody>
                  <a:tcPr anchor="ctr"/>
                </a:tc>
                <a:extLst>
                  <a:ext uri="{0D108BD9-81ED-4DB2-BD59-A6C34878D82A}">
                    <a16:rowId xmlns:a16="http://schemas.microsoft.com/office/drawing/2014/main" val="1017895511"/>
                  </a:ext>
                </a:extLst>
              </a:tr>
              <a:tr h="0">
                <a:tc>
                  <a:txBody>
                    <a:bodyPr/>
                    <a:lstStyle/>
                    <a:p>
                      <a:pPr>
                        <a:buNone/>
                      </a:pPr>
                      <a:r>
                        <a:rPr lang="en-IN"/>
                        <a:t>SQLite</a:t>
                      </a:r>
                    </a:p>
                  </a:txBody>
                  <a:tcPr anchor="ctr"/>
                </a:tc>
                <a:tc>
                  <a:txBody>
                    <a:bodyPr/>
                    <a:lstStyle/>
                    <a:p>
                      <a:pPr>
                        <a:buNone/>
                      </a:pPr>
                      <a:r>
                        <a:rPr lang="en-IN"/>
                        <a:t>❌ File-based</a:t>
                      </a:r>
                    </a:p>
                  </a:txBody>
                  <a:tcPr anchor="ctr"/>
                </a:tc>
                <a:tc>
                  <a:txBody>
                    <a:bodyPr/>
                    <a:lstStyle/>
                    <a:p>
                      <a:pPr>
                        <a:buNone/>
                      </a:pPr>
                      <a:r>
                        <a:rPr lang="en-IN"/>
                        <a:t>❌ None</a:t>
                      </a:r>
                    </a:p>
                  </a:txBody>
                  <a:tcPr anchor="ctr"/>
                </a:tc>
                <a:tc>
                  <a:txBody>
                    <a:bodyPr/>
                    <a:lstStyle/>
                    <a:p>
                      <a:pPr>
                        <a:buNone/>
                      </a:pPr>
                      <a:r>
                        <a:rPr lang="en-IN" dirty="0"/>
                        <a:t>❌ Application-level only</a:t>
                      </a:r>
                    </a:p>
                  </a:txBody>
                  <a:tcPr anchor="ctr"/>
                </a:tc>
                <a:extLst>
                  <a:ext uri="{0D108BD9-81ED-4DB2-BD59-A6C34878D82A}">
                    <a16:rowId xmlns:a16="http://schemas.microsoft.com/office/drawing/2014/main" val="799061858"/>
                  </a:ext>
                </a:extLst>
              </a:tr>
            </a:tbl>
          </a:graphicData>
        </a:graphic>
      </p:graphicFrame>
    </p:spTree>
    <p:extLst>
      <p:ext uri="{BB962C8B-B14F-4D97-AF65-F5344CB8AC3E}">
        <p14:creationId xmlns:p14="http://schemas.microsoft.com/office/powerpoint/2010/main" val="31721740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980370D-5D15-A6F1-EF39-DADA97D871A7}"/>
              </a:ext>
            </a:extLst>
          </p:cNvPr>
          <p:cNvSpPr>
            <a:spLocks noGrp="1"/>
          </p:cNvSpPr>
          <p:nvPr>
            <p:ph sz="quarter" idx="12"/>
          </p:nvPr>
        </p:nvSpPr>
        <p:spPr/>
        <p:txBody>
          <a:bodyPr/>
          <a:lstStyle/>
          <a:p>
            <a:r>
              <a:rPr lang="en-US" b="1" dirty="0"/>
              <a:t>1. ACID Compliance</a:t>
            </a:r>
          </a:p>
          <a:p>
            <a:pPr lvl="1"/>
            <a:r>
              <a:rPr lang="en-US" dirty="0"/>
              <a:t>Guarantees </a:t>
            </a:r>
            <a:r>
              <a:rPr lang="en-US" b="1" dirty="0"/>
              <a:t>Atomicity</a:t>
            </a:r>
            <a:r>
              <a:rPr lang="en-US" dirty="0"/>
              <a:t>, </a:t>
            </a:r>
            <a:r>
              <a:rPr lang="en-US" b="1" dirty="0"/>
              <a:t>Consistency</a:t>
            </a:r>
            <a:r>
              <a:rPr lang="en-US" dirty="0"/>
              <a:t>, </a:t>
            </a:r>
            <a:r>
              <a:rPr lang="en-US" b="1" dirty="0"/>
              <a:t>Isolation</a:t>
            </a:r>
            <a:r>
              <a:rPr lang="en-US" dirty="0"/>
              <a:t>, and </a:t>
            </a:r>
            <a:r>
              <a:rPr lang="en-US" b="1" dirty="0"/>
              <a:t>Durability</a:t>
            </a:r>
            <a:r>
              <a:rPr lang="en-US" dirty="0"/>
              <a:t>.</a:t>
            </a:r>
          </a:p>
          <a:p>
            <a:pPr lvl="1"/>
            <a:r>
              <a:rPr lang="en-US" dirty="0"/>
              <a:t>Ensures reliable and safe transactions.</a:t>
            </a:r>
          </a:p>
          <a:p>
            <a:r>
              <a:rPr lang="en-US" b="1" dirty="0"/>
              <a:t>2. MVCC (Multi-Version Concurrency Control)</a:t>
            </a:r>
          </a:p>
          <a:p>
            <a:pPr lvl="1"/>
            <a:r>
              <a:rPr lang="en-US" dirty="0"/>
              <a:t>Allows </a:t>
            </a:r>
            <a:r>
              <a:rPr lang="en-US" b="1" dirty="0"/>
              <a:t>concurrent reads and writes</a:t>
            </a:r>
            <a:r>
              <a:rPr lang="en-US" dirty="0"/>
              <a:t> without locking.</a:t>
            </a:r>
          </a:p>
          <a:p>
            <a:pPr lvl="1"/>
            <a:r>
              <a:rPr lang="en-US" dirty="0"/>
              <a:t>Improves performance in high-concurrency environments.</a:t>
            </a:r>
          </a:p>
          <a:p>
            <a:endParaRPr lang="en-IN" dirty="0"/>
          </a:p>
        </p:txBody>
      </p:sp>
      <p:sp>
        <p:nvSpPr>
          <p:cNvPr id="3" name="Title 2">
            <a:extLst>
              <a:ext uri="{FF2B5EF4-FFF2-40B4-BE49-F238E27FC236}">
                <a16:creationId xmlns:a16="http://schemas.microsoft.com/office/drawing/2014/main" id="{2E2B911E-B253-E674-B64F-D21445C9D065}"/>
              </a:ext>
            </a:extLst>
          </p:cNvPr>
          <p:cNvSpPr>
            <a:spLocks noGrp="1"/>
          </p:cNvSpPr>
          <p:nvPr>
            <p:ph type="title"/>
          </p:nvPr>
        </p:nvSpPr>
        <p:spPr/>
        <p:txBody>
          <a:bodyPr/>
          <a:lstStyle/>
          <a:p>
            <a:r>
              <a:rPr lang="en-IN" dirty="0"/>
              <a:t>Key Features of PostgreSQL</a:t>
            </a:r>
          </a:p>
        </p:txBody>
      </p:sp>
    </p:spTree>
    <p:extLst>
      <p:ext uri="{BB962C8B-B14F-4D97-AF65-F5344CB8AC3E}">
        <p14:creationId xmlns:p14="http://schemas.microsoft.com/office/powerpoint/2010/main" val="3258583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D5FF3-3BC9-7E6E-27F6-332D110E9EB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BB4587-5255-DA13-FDF4-4AC74B6CB386}"/>
              </a:ext>
            </a:extLst>
          </p:cNvPr>
          <p:cNvSpPr>
            <a:spLocks noGrp="1"/>
          </p:cNvSpPr>
          <p:nvPr>
            <p:ph sz="quarter" idx="12"/>
          </p:nvPr>
        </p:nvSpPr>
        <p:spPr/>
        <p:txBody>
          <a:bodyPr/>
          <a:lstStyle/>
          <a:p>
            <a:r>
              <a:rPr lang="en-US" b="1" dirty="0"/>
              <a:t>3. Advanced SQL Support</a:t>
            </a:r>
          </a:p>
          <a:p>
            <a:r>
              <a:rPr lang="en-US" dirty="0"/>
              <a:t>Full support for:</a:t>
            </a:r>
          </a:p>
          <a:p>
            <a:pPr lvl="1"/>
            <a:r>
              <a:rPr lang="en-US" b="1" dirty="0"/>
              <a:t>Window Functions</a:t>
            </a:r>
            <a:endParaRPr lang="en-US" dirty="0"/>
          </a:p>
          <a:p>
            <a:pPr lvl="1"/>
            <a:r>
              <a:rPr lang="en-US" b="1" dirty="0"/>
              <a:t>Common Table Expressions (CTEs)</a:t>
            </a:r>
            <a:endParaRPr lang="en-US" dirty="0"/>
          </a:p>
          <a:p>
            <a:pPr lvl="1"/>
            <a:r>
              <a:rPr lang="en-US" b="1" dirty="0"/>
              <a:t>Subqueries</a:t>
            </a:r>
            <a:r>
              <a:rPr lang="en-US" dirty="0"/>
              <a:t>, </a:t>
            </a:r>
            <a:r>
              <a:rPr lang="en-US" b="1" dirty="0"/>
              <a:t>Joins</a:t>
            </a:r>
            <a:r>
              <a:rPr lang="en-US" dirty="0"/>
              <a:t>, and </a:t>
            </a:r>
            <a:r>
              <a:rPr lang="en-US" b="1" dirty="0"/>
              <a:t>Set operations</a:t>
            </a:r>
            <a:endParaRPr lang="en-US" dirty="0"/>
          </a:p>
          <a:p>
            <a:pPr lvl="1"/>
            <a:r>
              <a:rPr lang="en-US" b="1" dirty="0"/>
              <a:t>Stored procedures</a:t>
            </a:r>
            <a:r>
              <a:rPr lang="en-US" dirty="0"/>
              <a:t>, </a:t>
            </a:r>
            <a:r>
              <a:rPr lang="en-US" b="1" dirty="0"/>
              <a:t>triggers</a:t>
            </a:r>
            <a:r>
              <a:rPr lang="en-US" dirty="0"/>
              <a:t>, and </a:t>
            </a:r>
            <a:r>
              <a:rPr lang="en-US" b="1" dirty="0"/>
              <a:t>views</a:t>
            </a:r>
            <a:endParaRPr lang="en-US" dirty="0"/>
          </a:p>
          <a:p>
            <a:endParaRPr lang="en-IN" dirty="0"/>
          </a:p>
        </p:txBody>
      </p:sp>
      <p:sp>
        <p:nvSpPr>
          <p:cNvPr id="3" name="Title 2">
            <a:extLst>
              <a:ext uri="{FF2B5EF4-FFF2-40B4-BE49-F238E27FC236}">
                <a16:creationId xmlns:a16="http://schemas.microsoft.com/office/drawing/2014/main" id="{DFA22D0C-E25A-C615-F203-47575872854E}"/>
              </a:ext>
            </a:extLst>
          </p:cNvPr>
          <p:cNvSpPr>
            <a:spLocks noGrp="1"/>
          </p:cNvSpPr>
          <p:nvPr>
            <p:ph type="title"/>
          </p:nvPr>
        </p:nvSpPr>
        <p:spPr/>
        <p:txBody>
          <a:bodyPr/>
          <a:lstStyle/>
          <a:p>
            <a:r>
              <a:rPr lang="en-IN" dirty="0"/>
              <a:t>Key Features of PostgreSQL</a:t>
            </a:r>
          </a:p>
        </p:txBody>
      </p:sp>
    </p:spTree>
    <p:extLst>
      <p:ext uri="{BB962C8B-B14F-4D97-AF65-F5344CB8AC3E}">
        <p14:creationId xmlns:p14="http://schemas.microsoft.com/office/powerpoint/2010/main" val="13422883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A5B9D-BB10-D3D4-A61B-0133641E21F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40B76B9-2C54-B3A9-8CD3-EA8383E21556}"/>
              </a:ext>
            </a:extLst>
          </p:cNvPr>
          <p:cNvSpPr>
            <a:spLocks noGrp="1"/>
          </p:cNvSpPr>
          <p:nvPr>
            <p:ph sz="quarter" idx="12"/>
          </p:nvPr>
        </p:nvSpPr>
        <p:spPr/>
        <p:txBody>
          <a:bodyPr/>
          <a:lstStyle/>
          <a:p>
            <a:r>
              <a:rPr lang="en-US" b="1" dirty="0"/>
              <a:t>4. Extensibility</a:t>
            </a:r>
          </a:p>
          <a:p>
            <a:r>
              <a:rPr lang="en-US" dirty="0"/>
              <a:t>Add custom:</a:t>
            </a:r>
          </a:p>
          <a:p>
            <a:pPr lvl="1"/>
            <a:r>
              <a:rPr lang="en-US" dirty="0"/>
              <a:t>Data types</a:t>
            </a:r>
          </a:p>
          <a:p>
            <a:pPr lvl="1"/>
            <a:r>
              <a:rPr lang="en-US" dirty="0"/>
              <a:t>Functions (in PL/</a:t>
            </a:r>
            <a:r>
              <a:rPr lang="en-US" dirty="0" err="1"/>
              <a:t>pgSQL</a:t>
            </a:r>
            <a:r>
              <a:rPr lang="en-US" dirty="0"/>
              <a:t>, Python, Perl, etc.)</a:t>
            </a:r>
          </a:p>
          <a:p>
            <a:pPr lvl="1"/>
            <a:r>
              <a:rPr lang="en-US" dirty="0"/>
              <a:t>Operators</a:t>
            </a:r>
          </a:p>
          <a:p>
            <a:pPr lvl="1"/>
            <a:r>
              <a:rPr lang="en-US" dirty="0"/>
              <a:t>Indexing methods</a:t>
            </a:r>
          </a:p>
          <a:p>
            <a:pPr lvl="1"/>
            <a:r>
              <a:rPr lang="en-US" dirty="0"/>
              <a:t>Procedural languages</a:t>
            </a:r>
          </a:p>
          <a:p>
            <a:endParaRPr lang="en-IN" dirty="0"/>
          </a:p>
        </p:txBody>
      </p:sp>
      <p:sp>
        <p:nvSpPr>
          <p:cNvPr id="3" name="Title 2">
            <a:extLst>
              <a:ext uri="{FF2B5EF4-FFF2-40B4-BE49-F238E27FC236}">
                <a16:creationId xmlns:a16="http://schemas.microsoft.com/office/drawing/2014/main" id="{79974B65-59F7-84B6-3741-63865FA84F57}"/>
              </a:ext>
            </a:extLst>
          </p:cNvPr>
          <p:cNvSpPr>
            <a:spLocks noGrp="1"/>
          </p:cNvSpPr>
          <p:nvPr>
            <p:ph type="title"/>
          </p:nvPr>
        </p:nvSpPr>
        <p:spPr/>
        <p:txBody>
          <a:bodyPr/>
          <a:lstStyle/>
          <a:p>
            <a:r>
              <a:rPr lang="en-IN" dirty="0"/>
              <a:t>Key Features of PostgreSQL</a:t>
            </a:r>
          </a:p>
        </p:txBody>
      </p:sp>
    </p:spTree>
    <p:extLst>
      <p:ext uri="{BB962C8B-B14F-4D97-AF65-F5344CB8AC3E}">
        <p14:creationId xmlns:p14="http://schemas.microsoft.com/office/powerpoint/2010/main" val="5723163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FC964-3852-21D2-2D1B-4F24C3CEB2F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479910-2732-836D-E3CB-02519743108C}"/>
              </a:ext>
            </a:extLst>
          </p:cNvPr>
          <p:cNvSpPr>
            <a:spLocks noGrp="1"/>
          </p:cNvSpPr>
          <p:nvPr>
            <p:ph sz="quarter" idx="12"/>
          </p:nvPr>
        </p:nvSpPr>
        <p:spPr/>
        <p:txBody>
          <a:bodyPr/>
          <a:lstStyle/>
          <a:p>
            <a:r>
              <a:rPr lang="en-IN" b="1" dirty="0"/>
              <a:t>5. Rich Data Types</a:t>
            </a:r>
          </a:p>
          <a:p>
            <a:r>
              <a:rPr lang="en-IN" dirty="0"/>
              <a:t>Native support for:</a:t>
            </a:r>
          </a:p>
          <a:p>
            <a:pPr lvl="1"/>
            <a:r>
              <a:rPr lang="en-IN" dirty="0"/>
              <a:t>Numeric, Integer, Boolean, Text, Date/Time</a:t>
            </a:r>
          </a:p>
          <a:p>
            <a:pPr lvl="1"/>
            <a:r>
              <a:rPr lang="en-IN" dirty="0"/>
              <a:t>Arrays</a:t>
            </a:r>
          </a:p>
          <a:p>
            <a:pPr lvl="1"/>
            <a:r>
              <a:rPr lang="en-IN" dirty="0"/>
              <a:t>JSON / JSONB (binary-optimized JSON)</a:t>
            </a:r>
          </a:p>
          <a:p>
            <a:pPr lvl="1"/>
            <a:r>
              <a:rPr lang="en-IN" dirty="0" err="1"/>
              <a:t>hstore</a:t>
            </a:r>
            <a:r>
              <a:rPr lang="en-IN" dirty="0"/>
              <a:t> (key-value pairs)</a:t>
            </a:r>
          </a:p>
          <a:p>
            <a:pPr lvl="1"/>
            <a:r>
              <a:rPr lang="en-IN" dirty="0"/>
              <a:t>Geometric types</a:t>
            </a:r>
          </a:p>
          <a:p>
            <a:pPr lvl="1"/>
            <a:r>
              <a:rPr lang="en-IN" dirty="0"/>
              <a:t>UUID, XML, and more</a:t>
            </a:r>
          </a:p>
          <a:p>
            <a:endParaRPr lang="en-IN" dirty="0"/>
          </a:p>
        </p:txBody>
      </p:sp>
      <p:sp>
        <p:nvSpPr>
          <p:cNvPr id="3" name="Title 2">
            <a:extLst>
              <a:ext uri="{FF2B5EF4-FFF2-40B4-BE49-F238E27FC236}">
                <a16:creationId xmlns:a16="http://schemas.microsoft.com/office/drawing/2014/main" id="{6B127674-B019-EBAB-EA88-D04789FFD443}"/>
              </a:ext>
            </a:extLst>
          </p:cNvPr>
          <p:cNvSpPr>
            <a:spLocks noGrp="1"/>
          </p:cNvSpPr>
          <p:nvPr>
            <p:ph type="title"/>
          </p:nvPr>
        </p:nvSpPr>
        <p:spPr/>
        <p:txBody>
          <a:bodyPr/>
          <a:lstStyle/>
          <a:p>
            <a:r>
              <a:rPr lang="en-IN" dirty="0"/>
              <a:t>Key Features of PostgreSQL</a:t>
            </a:r>
          </a:p>
        </p:txBody>
      </p:sp>
    </p:spTree>
    <p:extLst>
      <p:ext uri="{BB962C8B-B14F-4D97-AF65-F5344CB8AC3E}">
        <p14:creationId xmlns:p14="http://schemas.microsoft.com/office/powerpoint/2010/main" val="36274229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14123-2299-7F58-E269-E55B193B45F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11D9F1-3667-6E10-93D7-CEA5A85681A4}"/>
              </a:ext>
            </a:extLst>
          </p:cNvPr>
          <p:cNvSpPr>
            <a:spLocks noGrp="1"/>
          </p:cNvSpPr>
          <p:nvPr>
            <p:ph sz="quarter" idx="12"/>
          </p:nvPr>
        </p:nvSpPr>
        <p:spPr/>
        <p:txBody>
          <a:bodyPr/>
          <a:lstStyle/>
          <a:p>
            <a:r>
              <a:rPr lang="en-US" b="1" dirty="0"/>
              <a:t>6. Indexing Options</a:t>
            </a:r>
          </a:p>
          <a:p>
            <a:r>
              <a:rPr lang="en-US" dirty="0"/>
              <a:t>Powerful indexing support:</a:t>
            </a:r>
          </a:p>
          <a:p>
            <a:pPr lvl="1"/>
            <a:r>
              <a:rPr lang="en-US" b="1" dirty="0"/>
              <a:t>B-tree</a:t>
            </a:r>
            <a:r>
              <a:rPr lang="en-US" dirty="0"/>
              <a:t> (default)</a:t>
            </a:r>
          </a:p>
          <a:p>
            <a:pPr lvl="1"/>
            <a:r>
              <a:rPr lang="en-US" b="1" dirty="0"/>
              <a:t>Hash</a:t>
            </a:r>
            <a:endParaRPr lang="en-US" dirty="0"/>
          </a:p>
          <a:p>
            <a:pPr lvl="1"/>
            <a:r>
              <a:rPr lang="en-US" b="1" dirty="0"/>
              <a:t>GIN</a:t>
            </a:r>
            <a:r>
              <a:rPr lang="en-US" dirty="0"/>
              <a:t> (for full-text search and JSON)</a:t>
            </a:r>
          </a:p>
          <a:p>
            <a:pPr lvl="1"/>
            <a:r>
              <a:rPr lang="en-US" b="1" dirty="0" err="1"/>
              <a:t>GiST</a:t>
            </a:r>
            <a:r>
              <a:rPr lang="en-US" dirty="0"/>
              <a:t> (for spatial data)</a:t>
            </a:r>
          </a:p>
          <a:p>
            <a:pPr lvl="1"/>
            <a:r>
              <a:rPr lang="en-US" b="1" dirty="0"/>
              <a:t>BRIN</a:t>
            </a:r>
            <a:r>
              <a:rPr lang="en-US" dirty="0"/>
              <a:t> (for large sorted datasets)</a:t>
            </a:r>
          </a:p>
          <a:p>
            <a:pPr lvl="1"/>
            <a:r>
              <a:rPr lang="en-US" b="1" dirty="0"/>
              <a:t>Expression &amp; Partial indexes</a:t>
            </a:r>
            <a:endParaRPr lang="en-US" dirty="0"/>
          </a:p>
          <a:p>
            <a:endParaRPr lang="en-IN" dirty="0"/>
          </a:p>
        </p:txBody>
      </p:sp>
      <p:sp>
        <p:nvSpPr>
          <p:cNvPr id="3" name="Title 2">
            <a:extLst>
              <a:ext uri="{FF2B5EF4-FFF2-40B4-BE49-F238E27FC236}">
                <a16:creationId xmlns:a16="http://schemas.microsoft.com/office/drawing/2014/main" id="{A47F086B-E8BA-6AA0-5997-DE97E06F90ED}"/>
              </a:ext>
            </a:extLst>
          </p:cNvPr>
          <p:cNvSpPr>
            <a:spLocks noGrp="1"/>
          </p:cNvSpPr>
          <p:nvPr>
            <p:ph type="title"/>
          </p:nvPr>
        </p:nvSpPr>
        <p:spPr/>
        <p:txBody>
          <a:bodyPr/>
          <a:lstStyle/>
          <a:p>
            <a:r>
              <a:rPr lang="en-IN" dirty="0"/>
              <a:t>Key Features of PostgreSQL</a:t>
            </a:r>
          </a:p>
        </p:txBody>
      </p:sp>
    </p:spTree>
    <p:extLst>
      <p:ext uri="{BB962C8B-B14F-4D97-AF65-F5344CB8AC3E}">
        <p14:creationId xmlns:p14="http://schemas.microsoft.com/office/powerpoint/2010/main" val="25035845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BCFDD-7D50-9117-77E8-2639970A591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9E7CAA-575F-845D-1F06-C0AAD2B37E13}"/>
              </a:ext>
            </a:extLst>
          </p:cNvPr>
          <p:cNvSpPr>
            <a:spLocks noGrp="1"/>
          </p:cNvSpPr>
          <p:nvPr>
            <p:ph sz="quarter" idx="12"/>
          </p:nvPr>
        </p:nvSpPr>
        <p:spPr/>
        <p:txBody>
          <a:bodyPr/>
          <a:lstStyle/>
          <a:p>
            <a:r>
              <a:rPr lang="en-IN" dirty="0"/>
              <a:t>7. Full Text Search</a:t>
            </a:r>
          </a:p>
          <a:p>
            <a:pPr lvl="1"/>
            <a:r>
              <a:rPr lang="en-IN" dirty="0"/>
              <a:t>Built-in full-text search capabilities using GIN/</a:t>
            </a:r>
            <a:r>
              <a:rPr lang="en-IN" dirty="0" err="1"/>
              <a:t>GiST</a:t>
            </a:r>
            <a:r>
              <a:rPr lang="en-IN" dirty="0"/>
              <a:t> indexes.</a:t>
            </a:r>
          </a:p>
          <a:p>
            <a:pPr lvl="1"/>
            <a:r>
              <a:rPr lang="en-IN" dirty="0"/>
              <a:t>Ranking, highlighting, stemming, and tokenization.</a:t>
            </a:r>
          </a:p>
          <a:p>
            <a:r>
              <a:rPr lang="en-IN" dirty="0"/>
              <a:t>8. JSON &amp; NoSQL Support</a:t>
            </a:r>
          </a:p>
          <a:p>
            <a:pPr lvl="1"/>
            <a:r>
              <a:rPr lang="en-IN" dirty="0"/>
              <a:t>Native JSON and JSONB data types.</a:t>
            </a:r>
          </a:p>
          <a:p>
            <a:pPr lvl="1"/>
            <a:r>
              <a:rPr lang="en-IN" dirty="0"/>
              <a:t>Querying, indexing, and storing semi-structured data.</a:t>
            </a:r>
          </a:p>
          <a:p>
            <a:pPr lvl="1"/>
            <a:r>
              <a:rPr lang="en-IN" dirty="0"/>
              <a:t>Acts as a hybrid SQL + NoSQL database.</a:t>
            </a:r>
          </a:p>
        </p:txBody>
      </p:sp>
      <p:sp>
        <p:nvSpPr>
          <p:cNvPr id="3" name="Title 2">
            <a:extLst>
              <a:ext uri="{FF2B5EF4-FFF2-40B4-BE49-F238E27FC236}">
                <a16:creationId xmlns:a16="http://schemas.microsoft.com/office/drawing/2014/main" id="{6560D6B4-657D-5BA2-8A01-195C639D0106}"/>
              </a:ext>
            </a:extLst>
          </p:cNvPr>
          <p:cNvSpPr>
            <a:spLocks noGrp="1"/>
          </p:cNvSpPr>
          <p:nvPr>
            <p:ph type="title"/>
          </p:nvPr>
        </p:nvSpPr>
        <p:spPr/>
        <p:txBody>
          <a:bodyPr/>
          <a:lstStyle/>
          <a:p>
            <a:r>
              <a:rPr lang="en-IN" dirty="0"/>
              <a:t>Key Features of PostgreSQL</a:t>
            </a:r>
          </a:p>
        </p:txBody>
      </p:sp>
    </p:spTree>
    <p:extLst>
      <p:ext uri="{BB962C8B-B14F-4D97-AF65-F5344CB8AC3E}">
        <p14:creationId xmlns:p14="http://schemas.microsoft.com/office/powerpoint/2010/main" val="22816166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A27F2-F388-BDFB-A3D4-B2EE64CCADF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9AA0D3-1FBC-8FE2-F50A-767A388F9794}"/>
              </a:ext>
            </a:extLst>
          </p:cNvPr>
          <p:cNvSpPr>
            <a:spLocks noGrp="1"/>
          </p:cNvSpPr>
          <p:nvPr>
            <p:ph sz="quarter" idx="12"/>
          </p:nvPr>
        </p:nvSpPr>
        <p:spPr/>
        <p:txBody>
          <a:bodyPr/>
          <a:lstStyle/>
          <a:p>
            <a:r>
              <a:rPr lang="en-IN" dirty="0"/>
              <a:t>9. Data Integrity and Constraints</a:t>
            </a:r>
          </a:p>
          <a:p>
            <a:pPr lvl="1"/>
            <a:r>
              <a:rPr lang="en-IN" dirty="0"/>
              <a:t>Supports:</a:t>
            </a:r>
          </a:p>
          <a:p>
            <a:pPr lvl="2"/>
            <a:r>
              <a:rPr lang="en-IN" dirty="0"/>
              <a:t>Primary, foreign, and unique keys</a:t>
            </a:r>
          </a:p>
          <a:p>
            <a:pPr lvl="2"/>
            <a:r>
              <a:rPr lang="en-IN" dirty="0"/>
              <a:t>Check constraints</a:t>
            </a:r>
          </a:p>
          <a:p>
            <a:pPr lvl="2"/>
            <a:r>
              <a:rPr lang="en-IN" dirty="0"/>
              <a:t>Exclusion constraints (custom conflict rules)</a:t>
            </a:r>
          </a:p>
          <a:p>
            <a:r>
              <a:rPr lang="en-IN" dirty="0"/>
              <a:t>10. Partitioning</a:t>
            </a:r>
          </a:p>
          <a:p>
            <a:pPr lvl="1"/>
            <a:r>
              <a:rPr lang="en-IN" dirty="0"/>
              <a:t>Declarative partitioning on range/list/hash keys.</a:t>
            </a:r>
          </a:p>
          <a:p>
            <a:pPr lvl="1"/>
            <a:r>
              <a:rPr lang="en-IN" dirty="0"/>
              <a:t>Efficient data management and performance for large tables.</a:t>
            </a:r>
          </a:p>
        </p:txBody>
      </p:sp>
      <p:sp>
        <p:nvSpPr>
          <p:cNvPr id="3" name="Title 2">
            <a:extLst>
              <a:ext uri="{FF2B5EF4-FFF2-40B4-BE49-F238E27FC236}">
                <a16:creationId xmlns:a16="http://schemas.microsoft.com/office/drawing/2014/main" id="{F89A4FB5-E628-7679-EF85-1B00399354AE}"/>
              </a:ext>
            </a:extLst>
          </p:cNvPr>
          <p:cNvSpPr>
            <a:spLocks noGrp="1"/>
          </p:cNvSpPr>
          <p:nvPr>
            <p:ph type="title"/>
          </p:nvPr>
        </p:nvSpPr>
        <p:spPr/>
        <p:txBody>
          <a:bodyPr/>
          <a:lstStyle/>
          <a:p>
            <a:r>
              <a:rPr lang="en-IN" dirty="0"/>
              <a:t>Key Features of PostgreSQL</a:t>
            </a:r>
          </a:p>
        </p:txBody>
      </p:sp>
    </p:spTree>
    <p:extLst>
      <p:ext uri="{BB962C8B-B14F-4D97-AF65-F5344CB8AC3E}">
        <p14:creationId xmlns:p14="http://schemas.microsoft.com/office/powerpoint/2010/main" val="7035290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3E00D-FCE5-C480-5909-CF2767F1031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622083-E69A-3BBB-8981-7E36C918F5B8}"/>
              </a:ext>
            </a:extLst>
          </p:cNvPr>
          <p:cNvSpPr>
            <a:spLocks noGrp="1"/>
          </p:cNvSpPr>
          <p:nvPr>
            <p:ph sz="quarter" idx="12"/>
          </p:nvPr>
        </p:nvSpPr>
        <p:spPr/>
        <p:txBody>
          <a:bodyPr/>
          <a:lstStyle/>
          <a:p>
            <a:r>
              <a:rPr lang="en-US" b="1" dirty="0"/>
              <a:t>11. Replication &amp; High Availability</a:t>
            </a:r>
          </a:p>
          <a:p>
            <a:r>
              <a:rPr lang="en-US" dirty="0"/>
              <a:t>Built-in:</a:t>
            </a:r>
          </a:p>
          <a:p>
            <a:pPr lvl="1"/>
            <a:r>
              <a:rPr lang="en-US" b="1" dirty="0"/>
              <a:t>Streaming replication</a:t>
            </a:r>
            <a:endParaRPr lang="en-US" dirty="0"/>
          </a:p>
          <a:p>
            <a:pPr lvl="1"/>
            <a:r>
              <a:rPr lang="en-US" b="1" dirty="0"/>
              <a:t>Logical replication</a:t>
            </a:r>
            <a:endParaRPr lang="en-US" dirty="0"/>
          </a:p>
          <a:p>
            <a:pPr lvl="1"/>
            <a:r>
              <a:rPr lang="en-US" b="1" dirty="0"/>
              <a:t>Hot standby</a:t>
            </a:r>
            <a:r>
              <a:rPr lang="en-US" dirty="0"/>
              <a:t>, </a:t>
            </a:r>
            <a:r>
              <a:rPr lang="en-US" b="1" dirty="0"/>
              <a:t>Point-in-Time Recovery (PITR)</a:t>
            </a:r>
            <a:endParaRPr lang="en-US" dirty="0"/>
          </a:p>
          <a:p>
            <a:r>
              <a:rPr lang="en-US" dirty="0"/>
              <a:t>Tools: </a:t>
            </a:r>
            <a:r>
              <a:rPr lang="en-US" b="1" dirty="0" err="1"/>
              <a:t>pgBackRest</a:t>
            </a:r>
            <a:r>
              <a:rPr lang="en-US" dirty="0"/>
              <a:t>, </a:t>
            </a:r>
            <a:r>
              <a:rPr lang="en-US" b="1" dirty="0"/>
              <a:t>Barman</a:t>
            </a:r>
            <a:r>
              <a:rPr lang="en-US" dirty="0"/>
              <a:t>, </a:t>
            </a:r>
            <a:r>
              <a:rPr lang="en-US" b="1" dirty="0"/>
              <a:t>Patroni</a:t>
            </a:r>
            <a:r>
              <a:rPr lang="en-US" dirty="0"/>
              <a:t>, </a:t>
            </a:r>
            <a:r>
              <a:rPr lang="en-US" b="1" dirty="0" err="1"/>
              <a:t>PgBouncer</a:t>
            </a:r>
            <a:endParaRPr lang="en-US" dirty="0"/>
          </a:p>
        </p:txBody>
      </p:sp>
      <p:sp>
        <p:nvSpPr>
          <p:cNvPr id="3" name="Title 2">
            <a:extLst>
              <a:ext uri="{FF2B5EF4-FFF2-40B4-BE49-F238E27FC236}">
                <a16:creationId xmlns:a16="http://schemas.microsoft.com/office/drawing/2014/main" id="{C411C81C-5D6B-46C3-C45A-C55A1E79AE72}"/>
              </a:ext>
            </a:extLst>
          </p:cNvPr>
          <p:cNvSpPr>
            <a:spLocks noGrp="1"/>
          </p:cNvSpPr>
          <p:nvPr>
            <p:ph type="title"/>
          </p:nvPr>
        </p:nvSpPr>
        <p:spPr/>
        <p:txBody>
          <a:bodyPr/>
          <a:lstStyle/>
          <a:p>
            <a:r>
              <a:rPr lang="en-IN" dirty="0"/>
              <a:t>Key Features of PostgreSQL</a:t>
            </a:r>
          </a:p>
        </p:txBody>
      </p:sp>
    </p:spTree>
    <p:extLst>
      <p:ext uri="{BB962C8B-B14F-4D97-AF65-F5344CB8AC3E}">
        <p14:creationId xmlns:p14="http://schemas.microsoft.com/office/powerpoint/2010/main" val="29863203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90312-D4C2-8233-4194-37D9B9687B8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D6CE92E-CABD-EA10-EF43-E8D1AF2BD056}"/>
              </a:ext>
            </a:extLst>
          </p:cNvPr>
          <p:cNvSpPr>
            <a:spLocks noGrp="1"/>
          </p:cNvSpPr>
          <p:nvPr>
            <p:ph sz="quarter" idx="12"/>
          </p:nvPr>
        </p:nvSpPr>
        <p:spPr/>
        <p:txBody>
          <a:bodyPr/>
          <a:lstStyle/>
          <a:p>
            <a:r>
              <a:rPr lang="en-US" b="1" dirty="0"/>
              <a:t>12. Security Features</a:t>
            </a:r>
          </a:p>
          <a:p>
            <a:pPr lvl="1"/>
            <a:r>
              <a:rPr lang="en-US" dirty="0"/>
              <a:t>Role-based authentication and permissions</a:t>
            </a:r>
          </a:p>
          <a:p>
            <a:pPr lvl="1"/>
            <a:r>
              <a:rPr lang="en-US" dirty="0"/>
              <a:t>SSL encryption</a:t>
            </a:r>
          </a:p>
          <a:p>
            <a:pPr lvl="1"/>
            <a:r>
              <a:rPr lang="en-US" b="1" dirty="0"/>
              <a:t>Row-Level Security (RLS)</a:t>
            </a:r>
            <a:endParaRPr lang="en-US" dirty="0"/>
          </a:p>
          <a:p>
            <a:pPr lvl="1"/>
            <a:r>
              <a:rPr lang="en-US" dirty="0"/>
              <a:t>Integration with LDAP, GSSAPI, PAM</a:t>
            </a:r>
          </a:p>
        </p:txBody>
      </p:sp>
      <p:sp>
        <p:nvSpPr>
          <p:cNvPr id="3" name="Title 2">
            <a:extLst>
              <a:ext uri="{FF2B5EF4-FFF2-40B4-BE49-F238E27FC236}">
                <a16:creationId xmlns:a16="http://schemas.microsoft.com/office/drawing/2014/main" id="{F33CB564-3DF5-C0A2-35AC-69E66735FD33}"/>
              </a:ext>
            </a:extLst>
          </p:cNvPr>
          <p:cNvSpPr>
            <a:spLocks noGrp="1"/>
          </p:cNvSpPr>
          <p:nvPr>
            <p:ph type="title"/>
          </p:nvPr>
        </p:nvSpPr>
        <p:spPr/>
        <p:txBody>
          <a:bodyPr/>
          <a:lstStyle/>
          <a:p>
            <a:r>
              <a:rPr lang="en-IN" dirty="0"/>
              <a:t>Key Features of PostgreSQL</a:t>
            </a:r>
          </a:p>
        </p:txBody>
      </p:sp>
    </p:spTree>
    <p:extLst>
      <p:ext uri="{BB962C8B-B14F-4D97-AF65-F5344CB8AC3E}">
        <p14:creationId xmlns:p14="http://schemas.microsoft.com/office/powerpoint/2010/main" val="18375889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CF523-CDDF-7DBF-9C53-CF73AB842B1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A749B52-8EF4-BDA8-D13D-EDBA67979BA1}"/>
              </a:ext>
            </a:extLst>
          </p:cNvPr>
          <p:cNvSpPr>
            <a:spLocks noGrp="1"/>
          </p:cNvSpPr>
          <p:nvPr>
            <p:ph sz="quarter" idx="12"/>
          </p:nvPr>
        </p:nvSpPr>
        <p:spPr/>
        <p:txBody>
          <a:bodyPr>
            <a:normAutofit/>
          </a:bodyPr>
          <a:lstStyle/>
          <a:p>
            <a:r>
              <a:rPr lang="en-US" dirty="0"/>
              <a:t>13. </a:t>
            </a:r>
            <a:r>
              <a:rPr lang="en-US" b="1" dirty="0"/>
              <a:t>Stored Procedures &amp; Triggers</a:t>
            </a:r>
          </a:p>
          <a:p>
            <a:pPr lvl="1"/>
            <a:r>
              <a:rPr lang="en-US" dirty="0"/>
              <a:t>Functions written in PL/</a:t>
            </a:r>
            <a:r>
              <a:rPr lang="en-US" dirty="0" err="1"/>
              <a:t>pgSQL</a:t>
            </a:r>
            <a:r>
              <a:rPr lang="en-US" dirty="0"/>
              <a:t> or other languages</a:t>
            </a:r>
          </a:p>
          <a:p>
            <a:pPr lvl="1"/>
            <a:r>
              <a:rPr lang="en-US" dirty="0"/>
              <a:t>BEFORE, AFTER, INSTEAD OF triggers</a:t>
            </a:r>
          </a:p>
          <a:p>
            <a:pPr lvl="1"/>
            <a:r>
              <a:rPr lang="en-US" dirty="0"/>
              <a:t>Event-driven automation and data integrity enforcement</a:t>
            </a:r>
          </a:p>
          <a:p>
            <a:r>
              <a:rPr lang="en-US" dirty="0"/>
              <a:t>14. </a:t>
            </a:r>
            <a:r>
              <a:rPr lang="en-US" b="1" dirty="0"/>
              <a:t>Internationalization &amp; Localization</a:t>
            </a:r>
          </a:p>
          <a:p>
            <a:pPr lvl="1"/>
            <a:r>
              <a:rPr lang="en-US" dirty="0"/>
              <a:t>Unicode support</a:t>
            </a:r>
          </a:p>
          <a:p>
            <a:pPr lvl="1"/>
            <a:r>
              <a:rPr lang="en-US" dirty="0"/>
              <a:t>Collation and case-</a:t>
            </a:r>
            <a:r>
              <a:rPr lang="en-US" dirty="0" err="1"/>
              <a:t>sensitivitycustomization</a:t>
            </a:r>
            <a:endParaRPr lang="en-US" dirty="0"/>
          </a:p>
          <a:p>
            <a:pPr lvl="1"/>
            <a:r>
              <a:rPr lang="en-US" dirty="0"/>
              <a:t>Multilingual data storage</a:t>
            </a:r>
          </a:p>
        </p:txBody>
      </p:sp>
      <p:sp>
        <p:nvSpPr>
          <p:cNvPr id="3" name="Title 2">
            <a:extLst>
              <a:ext uri="{FF2B5EF4-FFF2-40B4-BE49-F238E27FC236}">
                <a16:creationId xmlns:a16="http://schemas.microsoft.com/office/drawing/2014/main" id="{6806819F-4157-2DB1-1A89-F3EB6A046427}"/>
              </a:ext>
            </a:extLst>
          </p:cNvPr>
          <p:cNvSpPr>
            <a:spLocks noGrp="1"/>
          </p:cNvSpPr>
          <p:nvPr>
            <p:ph type="title"/>
          </p:nvPr>
        </p:nvSpPr>
        <p:spPr/>
        <p:txBody>
          <a:bodyPr/>
          <a:lstStyle/>
          <a:p>
            <a:r>
              <a:rPr lang="en-IN" dirty="0"/>
              <a:t>Key Features of PostgreSQL</a:t>
            </a:r>
          </a:p>
        </p:txBody>
      </p:sp>
    </p:spTree>
    <p:extLst>
      <p:ext uri="{BB962C8B-B14F-4D97-AF65-F5344CB8AC3E}">
        <p14:creationId xmlns:p14="http://schemas.microsoft.com/office/powerpoint/2010/main" val="1677880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BE870-174B-C3FB-7762-5E6C557F190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F0F74A-E94A-8490-F8B6-B358744C694E}"/>
              </a:ext>
            </a:extLst>
          </p:cNvPr>
          <p:cNvSpPr>
            <a:spLocks noGrp="1"/>
          </p:cNvSpPr>
          <p:nvPr>
            <p:ph sz="quarter" idx="12"/>
          </p:nvPr>
        </p:nvSpPr>
        <p:spPr/>
        <p:txBody>
          <a:bodyPr>
            <a:normAutofit/>
          </a:bodyPr>
          <a:lstStyle/>
          <a:p>
            <a:r>
              <a:rPr lang="en-US" dirty="0"/>
              <a:t>15. </a:t>
            </a:r>
            <a:r>
              <a:rPr lang="en-US" b="1" dirty="0"/>
              <a:t>Tools and Ecosystem</a:t>
            </a:r>
          </a:p>
          <a:p>
            <a:pPr lvl="1"/>
            <a:r>
              <a:rPr lang="en-US" dirty="0"/>
              <a:t>GUI: </a:t>
            </a:r>
            <a:r>
              <a:rPr lang="en-US" dirty="0" err="1"/>
              <a:t>pgAdmin</a:t>
            </a:r>
            <a:r>
              <a:rPr lang="en-US" dirty="0"/>
              <a:t>, </a:t>
            </a:r>
            <a:r>
              <a:rPr lang="en-US" dirty="0" err="1"/>
              <a:t>Dbeaver</a:t>
            </a:r>
            <a:endParaRPr lang="en-US" dirty="0"/>
          </a:p>
          <a:p>
            <a:pPr lvl="1"/>
            <a:r>
              <a:rPr lang="en-US" dirty="0"/>
              <a:t>CLI: </a:t>
            </a:r>
            <a:r>
              <a:rPr lang="en-US" dirty="0" err="1"/>
              <a:t>psql</a:t>
            </a:r>
            <a:r>
              <a:rPr lang="en-US" dirty="0"/>
              <a:t>, </a:t>
            </a:r>
            <a:r>
              <a:rPr lang="en-US" dirty="0" err="1"/>
              <a:t>pg_dump</a:t>
            </a:r>
            <a:r>
              <a:rPr lang="en-US" dirty="0"/>
              <a:t>, </a:t>
            </a:r>
            <a:r>
              <a:rPr lang="en-US" dirty="0" err="1"/>
              <a:t>pg_restore,vacuumdb</a:t>
            </a:r>
            <a:endParaRPr lang="en-US" dirty="0"/>
          </a:p>
          <a:p>
            <a:pPr lvl="1"/>
            <a:r>
              <a:rPr lang="en-US" dirty="0"/>
              <a:t>Extensions: </a:t>
            </a:r>
            <a:r>
              <a:rPr lang="en-US" dirty="0" err="1"/>
              <a:t>PostGIS</a:t>
            </a:r>
            <a:r>
              <a:rPr lang="en-US" dirty="0"/>
              <a:t>, </a:t>
            </a:r>
            <a:r>
              <a:rPr lang="en-US" dirty="0" err="1"/>
              <a:t>pg_stat_statements</a:t>
            </a:r>
            <a:r>
              <a:rPr lang="en-US" dirty="0"/>
              <a:t>, </a:t>
            </a:r>
            <a:r>
              <a:rPr lang="en-US" dirty="0" err="1"/>
              <a:t>TimescaleDB</a:t>
            </a:r>
            <a:endParaRPr lang="en-US" dirty="0"/>
          </a:p>
          <a:p>
            <a:r>
              <a:rPr lang="en-US" dirty="0"/>
              <a:t>16. </a:t>
            </a:r>
            <a:r>
              <a:rPr lang="en-US" b="1" dirty="0"/>
              <a:t>Open Source with Strong Community</a:t>
            </a:r>
          </a:p>
          <a:p>
            <a:pPr lvl="1"/>
            <a:r>
              <a:rPr lang="en-US" dirty="0"/>
              <a:t>PostgreSQL Global Development Group</a:t>
            </a:r>
          </a:p>
          <a:p>
            <a:pPr lvl="1"/>
            <a:r>
              <a:rPr lang="en-US" dirty="0"/>
              <a:t>Active mailing lists, regular updates, and transparent roadmap</a:t>
            </a:r>
          </a:p>
          <a:p>
            <a:pPr lvl="1"/>
            <a:r>
              <a:rPr lang="en-US" dirty="0"/>
              <a:t>Free for commercial and personal use</a:t>
            </a:r>
          </a:p>
        </p:txBody>
      </p:sp>
      <p:sp>
        <p:nvSpPr>
          <p:cNvPr id="3" name="Title 2">
            <a:extLst>
              <a:ext uri="{FF2B5EF4-FFF2-40B4-BE49-F238E27FC236}">
                <a16:creationId xmlns:a16="http://schemas.microsoft.com/office/drawing/2014/main" id="{2265BFF1-1654-BF50-9A89-A289CB66C646}"/>
              </a:ext>
            </a:extLst>
          </p:cNvPr>
          <p:cNvSpPr>
            <a:spLocks noGrp="1"/>
          </p:cNvSpPr>
          <p:nvPr>
            <p:ph type="title"/>
          </p:nvPr>
        </p:nvSpPr>
        <p:spPr/>
        <p:txBody>
          <a:bodyPr/>
          <a:lstStyle/>
          <a:p>
            <a:r>
              <a:rPr lang="en-IN" dirty="0"/>
              <a:t>Key Features of PostgreSQL</a:t>
            </a:r>
          </a:p>
        </p:txBody>
      </p:sp>
    </p:spTree>
    <p:extLst>
      <p:ext uri="{BB962C8B-B14F-4D97-AF65-F5344CB8AC3E}">
        <p14:creationId xmlns:p14="http://schemas.microsoft.com/office/powerpoint/2010/main" val="30827841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3FF0AF5-BA52-494D-B1D7-868D87A3A1CB}"/>
              </a:ext>
            </a:extLst>
          </p:cNvPr>
          <p:cNvSpPr>
            <a:spLocks noGrp="1"/>
          </p:cNvSpPr>
          <p:nvPr>
            <p:ph sz="quarter" idx="12"/>
          </p:nvPr>
        </p:nvSpPr>
        <p:spPr/>
        <p:txBody>
          <a:bodyPr>
            <a:normAutofit/>
          </a:bodyPr>
          <a:lstStyle/>
          <a:p>
            <a:r>
              <a:rPr lang="en-IN" dirty="0"/>
              <a:t>Creating a Database</a:t>
            </a:r>
          </a:p>
          <a:p>
            <a:pPr lvl="1"/>
            <a:r>
              <a:rPr lang="en-US" dirty="0"/>
              <a:t>To create a new database, in this example named </a:t>
            </a:r>
            <a:r>
              <a:rPr lang="en-US" dirty="0" err="1"/>
              <a:t>mydb</a:t>
            </a:r>
            <a:r>
              <a:rPr lang="en-US" dirty="0"/>
              <a:t>, you use the following command:</a:t>
            </a:r>
          </a:p>
          <a:p>
            <a:pPr lvl="1"/>
            <a:r>
              <a:rPr lang="en-US" dirty="0"/>
              <a:t>$ create database </a:t>
            </a:r>
            <a:r>
              <a:rPr lang="en-US" dirty="0" err="1"/>
              <a:t>mydb</a:t>
            </a:r>
            <a:r>
              <a:rPr lang="en-US" dirty="0"/>
              <a:t>;</a:t>
            </a:r>
          </a:p>
          <a:p>
            <a:r>
              <a:rPr lang="en-IN" dirty="0"/>
              <a:t>Accessing a Database</a:t>
            </a:r>
          </a:p>
          <a:p>
            <a:pPr lvl="1"/>
            <a:r>
              <a:rPr lang="en-US" dirty="0"/>
              <a:t>Running the PostgreSQL interactive terminal program, called </a:t>
            </a:r>
            <a:r>
              <a:rPr lang="en-US" dirty="0" err="1"/>
              <a:t>psql</a:t>
            </a:r>
            <a:r>
              <a:rPr lang="en-US" dirty="0"/>
              <a:t>, which allows you to interactively enter, edit, and execute SQL commands.</a:t>
            </a:r>
          </a:p>
          <a:p>
            <a:pPr lvl="1"/>
            <a:r>
              <a:rPr lang="en-US" dirty="0"/>
              <a:t>Using an existing graphical frontend tool like </a:t>
            </a:r>
            <a:r>
              <a:rPr lang="en-US" dirty="0" err="1"/>
              <a:t>pgAdmin</a:t>
            </a:r>
            <a:r>
              <a:rPr lang="en-US" dirty="0"/>
              <a:t> or an office suite with ODBC or JDBC support to create and manipulate a database.</a:t>
            </a:r>
            <a:endParaRPr lang="en-IN" dirty="0"/>
          </a:p>
        </p:txBody>
      </p:sp>
      <p:sp>
        <p:nvSpPr>
          <p:cNvPr id="3" name="Title 2">
            <a:extLst>
              <a:ext uri="{FF2B5EF4-FFF2-40B4-BE49-F238E27FC236}">
                <a16:creationId xmlns:a16="http://schemas.microsoft.com/office/drawing/2014/main" id="{E175B3BC-AF86-487B-B8AB-9A25C1844A4A}"/>
              </a:ext>
            </a:extLst>
          </p:cNvPr>
          <p:cNvSpPr>
            <a:spLocks noGrp="1"/>
          </p:cNvSpPr>
          <p:nvPr>
            <p:ph type="title"/>
          </p:nvPr>
        </p:nvSpPr>
        <p:spPr/>
        <p:txBody>
          <a:bodyPr/>
          <a:lstStyle/>
          <a:p>
            <a:r>
              <a:rPr lang="en-IN" dirty="0"/>
              <a:t>Writing Simple Queries</a:t>
            </a:r>
          </a:p>
        </p:txBody>
      </p:sp>
    </p:spTree>
    <p:extLst>
      <p:ext uri="{BB962C8B-B14F-4D97-AF65-F5344CB8AC3E}">
        <p14:creationId xmlns:p14="http://schemas.microsoft.com/office/powerpoint/2010/main" val="21919006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3FF0AF5-BA52-494D-B1D7-868D87A3A1CB}"/>
              </a:ext>
            </a:extLst>
          </p:cNvPr>
          <p:cNvSpPr>
            <a:spLocks noGrp="1"/>
          </p:cNvSpPr>
          <p:nvPr>
            <p:ph sz="quarter" idx="12"/>
          </p:nvPr>
        </p:nvSpPr>
        <p:spPr>
          <a:xfrm>
            <a:off x="457201" y="1381125"/>
            <a:ext cx="8228012" cy="1211246"/>
          </a:xfrm>
        </p:spPr>
        <p:txBody>
          <a:bodyPr>
            <a:normAutofit/>
          </a:bodyPr>
          <a:lstStyle/>
          <a:p>
            <a:r>
              <a:rPr lang="en-IN" dirty="0"/>
              <a:t>Accessing a Database</a:t>
            </a:r>
          </a:p>
          <a:p>
            <a:pPr lvl="1"/>
            <a:r>
              <a:rPr lang="en-IN" dirty="0"/>
              <a:t>\c </a:t>
            </a:r>
            <a:r>
              <a:rPr lang="en-IN" dirty="0" err="1"/>
              <a:t>mydb</a:t>
            </a:r>
            <a:r>
              <a:rPr lang="en-IN" dirty="0"/>
              <a:t>;</a:t>
            </a:r>
          </a:p>
          <a:p>
            <a:pPr lvl="1"/>
            <a:endParaRPr lang="en-IN" dirty="0"/>
          </a:p>
        </p:txBody>
      </p:sp>
      <p:sp>
        <p:nvSpPr>
          <p:cNvPr id="3" name="Title 2">
            <a:extLst>
              <a:ext uri="{FF2B5EF4-FFF2-40B4-BE49-F238E27FC236}">
                <a16:creationId xmlns:a16="http://schemas.microsoft.com/office/drawing/2014/main" id="{E175B3BC-AF86-487B-B8AB-9A25C1844A4A}"/>
              </a:ext>
            </a:extLst>
          </p:cNvPr>
          <p:cNvSpPr>
            <a:spLocks noGrp="1"/>
          </p:cNvSpPr>
          <p:nvPr>
            <p:ph type="title"/>
          </p:nvPr>
        </p:nvSpPr>
        <p:spPr/>
        <p:txBody>
          <a:bodyPr/>
          <a:lstStyle/>
          <a:p>
            <a:r>
              <a:rPr lang="en-IN" dirty="0"/>
              <a:t>Writing Simple Queries</a:t>
            </a:r>
          </a:p>
        </p:txBody>
      </p:sp>
      <p:pic>
        <p:nvPicPr>
          <p:cNvPr id="5" name="Picture 4">
            <a:extLst>
              <a:ext uri="{FF2B5EF4-FFF2-40B4-BE49-F238E27FC236}">
                <a16:creationId xmlns:a16="http://schemas.microsoft.com/office/drawing/2014/main" id="{5A1B1AE9-27EA-46D4-9E43-8F2D39B99629}"/>
              </a:ext>
            </a:extLst>
          </p:cNvPr>
          <p:cNvPicPr>
            <a:picLocks noChangeAspect="1"/>
          </p:cNvPicPr>
          <p:nvPr/>
        </p:nvPicPr>
        <p:blipFill>
          <a:blip r:embed="rId2"/>
          <a:stretch>
            <a:fillRect/>
          </a:stretch>
        </p:blipFill>
        <p:spPr>
          <a:xfrm>
            <a:off x="197830" y="2470575"/>
            <a:ext cx="8371268" cy="4066162"/>
          </a:xfrm>
          <a:prstGeom prst="rect">
            <a:avLst/>
          </a:prstGeom>
        </p:spPr>
      </p:pic>
    </p:spTree>
    <p:extLst>
      <p:ext uri="{BB962C8B-B14F-4D97-AF65-F5344CB8AC3E}">
        <p14:creationId xmlns:p14="http://schemas.microsoft.com/office/powerpoint/2010/main" val="24002913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175B3BC-AF86-487B-B8AB-9A25C1844A4A}"/>
              </a:ext>
            </a:extLst>
          </p:cNvPr>
          <p:cNvSpPr>
            <a:spLocks noGrp="1"/>
          </p:cNvSpPr>
          <p:nvPr>
            <p:ph type="title"/>
          </p:nvPr>
        </p:nvSpPr>
        <p:spPr/>
        <p:txBody>
          <a:bodyPr/>
          <a:lstStyle/>
          <a:p>
            <a:r>
              <a:rPr lang="en-IN" dirty="0"/>
              <a:t>Writing Simple Queries</a:t>
            </a:r>
          </a:p>
        </p:txBody>
      </p:sp>
      <p:pic>
        <p:nvPicPr>
          <p:cNvPr id="8" name="Picture 7">
            <a:extLst>
              <a:ext uri="{FF2B5EF4-FFF2-40B4-BE49-F238E27FC236}">
                <a16:creationId xmlns:a16="http://schemas.microsoft.com/office/drawing/2014/main" id="{101D0A0E-3040-421B-A3A7-45ECA23F4123}"/>
              </a:ext>
            </a:extLst>
          </p:cNvPr>
          <p:cNvPicPr>
            <a:picLocks noChangeAspect="1"/>
          </p:cNvPicPr>
          <p:nvPr/>
        </p:nvPicPr>
        <p:blipFill>
          <a:blip r:embed="rId2"/>
          <a:stretch>
            <a:fillRect/>
          </a:stretch>
        </p:blipFill>
        <p:spPr>
          <a:xfrm>
            <a:off x="394068" y="1902626"/>
            <a:ext cx="8285926" cy="2424277"/>
          </a:xfrm>
          <a:prstGeom prst="rect">
            <a:avLst/>
          </a:prstGeom>
        </p:spPr>
      </p:pic>
    </p:spTree>
    <p:extLst>
      <p:ext uri="{BB962C8B-B14F-4D97-AF65-F5344CB8AC3E}">
        <p14:creationId xmlns:p14="http://schemas.microsoft.com/office/powerpoint/2010/main" val="11758829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75E71C-E6B8-44C2-8F92-A05905D6BB94}"/>
              </a:ext>
            </a:extLst>
          </p:cNvPr>
          <p:cNvSpPr>
            <a:spLocks noGrp="1"/>
          </p:cNvSpPr>
          <p:nvPr>
            <p:ph type="title"/>
          </p:nvPr>
        </p:nvSpPr>
        <p:spPr/>
        <p:txBody>
          <a:bodyPr/>
          <a:lstStyle/>
          <a:p>
            <a:r>
              <a:rPr lang="en-IN" dirty="0"/>
              <a:t>Data Types</a:t>
            </a:r>
          </a:p>
        </p:txBody>
      </p:sp>
      <p:pic>
        <p:nvPicPr>
          <p:cNvPr id="7" name="Picture 6">
            <a:extLst>
              <a:ext uri="{FF2B5EF4-FFF2-40B4-BE49-F238E27FC236}">
                <a16:creationId xmlns:a16="http://schemas.microsoft.com/office/drawing/2014/main" id="{CB45740F-4135-49FB-923E-1AF0DF90B3D3}"/>
              </a:ext>
            </a:extLst>
          </p:cNvPr>
          <p:cNvPicPr>
            <a:picLocks noChangeAspect="1"/>
          </p:cNvPicPr>
          <p:nvPr/>
        </p:nvPicPr>
        <p:blipFill>
          <a:blip r:embed="rId2"/>
          <a:stretch>
            <a:fillRect/>
          </a:stretch>
        </p:blipFill>
        <p:spPr>
          <a:xfrm>
            <a:off x="4430332" y="3406302"/>
            <a:ext cx="283335" cy="45396"/>
          </a:xfrm>
          <a:prstGeom prst="rect">
            <a:avLst/>
          </a:prstGeom>
        </p:spPr>
      </p:pic>
      <p:pic>
        <p:nvPicPr>
          <p:cNvPr id="9" name="Picture 8">
            <a:extLst>
              <a:ext uri="{FF2B5EF4-FFF2-40B4-BE49-F238E27FC236}">
                <a16:creationId xmlns:a16="http://schemas.microsoft.com/office/drawing/2014/main" id="{B233C33B-BB4F-4CD3-9524-1F96777ACB44}"/>
              </a:ext>
            </a:extLst>
          </p:cNvPr>
          <p:cNvPicPr>
            <a:picLocks noChangeAspect="1"/>
          </p:cNvPicPr>
          <p:nvPr/>
        </p:nvPicPr>
        <p:blipFill>
          <a:blip r:embed="rId2"/>
          <a:stretch>
            <a:fillRect/>
          </a:stretch>
        </p:blipFill>
        <p:spPr>
          <a:xfrm>
            <a:off x="4430332" y="3406302"/>
            <a:ext cx="283335" cy="45396"/>
          </a:xfrm>
          <a:prstGeom prst="rect">
            <a:avLst/>
          </a:prstGeom>
        </p:spPr>
      </p:pic>
      <p:pic>
        <p:nvPicPr>
          <p:cNvPr id="11" name="Picture 10">
            <a:extLst>
              <a:ext uri="{FF2B5EF4-FFF2-40B4-BE49-F238E27FC236}">
                <a16:creationId xmlns:a16="http://schemas.microsoft.com/office/drawing/2014/main" id="{2BC1D3F4-7A9E-469A-A431-14E08E779E83}"/>
              </a:ext>
            </a:extLst>
          </p:cNvPr>
          <p:cNvPicPr>
            <a:picLocks noChangeAspect="1"/>
          </p:cNvPicPr>
          <p:nvPr/>
        </p:nvPicPr>
        <p:blipFill rotWithShape="1">
          <a:blip r:embed="rId3"/>
          <a:srcRect t="5634"/>
          <a:stretch/>
        </p:blipFill>
        <p:spPr>
          <a:xfrm>
            <a:off x="198095" y="1376313"/>
            <a:ext cx="8747809" cy="5207869"/>
          </a:xfrm>
          <a:prstGeom prst="rect">
            <a:avLst/>
          </a:prstGeom>
        </p:spPr>
      </p:pic>
    </p:spTree>
    <p:extLst>
      <p:ext uri="{BB962C8B-B14F-4D97-AF65-F5344CB8AC3E}">
        <p14:creationId xmlns:p14="http://schemas.microsoft.com/office/powerpoint/2010/main" val="20278817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75E71C-E6B8-44C2-8F92-A05905D6BB94}"/>
              </a:ext>
            </a:extLst>
          </p:cNvPr>
          <p:cNvSpPr>
            <a:spLocks noGrp="1"/>
          </p:cNvSpPr>
          <p:nvPr>
            <p:ph type="title"/>
          </p:nvPr>
        </p:nvSpPr>
        <p:spPr/>
        <p:txBody>
          <a:bodyPr/>
          <a:lstStyle/>
          <a:p>
            <a:r>
              <a:rPr lang="en-IN" dirty="0"/>
              <a:t>Data Types</a:t>
            </a:r>
          </a:p>
        </p:txBody>
      </p:sp>
      <p:pic>
        <p:nvPicPr>
          <p:cNvPr id="7" name="Picture 6">
            <a:extLst>
              <a:ext uri="{FF2B5EF4-FFF2-40B4-BE49-F238E27FC236}">
                <a16:creationId xmlns:a16="http://schemas.microsoft.com/office/drawing/2014/main" id="{CB45740F-4135-49FB-923E-1AF0DF90B3D3}"/>
              </a:ext>
            </a:extLst>
          </p:cNvPr>
          <p:cNvPicPr>
            <a:picLocks noChangeAspect="1"/>
          </p:cNvPicPr>
          <p:nvPr/>
        </p:nvPicPr>
        <p:blipFill>
          <a:blip r:embed="rId2"/>
          <a:stretch>
            <a:fillRect/>
          </a:stretch>
        </p:blipFill>
        <p:spPr>
          <a:xfrm>
            <a:off x="4430332" y="3406302"/>
            <a:ext cx="283335" cy="45396"/>
          </a:xfrm>
          <a:prstGeom prst="rect">
            <a:avLst/>
          </a:prstGeom>
        </p:spPr>
      </p:pic>
      <p:pic>
        <p:nvPicPr>
          <p:cNvPr id="9" name="Picture 8">
            <a:extLst>
              <a:ext uri="{FF2B5EF4-FFF2-40B4-BE49-F238E27FC236}">
                <a16:creationId xmlns:a16="http://schemas.microsoft.com/office/drawing/2014/main" id="{B233C33B-BB4F-4CD3-9524-1F96777ACB44}"/>
              </a:ext>
            </a:extLst>
          </p:cNvPr>
          <p:cNvPicPr>
            <a:picLocks noChangeAspect="1"/>
          </p:cNvPicPr>
          <p:nvPr/>
        </p:nvPicPr>
        <p:blipFill>
          <a:blip r:embed="rId2"/>
          <a:stretch>
            <a:fillRect/>
          </a:stretch>
        </p:blipFill>
        <p:spPr>
          <a:xfrm>
            <a:off x="4430332" y="3406302"/>
            <a:ext cx="283335" cy="45396"/>
          </a:xfrm>
          <a:prstGeom prst="rect">
            <a:avLst/>
          </a:prstGeom>
        </p:spPr>
      </p:pic>
      <p:pic>
        <p:nvPicPr>
          <p:cNvPr id="4" name="Picture 3">
            <a:extLst>
              <a:ext uri="{FF2B5EF4-FFF2-40B4-BE49-F238E27FC236}">
                <a16:creationId xmlns:a16="http://schemas.microsoft.com/office/drawing/2014/main" id="{C4527593-0F7F-42F5-A08B-5965FC432DFE}"/>
              </a:ext>
            </a:extLst>
          </p:cNvPr>
          <p:cNvPicPr>
            <a:picLocks noChangeAspect="1"/>
          </p:cNvPicPr>
          <p:nvPr/>
        </p:nvPicPr>
        <p:blipFill>
          <a:blip r:embed="rId3"/>
          <a:stretch>
            <a:fillRect/>
          </a:stretch>
        </p:blipFill>
        <p:spPr>
          <a:xfrm>
            <a:off x="381720" y="1272702"/>
            <a:ext cx="8413488" cy="5291786"/>
          </a:xfrm>
          <a:prstGeom prst="rect">
            <a:avLst/>
          </a:prstGeom>
        </p:spPr>
      </p:pic>
    </p:spTree>
    <p:extLst>
      <p:ext uri="{BB962C8B-B14F-4D97-AF65-F5344CB8AC3E}">
        <p14:creationId xmlns:p14="http://schemas.microsoft.com/office/powerpoint/2010/main" val="27256272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75E71C-E6B8-44C2-8F92-A05905D6BB94}"/>
              </a:ext>
            </a:extLst>
          </p:cNvPr>
          <p:cNvSpPr>
            <a:spLocks noGrp="1"/>
          </p:cNvSpPr>
          <p:nvPr>
            <p:ph type="title"/>
          </p:nvPr>
        </p:nvSpPr>
        <p:spPr/>
        <p:txBody>
          <a:bodyPr/>
          <a:lstStyle/>
          <a:p>
            <a:r>
              <a:rPr lang="en-IN" dirty="0"/>
              <a:t>Data Types</a:t>
            </a:r>
          </a:p>
        </p:txBody>
      </p:sp>
      <p:pic>
        <p:nvPicPr>
          <p:cNvPr id="7" name="Picture 6">
            <a:extLst>
              <a:ext uri="{FF2B5EF4-FFF2-40B4-BE49-F238E27FC236}">
                <a16:creationId xmlns:a16="http://schemas.microsoft.com/office/drawing/2014/main" id="{CB45740F-4135-49FB-923E-1AF0DF90B3D3}"/>
              </a:ext>
            </a:extLst>
          </p:cNvPr>
          <p:cNvPicPr>
            <a:picLocks noChangeAspect="1"/>
          </p:cNvPicPr>
          <p:nvPr/>
        </p:nvPicPr>
        <p:blipFill>
          <a:blip r:embed="rId2"/>
          <a:stretch>
            <a:fillRect/>
          </a:stretch>
        </p:blipFill>
        <p:spPr>
          <a:xfrm>
            <a:off x="4430332" y="3406302"/>
            <a:ext cx="283335" cy="45396"/>
          </a:xfrm>
          <a:prstGeom prst="rect">
            <a:avLst/>
          </a:prstGeom>
        </p:spPr>
      </p:pic>
      <p:pic>
        <p:nvPicPr>
          <p:cNvPr id="9" name="Picture 8">
            <a:extLst>
              <a:ext uri="{FF2B5EF4-FFF2-40B4-BE49-F238E27FC236}">
                <a16:creationId xmlns:a16="http://schemas.microsoft.com/office/drawing/2014/main" id="{B233C33B-BB4F-4CD3-9524-1F96777ACB44}"/>
              </a:ext>
            </a:extLst>
          </p:cNvPr>
          <p:cNvPicPr>
            <a:picLocks noChangeAspect="1"/>
          </p:cNvPicPr>
          <p:nvPr/>
        </p:nvPicPr>
        <p:blipFill>
          <a:blip r:embed="rId2"/>
          <a:stretch>
            <a:fillRect/>
          </a:stretch>
        </p:blipFill>
        <p:spPr>
          <a:xfrm>
            <a:off x="4430332" y="3406302"/>
            <a:ext cx="283335" cy="45396"/>
          </a:xfrm>
          <a:prstGeom prst="rect">
            <a:avLst/>
          </a:prstGeom>
        </p:spPr>
      </p:pic>
      <p:pic>
        <p:nvPicPr>
          <p:cNvPr id="5" name="Picture 4">
            <a:extLst>
              <a:ext uri="{FF2B5EF4-FFF2-40B4-BE49-F238E27FC236}">
                <a16:creationId xmlns:a16="http://schemas.microsoft.com/office/drawing/2014/main" id="{1A9BA0EE-DE57-45B2-AF7C-45E1C58B2A3C}"/>
              </a:ext>
            </a:extLst>
          </p:cNvPr>
          <p:cNvPicPr>
            <a:picLocks noChangeAspect="1"/>
          </p:cNvPicPr>
          <p:nvPr/>
        </p:nvPicPr>
        <p:blipFill>
          <a:blip r:embed="rId3"/>
          <a:stretch>
            <a:fillRect/>
          </a:stretch>
        </p:blipFill>
        <p:spPr>
          <a:xfrm>
            <a:off x="338924" y="1223246"/>
            <a:ext cx="8466149" cy="5464632"/>
          </a:xfrm>
          <a:prstGeom prst="rect">
            <a:avLst/>
          </a:prstGeom>
        </p:spPr>
      </p:pic>
    </p:spTree>
    <p:extLst>
      <p:ext uri="{BB962C8B-B14F-4D97-AF65-F5344CB8AC3E}">
        <p14:creationId xmlns:p14="http://schemas.microsoft.com/office/powerpoint/2010/main" val="12521129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35F998-9CFF-4CC2-8BBC-719BDEDB0CE2}"/>
              </a:ext>
            </a:extLst>
          </p:cNvPr>
          <p:cNvSpPr>
            <a:spLocks noGrp="1"/>
          </p:cNvSpPr>
          <p:nvPr>
            <p:ph type="title"/>
          </p:nvPr>
        </p:nvSpPr>
        <p:spPr/>
        <p:txBody>
          <a:bodyPr/>
          <a:lstStyle/>
          <a:p>
            <a:r>
              <a:rPr lang="en-IN" dirty="0"/>
              <a:t>Numeric Types</a:t>
            </a:r>
          </a:p>
        </p:txBody>
      </p:sp>
      <p:pic>
        <p:nvPicPr>
          <p:cNvPr id="5" name="Picture 4">
            <a:extLst>
              <a:ext uri="{FF2B5EF4-FFF2-40B4-BE49-F238E27FC236}">
                <a16:creationId xmlns:a16="http://schemas.microsoft.com/office/drawing/2014/main" id="{9786B7AA-ABBC-40EB-8BB5-E1FDD52540CF}"/>
              </a:ext>
            </a:extLst>
          </p:cNvPr>
          <p:cNvPicPr>
            <a:picLocks noChangeAspect="1"/>
          </p:cNvPicPr>
          <p:nvPr/>
        </p:nvPicPr>
        <p:blipFill>
          <a:blip r:embed="rId2"/>
          <a:stretch>
            <a:fillRect/>
          </a:stretch>
        </p:blipFill>
        <p:spPr>
          <a:xfrm>
            <a:off x="254863" y="1098607"/>
            <a:ext cx="8634273" cy="2078226"/>
          </a:xfrm>
          <a:prstGeom prst="rect">
            <a:avLst/>
          </a:prstGeom>
        </p:spPr>
      </p:pic>
      <p:pic>
        <p:nvPicPr>
          <p:cNvPr id="7" name="Picture 6">
            <a:extLst>
              <a:ext uri="{FF2B5EF4-FFF2-40B4-BE49-F238E27FC236}">
                <a16:creationId xmlns:a16="http://schemas.microsoft.com/office/drawing/2014/main" id="{42A438E3-D823-4308-807F-2315E5D829AB}"/>
              </a:ext>
            </a:extLst>
          </p:cNvPr>
          <p:cNvPicPr>
            <a:picLocks noChangeAspect="1"/>
          </p:cNvPicPr>
          <p:nvPr/>
        </p:nvPicPr>
        <p:blipFill>
          <a:blip r:embed="rId3"/>
          <a:stretch>
            <a:fillRect/>
          </a:stretch>
        </p:blipFill>
        <p:spPr>
          <a:xfrm>
            <a:off x="364633" y="3176833"/>
            <a:ext cx="8398063" cy="3300919"/>
          </a:xfrm>
          <a:prstGeom prst="rect">
            <a:avLst/>
          </a:prstGeom>
        </p:spPr>
      </p:pic>
    </p:spTree>
    <p:extLst>
      <p:ext uri="{BB962C8B-B14F-4D97-AF65-F5344CB8AC3E}">
        <p14:creationId xmlns:p14="http://schemas.microsoft.com/office/powerpoint/2010/main" val="8808653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35F998-9CFF-4CC2-8BBC-719BDEDB0CE2}"/>
              </a:ext>
            </a:extLst>
          </p:cNvPr>
          <p:cNvSpPr>
            <a:spLocks noGrp="1"/>
          </p:cNvSpPr>
          <p:nvPr>
            <p:ph type="title"/>
          </p:nvPr>
        </p:nvSpPr>
        <p:spPr/>
        <p:txBody>
          <a:bodyPr/>
          <a:lstStyle/>
          <a:p>
            <a:r>
              <a:rPr lang="en-IN" dirty="0"/>
              <a:t>Monetary Types</a:t>
            </a:r>
          </a:p>
        </p:txBody>
      </p:sp>
      <p:pic>
        <p:nvPicPr>
          <p:cNvPr id="4" name="Picture 3">
            <a:extLst>
              <a:ext uri="{FF2B5EF4-FFF2-40B4-BE49-F238E27FC236}">
                <a16:creationId xmlns:a16="http://schemas.microsoft.com/office/drawing/2014/main" id="{55A8316E-609B-4A0D-9989-94FC1101A37C}"/>
              </a:ext>
            </a:extLst>
          </p:cNvPr>
          <p:cNvPicPr>
            <a:picLocks noChangeAspect="1"/>
          </p:cNvPicPr>
          <p:nvPr/>
        </p:nvPicPr>
        <p:blipFill>
          <a:blip r:embed="rId2"/>
          <a:stretch>
            <a:fillRect/>
          </a:stretch>
        </p:blipFill>
        <p:spPr>
          <a:xfrm>
            <a:off x="366847" y="1843392"/>
            <a:ext cx="8501607" cy="1418282"/>
          </a:xfrm>
          <a:prstGeom prst="rect">
            <a:avLst/>
          </a:prstGeom>
        </p:spPr>
      </p:pic>
    </p:spTree>
    <p:extLst>
      <p:ext uri="{BB962C8B-B14F-4D97-AF65-F5344CB8AC3E}">
        <p14:creationId xmlns:p14="http://schemas.microsoft.com/office/powerpoint/2010/main" val="7847912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BB129D-6B38-476A-B524-57369FB296AA}"/>
              </a:ext>
            </a:extLst>
          </p:cNvPr>
          <p:cNvSpPr>
            <a:spLocks noGrp="1"/>
          </p:cNvSpPr>
          <p:nvPr>
            <p:ph type="title"/>
          </p:nvPr>
        </p:nvSpPr>
        <p:spPr/>
        <p:txBody>
          <a:bodyPr/>
          <a:lstStyle/>
          <a:p>
            <a:r>
              <a:rPr lang="en-IN" dirty="0"/>
              <a:t>Binary Input Type</a:t>
            </a:r>
          </a:p>
        </p:txBody>
      </p:sp>
      <p:pic>
        <p:nvPicPr>
          <p:cNvPr id="5" name="Picture 4">
            <a:extLst>
              <a:ext uri="{FF2B5EF4-FFF2-40B4-BE49-F238E27FC236}">
                <a16:creationId xmlns:a16="http://schemas.microsoft.com/office/drawing/2014/main" id="{9EA3B3A4-9964-4C99-A849-54DF30D4405D}"/>
              </a:ext>
            </a:extLst>
          </p:cNvPr>
          <p:cNvPicPr>
            <a:picLocks noChangeAspect="1"/>
          </p:cNvPicPr>
          <p:nvPr/>
        </p:nvPicPr>
        <p:blipFill>
          <a:blip r:embed="rId2"/>
          <a:stretch>
            <a:fillRect/>
          </a:stretch>
        </p:blipFill>
        <p:spPr>
          <a:xfrm>
            <a:off x="343613" y="1885444"/>
            <a:ext cx="8618182" cy="876610"/>
          </a:xfrm>
          <a:prstGeom prst="rect">
            <a:avLst/>
          </a:prstGeom>
        </p:spPr>
      </p:pic>
    </p:spTree>
    <p:extLst>
      <p:ext uri="{BB962C8B-B14F-4D97-AF65-F5344CB8AC3E}">
        <p14:creationId xmlns:p14="http://schemas.microsoft.com/office/powerpoint/2010/main" val="26974876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35F998-9CFF-4CC2-8BBC-719BDEDB0CE2}"/>
              </a:ext>
            </a:extLst>
          </p:cNvPr>
          <p:cNvSpPr>
            <a:spLocks noGrp="1"/>
          </p:cNvSpPr>
          <p:nvPr>
            <p:ph type="title"/>
          </p:nvPr>
        </p:nvSpPr>
        <p:spPr/>
        <p:txBody>
          <a:bodyPr/>
          <a:lstStyle/>
          <a:p>
            <a:r>
              <a:rPr lang="en-IN" dirty="0"/>
              <a:t>Character Types</a:t>
            </a:r>
          </a:p>
        </p:txBody>
      </p:sp>
      <p:pic>
        <p:nvPicPr>
          <p:cNvPr id="5" name="Picture 4">
            <a:extLst>
              <a:ext uri="{FF2B5EF4-FFF2-40B4-BE49-F238E27FC236}">
                <a16:creationId xmlns:a16="http://schemas.microsoft.com/office/drawing/2014/main" id="{4B9BD8E5-FBC0-451A-9A95-2A5FFCFE5287}"/>
              </a:ext>
            </a:extLst>
          </p:cNvPr>
          <p:cNvPicPr>
            <a:picLocks noChangeAspect="1"/>
          </p:cNvPicPr>
          <p:nvPr/>
        </p:nvPicPr>
        <p:blipFill>
          <a:blip r:embed="rId2"/>
          <a:stretch>
            <a:fillRect/>
          </a:stretch>
        </p:blipFill>
        <p:spPr>
          <a:xfrm>
            <a:off x="388225" y="1978675"/>
            <a:ext cx="8597182" cy="1518669"/>
          </a:xfrm>
          <a:prstGeom prst="rect">
            <a:avLst/>
          </a:prstGeom>
        </p:spPr>
      </p:pic>
    </p:spTree>
    <p:extLst>
      <p:ext uri="{BB962C8B-B14F-4D97-AF65-F5344CB8AC3E}">
        <p14:creationId xmlns:p14="http://schemas.microsoft.com/office/powerpoint/2010/main" val="20595553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C421FC-0452-4FE0-9ED2-6F414DCC72D8}"/>
              </a:ext>
            </a:extLst>
          </p:cNvPr>
          <p:cNvSpPr>
            <a:spLocks noGrp="1"/>
          </p:cNvSpPr>
          <p:nvPr>
            <p:ph type="title"/>
          </p:nvPr>
        </p:nvSpPr>
        <p:spPr/>
        <p:txBody>
          <a:bodyPr/>
          <a:lstStyle/>
          <a:p>
            <a:r>
              <a:rPr lang="en-IN" dirty="0"/>
              <a:t>Boolean Type</a:t>
            </a:r>
          </a:p>
        </p:txBody>
      </p:sp>
      <p:pic>
        <p:nvPicPr>
          <p:cNvPr id="7" name="Picture 6">
            <a:extLst>
              <a:ext uri="{FF2B5EF4-FFF2-40B4-BE49-F238E27FC236}">
                <a16:creationId xmlns:a16="http://schemas.microsoft.com/office/drawing/2014/main" id="{0086F732-CDB4-4D20-BE99-19624111E8E5}"/>
              </a:ext>
            </a:extLst>
          </p:cNvPr>
          <p:cNvPicPr>
            <a:picLocks noChangeAspect="1"/>
          </p:cNvPicPr>
          <p:nvPr/>
        </p:nvPicPr>
        <p:blipFill>
          <a:blip r:embed="rId2"/>
          <a:stretch>
            <a:fillRect/>
          </a:stretch>
        </p:blipFill>
        <p:spPr>
          <a:xfrm>
            <a:off x="668506" y="2011536"/>
            <a:ext cx="7912798" cy="785553"/>
          </a:xfrm>
          <a:prstGeom prst="rect">
            <a:avLst/>
          </a:prstGeom>
        </p:spPr>
      </p:pic>
    </p:spTree>
    <p:extLst>
      <p:ext uri="{BB962C8B-B14F-4D97-AF65-F5344CB8AC3E}">
        <p14:creationId xmlns:p14="http://schemas.microsoft.com/office/powerpoint/2010/main" val="17281506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480710-3D9C-4E66-9A46-B8C7DFE4785B}"/>
              </a:ext>
            </a:extLst>
          </p:cNvPr>
          <p:cNvSpPr>
            <a:spLocks noGrp="1"/>
          </p:cNvSpPr>
          <p:nvPr>
            <p:ph type="title"/>
          </p:nvPr>
        </p:nvSpPr>
        <p:spPr/>
        <p:txBody>
          <a:bodyPr/>
          <a:lstStyle/>
          <a:p>
            <a:r>
              <a:rPr lang="en-IN" dirty="0"/>
              <a:t>Date/Time Types</a:t>
            </a:r>
          </a:p>
        </p:txBody>
      </p:sp>
      <p:pic>
        <p:nvPicPr>
          <p:cNvPr id="5" name="Picture 4">
            <a:extLst>
              <a:ext uri="{FF2B5EF4-FFF2-40B4-BE49-F238E27FC236}">
                <a16:creationId xmlns:a16="http://schemas.microsoft.com/office/drawing/2014/main" id="{4985AF1E-F663-49B2-93D9-19785DFFE550}"/>
              </a:ext>
            </a:extLst>
          </p:cNvPr>
          <p:cNvPicPr>
            <a:picLocks noChangeAspect="1"/>
          </p:cNvPicPr>
          <p:nvPr/>
        </p:nvPicPr>
        <p:blipFill>
          <a:blip r:embed="rId2"/>
          <a:stretch>
            <a:fillRect/>
          </a:stretch>
        </p:blipFill>
        <p:spPr>
          <a:xfrm>
            <a:off x="169815" y="1263192"/>
            <a:ext cx="8823356" cy="5175466"/>
          </a:xfrm>
          <a:prstGeom prst="rect">
            <a:avLst/>
          </a:prstGeom>
        </p:spPr>
      </p:pic>
    </p:spTree>
    <p:extLst>
      <p:ext uri="{BB962C8B-B14F-4D97-AF65-F5344CB8AC3E}">
        <p14:creationId xmlns:p14="http://schemas.microsoft.com/office/powerpoint/2010/main" val="29552361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480710-3D9C-4E66-9A46-B8C7DFE4785B}"/>
              </a:ext>
            </a:extLst>
          </p:cNvPr>
          <p:cNvSpPr>
            <a:spLocks noGrp="1"/>
          </p:cNvSpPr>
          <p:nvPr>
            <p:ph type="title"/>
          </p:nvPr>
        </p:nvSpPr>
        <p:spPr/>
        <p:txBody>
          <a:bodyPr/>
          <a:lstStyle/>
          <a:p>
            <a:r>
              <a:rPr lang="en-IN" dirty="0"/>
              <a:t>Date/Time Types</a:t>
            </a:r>
          </a:p>
        </p:txBody>
      </p:sp>
      <p:pic>
        <p:nvPicPr>
          <p:cNvPr id="4" name="Picture 3">
            <a:extLst>
              <a:ext uri="{FF2B5EF4-FFF2-40B4-BE49-F238E27FC236}">
                <a16:creationId xmlns:a16="http://schemas.microsoft.com/office/drawing/2014/main" id="{D15CB75B-4D5B-4BB6-ADCD-564E2F795F05}"/>
              </a:ext>
            </a:extLst>
          </p:cNvPr>
          <p:cNvPicPr>
            <a:picLocks noChangeAspect="1"/>
          </p:cNvPicPr>
          <p:nvPr/>
        </p:nvPicPr>
        <p:blipFill>
          <a:blip r:embed="rId2"/>
          <a:stretch>
            <a:fillRect/>
          </a:stretch>
        </p:blipFill>
        <p:spPr>
          <a:xfrm>
            <a:off x="313449" y="1347281"/>
            <a:ext cx="8517101" cy="2753379"/>
          </a:xfrm>
          <a:prstGeom prst="rect">
            <a:avLst/>
          </a:prstGeom>
        </p:spPr>
      </p:pic>
    </p:spTree>
    <p:extLst>
      <p:ext uri="{BB962C8B-B14F-4D97-AF65-F5344CB8AC3E}">
        <p14:creationId xmlns:p14="http://schemas.microsoft.com/office/powerpoint/2010/main" val="8270218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9E224DE-9815-4A05-9559-8D03D1338CAF}"/>
              </a:ext>
            </a:extLst>
          </p:cNvPr>
          <p:cNvSpPr>
            <a:spLocks noGrp="1"/>
          </p:cNvSpPr>
          <p:nvPr>
            <p:ph type="title"/>
          </p:nvPr>
        </p:nvSpPr>
        <p:spPr>
          <a:xfrm>
            <a:off x="461035" y="141842"/>
            <a:ext cx="8205261" cy="785553"/>
          </a:xfrm>
        </p:spPr>
        <p:txBody>
          <a:bodyPr/>
          <a:lstStyle/>
          <a:p>
            <a:r>
              <a:rPr lang="en-IN" dirty="0"/>
              <a:t>Time Input</a:t>
            </a:r>
          </a:p>
        </p:txBody>
      </p:sp>
      <p:pic>
        <p:nvPicPr>
          <p:cNvPr id="5" name="Picture 4">
            <a:extLst>
              <a:ext uri="{FF2B5EF4-FFF2-40B4-BE49-F238E27FC236}">
                <a16:creationId xmlns:a16="http://schemas.microsoft.com/office/drawing/2014/main" id="{34830A0F-625F-4625-9412-509152F727AC}"/>
              </a:ext>
            </a:extLst>
          </p:cNvPr>
          <p:cNvPicPr>
            <a:picLocks noChangeAspect="1"/>
          </p:cNvPicPr>
          <p:nvPr/>
        </p:nvPicPr>
        <p:blipFill>
          <a:blip r:embed="rId2"/>
          <a:stretch>
            <a:fillRect/>
          </a:stretch>
        </p:blipFill>
        <p:spPr>
          <a:xfrm>
            <a:off x="461035" y="1348033"/>
            <a:ext cx="8419014" cy="5062194"/>
          </a:xfrm>
          <a:prstGeom prst="rect">
            <a:avLst/>
          </a:prstGeom>
        </p:spPr>
      </p:pic>
    </p:spTree>
    <p:extLst>
      <p:ext uri="{BB962C8B-B14F-4D97-AF65-F5344CB8AC3E}">
        <p14:creationId xmlns:p14="http://schemas.microsoft.com/office/powerpoint/2010/main" val="18883585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7AB398-D8DC-D3E5-1833-5FAE320F3F52}"/>
              </a:ext>
            </a:extLst>
          </p:cNvPr>
          <p:cNvSpPr>
            <a:spLocks noGrp="1"/>
          </p:cNvSpPr>
          <p:nvPr>
            <p:ph type="title"/>
          </p:nvPr>
        </p:nvSpPr>
        <p:spPr/>
        <p:txBody>
          <a:bodyPr/>
          <a:lstStyle/>
          <a:p>
            <a:r>
              <a:rPr lang="en-IN" dirty="0"/>
              <a:t>Oracle Data Types vs </a:t>
            </a:r>
            <a:r>
              <a:rPr lang="en-IN" dirty="0" err="1"/>
              <a:t>Postgre</a:t>
            </a:r>
            <a:r>
              <a:rPr lang="en-IN" dirty="0"/>
              <a:t> Data Types</a:t>
            </a:r>
          </a:p>
        </p:txBody>
      </p:sp>
      <p:pic>
        <p:nvPicPr>
          <p:cNvPr id="5" name="Picture 4">
            <a:extLst>
              <a:ext uri="{FF2B5EF4-FFF2-40B4-BE49-F238E27FC236}">
                <a16:creationId xmlns:a16="http://schemas.microsoft.com/office/drawing/2014/main" id="{3AD2D78A-6BF3-E0CD-9F8C-01F1DD405D47}"/>
              </a:ext>
            </a:extLst>
          </p:cNvPr>
          <p:cNvPicPr>
            <a:picLocks noChangeAspect="1"/>
          </p:cNvPicPr>
          <p:nvPr/>
        </p:nvPicPr>
        <p:blipFill rotWithShape="1">
          <a:blip r:embed="rId2"/>
          <a:srcRect l="24592" t="24695" r="26326" b="12539"/>
          <a:stretch/>
        </p:blipFill>
        <p:spPr>
          <a:xfrm>
            <a:off x="793103" y="1324947"/>
            <a:ext cx="7056316" cy="5075852"/>
          </a:xfrm>
          <a:prstGeom prst="rect">
            <a:avLst/>
          </a:prstGeom>
        </p:spPr>
      </p:pic>
    </p:spTree>
    <p:extLst>
      <p:ext uri="{BB962C8B-B14F-4D97-AF65-F5344CB8AC3E}">
        <p14:creationId xmlns:p14="http://schemas.microsoft.com/office/powerpoint/2010/main" val="42925599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7AB398-D8DC-D3E5-1833-5FAE320F3F52}"/>
              </a:ext>
            </a:extLst>
          </p:cNvPr>
          <p:cNvSpPr>
            <a:spLocks noGrp="1"/>
          </p:cNvSpPr>
          <p:nvPr>
            <p:ph type="title"/>
          </p:nvPr>
        </p:nvSpPr>
        <p:spPr/>
        <p:txBody>
          <a:bodyPr/>
          <a:lstStyle/>
          <a:p>
            <a:r>
              <a:rPr lang="en-IN" dirty="0"/>
              <a:t>Oracle Data Types vs </a:t>
            </a:r>
            <a:r>
              <a:rPr lang="en-IN" dirty="0" err="1"/>
              <a:t>Postgre</a:t>
            </a:r>
            <a:r>
              <a:rPr lang="en-IN" dirty="0"/>
              <a:t> Data Types</a:t>
            </a:r>
          </a:p>
        </p:txBody>
      </p:sp>
      <p:pic>
        <p:nvPicPr>
          <p:cNvPr id="7" name="Picture 6">
            <a:extLst>
              <a:ext uri="{FF2B5EF4-FFF2-40B4-BE49-F238E27FC236}">
                <a16:creationId xmlns:a16="http://schemas.microsoft.com/office/drawing/2014/main" id="{1ED975BC-0A92-01C7-751D-A597A3735ABD}"/>
              </a:ext>
            </a:extLst>
          </p:cNvPr>
          <p:cNvPicPr>
            <a:picLocks noChangeAspect="1"/>
          </p:cNvPicPr>
          <p:nvPr/>
        </p:nvPicPr>
        <p:blipFill rotWithShape="1">
          <a:blip r:embed="rId2"/>
          <a:srcRect l="24694" t="25963" r="25714" b="31043"/>
          <a:stretch/>
        </p:blipFill>
        <p:spPr>
          <a:xfrm>
            <a:off x="391886" y="1632857"/>
            <a:ext cx="8432276" cy="4112035"/>
          </a:xfrm>
          <a:prstGeom prst="rect">
            <a:avLst/>
          </a:prstGeom>
        </p:spPr>
      </p:pic>
    </p:spTree>
    <p:extLst>
      <p:ext uri="{BB962C8B-B14F-4D97-AF65-F5344CB8AC3E}">
        <p14:creationId xmlns:p14="http://schemas.microsoft.com/office/powerpoint/2010/main" val="36590346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32C6BB2-447B-4EF3-8D6B-D23A4369B2AE}"/>
              </a:ext>
            </a:extLst>
          </p:cNvPr>
          <p:cNvSpPr>
            <a:spLocks noGrp="1"/>
          </p:cNvSpPr>
          <p:nvPr>
            <p:ph type="title"/>
          </p:nvPr>
        </p:nvSpPr>
        <p:spPr/>
        <p:txBody>
          <a:bodyPr/>
          <a:lstStyle/>
          <a:p>
            <a:r>
              <a:rPr lang="en-IN" dirty="0"/>
              <a:t>Enumerated Type</a:t>
            </a:r>
          </a:p>
        </p:txBody>
      </p:sp>
      <p:pic>
        <p:nvPicPr>
          <p:cNvPr id="5" name="Picture 4">
            <a:extLst>
              <a:ext uri="{FF2B5EF4-FFF2-40B4-BE49-F238E27FC236}">
                <a16:creationId xmlns:a16="http://schemas.microsoft.com/office/drawing/2014/main" id="{045E0A02-6C9C-487F-B4BA-D7F07D49318D}"/>
              </a:ext>
            </a:extLst>
          </p:cNvPr>
          <p:cNvPicPr>
            <a:picLocks noChangeAspect="1"/>
          </p:cNvPicPr>
          <p:nvPr/>
        </p:nvPicPr>
        <p:blipFill>
          <a:blip r:embed="rId2"/>
          <a:stretch>
            <a:fillRect/>
          </a:stretch>
        </p:blipFill>
        <p:spPr>
          <a:xfrm>
            <a:off x="321164" y="1431954"/>
            <a:ext cx="8485002" cy="5004788"/>
          </a:xfrm>
          <a:prstGeom prst="rect">
            <a:avLst/>
          </a:prstGeom>
        </p:spPr>
      </p:pic>
    </p:spTree>
    <p:extLst>
      <p:ext uri="{BB962C8B-B14F-4D97-AF65-F5344CB8AC3E}">
        <p14:creationId xmlns:p14="http://schemas.microsoft.com/office/powerpoint/2010/main" val="2686289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3B318A5-42FA-41A7-9FF7-5E2DF025A8C7}"/>
              </a:ext>
            </a:extLst>
          </p:cNvPr>
          <p:cNvSpPr>
            <a:spLocks noGrp="1"/>
          </p:cNvSpPr>
          <p:nvPr>
            <p:ph type="title"/>
          </p:nvPr>
        </p:nvSpPr>
        <p:spPr/>
        <p:txBody>
          <a:bodyPr/>
          <a:lstStyle/>
          <a:p>
            <a:r>
              <a:rPr lang="en-IN" dirty="0"/>
              <a:t>Geometric Types</a:t>
            </a:r>
          </a:p>
        </p:txBody>
      </p:sp>
      <p:pic>
        <p:nvPicPr>
          <p:cNvPr id="5" name="Picture 4">
            <a:extLst>
              <a:ext uri="{FF2B5EF4-FFF2-40B4-BE49-F238E27FC236}">
                <a16:creationId xmlns:a16="http://schemas.microsoft.com/office/drawing/2014/main" id="{EDD62081-F4DB-4202-9C2E-6B0B135EFD16}"/>
              </a:ext>
            </a:extLst>
          </p:cNvPr>
          <p:cNvPicPr>
            <a:picLocks noChangeAspect="1"/>
          </p:cNvPicPr>
          <p:nvPr/>
        </p:nvPicPr>
        <p:blipFill>
          <a:blip r:embed="rId2"/>
          <a:stretch>
            <a:fillRect/>
          </a:stretch>
        </p:blipFill>
        <p:spPr>
          <a:xfrm>
            <a:off x="461035" y="1612233"/>
            <a:ext cx="8317855" cy="3431107"/>
          </a:xfrm>
          <a:prstGeom prst="rect">
            <a:avLst/>
          </a:prstGeom>
        </p:spPr>
      </p:pic>
    </p:spTree>
    <p:extLst>
      <p:ext uri="{BB962C8B-B14F-4D97-AF65-F5344CB8AC3E}">
        <p14:creationId xmlns:p14="http://schemas.microsoft.com/office/powerpoint/2010/main" val="38530361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3B318A5-42FA-41A7-9FF7-5E2DF025A8C7}"/>
              </a:ext>
            </a:extLst>
          </p:cNvPr>
          <p:cNvSpPr>
            <a:spLocks noGrp="1"/>
          </p:cNvSpPr>
          <p:nvPr>
            <p:ph type="title"/>
          </p:nvPr>
        </p:nvSpPr>
        <p:spPr/>
        <p:txBody>
          <a:bodyPr/>
          <a:lstStyle/>
          <a:p>
            <a:r>
              <a:rPr lang="en-IN" dirty="0"/>
              <a:t>Geometric Types</a:t>
            </a:r>
          </a:p>
        </p:txBody>
      </p:sp>
      <p:sp>
        <p:nvSpPr>
          <p:cNvPr id="4" name="TextBox 3">
            <a:extLst>
              <a:ext uri="{FF2B5EF4-FFF2-40B4-BE49-F238E27FC236}">
                <a16:creationId xmlns:a16="http://schemas.microsoft.com/office/drawing/2014/main" id="{50149223-62F6-1064-5F9D-3797F992D1D0}"/>
              </a:ext>
            </a:extLst>
          </p:cNvPr>
          <p:cNvSpPr txBox="1"/>
          <p:nvPr/>
        </p:nvSpPr>
        <p:spPr>
          <a:xfrm>
            <a:off x="128785" y="1676535"/>
            <a:ext cx="8940569" cy="3693319"/>
          </a:xfrm>
          <a:prstGeom prst="rect">
            <a:avLst/>
          </a:prstGeom>
          <a:noFill/>
        </p:spPr>
        <p:txBody>
          <a:bodyPr wrap="square">
            <a:spAutoFit/>
          </a:bodyPr>
          <a:lstStyle/>
          <a:p>
            <a:r>
              <a:rPr lang="en-IN" dirty="0"/>
              <a:t>CREATE EXTENSION </a:t>
            </a:r>
            <a:r>
              <a:rPr lang="en-IN" dirty="0" err="1"/>
              <a:t>postgis</a:t>
            </a:r>
            <a:r>
              <a:rPr lang="en-IN" dirty="0"/>
              <a:t>;</a:t>
            </a:r>
          </a:p>
          <a:p>
            <a:endParaRPr lang="en-IN" dirty="0"/>
          </a:p>
          <a:p>
            <a:r>
              <a:rPr lang="en-IN" dirty="0"/>
              <a:t>CREATE TABLE geometries (name varchar, </a:t>
            </a:r>
            <a:r>
              <a:rPr lang="en-IN" dirty="0" err="1"/>
              <a:t>geom</a:t>
            </a:r>
            <a:r>
              <a:rPr lang="en-IN" dirty="0"/>
              <a:t> geometry);</a:t>
            </a:r>
          </a:p>
          <a:p>
            <a:endParaRPr lang="en-IN" dirty="0"/>
          </a:p>
          <a:p>
            <a:r>
              <a:rPr lang="en-IN" dirty="0"/>
              <a:t>INSERT INTO geometries VALUES</a:t>
            </a:r>
          </a:p>
          <a:p>
            <a:r>
              <a:rPr lang="en-IN" dirty="0"/>
              <a:t>  ('Point', 'POINT(0 0)'),</a:t>
            </a:r>
          </a:p>
          <a:p>
            <a:r>
              <a:rPr lang="en-IN" dirty="0"/>
              <a:t>  ('</a:t>
            </a:r>
            <a:r>
              <a:rPr lang="en-IN" dirty="0" err="1"/>
              <a:t>Linestring</a:t>
            </a:r>
            <a:r>
              <a:rPr lang="en-IN" dirty="0"/>
              <a:t>', 'LINESTRING(0 0, 1 1, 2 1, 2 2)'),</a:t>
            </a:r>
          </a:p>
          <a:p>
            <a:r>
              <a:rPr lang="en-IN" dirty="0"/>
              <a:t>  ('Polygon', 'POLYGON((0 0, 1 0, 1 1, 0 1, 0 0))'),</a:t>
            </a:r>
          </a:p>
          <a:p>
            <a:r>
              <a:rPr lang="en-IN" dirty="0"/>
              <a:t>  ('</a:t>
            </a:r>
            <a:r>
              <a:rPr lang="en-IN" dirty="0" err="1"/>
              <a:t>PolygonWithHole</a:t>
            </a:r>
            <a:r>
              <a:rPr lang="en-IN" dirty="0"/>
              <a:t>', 'POLYGON((0 0, 10 0, 10 10, 0 10, 0 0),(1 1, 1 2, 2 2, 2 1, 1 1))'),</a:t>
            </a:r>
          </a:p>
          <a:p>
            <a:r>
              <a:rPr lang="en-IN" dirty="0"/>
              <a:t>  ('Collection', 'GEOMETRYCOLLECTION(POINT(2 0),POLYGON((0 0, 1 0, 1 1, 0 1, 0 0)))');</a:t>
            </a:r>
          </a:p>
          <a:p>
            <a:endParaRPr lang="en-IN" dirty="0"/>
          </a:p>
          <a:p>
            <a:r>
              <a:rPr lang="en-IN" dirty="0"/>
              <a:t>SELECT name, </a:t>
            </a:r>
            <a:r>
              <a:rPr lang="en-IN" dirty="0" err="1"/>
              <a:t>ST_AsText</a:t>
            </a:r>
            <a:r>
              <a:rPr lang="en-IN" dirty="0"/>
              <a:t>(</a:t>
            </a:r>
            <a:r>
              <a:rPr lang="en-IN" dirty="0" err="1"/>
              <a:t>geom</a:t>
            </a:r>
            <a:r>
              <a:rPr lang="en-IN" dirty="0"/>
              <a:t>) FROM geometries;</a:t>
            </a:r>
          </a:p>
        </p:txBody>
      </p:sp>
    </p:spTree>
    <p:extLst>
      <p:ext uri="{BB962C8B-B14F-4D97-AF65-F5344CB8AC3E}">
        <p14:creationId xmlns:p14="http://schemas.microsoft.com/office/powerpoint/2010/main" val="3298088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3B318A5-42FA-41A7-9FF7-5E2DF025A8C7}"/>
              </a:ext>
            </a:extLst>
          </p:cNvPr>
          <p:cNvSpPr>
            <a:spLocks noGrp="1"/>
          </p:cNvSpPr>
          <p:nvPr>
            <p:ph type="title"/>
          </p:nvPr>
        </p:nvSpPr>
        <p:spPr/>
        <p:txBody>
          <a:bodyPr/>
          <a:lstStyle/>
          <a:p>
            <a:r>
              <a:rPr lang="en-IN" dirty="0"/>
              <a:t>Network Address Types</a:t>
            </a:r>
          </a:p>
        </p:txBody>
      </p:sp>
      <p:pic>
        <p:nvPicPr>
          <p:cNvPr id="4" name="Picture 3">
            <a:extLst>
              <a:ext uri="{FF2B5EF4-FFF2-40B4-BE49-F238E27FC236}">
                <a16:creationId xmlns:a16="http://schemas.microsoft.com/office/drawing/2014/main" id="{B10EBE6F-1829-4F40-ACA5-3A8A9CD48AAA}"/>
              </a:ext>
            </a:extLst>
          </p:cNvPr>
          <p:cNvPicPr>
            <a:picLocks noChangeAspect="1"/>
          </p:cNvPicPr>
          <p:nvPr/>
        </p:nvPicPr>
        <p:blipFill>
          <a:blip r:embed="rId2"/>
          <a:stretch>
            <a:fillRect/>
          </a:stretch>
        </p:blipFill>
        <p:spPr>
          <a:xfrm>
            <a:off x="438825" y="1713063"/>
            <a:ext cx="8227471" cy="1788637"/>
          </a:xfrm>
          <a:prstGeom prst="rect">
            <a:avLst/>
          </a:prstGeom>
        </p:spPr>
      </p:pic>
    </p:spTree>
    <p:extLst>
      <p:ext uri="{BB962C8B-B14F-4D97-AF65-F5344CB8AC3E}">
        <p14:creationId xmlns:p14="http://schemas.microsoft.com/office/powerpoint/2010/main" val="15828572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91B60B1-459E-4902-B4F8-40DEDCC1D646}"/>
              </a:ext>
            </a:extLst>
          </p:cNvPr>
          <p:cNvSpPr>
            <a:spLocks noGrp="1"/>
          </p:cNvSpPr>
          <p:nvPr>
            <p:ph sz="quarter" idx="12"/>
          </p:nvPr>
        </p:nvSpPr>
        <p:spPr/>
        <p:txBody>
          <a:bodyPr/>
          <a:lstStyle/>
          <a:p>
            <a:pPr marL="0" indent="0">
              <a:buNone/>
            </a:pPr>
            <a:r>
              <a:rPr lang="en-US" dirty="0"/>
              <a:t>CREATE TABLE </a:t>
            </a:r>
            <a:r>
              <a:rPr lang="en-US" dirty="0" err="1"/>
              <a:t>inet_test</a:t>
            </a:r>
            <a:r>
              <a:rPr lang="en-US" dirty="0"/>
              <a:t> (</a:t>
            </a:r>
          </a:p>
          <a:p>
            <a:pPr marL="0" indent="0">
              <a:buNone/>
            </a:pPr>
            <a:r>
              <a:rPr lang="en-US" dirty="0"/>
              <a:t>  address INET</a:t>
            </a:r>
          </a:p>
          <a:p>
            <a:pPr marL="0" indent="0">
              <a:buNone/>
            </a:pPr>
            <a:r>
              <a:rPr lang="en-US" dirty="0"/>
              <a:t>);</a:t>
            </a:r>
          </a:p>
          <a:p>
            <a:pPr marL="0" indent="0">
              <a:buNone/>
            </a:pPr>
            <a:r>
              <a:rPr lang="en-US" dirty="0"/>
              <a:t>INSERT INTO </a:t>
            </a:r>
            <a:r>
              <a:rPr lang="en-US" dirty="0" err="1"/>
              <a:t>inet_test</a:t>
            </a:r>
            <a:r>
              <a:rPr lang="en-US" dirty="0"/>
              <a:t> (address) VALUES ('198.24.10.0/24');</a:t>
            </a:r>
          </a:p>
          <a:p>
            <a:pPr marL="0" indent="0">
              <a:buNone/>
            </a:pPr>
            <a:r>
              <a:rPr lang="en-US" dirty="0"/>
              <a:t>INSERT INTO </a:t>
            </a:r>
            <a:r>
              <a:rPr lang="en-US" dirty="0" err="1"/>
              <a:t>inet_test</a:t>
            </a:r>
            <a:r>
              <a:rPr lang="en-US" dirty="0"/>
              <a:t> (address) VALUES ('198.24.10.0');</a:t>
            </a:r>
          </a:p>
          <a:p>
            <a:pPr marL="0" indent="0">
              <a:buNone/>
            </a:pPr>
            <a:r>
              <a:rPr lang="en-US" dirty="0"/>
              <a:t>INSERT INTO </a:t>
            </a:r>
            <a:r>
              <a:rPr lang="en-US" dirty="0" err="1"/>
              <a:t>inet_test</a:t>
            </a:r>
            <a:r>
              <a:rPr lang="en-US" dirty="0"/>
              <a:t> (address) VALUES ('198.10/8');</a:t>
            </a:r>
            <a:endParaRPr lang="en-IN" dirty="0"/>
          </a:p>
        </p:txBody>
      </p:sp>
      <p:sp>
        <p:nvSpPr>
          <p:cNvPr id="3" name="Title 2">
            <a:extLst>
              <a:ext uri="{FF2B5EF4-FFF2-40B4-BE49-F238E27FC236}">
                <a16:creationId xmlns:a16="http://schemas.microsoft.com/office/drawing/2014/main" id="{D3B318A5-42FA-41A7-9FF7-5E2DF025A8C7}"/>
              </a:ext>
            </a:extLst>
          </p:cNvPr>
          <p:cNvSpPr>
            <a:spLocks noGrp="1"/>
          </p:cNvSpPr>
          <p:nvPr>
            <p:ph type="title"/>
          </p:nvPr>
        </p:nvSpPr>
        <p:spPr/>
        <p:txBody>
          <a:bodyPr/>
          <a:lstStyle/>
          <a:p>
            <a:r>
              <a:rPr lang="en-IN" dirty="0"/>
              <a:t>Network Address Types</a:t>
            </a:r>
          </a:p>
        </p:txBody>
      </p:sp>
    </p:spTree>
    <p:extLst>
      <p:ext uri="{BB962C8B-B14F-4D97-AF65-F5344CB8AC3E}">
        <p14:creationId xmlns:p14="http://schemas.microsoft.com/office/powerpoint/2010/main" val="2263048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B5E809C-D75F-435C-A493-DBEB67656B0A}"/>
              </a:ext>
            </a:extLst>
          </p:cNvPr>
          <p:cNvSpPr>
            <a:spLocks noGrp="1"/>
          </p:cNvSpPr>
          <p:nvPr>
            <p:ph type="title"/>
          </p:nvPr>
        </p:nvSpPr>
        <p:spPr/>
        <p:txBody>
          <a:bodyPr/>
          <a:lstStyle/>
          <a:p>
            <a:r>
              <a:rPr lang="en-IN" dirty="0" err="1"/>
              <a:t>cidr</a:t>
            </a:r>
            <a:r>
              <a:rPr lang="en-IN" dirty="0"/>
              <a:t> Type Input</a:t>
            </a:r>
          </a:p>
        </p:txBody>
      </p:sp>
      <p:pic>
        <p:nvPicPr>
          <p:cNvPr id="5" name="Picture 4">
            <a:extLst>
              <a:ext uri="{FF2B5EF4-FFF2-40B4-BE49-F238E27FC236}">
                <a16:creationId xmlns:a16="http://schemas.microsoft.com/office/drawing/2014/main" id="{B82DA420-2AD9-4304-A060-3A710B033FB8}"/>
              </a:ext>
            </a:extLst>
          </p:cNvPr>
          <p:cNvPicPr>
            <a:picLocks noChangeAspect="1"/>
          </p:cNvPicPr>
          <p:nvPr/>
        </p:nvPicPr>
        <p:blipFill>
          <a:blip r:embed="rId2"/>
          <a:stretch>
            <a:fillRect/>
          </a:stretch>
        </p:blipFill>
        <p:spPr>
          <a:xfrm>
            <a:off x="555302" y="1309240"/>
            <a:ext cx="7862833" cy="5201055"/>
          </a:xfrm>
          <a:prstGeom prst="rect">
            <a:avLst/>
          </a:prstGeom>
        </p:spPr>
      </p:pic>
    </p:spTree>
    <p:extLst>
      <p:ext uri="{BB962C8B-B14F-4D97-AF65-F5344CB8AC3E}">
        <p14:creationId xmlns:p14="http://schemas.microsoft.com/office/powerpoint/2010/main" val="16131862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E710BD-EFF2-48CE-8DFB-6017CA04AD4B}"/>
              </a:ext>
            </a:extLst>
          </p:cNvPr>
          <p:cNvSpPr>
            <a:spLocks noGrp="1"/>
          </p:cNvSpPr>
          <p:nvPr>
            <p:ph sz="quarter" idx="12"/>
          </p:nvPr>
        </p:nvSpPr>
        <p:spPr/>
        <p:txBody>
          <a:bodyPr>
            <a:normAutofit lnSpcReduction="10000"/>
          </a:bodyPr>
          <a:lstStyle/>
          <a:p>
            <a:r>
              <a:rPr lang="en-US" dirty="0"/>
              <a:t>Bit strings are strings of 1's and 0's. They can be used to store or visualize bit masks. </a:t>
            </a:r>
          </a:p>
          <a:p>
            <a:r>
              <a:rPr lang="en-US" dirty="0"/>
              <a:t>There are two SQL bit types: bit(n) and bit varying(n), where n is a positive integer.</a:t>
            </a:r>
          </a:p>
          <a:p>
            <a:r>
              <a:rPr lang="en-US" dirty="0"/>
              <a:t>bit type data must match the length n exactly; it is an error to attempt to store shorter or longer bit strings.</a:t>
            </a:r>
          </a:p>
          <a:p>
            <a:r>
              <a:rPr lang="en-US" dirty="0"/>
              <a:t>bit varying data is of variable length up to the maximum length n; longer strings will be rejected.</a:t>
            </a:r>
          </a:p>
          <a:p>
            <a:r>
              <a:rPr lang="en-US" dirty="0"/>
              <a:t>Writing bit without a length is equivalent to bit(1), while bit varying without a length specification means unlimited length.</a:t>
            </a:r>
            <a:endParaRPr lang="en-IN" dirty="0"/>
          </a:p>
        </p:txBody>
      </p:sp>
      <p:sp>
        <p:nvSpPr>
          <p:cNvPr id="3" name="Title 2">
            <a:extLst>
              <a:ext uri="{FF2B5EF4-FFF2-40B4-BE49-F238E27FC236}">
                <a16:creationId xmlns:a16="http://schemas.microsoft.com/office/drawing/2014/main" id="{A25D7F3D-4EB8-403F-B846-4AE3596E3B54}"/>
              </a:ext>
            </a:extLst>
          </p:cNvPr>
          <p:cNvSpPr>
            <a:spLocks noGrp="1"/>
          </p:cNvSpPr>
          <p:nvPr>
            <p:ph type="title"/>
          </p:nvPr>
        </p:nvSpPr>
        <p:spPr/>
        <p:txBody>
          <a:bodyPr/>
          <a:lstStyle/>
          <a:p>
            <a:r>
              <a:rPr lang="en-IN" dirty="0"/>
              <a:t>Bit String Types</a:t>
            </a:r>
          </a:p>
        </p:txBody>
      </p:sp>
    </p:spTree>
    <p:extLst>
      <p:ext uri="{BB962C8B-B14F-4D97-AF65-F5344CB8AC3E}">
        <p14:creationId xmlns:p14="http://schemas.microsoft.com/office/powerpoint/2010/main" val="4576824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25D7F3D-4EB8-403F-B846-4AE3596E3B54}"/>
              </a:ext>
            </a:extLst>
          </p:cNvPr>
          <p:cNvSpPr>
            <a:spLocks noGrp="1"/>
          </p:cNvSpPr>
          <p:nvPr>
            <p:ph type="title"/>
          </p:nvPr>
        </p:nvSpPr>
        <p:spPr/>
        <p:txBody>
          <a:bodyPr/>
          <a:lstStyle/>
          <a:p>
            <a:r>
              <a:rPr lang="en-IN" dirty="0"/>
              <a:t>Bit String Types</a:t>
            </a:r>
          </a:p>
        </p:txBody>
      </p:sp>
      <p:pic>
        <p:nvPicPr>
          <p:cNvPr id="7" name="Picture 6">
            <a:extLst>
              <a:ext uri="{FF2B5EF4-FFF2-40B4-BE49-F238E27FC236}">
                <a16:creationId xmlns:a16="http://schemas.microsoft.com/office/drawing/2014/main" id="{6A723001-98A2-4CAF-847C-69A52C524416}"/>
              </a:ext>
            </a:extLst>
          </p:cNvPr>
          <p:cNvPicPr>
            <a:picLocks noChangeAspect="1"/>
          </p:cNvPicPr>
          <p:nvPr/>
        </p:nvPicPr>
        <p:blipFill>
          <a:blip r:embed="rId2"/>
          <a:stretch>
            <a:fillRect/>
          </a:stretch>
        </p:blipFill>
        <p:spPr>
          <a:xfrm>
            <a:off x="370034" y="1639110"/>
            <a:ext cx="8443279" cy="2291867"/>
          </a:xfrm>
          <a:prstGeom prst="rect">
            <a:avLst/>
          </a:prstGeom>
        </p:spPr>
      </p:pic>
    </p:spTree>
    <p:extLst>
      <p:ext uri="{BB962C8B-B14F-4D97-AF65-F5344CB8AC3E}">
        <p14:creationId xmlns:p14="http://schemas.microsoft.com/office/powerpoint/2010/main" val="2300774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8B7E054-56E7-40EF-9908-EE656698E2B1}"/>
              </a:ext>
            </a:extLst>
          </p:cNvPr>
          <p:cNvSpPr>
            <a:spLocks noGrp="1"/>
          </p:cNvSpPr>
          <p:nvPr>
            <p:ph sz="quarter" idx="12"/>
          </p:nvPr>
        </p:nvSpPr>
        <p:spPr>
          <a:xfrm>
            <a:off x="457201" y="1381124"/>
            <a:ext cx="8228012" cy="4953687"/>
          </a:xfrm>
        </p:spPr>
        <p:txBody>
          <a:bodyPr>
            <a:normAutofit/>
          </a:bodyPr>
          <a:lstStyle/>
          <a:p>
            <a:r>
              <a:rPr lang="en-US" dirty="0"/>
              <a:t>The data type </a:t>
            </a:r>
            <a:r>
              <a:rPr lang="en-US" dirty="0" err="1"/>
              <a:t>uuid</a:t>
            </a:r>
            <a:r>
              <a:rPr lang="en-US" dirty="0"/>
              <a:t> stores Universally Unique Identifiers (UUID) as defined by RFC 4122, ISO/IEC 9834-8:2005, and related standards. </a:t>
            </a:r>
          </a:p>
          <a:p>
            <a:r>
              <a:rPr lang="en-US" dirty="0"/>
              <a:t>(This identifier is a 128-bit quantity that is generated by an algorithm chosen to make it very unlikely that the same identifier will be generated by anyone else in the known universe using the same algorithm.</a:t>
            </a:r>
          </a:p>
          <a:p>
            <a:r>
              <a:rPr lang="en-US" dirty="0"/>
              <a:t>Therefore, for distributed systems, these identifiers provide a better uniqueness guarantee than sequence generators, which are only unique within a single database.</a:t>
            </a:r>
            <a:endParaRPr lang="en-IN" dirty="0"/>
          </a:p>
        </p:txBody>
      </p:sp>
      <p:sp>
        <p:nvSpPr>
          <p:cNvPr id="3" name="Title 2">
            <a:extLst>
              <a:ext uri="{FF2B5EF4-FFF2-40B4-BE49-F238E27FC236}">
                <a16:creationId xmlns:a16="http://schemas.microsoft.com/office/drawing/2014/main" id="{9CB3CDE3-E977-49B1-810B-0F5295879CC6}"/>
              </a:ext>
            </a:extLst>
          </p:cNvPr>
          <p:cNvSpPr>
            <a:spLocks noGrp="1"/>
          </p:cNvSpPr>
          <p:nvPr>
            <p:ph type="title"/>
          </p:nvPr>
        </p:nvSpPr>
        <p:spPr/>
        <p:txBody>
          <a:bodyPr/>
          <a:lstStyle/>
          <a:p>
            <a:r>
              <a:rPr lang="en-IN" dirty="0"/>
              <a:t>UUID Type</a:t>
            </a:r>
          </a:p>
        </p:txBody>
      </p:sp>
    </p:spTree>
    <p:extLst>
      <p:ext uri="{BB962C8B-B14F-4D97-AF65-F5344CB8AC3E}">
        <p14:creationId xmlns:p14="http://schemas.microsoft.com/office/powerpoint/2010/main" val="30515350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8B7E054-56E7-40EF-9908-EE656698E2B1}"/>
              </a:ext>
            </a:extLst>
          </p:cNvPr>
          <p:cNvSpPr>
            <a:spLocks noGrp="1"/>
          </p:cNvSpPr>
          <p:nvPr>
            <p:ph sz="quarter" idx="12"/>
          </p:nvPr>
        </p:nvSpPr>
        <p:spPr>
          <a:xfrm>
            <a:off x="457201" y="1381124"/>
            <a:ext cx="8228012" cy="4953687"/>
          </a:xfrm>
        </p:spPr>
        <p:txBody>
          <a:bodyPr>
            <a:normAutofit lnSpcReduction="10000"/>
          </a:bodyPr>
          <a:lstStyle/>
          <a:p>
            <a:r>
              <a:rPr lang="en-US" dirty="0"/>
              <a:t>PostgreSQL also accepts the following alternative forms for input: use of upper-case digits, the standard format surrounded by braces, omitting some or all hyphens, adding a hyphen after any group of four digits. </a:t>
            </a:r>
          </a:p>
          <a:p>
            <a:r>
              <a:rPr lang="en-US" dirty="0"/>
              <a:t>Examples are:</a:t>
            </a:r>
          </a:p>
          <a:p>
            <a:r>
              <a:rPr lang="en-US" dirty="0"/>
              <a:t>A0EEBC99-9C0B-4EF8-BB6D-6BB9BD380A11</a:t>
            </a:r>
          </a:p>
          <a:p>
            <a:r>
              <a:rPr lang="en-US" dirty="0"/>
              <a:t>{a0eebc99-9c0b-4ef8-bb6d-6bb9bd380a11}</a:t>
            </a:r>
          </a:p>
          <a:p>
            <a:r>
              <a:rPr lang="en-US" dirty="0"/>
              <a:t>a0eebc999c0b4ef8bb6d6bb9bd380a11</a:t>
            </a:r>
          </a:p>
          <a:p>
            <a:r>
              <a:rPr lang="en-US" dirty="0"/>
              <a:t>a0ee-bc99-9c0b-4ef8-bb6d-6bb9-bd38-0a11</a:t>
            </a:r>
          </a:p>
          <a:p>
            <a:r>
              <a:rPr lang="en-US" dirty="0"/>
              <a:t>{a0eebc99-9c0b4ef8-bb6d6bb9-bd380a11}</a:t>
            </a:r>
            <a:endParaRPr lang="en-IN" dirty="0"/>
          </a:p>
        </p:txBody>
      </p:sp>
      <p:sp>
        <p:nvSpPr>
          <p:cNvPr id="3" name="Title 2">
            <a:extLst>
              <a:ext uri="{FF2B5EF4-FFF2-40B4-BE49-F238E27FC236}">
                <a16:creationId xmlns:a16="http://schemas.microsoft.com/office/drawing/2014/main" id="{9CB3CDE3-E977-49B1-810B-0F5295879CC6}"/>
              </a:ext>
            </a:extLst>
          </p:cNvPr>
          <p:cNvSpPr>
            <a:spLocks noGrp="1"/>
          </p:cNvSpPr>
          <p:nvPr>
            <p:ph type="title"/>
          </p:nvPr>
        </p:nvSpPr>
        <p:spPr/>
        <p:txBody>
          <a:bodyPr/>
          <a:lstStyle/>
          <a:p>
            <a:r>
              <a:rPr lang="en-IN" dirty="0"/>
              <a:t>UUID Type</a:t>
            </a:r>
          </a:p>
        </p:txBody>
      </p:sp>
    </p:spTree>
    <p:extLst>
      <p:ext uri="{BB962C8B-B14F-4D97-AF65-F5344CB8AC3E}">
        <p14:creationId xmlns:p14="http://schemas.microsoft.com/office/powerpoint/2010/main" val="173370832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8B7E054-56E7-40EF-9908-EE656698E2B1}"/>
              </a:ext>
            </a:extLst>
          </p:cNvPr>
          <p:cNvSpPr>
            <a:spLocks noGrp="1"/>
          </p:cNvSpPr>
          <p:nvPr>
            <p:ph sz="quarter" idx="12"/>
          </p:nvPr>
        </p:nvSpPr>
        <p:spPr>
          <a:xfrm>
            <a:off x="457201" y="1381124"/>
            <a:ext cx="8228012" cy="4953687"/>
          </a:xfrm>
        </p:spPr>
        <p:txBody>
          <a:bodyPr>
            <a:normAutofit fontScale="92500" lnSpcReduction="20000"/>
          </a:bodyPr>
          <a:lstStyle/>
          <a:p>
            <a:pPr marL="0" indent="0">
              <a:buNone/>
            </a:pPr>
            <a:r>
              <a:rPr lang="en-US" dirty="0"/>
              <a:t>CREATE EXTENSION IF NOT EXISTS "</a:t>
            </a:r>
            <a:r>
              <a:rPr lang="en-US" dirty="0" err="1"/>
              <a:t>uuid-ossp</a:t>
            </a:r>
            <a:r>
              <a:rPr lang="en-US" dirty="0"/>
              <a:t>";</a:t>
            </a:r>
          </a:p>
          <a:p>
            <a:pPr marL="0" indent="0">
              <a:buNone/>
            </a:pPr>
            <a:r>
              <a:rPr lang="en-US" dirty="0"/>
              <a:t>SELECT uuid_generate_v1();</a:t>
            </a:r>
          </a:p>
          <a:p>
            <a:pPr marL="0" indent="0">
              <a:buNone/>
            </a:pPr>
            <a:r>
              <a:rPr lang="en-US" dirty="0"/>
              <a:t>SELECT uuid_generate_v4();</a:t>
            </a:r>
          </a:p>
          <a:p>
            <a:pPr marL="0" indent="0">
              <a:buNone/>
            </a:pPr>
            <a:r>
              <a:rPr lang="en-US" dirty="0"/>
              <a:t>CREATE TABLE contacts (</a:t>
            </a:r>
          </a:p>
          <a:p>
            <a:pPr marL="0" indent="0">
              <a:buNone/>
            </a:pPr>
            <a:r>
              <a:rPr lang="en-US" dirty="0"/>
              <a:t>    </a:t>
            </a:r>
            <a:r>
              <a:rPr lang="en-US" dirty="0" err="1"/>
              <a:t>contact_id</a:t>
            </a:r>
            <a:r>
              <a:rPr lang="en-US" dirty="0"/>
              <a:t> </a:t>
            </a:r>
            <a:r>
              <a:rPr lang="en-US" dirty="0" err="1"/>
              <a:t>uuid</a:t>
            </a:r>
            <a:r>
              <a:rPr lang="en-US" dirty="0"/>
              <a:t> DEFAULT uuid_generate_v4 (),</a:t>
            </a:r>
          </a:p>
          <a:p>
            <a:pPr marL="0" indent="0">
              <a:buNone/>
            </a:pPr>
            <a:r>
              <a:rPr lang="en-US" dirty="0"/>
              <a:t>    </a:t>
            </a:r>
            <a:r>
              <a:rPr lang="en-US" dirty="0" err="1"/>
              <a:t>first_name</a:t>
            </a:r>
            <a:r>
              <a:rPr lang="en-US" dirty="0"/>
              <a:t> VARCHAR NOT NULL,</a:t>
            </a:r>
          </a:p>
          <a:p>
            <a:pPr marL="0" indent="0">
              <a:buNone/>
            </a:pPr>
            <a:r>
              <a:rPr lang="en-US" dirty="0"/>
              <a:t>    </a:t>
            </a:r>
            <a:r>
              <a:rPr lang="en-US" dirty="0" err="1"/>
              <a:t>last_name</a:t>
            </a:r>
            <a:r>
              <a:rPr lang="en-US" dirty="0"/>
              <a:t> VARCHAR NOT NULL,</a:t>
            </a:r>
          </a:p>
          <a:p>
            <a:pPr marL="0" indent="0">
              <a:buNone/>
            </a:pPr>
            <a:r>
              <a:rPr lang="en-US" dirty="0"/>
              <a:t>    email VARCHAR NOT NULL,</a:t>
            </a:r>
          </a:p>
          <a:p>
            <a:pPr marL="0" indent="0">
              <a:buNone/>
            </a:pPr>
            <a:r>
              <a:rPr lang="en-US" dirty="0"/>
              <a:t>    phone VARCHAR,</a:t>
            </a:r>
          </a:p>
          <a:p>
            <a:pPr marL="0" indent="0">
              <a:buNone/>
            </a:pPr>
            <a:r>
              <a:rPr lang="en-US" dirty="0"/>
              <a:t>    PRIMARY KEY (</a:t>
            </a:r>
            <a:r>
              <a:rPr lang="en-US" dirty="0" err="1"/>
              <a:t>contact_id</a:t>
            </a:r>
            <a:r>
              <a:rPr lang="en-US" dirty="0"/>
              <a:t>)</a:t>
            </a:r>
          </a:p>
          <a:p>
            <a:pPr marL="0" indent="0">
              <a:buNone/>
            </a:pPr>
            <a:r>
              <a:rPr lang="en-US" dirty="0"/>
              <a:t>);</a:t>
            </a:r>
          </a:p>
        </p:txBody>
      </p:sp>
      <p:sp>
        <p:nvSpPr>
          <p:cNvPr id="3" name="Title 2">
            <a:extLst>
              <a:ext uri="{FF2B5EF4-FFF2-40B4-BE49-F238E27FC236}">
                <a16:creationId xmlns:a16="http://schemas.microsoft.com/office/drawing/2014/main" id="{9CB3CDE3-E977-49B1-810B-0F5295879CC6}"/>
              </a:ext>
            </a:extLst>
          </p:cNvPr>
          <p:cNvSpPr>
            <a:spLocks noGrp="1"/>
          </p:cNvSpPr>
          <p:nvPr>
            <p:ph type="title"/>
          </p:nvPr>
        </p:nvSpPr>
        <p:spPr/>
        <p:txBody>
          <a:bodyPr/>
          <a:lstStyle/>
          <a:p>
            <a:r>
              <a:rPr lang="en-IN" dirty="0"/>
              <a:t>UUID Type</a:t>
            </a:r>
          </a:p>
        </p:txBody>
      </p:sp>
    </p:spTree>
    <p:extLst>
      <p:ext uri="{BB962C8B-B14F-4D97-AF65-F5344CB8AC3E}">
        <p14:creationId xmlns:p14="http://schemas.microsoft.com/office/powerpoint/2010/main" val="14922197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8B7E054-56E7-40EF-9908-EE656698E2B1}"/>
              </a:ext>
            </a:extLst>
          </p:cNvPr>
          <p:cNvSpPr>
            <a:spLocks noGrp="1"/>
          </p:cNvSpPr>
          <p:nvPr>
            <p:ph sz="quarter" idx="12"/>
          </p:nvPr>
        </p:nvSpPr>
        <p:spPr>
          <a:xfrm>
            <a:off x="457201" y="1381124"/>
            <a:ext cx="8228012" cy="4953687"/>
          </a:xfrm>
        </p:spPr>
        <p:txBody>
          <a:bodyPr>
            <a:normAutofit fontScale="70000" lnSpcReduction="20000"/>
          </a:bodyPr>
          <a:lstStyle/>
          <a:p>
            <a:pPr marL="0" indent="0">
              <a:buNone/>
            </a:pPr>
            <a:r>
              <a:rPr lang="en-US" dirty="0"/>
              <a:t>INSERT INTO contacts (</a:t>
            </a:r>
          </a:p>
          <a:p>
            <a:pPr marL="0" indent="0">
              <a:buNone/>
            </a:pPr>
            <a:r>
              <a:rPr lang="en-US" dirty="0"/>
              <a:t>    </a:t>
            </a:r>
            <a:r>
              <a:rPr lang="en-US" dirty="0" err="1"/>
              <a:t>first_name</a:t>
            </a:r>
            <a:r>
              <a:rPr lang="en-US" dirty="0"/>
              <a:t>,</a:t>
            </a:r>
          </a:p>
          <a:p>
            <a:pPr marL="0" indent="0">
              <a:buNone/>
            </a:pPr>
            <a:r>
              <a:rPr lang="en-US" dirty="0"/>
              <a:t>    </a:t>
            </a:r>
            <a:r>
              <a:rPr lang="en-US" dirty="0" err="1"/>
              <a:t>last_name</a:t>
            </a:r>
            <a:r>
              <a:rPr lang="en-US" dirty="0"/>
              <a:t>,</a:t>
            </a:r>
          </a:p>
          <a:p>
            <a:pPr marL="0" indent="0">
              <a:buNone/>
            </a:pPr>
            <a:r>
              <a:rPr lang="en-US" dirty="0"/>
              <a:t>    email,</a:t>
            </a:r>
          </a:p>
          <a:p>
            <a:pPr marL="0" indent="0">
              <a:buNone/>
            </a:pPr>
            <a:r>
              <a:rPr lang="en-US" dirty="0"/>
              <a:t>    phone</a:t>
            </a:r>
          </a:p>
          <a:p>
            <a:pPr marL="0" indent="0">
              <a:buNone/>
            </a:pPr>
            <a:r>
              <a:rPr lang="en-US" dirty="0"/>
              <a:t>)</a:t>
            </a:r>
          </a:p>
          <a:p>
            <a:pPr marL="0" indent="0">
              <a:buNone/>
            </a:pPr>
            <a:r>
              <a:rPr lang="en-US" dirty="0"/>
              <a:t>VALUES</a:t>
            </a:r>
          </a:p>
          <a:p>
            <a:pPr marL="0" indent="0">
              <a:buNone/>
            </a:pPr>
            <a:r>
              <a:rPr lang="en-US" dirty="0"/>
              <a:t>    (</a:t>
            </a:r>
          </a:p>
          <a:p>
            <a:pPr marL="0" indent="0">
              <a:buNone/>
            </a:pPr>
            <a:r>
              <a:rPr lang="en-US" dirty="0"/>
              <a:t>        'John',</a:t>
            </a:r>
          </a:p>
          <a:p>
            <a:pPr marL="0" indent="0">
              <a:buNone/>
            </a:pPr>
            <a:r>
              <a:rPr lang="en-US" dirty="0"/>
              <a:t>        'Smith',</a:t>
            </a:r>
          </a:p>
          <a:p>
            <a:pPr marL="0" indent="0">
              <a:buNone/>
            </a:pPr>
            <a:r>
              <a:rPr lang="en-US" dirty="0"/>
              <a:t>        'john.smith@example.com',</a:t>
            </a:r>
          </a:p>
          <a:p>
            <a:pPr marL="0" indent="0">
              <a:buNone/>
            </a:pPr>
            <a:r>
              <a:rPr lang="en-US" dirty="0"/>
              <a:t>        '408-237-2345'</a:t>
            </a:r>
          </a:p>
          <a:p>
            <a:pPr marL="0" indent="0">
              <a:buNone/>
            </a:pPr>
            <a:r>
              <a:rPr lang="en-US" dirty="0"/>
              <a:t>    ),</a:t>
            </a:r>
          </a:p>
          <a:p>
            <a:pPr marL="0" indent="0">
              <a:buNone/>
            </a:pPr>
            <a:endParaRPr lang="en-IN" dirty="0"/>
          </a:p>
        </p:txBody>
      </p:sp>
      <p:sp>
        <p:nvSpPr>
          <p:cNvPr id="3" name="Title 2">
            <a:extLst>
              <a:ext uri="{FF2B5EF4-FFF2-40B4-BE49-F238E27FC236}">
                <a16:creationId xmlns:a16="http://schemas.microsoft.com/office/drawing/2014/main" id="{9CB3CDE3-E977-49B1-810B-0F5295879CC6}"/>
              </a:ext>
            </a:extLst>
          </p:cNvPr>
          <p:cNvSpPr>
            <a:spLocks noGrp="1"/>
          </p:cNvSpPr>
          <p:nvPr>
            <p:ph type="title"/>
          </p:nvPr>
        </p:nvSpPr>
        <p:spPr/>
        <p:txBody>
          <a:bodyPr/>
          <a:lstStyle/>
          <a:p>
            <a:r>
              <a:rPr lang="en-IN" dirty="0"/>
              <a:t>UUID Type</a:t>
            </a:r>
          </a:p>
        </p:txBody>
      </p:sp>
    </p:spTree>
    <p:extLst>
      <p:ext uri="{BB962C8B-B14F-4D97-AF65-F5344CB8AC3E}">
        <p14:creationId xmlns:p14="http://schemas.microsoft.com/office/powerpoint/2010/main" val="366992299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8B7E054-56E7-40EF-9908-EE656698E2B1}"/>
              </a:ext>
            </a:extLst>
          </p:cNvPr>
          <p:cNvSpPr>
            <a:spLocks noGrp="1"/>
          </p:cNvSpPr>
          <p:nvPr>
            <p:ph sz="quarter" idx="12"/>
          </p:nvPr>
        </p:nvSpPr>
        <p:spPr>
          <a:xfrm>
            <a:off x="457201" y="1381124"/>
            <a:ext cx="8228012" cy="4953687"/>
          </a:xfrm>
        </p:spPr>
        <p:txBody>
          <a:bodyPr>
            <a:normAutofit fontScale="85000" lnSpcReduction="20000"/>
          </a:bodyPr>
          <a:lstStyle/>
          <a:p>
            <a:pPr marL="0" indent="0">
              <a:buNone/>
            </a:pPr>
            <a:r>
              <a:rPr lang="en-US" dirty="0"/>
              <a:t> (</a:t>
            </a:r>
          </a:p>
          <a:p>
            <a:pPr marL="0" indent="0">
              <a:buNone/>
            </a:pPr>
            <a:r>
              <a:rPr lang="en-US" dirty="0"/>
              <a:t>        'Jane',</a:t>
            </a:r>
          </a:p>
          <a:p>
            <a:pPr marL="0" indent="0">
              <a:buNone/>
            </a:pPr>
            <a:r>
              <a:rPr lang="en-US" dirty="0"/>
              <a:t>        'Smith',</a:t>
            </a:r>
          </a:p>
          <a:p>
            <a:pPr marL="0" indent="0">
              <a:buNone/>
            </a:pPr>
            <a:r>
              <a:rPr lang="en-US" dirty="0"/>
              <a:t>        'jane.smith@example.com',</a:t>
            </a:r>
          </a:p>
          <a:p>
            <a:pPr marL="0" indent="0">
              <a:buNone/>
            </a:pPr>
            <a:r>
              <a:rPr lang="en-US" dirty="0"/>
              <a:t>        '408-237-2344'</a:t>
            </a:r>
          </a:p>
          <a:p>
            <a:pPr marL="0" indent="0">
              <a:buNone/>
            </a:pPr>
            <a:r>
              <a:rPr lang="en-US" dirty="0"/>
              <a:t>    ),</a:t>
            </a:r>
          </a:p>
          <a:p>
            <a:pPr marL="0" indent="0">
              <a:buNone/>
            </a:pPr>
            <a:r>
              <a:rPr lang="en-US" dirty="0"/>
              <a:t>    (</a:t>
            </a:r>
          </a:p>
          <a:p>
            <a:pPr marL="0" indent="0">
              <a:buNone/>
            </a:pPr>
            <a:r>
              <a:rPr lang="en-US" dirty="0"/>
              <a:t>        'Alex',</a:t>
            </a:r>
          </a:p>
          <a:p>
            <a:pPr marL="0" indent="0">
              <a:buNone/>
            </a:pPr>
            <a:r>
              <a:rPr lang="en-US" dirty="0"/>
              <a:t>        'Smith',</a:t>
            </a:r>
          </a:p>
          <a:p>
            <a:pPr marL="0" indent="0">
              <a:buNone/>
            </a:pPr>
            <a:r>
              <a:rPr lang="en-US" dirty="0"/>
              <a:t>        'alex.smith@example.com',</a:t>
            </a:r>
          </a:p>
          <a:p>
            <a:pPr marL="0" indent="0">
              <a:buNone/>
            </a:pPr>
            <a:r>
              <a:rPr lang="en-US" dirty="0"/>
              <a:t>        '408-237-2343'</a:t>
            </a:r>
          </a:p>
          <a:p>
            <a:pPr marL="0" indent="0">
              <a:buNone/>
            </a:pPr>
            <a:r>
              <a:rPr lang="en-US" dirty="0"/>
              <a:t>    );</a:t>
            </a:r>
            <a:endParaRPr lang="en-IN" dirty="0"/>
          </a:p>
        </p:txBody>
      </p:sp>
      <p:sp>
        <p:nvSpPr>
          <p:cNvPr id="3" name="Title 2">
            <a:extLst>
              <a:ext uri="{FF2B5EF4-FFF2-40B4-BE49-F238E27FC236}">
                <a16:creationId xmlns:a16="http://schemas.microsoft.com/office/drawing/2014/main" id="{9CB3CDE3-E977-49B1-810B-0F5295879CC6}"/>
              </a:ext>
            </a:extLst>
          </p:cNvPr>
          <p:cNvSpPr>
            <a:spLocks noGrp="1"/>
          </p:cNvSpPr>
          <p:nvPr>
            <p:ph type="title"/>
          </p:nvPr>
        </p:nvSpPr>
        <p:spPr/>
        <p:txBody>
          <a:bodyPr/>
          <a:lstStyle/>
          <a:p>
            <a:r>
              <a:rPr lang="en-IN" dirty="0"/>
              <a:t>UUID Type</a:t>
            </a:r>
          </a:p>
        </p:txBody>
      </p:sp>
    </p:spTree>
    <p:extLst>
      <p:ext uri="{BB962C8B-B14F-4D97-AF65-F5344CB8AC3E}">
        <p14:creationId xmlns:p14="http://schemas.microsoft.com/office/powerpoint/2010/main" val="328872431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EE990D6-41F2-4035-A10D-FE4468325F83}"/>
              </a:ext>
            </a:extLst>
          </p:cNvPr>
          <p:cNvSpPr>
            <a:spLocks noGrp="1"/>
          </p:cNvSpPr>
          <p:nvPr>
            <p:ph sz="quarter" idx="12"/>
          </p:nvPr>
        </p:nvSpPr>
        <p:spPr/>
        <p:txBody>
          <a:bodyPr/>
          <a:lstStyle/>
          <a:p>
            <a:r>
              <a:rPr lang="en-US" dirty="0"/>
              <a:t>The xml data type can be used to store XML data. </a:t>
            </a:r>
          </a:p>
          <a:p>
            <a:r>
              <a:rPr lang="en-US" dirty="0"/>
              <a:t>Its advantage over storing XML data in a text field is that it checks the input values for well-formedness, and there are support functions to perform type-safe operations on it; </a:t>
            </a:r>
          </a:p>
          <a:p>
            <a:r>
              <a:rPr lang="en-US" dirty="0"/>
              <a:t>Use of this data type requires the installation to have been built with configure --with-</a:t>
            </a:r>
            <a:r>
              <a:rPr lang="en-US" dirty="0" err="1"/>
              <a:t>libxml</a:t>
            </a:r>
            <a:r>
              <a:rPr lang="en-US" dirty="0"/>
              <a:t>.</a:t>
            </a:r>
            <a:endParaRPr lang="en-IN" dirty="0"/>
          </a:p>
        </p:txBody>
      </p:sp>
      <p:sp>
        <p:nvSpPr>
          <p:cNvPr id="3" name="Title 2">
            <a:extLst>
              <a:ext uri="{FF2B5EF4-FFF2-40B4-BE49-F238E27FC236}">
                <a16:creationId xmlns:a16="http://schemas.microsoft.com/office/drawing/2014/main" id="{355E1097-6289-4D92-9A2B-79ECF467DD59}"/>
              </a:ext>
            </a:extLst>
          </p:cNvPr>
          <p:cNvSpPr>
            <a:spLocks noGrp="1"/>
          </p:cNvSpPr>
          <p:nvPr>
            <p:ph type="title"/>
          </p:nvPr>
        </p:nvSpPr>
        <p:spPr/>
        <p:txBody>
          <a:bodyPr/>
          <a:lstStyle/>
          <a:p>
            <a:r>
              <a:rPr lang="en-IN" dirty="0"/>
              <a:t>XML Type</a:t>
            </a:r>
          </a:p>
        </p:txBody>
      </p:sp>
    </p:spTree>
    <p:extLst>
      <p:ext uri="{BB962C8B-B14F-4D97-AF65-F5344CB8AC3E}">
        <p14:creationId xmlns:p14="http://schemas.microsoft.com/office/powerpoint/2010/main" val="418553390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EE990D6-41F2-4035-A10D-FE4468325F83}"/>
              </a:ext>
            </a:extLst>
          </p:cNvPr>
          <p:cNvSpPr>
            <a:spLocks noGrp="1"/>
          </p:cNvSpPr>
          <p:nvPr>
            <p:ph sz="quarter" idx="12"/>
          </p:nvPr>
        </p:nvSpPr>
        <p:spPr/>
        <p:txBody>
          <a:bodyPr/>
          <a:lstStyle/>
          <a:p>
            <a:r>
              <a:rPr lang="en-US" dirty="0"/>
              <a:t>The xml type can store well-formed “documents”, as defined by the XML standard, as well as “content” fragments, which are defined by reference to the more permissive “document node”1 of the XQuery and XPath data model. </a:t>
            </a:r>
          </a:p>
          <a:p>
            <a:r>
              <a:rPr lang="en-US" dirty="0"/>
              <a:t>Roughly, this means that content fragments can have more than one top-level element or character node.</a:t>
            </a:r>
          </a:p>
          <a:p>
            <a:r>
              <a:rPr lang="en-US" dirty="0"/>
              <a:t>The expression </a:t>
            </a:r>
            <a:r>
              <a:rPr lang="en-US" dirty="0" err="1"/>
              <a:t>xmlvalue</a:t>
            </a:r>
            <a:r>
              <a:rPr lang="en-US" dirty="0"/>
              <a:t> IS DOCUMENT can be used to evaluate whether a particular xml value is a full document or only a content fragment.</a:t>
            </a:r>
            <a:endParaRPr lang="en-IN" dirty="0"/>
          </a:p>
        </p:txBody>
      </p:sp>
      <p:sp>
        <p:nvSpPr>
          <p:cNvPr id="3" name="Title 2">
            <a:extLst>
              <a:ext uri="{FF2B5EF4-FFF2-40B4-BE49-F238E27FC236}">
                <a16:creationId xmlns:a16="http://schemas.microsoft.com/office/drawing/2014/main" id="{355E1097-6289-4D92-9A2B-79ECF467DD59}"/>
              </a:ext>
            </a:extLst>
          </p:cNvPr>
          <p:cNvSpPr>
            <a:spLocks noGrp="1"/>
          </p:cNvSpPr>
          <p:nvPr>
            <p:ph type="title"/>
          </p:nvPr>
        </p:nvSpPr>
        <p:spPr/>
        <p:txBody>
          <a:bodyPr/>
          <a:lstStyle/>
          <a:p>
            <a:r>
              <a:rPr lang="en-IN" dirty="0"/>
              <a:t>XML Type</a:t>
            </a:r>
          </a:p>
        </p:txBody>
      </p:sp>
    </p:spTree>
    <p:extLst>
      <p:ext uri="{BB962C8B-B14F-4D97-AF65-F5344CB8AC3E}">
        <p14:creationId xmlns:p14="http://schemas.microsoft.com/office/powerpoint/2010/main" val="25065331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55E1097-6289-4D92-9A2B-79ECF467DD59}"/>
              </a:ext>
            </a:extLst>
          </p:cNvPr>
          <p:cNvSpPr>
            <a:spLocks noGrp="1"/>
          </p:cNvSpPr>
          <p:nvPr>
            <p:ph type="title"/>
          </p:nvPr>
        </p:nvSpPr>
        <p:spPr/>
        <p:txBody>
          <a:bodyPr/>
          <a:lstStyle/>
          <a:p>
            <a:r>
              <a:rPr lang="en-IN" dirty="0"/>
              <a:t>XML Type</a:t>
            </a:r>
          </a:p>
        </p:txBody>
      </p:sp>
      <p:pic>
        <p:nvPicPr>
          <p:cNvPr id="7" name="Picture 6">
            <a:extLst>
              <a:ext uri="{FF2B5EF4-FFF2-40B4-BE49-F238E27FC236}">
                <a16:creationId xmlns:a16="http://schemas.microsoft.com/office/drawing/2014/main" id="{263707B2-767F-47A0-B90B-BC372050CD36}"/>
              </a:ext>
            </a:extLst>
          </p:cNvPr>
          <p:cNvPicPr>
            <a:picLocks noChangeAspect="1"/>
          </p:cNvPicPr>
          <p:nvPr/>
        </p:nvPicPr>
        <p:blipFill>
          <a:blip r:embed="rId2"/>
          <a:stretch>
            <a:fillRect/>
          </a:stretch>
        </p:blipFill>
        <p:spPr>
          <a:xfrm>
            <a:off x="461035" y="1524953"/>
            <a:ext cx="8285506" cy="4527055"/>
          </a:xfrm>
          <a:prstGeom prst="rect">
            <a:avLst/>
          </a:prstGeom>
        </p:spPr>
      </p:pic>
    </p:spTree>
    <p:extLst>
      <p:ext uri="{BB962C8B-B14F-4D97-AF65-F5344CB8AC3E}">
        <p14:creationId xmlns:p14="http://schemas.microsoft.com/office/powerpoint/2010/main" val="34205327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7E09CC1-7059-49FF-ACE2-5245E087BB06}"/>
              </a:ext>
            </a:extLst>
          </p:cNvPr>
          <p:cNvSpPr>
            <a:spLocks noGrp="1"/>
          </p:cNvSpPr>
          <p:nvPr>
            <p:ph type="title"/>
          </p:nvPr>
        </p:nvSpPr>
        <p:spPr/>
        <p:txBody>
          <a:bodyPr/>
          <a:lstStyle/>
          <a:p>
            <a:r>
              <a:rPr lang="en-IN" dirty="0"/>
              <a:t>Xml Type</a:t>
            </a:r>
          </a:p>
        </p:txBody>
      </p:sp>
      <p:pic>
        <p:nvPicPr>
          <p:cNvPr id="5" name="Picture 4">
            <a:extLst>
              <a:ext uri="{FF2B5EF4-FFF2-40B4-BE49-F238E27FC236}">
                <a16:creationId xmlns:a16="http://schemas.microsoft.com/office/drawing/2014/main" id="{BDE66D68-C93A-4DA0-B24E-E68E374C1F8C}"/>
              </a:ext>
            </a:extLst>
          </p:cNvPr>
          <p:cNvPicPr>
            <a:picLocks noChangeAspect="1"/>
          </p:cNvPicPr>
          <p:nvPr/>
        </p:nvPicPr>
        <p:blipFill>
          <a:blip r:embed="rId2"/>
          <a:stretch>
            <a:fillRect/>
          </a:stretch>
        </p:blipFill>
        <p:spPr>
          <a:xfrm>
            <a:off x="461035" y="1137998"/>
            <a:ext cx="8570222" cy="3949781"/>
          </a:xfrm>
          <a:prstGeom prst="rect">
            <a:avLst/>
          </a:prstGeom>
        </p:spPr>
      </p:pic>
      <p:pic>
        <p:nvPicPr>
          <p:cNvPr id="7" name="Picture 6">
            <a:extLst>
              <a:ext uri="{FF2B5EF4-FFF2-40B4-BE49-F238E27FC236}">
                <a16:creationId xmlns:a16="http://schemas.microsoft.com/office/drawing/2014/main" id="{317CCE9B-7BDC-46D0-A30A-93DA50AF65DD}"/>
              </a:ext>
            </a:extLst>
          </p:cNvPr>
          <p:cNvPicPr>
            <a:picLocks noChangeAspect="1"/>
          </p:cNvPicPr>
          <p:nvPr/>
        </p:nvPicPr>
        <p:blipFill>
          <a:blip r:embed="rId3"/>
          <a:stretch>
            <a:fillRect/>
          </a:stretch>
        </p:blipFill>
        <p:spPr>
          <a:xfrm>
            <a:off x="461035" y="4999779"/>
            <a:ext cx="7759138" cy="1858221"/>
          </a:xfrm>
          <a:prstGeom prst="rect">
            <a:avLst/>
          </a:prstGeom>
        </p:spPr>
      </p:pic>
    </p:spTree>
    <p:extLst>
      <p:ext uri="{BB962C8B-B14F-4D97-AF65-F5344CB8AC3E}">
        <p14:creationId xmlns:p14="http://schemas.microsoft.com/office/powerpoint/2010/main" val="25482572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249015F-C916-405D-8C8C-79B2D31AB22F}"/>
              </a:ext>
            </a:extLst>
          </p:cNvPr>
          <p:cNvSpPr>
            <a:spLocks noGrp="1"/>
          </p:cNvSpPr>
          <p:nvPr>
            <p:ph sz="quarter" idx="12"/>
          </p:nvPr>
        </p:nvSpPr>
        <p:spPr/>
        <p:txBody>
          <a:bodyPr/>
          <a:lstStyle/>
          <a:p>
            <a:r>
              <a:rPr lang="en-US" dirty="0"/>
              <a:t>JSON data types are for storing JSON (JavaScript Object Notation) data, as specified in RFC 71592.</a:t>
            </a:r>
          </a:p>
          <a:p>
            <a:r>
              <a:rPr lang="en-US" dirty="0"/>
              <a:t>Such data can also be stored as text, but the JSON data types have the advantage of enforcing that each stored value is valid according to the JSON rules.</a:t>
            </a:r>
          </a:p>
          <a:p>
            <a:r>
              <a:rPr lang="en-US" dirty="0"/>
              <a:t>There are also assorted JSON-specific functions and operators available for data stored in these data types;</a:t>
            </a:r>
          </a:p>
          <a:p>
            <a:r>
              <a:rPr lang="en-US" dirty="0"/>
              <a:t>PostgreSQL offers two types for storing JSON data: json and </a:t>
            </a:r>
            <a:r>
              <a:rPr lang="en-US" dirty="0" err="1"/>
              <a:t>jsonb</a:t>
            </a:r>
            <a:r>
              <a:rPr lang="en-US" dirty="0"/>
              <a:t>.</a:t>
            </a:r>
            <a:endParaRPr lang="en-IN" dirty="0"/>
          </a:p>
        </p:txBody>
      </p:sp>
      <p:sp>
        <p:nvSpPr>
          <p:cNvPr id="3" name="Title 2">
            <a:extLst>
              <a:ext uri="{FF2B5EF4-FFF2-40B4-BE49-F238E27FC236}">
                <a16:creationId xmlns:a16="http://schemas.microsoft.com/office/drawing/2014/main" id="{BC4C36C4-D432-4DDB-9E9D-DBE90C900565}"/>
              </a:ext>
            </a:extLst>
          </p:cNvPr>
          <p:cNvSpPr>
            <a:spLocks noGrp="1"/>
          </p:cNvSpPr>
          <p:nvPr>
            <p:ph type="title"/>
          </p:nvPr>
        </p:nvSpPr>
        <p:spPr/>
        <p:txBody>
          <a:bodyPr/>
          <a:lstStyle/>
          <a:p>
            <a:r>
              <a:rPr lang="en-IN" dirty="0"/>
              <a:t>JSON Types</a:t>
            </a:r>
          </a:p>
        </p:txBody>
      </p:sp>
    </p:spTree>
    <p:extLst>
      <p:ext uri="{BB962C8B-B14F-4D97-AF65-F5344CB8AC3E}">
        <p14:creationId xmlns:p14="http://schemas.microsoft.com/office/powerpoint/2010/main" val="10054553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249015F-C916-405D-8C8C-79B2D31AB22F}"/>
              </a:ext>
            </a:extLst>
          </p:cNvPr>
          <p:cNvSpPr>
            <a:spLocks noGrp="1"/>
          </p:cNvSpPr>
          <p:nvPr>
            <p:ph sz="quarter" idx="12"/>
          </p:nvPr>
        </p:nvSpPr>
        <p:spPr/>
        <p:txBody>
          <a:bodyPr>
            <a:normAutofit/>
          </a:bodyPr>
          <a:lstStyle/>
          <a:p>
            <a:r>
              <a:rPr lang="en-US" dirty="0"/>
              <a:t>The json and </a:t>
            </a:r>
            <a:r>
              <a:rPr lang="en-US" dirty="0" err="1"/>
              <a:t>jsonb</a:t>
            </a:r>
            <a:r>
              <a:rPr lang="en-US" dirty="0"/>
              <a:t> data types accept almost identical sets of values as input. </a:t>
            </a:r>
          </a:p>
          <a:p>
            <a:r>
              <a:rPr lang="en-US" dirty="0"/>
              <a:t>The major practical difference is one of efficiency. </a:t>
            </a:r>
          </a:p>
          <a:p>
            <a:r>
              <a:rPr lang="en-US" dirty="0"/>
              <a:t>The json data type stores an exact copy of the input text, which processing functions must reparse on each execution; while </a:t>
            </a:r>
            <a:r>
              <a:rPr lang="en-US" dirty="0" err="1"/>
              <a:t>jsonb</a:t>
            </a:r>
            <a:r>
              <a:rPr lang="en-US" dirty="0"/>
              <a:t> data is stored in a decomposed binary format that makes it slightly slower to input due to added conversion overhead, but significantly faster to process, since no reparsing is needed. </a:t>
            </a:r>
          </a:p>
          <a:p>
            <a:r>
              <a:rPr lang="en-US" dirty="0" err="1"/>
              <a:t>jsonb</a:t>
            </a:r>
            <a:r>
              <a:rPr lang="en-US" dirty="0"/>
              <a:t> also supports indexing, which can be a significant advantage.</a:t>
            </a:r>
            <a:endParaRPr lang="en-IN" dirty="0"/>
          </a:p>
        </p:txBody>
      </p:sp>
      <p:sp>
        <p:nvSpPr>
          <p:cNvPr id="3" name="Title 2">
            <a:extLst>
              <a:ext uri="{FF2B5EF4-FFF2-40B4-BE49-F238E27FC236}">
                <a16:creationId xmlns:a16="http://schemas.microsoft.com/office/drawing/2014/main" id="{BC4C36C4-D432-4DDB-9E9D-DBE90C900565}"/>
              </a:ext>
            </a:extLst>
          </p:cNvPr>
          <p:cNvSpPr>
            <a:spLocks noGrp="1"/>
          </p:cNvSpPr>
          <p:nvPr>
            <p:ph type="title"/>
          </p:nvPr>
        </p:nvSpPr>
        <p:spPr/>
        <p:txBody>
          <a:bodyPr/>
          <a:lstStyle/>
          <a:p>
            <a:r>
              <a:rPr lang="en-IN" dirty="0"/>
              <a:t>JSON Types</a:t>
            </a:r>
          </a:p>
        </p:txBody>
      </p:sp>
    </p:spTree>
    <p:extLst>
      <p:ext uri="{BB962C8B-B14F-4D97-AF65-F5344CB8AC3E}">
        <p14:creationId xmlns:p14="http://schemas.microsoft.com/office/powerpoint/2010/main" val="380218156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249015F-C916-405D-8C8C-79B2D31AB22F}"/>
              </a:ext>
            </a:extLst>
          </p:cNvPr>
          <p:cNvSpPr>
            <a:spLocks noGrp="1"/>
          </p:cNvSpPr>
          <p:nvPr>
            <p:ph sz="quarter" idx="12"/>
          </p:nvPr>
        </p:nvSpPr>
        <p:spPr/>
        <p:txBody>
          <a:bodyPr>
            <a:normAutofit fontScale="92500" lnSpcReduction="20000"/>
          </a:bodyPr>
          <a:lstStyle/>
          <a:p>
            <a:r>
              <a:rPr lang="en-US" dirty="0"/>
              <a:t>Because the json type stores an exact copy of the input text, it will preserve semantically-insignificant white space between tokens, as well as the order of keys within JSON objects. </a:t>
            </a:r>
          </a:p>
          <a:p>
            <a:r>
              <a:rPr lang="en-US" dirty="0"/>
              <a:t>Also, if a JSON object within the value contains the same key more than once, all the key/value pairs are kept.</a:t>
            </a:r>
          </a:p>
          <a:p>
            <a:r>
              <a:rPr lang="en-US" dirty="0"/>
              <a:t>By contrast, </a:t>
            </a:r>
            <a:r>
              <a:rPr lang="en-US" dirty="0" err="1"/>
              <a:t>jsonb</a:t>
            </a:r>
            <a:r>
              <a:rPr lang="en-US" dirty="0"/>
              <a:t> does not preserve white space, does not preserve the order of object keys, and does not keep duplicate object keys. </a:t>
            </a:r>
          </a:p>
          <a:p>
            <a:r>
              <a:rPr lang="en-US" dirty="0"/>
              <a:t>If duplicate keys are specified in the input, only the last value is kept.</a:t>
            </a:r>
          </a:p>
          <a:p>
            <a:r>
              <a:rPr lang="en-US" dirty="0"/>
              <a:t>In general, most applications should prefer to store JSON data as </a:t>
            </a:r>
            <a:r>
              <a:rPr lang="en-US" dirty="0" err="1"/>
              <a:t>jsonb</a:t>
            </a:r>
            <a:r>
              <a:rPr lang="en-US" dirty="0"/>
              <a:t>, unless there are quite specialized needs, such as legacy assumptions about ordering of object keys.</a:t>
            </a:r>
          </a:p>
          <a:p>
            <a:endParaRPr lang="en-IN" dirty="0"/>
          </a:p>
        </p:txBody>
      </p:sp>
      <p:sp>
        <p:nvSpPr>
          <p:cNvPr id="3" name="Title 2">
            <a:extLst>
              <a:ext uri="{FF2B5EF4-FFF2-40B4-BE49-F238E27FC236}">
                <a16:creationId xmlns:a16="http://schemas.microsoft.com/office/drawing/2014/main" id="{BC4C36C4-D432-4DDB-9E9D-DBE90C900565}"/>
              </a:ext>
            </a:extLst>
          </p:cNvPr>
          <p:cNvSpPr>
            <a:spLocks noGrp="1"/>
          </p:cNvSpPr>
          <p:nvPr>
            <p:ph type="title"/>
          </p:nvPr>
        </p:nvSpPr>
        <p:spPr/>
        <p:txBody>
          <a:bodyPr/>
          <a:lstStyle/>
          <a:p>
            <a:r>
              <a:rPr lang="en-IN" dirty="0"/>
              <a:t>JSON Types</a:t>
            </a:r>
          </a:p>
        </p:txBody>
      </p:sp>
    </p:spTree>
    <p:extLst>
      <p:ext uri="{BB962C8B-B14F-4D97-AF65-F5344CB8AC3E}">
        <p14:creationId xmlns:p14="http://schemas.microsoft.com/office/powerpoint/2010/main" val="329983023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4C36C4-D432-4DDB-9E9D-DBE90C900565}"/>
              </a:ext>
            </a:extLst>
          </p:cNvPr>
          <p:cNvSpPr>
            <a:spLocks noGrp="1"/>
          </p:cNvSpPr>
          <p:nvPr>
            <p:ph type="title"/>
          </p:nvPr>
        </p:nvSpPr>
        <p:spPr/>
        <p:txBody>
          <a:bodyPr/>
          <a:lstStyle/>
          <a:p>
            <a:r>
              <a:rPr lang="en-IN" dirty="0"/>
              <a:t>JSON Types</a:t>
            </a:r>
          </a:p>
        </p:txBody>
      </p:sp>
      <p:pic>
        <p:nvPicPr>
          <p:cNvPr id="7" name="Picture 6">
            <a:extLst>
              <a:ext uri="{FF2B5EF4-FFF2-40B4-BE49-F238E27FC236}">
                <a16:creationId xmlns:a16="http://schemas.microsoft.com/office/drawing/2014/main" id="{D95423BD-D35F-497C-AE8C-91E3AAEEFF61}"/>
              </a:ext>
            </a:extLst>
          </p:cNvPr>
          <p:cNvPicPr>
            <a:picLocks noChangeAspect="1"/>
          </p:cNvPicPr>
          <p:nvPr/>
        </p:nvPicPr>
        <p:blipFill>
          <a:blip r:embed="rId2"/>
          <a:stretch>
            <a:fillRect/>
          </a:stretch>
        </p:blipFill>
        <p:spPr>
          <a:xfrm>
            <a:off x="354103" y="1474575"/>
            <a:ext cx="8609912" cy="2692072"/>
          </a:xfrm>
          <a:prstGeom prst="rect">
            <a:avLst/>
          </a:prstGeom>
        </p:spPr>
      </p:pic>
    </p:spTree>
    <p:extLst>
      <p:ext uri="{BB962C8B-B14F-4D97-AF65-F5344CB8AC3E}">
        <p14:creationId xmlns:p14="http://schemas.microsoft.com/office/powerpoint/2010/main" val="21765252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D8E130-E055-4B2F-AFDF-994EAB3E1F17}"/>
              </a:ext>
            </a:extLst>
          </p:cNvPr>
          <p:cNvSpPr>
            <a:spLocks noGrp="1"/>
          </p:cNvSpPr>
          <p:nvPr>
            <p:ph type="title"/>
          </p:nvPr>
        </p:nvSpPr>
        <p:spPr/>
        <p:txBody>
          <a:bodyPr/>
          <a:lstStyle/>
          <a:p>
            <a:r>
              <a:rPr lang="en-IN" dirty="0"/>
              <a:t>Arrays</a:t>
            </a:r>
          </a:p>
        </p:txBody>
      </p:sp>
      <p:pic>
        <p:nvPicPr>
          <p:cNvPr id="5" name="Picture 4">
            <a:extLst>
              <a:ext uri="{FF2B5EF4-FFF2-40B4-BE49-F238E27FC236}">
                <a16:creationId xmlns:a16="http://schemas.microsoft.com/office/drawing/2014/main" id="{842FFC33-9E4B-46FB-AF40-C5076E7927F6}"/>
              </a:ext>
            </a:extLst>
          </p:cNvPr>
          <p:cNvPicPr>
            <a:picLocks noChangeAspect="1"/>
          </p:cNvPicPr>
          <p:nvPr/>
        </p:nvPicPr>
        <p:blipFill>
          <a:blip r:embed="rId2"/>
          <a:stretch>
            <a:fillRect/>
          </a:stretch>
        </p:blipFill>
        <p:spPr>
          <a:xfrm>
            <a:off x="461035" y="1274969"/>
            <a:ext cx="7604909" cy="1864158"/>
          </a:xfrm>
          <a:prstGeom prst="rect">
            <a:avLst/>
          </a:prstGeom>
        </p:spPr>
      </p:pic>
      <p:pic>
        <p:nvPicPr>
          <p:cNvPr id="7" name="Picture 6">
            <a:extLst>
              <a:ext uri="{FF2B5EF4-FFF2-40B4-BE49-F238E27FC236}">
                <a16:creationId xmlns:a16="http://schemas.microsoft.com/office/drawing/2014/main" id="{788C4392-CEB3-4FA6-BB3C-739C48FF57AC}"/>
              </a:ext>
            </a:extLst>
          </p:cNvPr>
          <p:cNvPicPr>
            <a:picLocks noChangeAspect="1"/>
          </p:cNvPicPr>
          <p:nvPr/>
        </p:nvPicPr>
        <p:blipFill rotWithShape="1">
          <a:blip r:embed="rId3"/>
          <a:srcRect b="55578"/>
          <a:stretch/>
        </p:blipFill>
        <p:spPr>
          <a:xfrm>
            <a:off x="461035" y="3456221"/>
            <a:ext cx="8528028" cy="2482665"/>
          </a:xfrm>
          <a:prstGeom prst="rect">
            <a:avLst/>
          </a:prstGeom>
        </p:spPr>
      </p:pic>
    </p:spTree>
    <p:extLst>
      <p:ext uri="{BB962C8B-B14F-4D97-AF65-F5344CB8AC3E}">
        <p14:creationId xmlns:p14="http://schemas.microsoft.com/office/powerpoint/2010/main" val="355494726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FEBE7E-4B5E-9615-9A4C-D6CC3D581FD0}"/>
              </a:ext>
            </a:extLst>
          </p:cNvPr>
          <p:cNvSpPr>
            <a:spLocks noGrp="1"/>
          </p:cNvSpPr>
          <p:nvPr>
            <p:ph sz="quarter" idx="12"/>
          </p:nvPr>
        </p:nvSpPr>
        <p:spPr/>
        <p:txBody>
          <a:bodyPr/>
          <a:lstStyle/>
          <a:p>
            <a:r>
              <a:rPr lang="en-IN" dirty="0"/>
              <a:t>CREATE [ TEMPORARY | TEMP ] SEQUENCE [ IF NOT EXISTS ] name</a:t>
            </a:r>
          </a:p>
          <a:p>
            <a:r>
              <a:rPr lang="en-IN" dirty="0"/>
              <a:t>[ AS </a:t>
            </a:r>
            <a:r>
              <a:rPr lang="en-IN" dirty="0" err="1"/>
              <a:t>data_type</a:t>
            </a:r>
            <a:r>
              <a:rPr lang="en-IN" dirty="0"/>
              <a:t> ]</a:t>
            </a:r>
          </a:p>
          <a:p>
            <a:r>
              <a:rPr lang="en-IN" dirty="0"/>
              <a:t>[ INCREMENT [ BY ] increment ]</a:t>
            </a:r>
          </a:p>
          <a:p>
            <a:r>
              <a:rPr lang="en-IN" dirty="0"/>
              <a:t>[ MINVALUE </a:t>
            </a:r>
            <a:r>
              <a:rPr lang="en-IN" dirty="0" err="1"/>
              <a:t>minvalue</a:t>
            </a:r>
            <a:r>
              <a:rPr lang="en-IN" dirty="0"/>
              <a:t> | NO MINVALUE ] [ MAXVALUE </a:t>
            </a:r>
            <a:r>
              <a:rPr lang="en-IN" dirty="0" err="1"/>
              <a:t>maxvalue</a:t>
            </a:r>
            <a:r>
              <a:rPr lang="en-IN" dirty="0"/>
              <a:t> | NO MAXVALUE ]</a:t>
            </a:r>
          </a:p>
          <a:p>
            <a:r>
              <a:rPr lang="en-IN" dirty="0"/>
              <a:t>[ START [ WITH ] start ] [ CACHE </a:t>
            </a:r>
            <a:r>
              <a:rPr lang="en-IN" dirty="0" err="1"/>
              <a:t>cache</a:t>
            </a:r>
            <a:r>
              <a:rPr lang="en-IN" dirty="0"/>
              <a:t> ] [ [ NO ] CYCLE ]</a:t>
            </a:r>
          </a:p>
          <a:p>
            <a:r>
              <a:rPr lang="en-IN" dirty="0"/>
              <a:t>[ OWNED BY { </a:t>
            </a:r>
            <a:r>
              <a:rPr lang="en-IN" dirty="0" err="1"/>
              <a:t>table_name.column_name</a:t>
            </a:r>
            <a:r>
              <a:rPr lang="en-IN" dirty="0"/>
              <a:t> | NONE } ]</a:t>
            </a:r>
          </a:p>
        </p:txBody>
      </p:sp>
      <p:sp>
        <p:nvSpPr>
          <p:cNvPr id="3" name="Title 2">
            <a:extLst>
              <a:ext uri="{FF2B5EF4-FFF2-40B4-BE49-F238E27FC236}">
                <a16:creationId xmlns:a16="http://schemas.microsoft.com/office/drawing/2014/main" id="{055D4336-496F-BC48-B9A7-1D5E02A06573}"/>
              </a:ext>
            </a:extLst>
          </p:cNvPr>
          <p:cNvSpPr>
            <a:spLocks noGrp="1"/>
          </p:cNvSpPr>
          <p:nvPr>
            <p:ph type="title"/>
          </p:nvPr>
        </p:nvSpPr>
        <p:spPr/>
        <p:txBody>
          <a:bodyPr/>
          <a:lstStyle/>
          <a:p>
            <a:r>
              <a:rPr lang="en-IN" dirty="0"/>
              <a:t>Sequence</a:t>
            </a:r>
          </a:p>
        </p:txBody>
      </p:sp>
    </p:spTree>
    <p:extLst>
      <p:ext uri="{BB962C8B-B14F-4D97-AF65-F5344CB8AC3E}">
        <p14:creationId xmlns:p14="http://schemas.microsoft.com/office/powerpoint/2010/main" val="251899381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FEBE7E-4B5E-9615-9A4C-D6CC3D581FD0}"/>
              </a:ext>
            </a:extLst>
          </p:cNvPr>
          <p:cNvSpPr>
            <a:spLocks noGrp="1"/>
          </p:cNvSpPr>
          <p:nvPr>
            <p:ph sz="quarter" idx="12"/>
          </p:nvPr>
        </p:nvSpPr>
        <p:spPr/>
        <p:txBody>
          <a:bodyPr>
            <a:normAutofit fontScale="92500" lnSpcReduction="20000"/>
          </a:bodyPr>
          <a:lstStyle/>
          <a:p>
            <a:r>
              <a:rPr lang="en-US" dirty="0"/>
              <a:t>TEMPORARY or TEMP — PostgreSQL can create a temporary sequence within a session. Once the session ends, the sequence is automatically dropped.</a:t>
            </a:r>
          </a:p>
          <a:p>
            <a:r>
              <a:rPr lang="en-US" dirty="0"/>
              <a:t>IF NOT EXISTS — Creates a sequence even if a sequence with an identical name already exists. Replaces the existing sequence.</a:t>
            </a:r>
          </a:p>
          <a:p>
            <a:r>
              <a:rPr lang="en-US" dirty="0"/>
              <a:t>AS — A new option in PostgreSQL 10. It is for specifying the data type of the sequence. The available options are </a:t>
            </a:r>
            <a:r>
              <a:rPr lang="en-US" dirty="0" err="1"/>
              <a:t>smallint</a:t>
            </a:r>
            <a:r>
              <a:rPr lang="en-US" dirty="0"/>
              <a:t>, integer, and </a:t>
            </a:r>
            <a:r>
              <a:rPr lang="en-US" dirty="0" err="1"/>
              <a:t>bigint</a:t>
            </a:r>
            <a:r>
              <a:rPr lang="en-US" dirty="0"/>
              <a:t> (default). This also determines the maximum and minimum values.</a:t>
            </a:r>
          </a:p>
          <a:p>
            <a:r>
              <a:rPr lang="en-US" dirty="0"/>
              <a:t>INCREMENT BY — An optional parameter with a default value of 1. Positive values generate sequence values in ascending order. Negative values generate sequence values in descending sequence.</a:t>
            </a:r>
            <a:endParaRPr lang="en-IN" dirty="0"/>
          </a:p>
        </p:txBody>
      </p:sp>
      <p:sp>
        <p:nvSpPr>
          <p:cNvPr id="3" name="Title 2">
            <a:extLst>
              <a:ext uri="{FF2B5EF4-FFF2-40B4-BE49-F238E27FC236}">
                <a16:creationId xmlns:a16="http://schemas.microsoft.com/office/drawing/2014/main" id="{055D4336-496F-BC48-B9A7-1D5E02A06573}"/>
              </a:ext>
            </a:extLst>
          </p:cNvPr>
          <p:cNvSpPr>
            <a:spLocks noGrp="1"/>
          </p:cNvSpPr>
          <p:nvPr>
            <p:ph type="title"/>
          </p:nvPr>
        </p:nvSpPr>
        <p:spPr/>
        <p:txBody>
          <a:bodyPr/>
          <a:lstStyle/>
          <a:p>
            <a:r>
              <a:rPr lang="en-IN" dirty="0"/>
              <a:t>Sequence Parameters</a:t>
            </a:r>
          </a:p>
        </p:txBody>
      </p:sp>
    </p:spTree>
    <p:extLst>
      <p:ext uri="{BB962C8B-B14F-4D97-AF65-F5344CB8AC3E}">
        <p14:creationId xmlns:p14="http://schemas.microsoft.com/office/powerpoint/2010/main" val="184068922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FEBE7E-4B5E-9615-9A4C-D6CC3D581FD0}"/>
              </a:ext>
            </a:extLst>
          </p:cNvPr>
          <p:cNvSpPr>
            <a:spLocks noGrp="1"/>
          </p:cNvSpPr>
          <p:nvPr>
            <p:ph sz="quarter" idx="12"/>
          </p:nvPr>
        </p:nvSpPr>
        <p:spPr/>
        <p:txBody>
          <a:bodyPr>
            <a:normAutofit fontScale="92500" lnSpcReduction="10000"/>
          </a:bodyPr>
          <a:lstStyle/>
          <a:p>
            <a:r>
              <a:rPr lang="en-US" dirty="0"/>
              <a:t>START WITH — The same as Oracle. This is an optional parameter having a default of 1. It uses the MINVALUE for ascending sequences and the MAXVALUE for descending sequences.</a:t>
            </a:r>
          </a:p>
          <a:p>
            <a:r>
              <a:rPr lang="en-US" dirty="0"/>
              <a:t>MAXVALUE | NO MAXVALUE — Defaults are between 263 for ascending sequences and -1 for descending sequences.</a:t>
            </a:r>
          </a:p>
          <a:p>
            <a:r>
              <a:rPr lang="en-US" dirty="0"/>
              <a:t>MINVALUE | NO MINVALUE — Defaults are between 1 for ascending sequences and -263 for descending sequences.</a:t>
            </a:r>
          </a:p>
          <a:p>
            <a:r>
              <a:rPr lang="en-US" dirty="0"/>
              <a:t>CYCLE | NO CYCLE — If the sequence value reaches MAXVALUE or MINVALUE, the CYCLE parameter instructs the sequence to return to the initial value (MINVALUE or MAXVALUE). The default is NO CYCLE.</a:t>
            </a:r>
            <a:endParaRPr lang="en-IN" dirty="0"/>
          </a:p>
        </p:txBody>
      </p:sp>
      <p:sp>
        <p:nvSpPr>
          <p:cNvPr id="3" name="Title 2">
            <a:extLst>
              <a:ext uri="{FF2B5EF4-FFF2-40B4-BE49-F238E27FC236}">
                <a16:creationId xmlns:a16="http://schemas.microsoft.com/office/drawing/2014/main" id="{055D4336-496F-BC48-B9A7-1D5E02A06573}"/>
              </a:ext>
            </a:extLst>
          </p:cNvPr>
          <p:cNvSpPr>
            <a:spLocks noGrp="1"/>
          </p:cNvSpPr>
          <p:nvPr>
            <p:ph type="title"/>
          </p:nvPr>
        </p:nvSpPr>
        <p:spPr/>
        <p:txBody>
          <a:bodyPr/>
          <a:lstStyle/>
          <a:p>
            <a:r>
              <a:rPr lang="en-IN" dirty="0"/>
              <a:t>Sequence Parameters</a:t>
            </a:r>
          </a:p>
        </p:txBody>
      </p:sp>
    </p:spTree>
    <p:extLst>
      <p:ext uri="{BB962C8B-B14F-4D97-AF65-F5344CB8AC3E}">
        <p14:creationId xmlns:p14="http://schemas.microsoft.com/office/powerpoint/2010/main" val="156232552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FEBE7E-4B5E-9615-9A4C-D6CC3D581FD0}"/>
              </a:ext>
            </a:extLst>
          </p:cNvPr>
          <p:cNvSpPr>
            <a:spLocks noGrp="1"/>
          </p:cNvSpPr>
          <p:nvPr>
            <p:ph sz="quarter" idx="12"/>
          </p:nvPr>
        </p:nvSpPr>
        <p:spPr>
          <a:xfrm>
            <a:off x="457201" y="1381124"/>
            <a:ext cx="8228012" cy="5112981"/>
          </a:xfrm>
        </p:spPr>
        <p:txBody>
          <a:bodyPr>
            <a:normAutofit/>
          </a:bodyPr>
          <a:lstStyle/>
          <a:p>
            <a:r>
              <a:rPr lang="en-US" dirty="0"/>
              <a:t>CACHE — Note that in PostgreSQL, the NOCACHE isn’t supported. By default, when not specifying the CACHE parameter, no sequence values will be pre-cached into memory, which is equivalent to the Oracle NOCACHE parameter. The minimum value is 1.</a:t>
            </a:r>
          </a:p>
          <a:p>
            <a:r>
              <a:rPr lang="en-US" dirty="0"/>
              <a:t>OWNED BY | OWNBY NON — Specifies that the sequence object is to be associated with a specific column in a table, which isn’t supported by Oracle. When dropping this type of sequence, an error will be returned because of the sequence/table association.</a:t>
            </a:r>
            <a:endParaRPr lang="en-IN" dirty="0"/>
          </a:p>
        </p:txBody>
      </p:sp>
      <p:sp>
        <p:nvSpPr>
          <p:cNvPr id="3" name="Title 2">
            <a:extLst>
              <a:ext uri="{FF2B5EF4-FFF2-40B4-BE49-F238E27FC236}">
                <a16:creationId xmlns:a16="http://schemas.microsoft.com/office/drawing/2014/main" id="{055D4336-496F-BC48-B9A7-1D5E02A06573}"/>
              </a:ext>
            </a:extLst>
          </p:cNvPr>
          <p:cNvSpPr>
            <a:spLocks noGrp="1"/>
          </p:cNvSpPr>
          <p:nvPr>
            <p:ph type="title"/>
          </p:nvPr>
        </p:nvSpPr>
        <p:spPr/>
        <p:txBody>
          <a:bodyPr/>
          <a:lstStyle/>
          <a:p>
            <a:r>
              <a:rPr lang="en-IN" dirty="0"/>
              <a:t>Sequence Parameters</a:t>
            </a:r>
          </a:p>
        </p:txBody>
      </p:sp>
    </p:spTree>
    <p:extLst>
      <p:ext uri="{BB962C8B-B14F-4D97-AF65-F5344CB8AC3E}">
        <p14:creationId xmlns:p14="http://schemas.microsoft.com/office/powerpoint/2010/main" val="330998336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D8E130-E055-4B2F-AFDF-994EAB3E1F17}"/>
              </a:ext>
            </a:extLst>
          </p:cNvPr>
          <p:cNvSpPr>
            <a:spLocks noGrp="1"/>
          </p:cNvSpPr>
          <p:nvPr>
            <p:ph type="title"/>
          </p:nvPr>
        </p:nvSpPr>
        <p:spPr/>
        <p:txBody>
          <a:bodyPr/>
          <a:lstStyle/>
          <a:p>
            <a:r>
              <a:rPr lang="en-IN" dirty="0"/>
              <a:t>Arrays</a:t>
            </a:r>
          </a:p>
        </p:txBody>
      </p:sp>
      <p:pic>
        <p:nvPicPr>
          <p:cNvPr id="4" name="Picture 3">
            <a:extLst>
              <a:ext uri="{FF2B5EF4-FFF2-40B4-BE49-F238E27FC236}">
                <a16:creationId xmlns:a16="http://schemas.microsoft.com/office/drawing/2014/main" id="{AD1B836E-0336-43C2-81E5-67CFC23AEE7E}"/>
              </a:ext>
            </a:extLst>
          </p:cNvPr>
          <p:cNvPicPr>
            <a:picLocks noChangeAspect="1"/>
          </p:cNvPicPr>
          <p:nvPr/>
        </p:nvPicPr>
        <p:blipFill rotWithShape="1">
          <a:blip r:embed="rId2"/>
          <a:srcRect t="44303"/>
          <a:stretch/>
        </p:blipFill>
        <p:spPr>
          <a:xfrm>
            <a:off x="173400" y="1545995"/>
            <a:ext cx="8238474" cy="3007151"/>
          </a:xfrm>
          <a:prstGeom prst="rect">
            <a:avLst/>
          </a:prstGeom>
        </p:spPr>
      </p:pic>
    </p:spTree>
    <p:extLst>
      <p:ext uri="{BB962C8B-B14F-4D97-AF65-F5344CB8AC3E}">
        <p14:creationId xmlns:p14="http://schemas.microsoft.com/office/powerpoint/2010/main" val="401987359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E6A468-6D65-4696-8516-1979D8F919A9}"/>
              </a:ext>
            </a:extLst>
          </p:cNvPr>
          <p:cNvSpPr>
            <a:spLocks noGrp="1"/>
          </p:cNvSpPr>
          <p:nvPr>
            <p:ph type="title"/>
          </p:nvPr>
        </p:nvSpPr>
        <p:spPr/>
        <p:txBody>
          <a:bodyPr/>
          <a:lstStyle/>
          <a:p>
            <a:r>
              <a:rPr lang="en-IN" dirty="0"/>
              <a:t>Accessing Arrays</a:t>
            </a:r>
          </a:p>
        </p:txBody>
      </p:sp>
      <p:pic>
        <p:nvPicPr>
          <p:cNvPr id="5" name="Picture 4">
            <a:extLst>
              <a:ext uri="{FF2B5EF4-FFF2-40B4-BE49-F238E27FC236}">
                <a16:creationId xmlns:a16="http://schemas.microsoft.com/office/drawing/2014/main" id="{1A6B3462-1B98-4F0C-A022-148AAFA2673B}"/>
              </a:ext>
            </a:extLst>
          </p:cNvPr>
          <p:cNvPicPr>
            <a:picLocks noChangeAspect="1"/>
          </p:cNvPicPr>
          <p:nvPr/>
        </p:nvPicPr>
        <p:blipFill>
          <a:blip r:embed="rId2"/>
          <a:stretch>
            <a:fillRect/>
          </a:stretch>
        </p:blipFill>
        <p:spPr>
          <a:xfrm>
            <a:off x="302588" y="1407050"/>
            <a:ext cx="8436060" cy="1673157"/>
          </a:xfrm>
          <a:prstGeom prst="rect">
            <a:avLst/>
          </a:prstGeom>
        </p:spPr>
      </p:pic>
      <p:pic>
        <p:nvPicPr>
          <p:cNvPr id="7" name="Picture 6">
            <a:extLst>
              <a:ext uri="{FF2B5EF4-FFF2-40B4-BE49-F238E27FC236}">
                <a16:creationId xmlns:a16="http://schemas.microsoft.com/office/drawing/2014/main" id="{F88960BB-1243-4F94-A5D3-4D304E817D9E}"/>
              </a:ext>
            </a:extLst>
          </p:cNvPr>
          <p:cNvPicPr>
            <a:picLocks noChangeAspect="1"/>
          </p:cNvPicPr>
          <p:nvPr/>
        </p:nvPicPr>
        <p:blipFill>
          <a:blip r:embed="rId3"/>
          <a:stretch>
            <a:fillRect/>
          </a:stretch>
        </p:blipFill>
        <p:spPr>
          <a:xfrm>
            <a:off x="376194" y="3321294"/>
            <a:ext cx="8290102" cy="1478604"/>
          </a:xfrm>
          <a:prstGeom prst="rect">
            <a:avLst/>
          </a:prstGeom>
        </p:spPr>
      </p:pic>
      <p:pic>
        <p:nvPicPr>
          <p:cNvPr id="9" name="Picture 8">
            <a:extLst>
              <a:ext uri="{FF2B5EF4-FFF2-40B4-BE49-F238E27FC236}">
                <a16:creationId xmlns:a16="http://schemas.microsoft.com/office/drawing/2014/main" id="{2F83E44C-F735-481B-AADB-4F7F1F1E4372}"/>
              </a:ext>
            </a:extLst>
          </p:cNvPr>
          <p:cNvPicPr>
            <a:picLocks noChangeAspect="1"/>
          </p:cNvPicPr>
          <p:nvPr/>
        </p:nvPicPr>
        <p:blipFill>
          <a:blip r:embed="rId4"/>
          <a:stretch>
            <a:fillRect/>
          </a:stretch>
        </p:blipFill>
        <p:spPr>
          <a:xfrm>
            <a:off x="461035" y="5170363"/>
            <a:ext cx="8290102" cy="1517515"/>
          </a:xfrm>
          <a:prstGeom prst="rect">
            <a:avLst/>
          </a:prstGeom>
        </p:spPr>
      </p:pic>
    </p:spTree>
    <p:extLst>
      <p:ext uri="{BB962C8B-B14F-4D97-AF65-F5344CB8AC3E}">
        <p14:creationId xmlns:p14="http://schemas.microsoft.com/office/powerpoint/2010/main" val="396348949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E6A468-6D65-4696-8516-1979D8F919A9}"/>
              </a:ext>
            </a:extLst>
          </p:cNvPr>
          <p:cNvSpPr>
            <a:spLocks noGrp="1"/>
          </p:cNvSpPr>
          <p:nvPr>
            <p:ph type="title"/>
          </p:nvPr>
        </p:nvSpPr>
        <p:spPr/>
        <p:txBody>
          <a:bodyPr/>
          <a:lstStyle/>
          <a:p>
            <a:r>
              <a:rPr lang="en-IN" dirty="0"/>
              <a:t>Accessing Arrays</a:t>
            </a:r>
          </a:p>
        </p:txBody>
      </p:sp>
      <p:pic>
        <p:nvPicPr>
          <p:cNvPr id="4" name="Picture 3">
            <a:extLst>
              <a:ext uri="{FF2B5EF4-FFF2-40B4-BE49-F238E27FC236}">
                <a16:creationId xmlns:a16="http://schemas.microsoft.com/office/drawing/2014/main" id="{4226B063-A1BF-4993-9CBD-02ADEE61C288}"/>
              </a:ext>
            </a:extLst>
          </p:cNvPr>
          <p:cNvPicPr>
            <a:picLocks noChangeAspect="1"/>
          </p:cNvPicPr>
          <p:nvPr/>
        </p:nvPicPr>
        <p:blipFill>
          <a:blip r:embed="rId2"/>
          <a:stretch>
            <a:fillRect/>
          </a:stretch>
        </p:blipFill>
        <p:spPr>
          <a:xfrm>
            <a:off x="376194" y="1539059"/>
            <a:ext cx="8145124" cy="629106"/>
          </a:xfrm>
          <a:prstGeom prst="rect">
            <a:avLst/>
          </a:prstGeom>
        </p:spPr>
      </p:pic>
      <p:pic>
        <p:nvPicPr>
          <p:cNvPr id="8" name="Picture 7">
            <a:extLst>
              <a:ext uri="{FF2B5EF4-FFF2-40B4-BE49-F238E27FC236}">
                <a16:creationId xmlns:a16="http://schemas.microsoft.com/office/drawing/2014/main" id="{AF459F73-BF3A-4524-B1BC-A5360142896F}"/>
              </a:ext>
            </a:extLst>
          </p:cNvPr>
          <p:cNvPicPr>
            <a:picLocks noChangeAspect="1"/>
          </p:cNvPicPr>
          <p:nvPr/>
        </p:nvPicPr>
        <p:blipFill>
          <a:blip r:embed="rId3"/>
          <a:stretch>
            <a:fillRect/>
          </a:stretch>
        </p:blipFill>
        <p:spPr>
          <a:xfrm>
            <a:off x="376194" y="2314297"/>
            <a:ext cx="8290102" cy="4043542"/>
          </a:xfrm>
          <a:prstGeom prst="rect">
            <a:avLst/>
          </a:prstGeom>
        </p:spPr>
      </p:pic>
    </p:spTree>
    <p:extLst>
      <p:ext uri="{BB962C8B-B14F-4D97-AF65-F5344CB8AC3E}">
        <p14:creationId xmlns:p14="http://schemas.microsoft.com/office/powerpoint/2010/main" val="7309113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E6A468-6D65-4696-8516-1979D8F919A9}"/>
              </a:ext>
            </a:extLst>
          </p:cNvPr>
          <p:cNvSpPr>
            <a:spLocks noGrp="1"/>
          </p:cNvSpPr>
          <p:nvPr>
            <p:ph type="title"/>
          </p:nvPr>
        </p:nvSpPr>
        <p:spPr/>
        <p:txBody>
          <a:bodyPr/>
          <a:lstStyle/>
          <a:p>
            <a:r>
              <a:rPr lang="en-IN" dirty="0"/>
              <a:t>Accessing Arrays</a:t>
            </a:r>
          </a:p>
        </p:txBody>
      </p:sp>
      <p:pic>
        <p:nvPicPr>
          <p:cNvPr id="5" name="Picture 4">
            <a:extLst>
              <a:ext uri="{FF2B5EF4-FFF2-40B4-BE49-F238E27FC236}">
                <a16:creationId xmlns:a16="http://schemas.microsoft.com/office/drawing/2014/main" id="{EC78F105-C28E-44A2-8A97-0FE6AA507210}"/>
              </a:ext>
            </a:extLst>
          </p:cNvPr>
          <p:cNvPicPr>
            <a:picLocks noChangeAspect="1"/>
          </p:cNvPicPr>
          <p:nvPr/>
        </p:nvPicPr>
        <p:blipFill>
          <a:blip r:embed="rId2"/>
          <a:stretch>
            <a:fillRect/>
          </a:stretch>
        </p:blipFill>
        <p:spPr>
          <a:xfrm>
            <a:off x="461035" y="1293395"/>
            <a:ext cx="8091882" cy="1513436"/>
          </a:xfrm>
          <a:prstGeom prst="rect">
            <a:avLst/>
          </a:prstGeom>
        </p:spPr>
      </p:pic>
      <p:pic>
        <p:nvPicPr>
          <p:cNvPr id="7" name="Picture 6">
            <a:extLst>
              <a:ext uri="{FF2B5EF4-FFF2-40B4-BE49-F238E27FC236}">
                <a16:creationId xmlns:a16="http://schemas.microsoft.com/office/drawing/2014/main" id="{542C55C9-F031-4461-A4AE-7BBD6CD5220A}"/>
              </a:ext>
            </a:extLst>
          </p:cNvPr>
          <p:cNvPicPr>
            <a:picLocks noChangeAspect="1"/>
          </p:cNvPicPr>
          <p:nvPr/>
        </p:nvPicPr>
        <p:blipFill>
          <a:blip r:embed="rId3"/>
          <a:stretch>
            <a:fillRect/>
          </a:stretch>
        </p:blipFill>
        <p:spPr>
          <a:xfrm>
            <a:off x="264614" y="2806831"/>
            <a:ext cx="8502314" cy="3761362"/>
          </a:xfrm>
          <a:prstGeom prst="rect">
            <a:avLst/>
          </a:prstGeom>
        </p:spPr>
      </p:pic>
    </p:spTree>
    <p:extLst>
      <p:ext uri="{BB962C8B-B14F-4D97-AF65-F5344CB8AC3E}">
        <p14:creationId xmlns:p14="http://schemas.microsoft.com/office/powerpoint/2010/main" val="266289453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43EB4B9-688E-4A33-8B7C-62A22B1B27EA}"/>
              </a:ext>
            </a:extLst>
          </p:cNvPr>
          <p:cNvSpPr>
            <a:spLocks noGrp="1"/>
          </p:cNvSpPr>
          <p:nvPr>
            <p:ph type="title"/>
          </p:nvPr>
        </p:nvSpPr>
        <p:spPr/>
        <p:txBody>
          <a:bodyPr/>
          <a:lstStyle/>
          <a:p>
            <a:r>
              <a:rPr lang="en-IN" dirty="0"/>
              <a:t>Modifying Arrays</a:t>
            </a:r>
          </a:p>
        </p:txBody>
      </p:sp>
      <p:pic>
        <p:nvPicPr>
          <p:cNvPr id="5" name="Picture 4">
            <a:extLst>
              <a:ext uri="{FF2B5EF4-FFF2-40B4-BE49-F238E27FC236}">
                <a16:creationId xmlns:a16="http://schemas.microsoft.com/office/drawing/2014/main" id="{CCC3D45E-FE50-4745-9E26-4B13F3A842C8}"/>
              </a:ext>
            </a:extLst>
          </p:cNvPr>
          <p:cNvPicPr>
            <a:picLocks noChangeAspect="1"/>
          </p:cNvPicPr>
          <p:nvPr/>
        </p:nvPicPr>
        <p:blipFill>
          <a:blip r:embed="rId2"/>
          <a:stretch>
            <a:fillRect/>
          </a:stretch>
        </p:blipFill>
        <p:spPr>
          <a:xfrm>
            <a:off x="387561" y="1511916"/>
            <a:ext cx="8272874" cy="4983152"/>
          </a:xfrm>
          <a:prstGeom prst="rect">
            <a:avLst/>
          </a:prstGeom>
        </p:spPr>
      </p:pic>
    </p:spTree>
    <p:extLst>
      <p:ext uri="{BB962C8B-B14F-4D97-AF65-F5344CB8AC3E}">
        <p14:creationId xmlns:p14="http://schemas.microsoft.com/office/powerpoint/2010/main" val="2646377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43EB4B9-688E-4A33-8B7C-62A22B1B27EA}"/>
              </a:ext>
            </a:extLst>
          </p:cNvPr>
          <p:cNvSpPr>
            <a:spLocks noGrp="1"/>
          </p:cNvSpPr>
          <p:nvPr>
            <p:ph type="title"/>
          </p:nvPr>
        </p:nvSpPr>
        <p:spPr/>
        <p:txBody>
          <a:bodyPr/>
          <a:lstStyle/>
          <a:p>
            <a:r>
              <a:rPr lang="en-IN" dirty="0"/>
              <a:t>Modifying Arrays</a:t>
            </a:r>
          </a:p>
        </p:txBody>
      </p:sp>
      <p:pic>
        <p:nvPicPr>
          <p:cNvPr id="4" name="Picture 3">
            <a:extLst>
              <a:ext uri="{FF2B5EF4-FFF2-40B4-BE49-F238E27FC236}">
                <a16:creationId xmlns:a16="http://schemas.microsoft.com/office/drawing/2014/main" id="{3B197455-75FD-4094-B4E2-79399FC405A5}"/>
              </a:ext>
            </a:extLst>
          </p:cNvPr>
          <p:cNvPicPr>
            <a:picLocks noChangeAspect="1"/>
          </p:cNvPicPr>
          <p:nvPr/>
        </p:nvPicPr>
        <p:blipFill>
          <a:blip r:embed="rId2"/>
          <a:stretch>
            <a:fillRect/>
          </a:stretch>
        </p:blipFill>
        <p:spPr>
          <a:xfrm>
            <a:off x="752019" y="1529265"/>
            <a:ext cx="7373885" cy="2555132"/>
          </a:xfrm>
          <a:prstGeom prst="rect">
            <a:avLst/>
          </a:prstGeom>
        </p:spPr>
      </p:pic>
      <p:pic>
        <p:nvPicPr>
          <p:cNvPr id="7" name="Picture 6">
            <a:extLst>
              <a:ext uri="{FF2B5EF4-FFF2-40B4-BE49-F238E27FC236}">
                <a16:creationId xmlns:a16="http://schemas.microsoft.com/office/drawing/2014/main" id="{1D635F8C-7B36-46F4-95EC-6D1662CE9BD7}"/>
              </a:ext>
            </a:extLst>
          </p:cNvPr>
          <p:cNvPicPr>
            <a:picLocks noChangeAspect="1"/>
          </p:cNvPicPr>
          <p:nvPr/>
        </p:nvPicPr>
        <p:blipFill>
          <a:blip r:embed="rId3"/>
          <a:stretch>
            <a:fillRect/>
          </a:stretch>
        </p:blipFill>
        <p:spPr>
          <a:xfrm>
            <a:off x="691209" y="4210567"/>
            <a:ext cx="7495504" cy="2477311"/>
          </a:xfrm>
          <a:prstGeom prst="rect">
            <a:avLst/>
          </a:prstGeom>
        </p:spPr>
      </p:pic>
    </p:spTree>
    <p:extLst>
      <p:ext uri="{BB962C8B-B14F-4D97-AF65-F5344CB8AC3E}">
        <p14:creationId xmlns:p14="http://schemas.microsoft.com/office/powerpoint/2010/main" val="193757351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43EB4B9-688E-4A33-8B7C-62A22B1B27EA}"/>
              </a:ext>
            </a:extLst>
          </p:cNvPr>
          <p:cNvSpPr>
            <a:spLocks noGrp="1"/>
          </p:cNvSpPr>
          <p:nvPr>
            <p:ph type="title"/>
          </p:nvPr>
        </p:nvSpPr>
        <p:spPr/>
        <p:txBody>
          <a:bodyPr/>
          <a:lstStyle/>
          <a:p>
            <a:r>
              <a:rPr lang="en-IN" dirty="0"/>
              <a:t>Modifying Arrays</a:t>
            </a:r>
          </a:p>
        </p:txBody>
      </p:sp>
      <p:pic>
        <p:nvPicPr>
          <p:cNvPr id="5" name="Picture 4">
            <a:extLst>
              <a:ext uri="{FF2B5EF4-FFF2-40B4-BE49-F238E27FC236}">
                <a16:creationId xmlns:a16="http://schemas.microsoft.com/office/drawing/2014/main" id="{869D0021-C599-4D48-A2CD-57ADAE281B11}"/>
              </a:ext>
            </a:extLst>
          </p:cNvPr>
          <p:cNvPicPr>
            <a:picLocks noChangeAspect="1"/>
          </p:cNvPicPr>
          <p:nvPr/>
        </p:nvPicPr>
        <p:blipFill>
          <a:blip r:embed="rId2"/>
          <a:stretch>
            <a:fillRect/>
          </a:stretch>
        </p:blipFill>
        <p:spPr>
          <a:xfrm>
            <a:off x="355429" y="1216058"/>
            <a:ext cx="8515193" cy="5373278"/>
          </a:xfrm>
          <a:prstGeom prst="rect">
            <a:avLst/>
          </a:prstGeom>
        </p:spPr>
      </p:pic>
    </p:spTree>
    <p:extLst>
      <p:ext uri="{BB962C8B-B14F-4D97-AF65-F5344CB8AC3E}">
        <p14:creationId xmlns:p14="http://schemas.microsoft.com/office/powerpoint/2010/main" val="138741842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76C9F76-7C8D-40B6-B180-97AB980E77FD}"/>
              </a:ext>
            </a:extLst>
          </p:cNvPr>
          <p:cNvSpPr>
            <a:spLocks noGrp="1"/>
          </p:cNvSpPr>
          <p:nvPr>
            <p:ph type="title"/>
          </p:nvPr>
        </p:nvSpPr>
        <p:spPr/>
        <p:txBody>
          <a:bodyPr/>
          <a:lstStyle/>
          <a:p>
            <a:r>
              <a:rPr lang="en-IN" dirty="0"/>
              <a:t>Searching in Arrays</a:t>
            </a:r>
          </a:p>
        </p:txBody>
      </p:sp>
      <p:pic>
        <p:nvPicPr>
          <p:cNvPr id="5" name="Picture 4">
            <a:extLst>
              <a:ext uri="{FF2B5EF4-FFF2-40B4-BE49-F238E27FC236}">
                <a16:creationId xmlns:a16="http://schemas.microsoft.com/office/drawing/2014/main" id="{13279F14-78A8-47CD-9584-E4819E753CA0}"/>
              </a:ext>
            </a:extLst>
          </p:cNvPr>
          <p:cNvPicPr>
            <a:picLocks noChangeAspect="1"/>
          </p:cNvPicPr>
          <p:nvPr/>
        </p:nvPicPr>
        <p:blipFill>
          <a:blip r:embed="rId2"/>
          <a:stretch>
            <a:fillRect/>
          </a:stretch>
        </p:blipFill>
        <p:spPr>
          <a:xfrm>
            <a:off x="162512" y="1427509"/>
            <a:ext cx="8659683" cy="4916731"/>
          </a:xfrm>
          <a:prstGeom prst="rect">
            <a:avLst/>
          </a:prstGeom>
        </p:spPr>
      </p:pic>
    </p:spTree>
    <p:extLst>
      <p:ext uri="{BB962C8B-B14F-4D97-AF65-F5344CB8AC3E}">
        <p14:creationId xmlns:p14="http://schemas.microsoft.com/office/powerpoint/2010/main" val="125212217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76C9F76-7C8D-40B6-B180-97AB980E77FD}"/>
              </a:ext>
            </a:extLst>
          </p:cNvPr>
          <p:cNvSpPr>
            <a:spLocks noGrp="1"/>
          </p:cNvSpPr>
          <p:nvPr>
            <p:ph type="title"/>
          </p:nvPr>
        </p:nvSpPr>
        <p:spPr/>
        <p:txBody>
          <a:bodyPr/>
          <a:lstStyle/>
          <a:p>
            <a:r>
              <a:rPr lang="en-IN" dirty="0"/>
              <a:t>Searching in Arrays</a:t>
            </a:r>
          </a:p>
        </p:txBody>
      </p:sp>
      <p:pic>
        <p:nvPicPr>
          <p:cNvPr id="4" name="Picture 3">
            <a:extLst>
              <a:ext uri="{FF2B5EF4-FFF2-40B4-BE49-F238E27FC236}">
                <a16:creationId xmlns:a16="http://schemas.microsoft.com/office/drawing/2014/main" id="{856113E0-A8B9-432C-9792-0955CB834910}"/>
              </a:ext>
            </a:extLst>
          </p:cNvPr>
          <p:cNvPicPr>
            <a:picLocks noChangeAspect="1"/>
          </p:cNvPicPr>
          <p:nvPr/>
        </p:nvPicPr>
        <p:blipFill>
          <a:blip r:embed="rId2"/>
          <a:stretch>
            <a:fillRect/>
          </a:stretch>
        </p:blipFill>
        <p:spPr>
          <a:xfrm>
            <a:off x="564412" y="1715628"/>
            <a:ext cx="8387067" cy="3167457"/>
          </a:xfrm>
          <a:prstGeom prst="rect">
            <a:avLst/>
          </a:prstGeom>
        </p:spPr>
      </p:pic>
    </p:spTree>
    <p:extLst>
      <p:ext uri="{BB962C8B-B14F-4D97-AF65-F5344CB8AC3E}">
        <p14:creationId xmlns:p14="http://schemas.microsoft.com/office/powerpoint/2010/main" val="267156885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19BCD06-6C27-4BC3-8E50-9A38F7F668B5}"/>
              </a:ext>
            </a:extLst>
          </p:cNvPr>
          <p:cNvSpPr>
            <a:spLocks noGrp="1"/>
          </p:cNvSpPr>
          <p:nvPr>
            <p:ph sz="quarter" idx="12"/>
          </p:nvPr>
        </p:nvSpPr>
        <p:spPr/>
        <p:txBody>
          <a:bodyPr/>
          <a:lstStyle/>
          <a:p>
            <a:r>
              <a:rPr lang="en-US" dirty="0"/>
              <a:t>A composite type represents the structure of a row or record; it is essentially just a list of field names and their data types. </a:t>
            </a:r>
          </a:p>
          <a:p>
            <a:r>
              <a:rPr lang="en-US" dirty="0"/>
              <a:t>PostgreSQL allows composite types to be used in many of the same ways that simple types can be used. </a:t>
            </a:r>
          </a:p>
          <a:p>
            <a:r>
              <a:rPr lang="en-US" dirty="0"/>
              <a:t>For example, a column of a table can be declared to be of a composite type.</a:t>
            </a:r>
            <a:endParaRPr lang="en-IN" dirty="0"/>
          </a:p>
        </p:txBody>
      </p:sp>
      <p:sp>
        <p:nvSpPr>
          <p:cNvPr id="3" name="Title 2">
            <a:extLst>
              <a:ext uri="{FF2B5EF4-FFF2-40B4-BE49-F238E27FC236}">
                <a16:creationId xmlns:a16="http://schemas.microsoft.com/office/drawing/2014/main" id="{0197477E-FEF3-49AB-BFA1-1ED56BAA4724}"/>
              </a:ext>
            </a:extLst>
          </p:cNvPr>
          <p:cNvSpPr>
            <a:spLocks noGrp="1"/>
          </p:cNvSpPr>
          <p:nvPr>
            <p:ph type="title"/>
          </p:nvPr>
        </p:nvSpPr>
        <p:spPr/>
        <p:txBody>
          <a:bodyPr/>
          <a:lstStyle/>
          <a:p>
            <a:r>
              <a:rPr lang="en-IN" dirty="0"/>
              <a:t>Composite Types</a:t>
            </a:r>
          </a:p>
        </p:txBody>
      </p:sp>
    </p:spTree>
    <p:extLst>
      <p:ext uri="{BB962C8B-B14F-4D97-AF65-F5344CB8AC3E}">
        <p14:creationId xmlns:p14="http://schemas.microsoft.com/office/powerpoint/2010/main" val="20472347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26FD9B-A78D-4C10-9FEC-3375375FEA7C}"/>
              </a:ext>
            </a:extLst>
          </p:cNvPr>
          <p:cNvSpPr>
            <a:spLocks noGrp="1"/>
          </p:cNvSpPr>
          <p:nvPr>
            <p:ph type="title"/>
          </p:nvPr>
        </p:nvSpPr>
        <p:spPr/>
        <p:txBody>
          <a:bodyPr/>
          <a:lstStyle/>
          <a:p>
            <a:r>
              <a:rPr lang="en-IN" dirty="0"/>
              <a:t>Declaration of Composite Types</a:t>
            </a:r>
          </a:p>
        </p:txBody>
      </p:sp>
      <p:pic>
        <p:nvPicPr>
          <p:cNvPr id="5" name="Picture 4">
            <a:extLst>
              <a:ext uri="{FF2B5EF4-FFF2-40B4-BE49-F238E27FC236}">
                <a16:creationId xmlns:a16="http://schemas.microsoft.com/office/drawing/2014/main" id="{0B9554A1-EBC0-4AC6-8A80-5791937484C2}"/>
              </a:ext>
            </a:extLst>
          </p:cNvPr>
          <p:cNvPicPr>
            <a:picLocks noChangeAspect="1"/>
          </p:cNvPicPr>
          <p:nvPr/>
        </p:nvPicPr>
        <p:blipFill>
          <a:blip r:embed="rId2"/>
          <a:stretch>
            <a:fillRect/>
          </a:stretch>
        </p:blipFill>
        <p:spPr>
          <a:xfrm>
            <a:off x="461035" y="1567941"/>
            <a:ext cx="7538256" cy="2289243"/>
          </a:xfrm>
          <a:prstGeom prst="rect">
            <a:avLst/>
          </a:prstGeom>
        </p:spPr>
      </p:pic>
    </p:spTree>
    <p:extLst>
      <p:ext uri="{BB962C8B-B14F-4D97-AF65-F5344CB8AC3E}">
        <p14:creationId xmlns:p14="http://schemas.microsoft.com/office/powerpoint/2010/main" val="257654614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8FD3992-8EBD-4841-A277-4885FA2FB788}"/>
              </a:ext>
            </a:extLst>
          </p:cNvPr>
          <p:cNvSpPr>
            <a:spLocks noGrp="1"/>
          </p:cNvSpPr>
          <p:nvPr>
            <p:ph sz="quarter" idx="12"/>
          </p:nvPr>
        </p:nvSpPr>
        <p:spPr/>
        <p:txBody>
          <a:bodyPr/>
          <a:lstStyle/>
          <a:p>
            <a:r>
              <a:rPr lang="en-US" dirty="0"/>
              <a:t>To write a composite value as a literal constant, enclose the field values within parentheses and separate them by commas. </a:t>
            </a:r>
          </a:p>
          <a:p>
            <a:r>
              <a:rPr lang="en-US" dirty="0"/>
              <a:t>We can put double quotes around any field value, and must do so if it contains commas or parentheses. </a:t>
            </a:r>
          </a:p>
          <a:p>
            <a:r>
              <a:rPr lang="en-US" dirty="0"/>
              <a:t>Thus, the general format of a composite constant is the following:</a:t>
            </a:r>
          </a:p>
          <a:p>
            <a:r>
              <a:rPr lang="en-US" dirty="0"/>
              <a:t>'( val1 , val2 , ... )'</a:t>
            </a:r>
            <a:endParaRPr lang="en-IN" dirty="0"/>
          </a:p>
        </p:txBody>
      </p:sp>
      <p:sp>
        <p:nvSpPr>
          <p:cNvPr id="3" name="Title 2">
            <a:extLst>
              <a:ext uri="{FF2B5EF4-FFF2-40B4-BE49-F238E27FC236}">
                <a16:creationId xmlns:a16="http://schemas.microsoft.com/office/drawing/2014/main" id="{6BE2D4DD-8FE4-42DD-A7C9-32F962D43371}"/>
              </a:ext>
            </a:extLst>
          </p:cNvPr>
          <p:cNvSpPr>
            <a:spLocks noGrp="1"/>
          </p:cNvSpPr>
          <p:nvPr>
            <p:ph type="title"/>
          </p:nvPr>
        </p:nvSpPr>
        <p:spPr/>
        <p:txBody>
          <a:bodyPr/>
          <a:lstStyle/>
          <a:p>
            <a:r>
              <a:rPr lang="en-IN" dirty="0"/>
              <a:t>Constructing Composite Values</a:t>
            </a:r>
          </a:p>
        </p:txBody>
      </p:sp>
    </p:spTree>
    <p:extLst>
      <p:ext uri="{BB962C8B-B14F-4D97-AF65-F5344CB8AC3E}">
        <p14:creationId xmlns:p14="http://schemas.microsoft.com/office/powerpoint/2010/main" val="379162836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BE2D4DD-8FE4-42DD-A7C9-32F962D43371}"/>
              </a:ext>
            </a:extLst>
          </p:cNvPr>
          <p:cNvSpPr>
            <a:spLocks noGrp="1"/>
          </p:cNvSpPr>
          <p:nvPr>
            <p:ph type="title"/>
          </p:nvPr>
        </p:nvSpPr>
        <p:spPr/>
        <p:txBody>
          <a:bodyPr/>
          <a:lstStyle/>
          <a:p>
            <a:r>
              <a:rPr lang="en-IN" dirty="0"/>
              <a:t>Constructing Composite Values</a:t>
            </a:r>
          </a:p>
        </p:txBody>
      </p:sp>
      <p:pic>
        <p:nvPicPr>
          <p:cNvPr id="7" name="Picture 6">
            <a:extLst>
              <a:ext uri="{FF2B5EF4-FFF2-40B4-BE49-F238E27FC236}">
                <a16:creationId xmlns:a16="http://schemas.microsoft.com/office/drawing/2014/main" id="{E0CB5E23-41F9-474C-BCDE-A7574A8846EB}"/>
              </a:ext>
            </a:extLst>
          </p:cNvPr>
          <p:cNvPicPr>
            <a:picLocks noChangeAspect="1"/>
          </p:cNvPicPr>
          <p:nvPr/>
        </p:nvPicPr>
        <p:blipFill>
          <a:blip r:embed="rId2"/>
          <a:stretch>
            <a:fillRect/>
          </a:stretch>
        </p:blipFill>
        <p:spPr>
          <a:xfrm>
            <a:off x="338715" y="1433224"/>
            <a:ext cx="8466569" cy="4713051"/>
          </a:xfrm>
          <a:prstGeom prst="rect">
            <a:avLst/>
          </a:prstGeom>
        </p:spPr>
      </p:pic>
    </p:spTree>
    <p:extLst>
      <p:ext uri="{BB962C8B-B14F-4D97-AF65-F5344CB8AC3E}">
        <p14:creationId xmlns:p14="http://schemas.microsoft.com/office/powerpoint/2010/main" val="78387877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C54D5EE-FA23-449E-8ADB-8AD8F4C51818}"/>
              </a:ext>
            </a:extLst>
          </p:cNvPr>
          <p:cNvSpPr>
            <a:spLocks noGrp="1"/>
          </p:cNvSpPr>
          <p:nvPr>
            <p:ph type="title"/>
          </p:nvPr>
        </p:nvSpPr>
        <p:spPr/>
        <p:txBody>
          <a:bodyPr/>
          <a:lstStyle/>
          <a:p>
            <a:r>
              <a:rPr lang="en-IN" dirty="0"/>
              <a:t>Accessing Composite Types</a:t>
            </a:r>
          </a:p>
        </p:txBody>
      </p:sp>
      <p:pic>
        <p:nvPicPr>
          <p:cNvPr id="5" name="Picture 4">
            <a:extLst>
              <a:ext uri="{FF2B5EF4-FFF2-40B4-BE49-F238E27FC236}">
                <a16:creationId xmlns:a16="http://schemas.microsoft.com/office/drawing/2014/main" id="{B44A3A68-01DF-4E61-818C-8CCE641AE915}"/>
              </a:ext>
            </a:extLst>
          </p:cNvPr>
          <p:cNvPicPr>
            <a:picLocks noChangeAspect="1"/>
          </p:cNvPicPr>
          <p:nvPr/>
        </p:nvPicPr>
        <p:blipFill>
          <a:blip r:embed="rId2"/>
          <a:stretch>
            <a:fillRect/>
          </a:stretch>
        </p:blipFill>
        <p:spPr>
          <a:xfrm>
            <a:off x="124805" y="1659968"/>
            <a:ext cx="8629807" cy="3685029"/>
          </a:xfrm>
          <a:prstGeom prst="rect">
            <a:avLst/>
          </a:prstGeom>
        </p:spPr>
      </p:pic>
    </p:spTree>
    <p:extLst>
      <p:ext uri="{BB962C8B-B14F-4D97-AF65-F5344CB8AC3E}">
        <p14:creationId xmlns:p14="http://schemas.microsoft.com/office/powerpoint/2010/main" val="71072950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363E71-0E8C-44B0-B9DE-8F260C749C46}"/>
              </a:ext>
            </a:extLst>
          </p:cNvPr>
          <p:cNvSpPr>
            <a:spLocks noGrp="1"/>
          </p:cNvSpPr>
          <p:nvPr>
            <p:ph sz="quarter" idx="12"/>
          </p:nvPr>
        </p:nvSpPr>
        <p:spPr/>
        <p:txBody>
          <a:bodyPr/>
          <a:lstStyle/>
          <a:p>
            <a:r>
              <a:rPr lang="en-US" dirty="0"/>
              <a:t>int4range — Range of integer</a:t>
            </a:r>
          </a:p>
          <a:p>
            <a:r>
              <a:rPr lang="en-US" dirty="0"/>
              <a:t>int8range — Range of </a:t>
            </a:r>
            <a:r>
              <a:rPr lang="en-US" dirty="0" err="1"/>
              <a:t>bigint</a:t>
            </a:r>
            <a:endParaRPr lang="en-US" dirty="0"/>
          </a:p>
          <a:p>
            <a:r>
              <a:rPr lang="en-US" dirty="0" err="1"/>
              <a:t>numrange</a:t>
            </a:r>
            <a:r>
              <a:rPr lang="en-US" dirty="0"/>
              <a:t> — Range of numeric</a:t>
            </a:r>
          </a:p>
          <a:p>
            <a:r>
              <a:rPr lang="en-US" dirty="0" err="1"/>
              <a:t>tsrange</a:t>
            </a:r>
            <a:r>
              <a:rPr lang="en-US" dirty="0"/>
              <a:t> — Range of timestamp without time zone</a:t>
            </a:r>
          </a:p>
          <a:p>
            <a:r>
              <a:rPr lang="en-US" dirty="0" err="1"/>
              <a:t>tstzrange</a:t>
            </a:r>
            <a:r>
              <a:rPr lang="en-US" dirty="0"/>
              <a:t> — Range of timestamp with time zone</a:t>
            </a:r>
          </a:p>
          <a:p>
            <a:r>
              <a:rPr lang="en-US" dirty="0" err="1"/>
              <a:t>daterange</a:t>
            </a:r>
            <a:r>
              <a:rPr lang="en-US" dirty="0"/>
              <a:t> — Range of date</a:t>
            </a:r>
            <a:endParaRPr lang="en-IN" dirty="0"/>
          </a:p>
        </p:txBody>
      </p:sp>
      <p:sp>
        <p:nvSpPr>
          <p:cNvPr id="3" name="Title 2">
            <a:extLst>
              <a:ext uri="{FF2B5EF4-FFF2-40B4-BE49-F238E27FC236}">
                <a16:creationId xmlns:a16="http://schemas.microsoft.com/office/drawing/2014/main" id="{4081F052-29FC-4EA7-BB28-83B367BB6AFB}"/>
              </a:ext>
            </a:extLst>
          </p:cNvPr>
          <p:cNvSpPr>
            <a:spLocks noGrp="1"/>
          </p:cNvSpPr>
          <p:nvPr>
            <p:ph type="title"/>
          </p:nvPr>
        </p:nvSpPr>
        <p:spPr/>
        <p:txBody>
          <a:bodyPr/>
          <a:lstStyle/>
          <a:p>
            <a:r>
              <a:rPr lang="en-IN" dirty="0"/>
              <a:t>Built in Range Types</a:t>
            </a:r>
          </a:p>
        </p:txBody>
      </p:sp>
    </p:spTree>
    <p:extLst>
      <p:ext uri="{BB962C8B-B14F-4D97-AF65-F5344CB8AC3E}">
        <p14:creationId xmlns:p14="http://schemas.microsoft.com/office/powerpoint/2010/main" val="332157772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81F052-29FC-4EA7-BB28-83B367BB6AFB}"/>
              </a:ext>
            </a:extLst>
          </p:cNvPr>
          <p:cNvSpPr>
            <a:spLocks noGrp="1"/>
          </p:cNvSpPr>
          <p:nvPr>
            <p:ph type="title"/>
          </p:nvPr>
        </p:nvSpPr>
        <p:spPr/>
        <p:txBody>
          <a:bodyPr/>
          <a:lstStyle/>
          <a:p>
            <a:r>
              <a:rPr lang="en-IN" dirty="0"/>
              <a:t>Built in Range Types</a:t>
            </a:r>
          </a:p>
        </p:txBody>
      </p:sp>
      <p:pic>
        <p:nvPicPr>
          <p:cNvPr id="7" name="Picture 6">
            <a:extLst>
              <a:ext uri="{FF2B5EF4-FFF2-40B4-BE49-F238E27FC236}">
                <a16:creationId xmlns:a16="http://schemas.microsoft.com/office/drawing/2014/main" id="{F15E2D8E-401F-4F6D-BCF8-544B7ACA89F9}"/>
              </a:ext>
            </a:extLst>
          </p:cNvPr>
          <p:cNvPicPr>
            <a:picLocks noChangeAspect="1"/>
          </p:cNvPicPr>
          <p:nvPr/>
        </p:nvPicPr>
        <p:blipFill>
          <a:blip r:embed="rId2"/>
          <a:stretch>
            <a:fillRect/>
          </a:stretch>
        </p:blipFill>
        <p:spPr>
          <a:xfrm>
            <a:off x="461035" y="1415374"/>
            <a:ext cx="8357009" cy="4429245"/>
          </a:xfrm>
          <a:prstGeom prst="rect">
            <a:avLst/>
          </a:prstGeom>
        </p:spPr>
      </p:pic>
    </p:spTree>
    <p:extLst>
      <p:ext uri="{BB962C8B-B14F-4D97-AF65-F5344CB8AC3E}">
        <p14:creationId xmlns:p14="http://schemas.microsoft.com/office/powerpoint/2010/main" val="184920543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56FE93B-4474-3003-11CE-F38898FC0C66}"/>
              </a:ext>
            </a:extLst>
          </p:cNvPr>
          <p:cNvSpPr>
            <a:spLocks noGrp="1"/>
          </p:cNvSpPr>
          <p:nvPr>
            <p:ph sz="quarter" idx="12"/>
          </p:nvPr>
        </p:nvSpPr>
        <p:spPr/>
        <p:txBody>
          <a:bodyPr>
            <a:normAutofit/>
          </a:bodyPr>
          <a:lstStyle/>
          <a:p>
            <a:r>
              <a:rPr lang="en-US" dirty="0"/>
              <a:t>Document: A set of data on which your full-text search will take place is called Document. </a:t>
            </a:r>
          </a:p>
          <a:p>
            <a:r>
              <a:rPr lang="en-US" dirty="0"/>
              <a:t>In PostgreSQL, you can create a document using either a single column or multiple columns or even using multiple tables.</a:t>
            </a:r>
          </a:p>
          <a:p>
            <a:r>
              <a:rPr lang="en-US" dirty="0"/>
              <a:t>Lexemes: The PostgreSQL document during processing is parsed into multiple tokens, which consist of words, sentences, etc. of the text present in the document. </a:t>
            </a:r>
          </a:p>
          <a:p>
            <a:r>
              <a:rPr lang="en-US" dirty="0"/>
              <a:t>These tokens are modified to form more meaningful entities called lexemes.</a:t>
            </a:r>
          </a:p>
          <a:p>
            <a:endParaRPr lang="en-IN" dirty="0"/>
          </a:p>
        </p:txBody>
      </p:sp>
      <p:sp>
        <p:nvSpPr>
          <p:cNvPr id="3" name="Title 2">
            <a:extLst>
              <a:ext uri="{FF2B5EF4-FFF2-40B4-BE49-F238E27FC236}">
                <a16:creationId xmlns:a16="http://schemas.microsoft.com/office/drawing/2014/main" id="{25BC7A38-5859-E851-DF33-39CC9A03FE3A}"/>
              </a:ext>
            </a:extLst>
          </p:cNvPr>
          <p:cNvSpPr>
            <a:spLocks noGrp="1"/>
          </p:cNvSpPr>
          <p:nvPr>
            <p:ph type="title"/>
          </p:nvPr>
        </p:nvSpPr>
        <p:spPr/>
        <p:txBody>
          <a:bodyPr/>
          <a:lstStyle/>
          <a:p>
            <a:r>
              <a:rPr lang="en-US" dirty="0"/>
              <a:t>PostgreSQL Full Text Search Entities</a:t>
            </a:r>
            <a:endParaRPr lang="en-IN" dirty="0"/>
          </a:p>
        </p:txBody>
      </p:sp>
    </p:spTree>
    <p:extLst>
      <p:ext uri="{BB962C8B-B14F-4D97-AF65-F5344CB8AC3E}">
        <p14:creationId xmlns:p14="http://schemas.microsoft.com/office/powerpoint/2010/main" val="362188240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56FE93B-4474-3003-11CE-F38898FC0C66}"/>
              </a:ext>
            </a:extLst>
          </p:cNvPr>
          <p:cNvSpPr>
            <a:spLocks noGrp="1"/>
          </p:cNvSpPr>
          <p:nvPr>
            <p:ph sz="quarter" idx="12"/>
          </p:nvPr>
        </p:nvSpPr>
        <p:spPr/>
        <p:txBody>
          <a:bodyPr>
            <a:normAutofit/>
          </a:bodyPr>
          <a:lstStyle/>
          <a:p>
            <a:r>
              <a:rPr lang="en-US" dirty="0"/>
              <a:t>Dictionaries: The conversion of Tokens into Lexemes is done using dictionaries. </a:t>
            </a:r>
          </a:p>
          <a:p>
            <a:r>
              <a:rPr lang="en-US" dirty="0"/>
              <a:t>PostgreSQL offers both options of either using the built-in dictionaries or creating your own dictionaries.</a:t>
            </a:r>
          </a:p>
          <a:p>
            <a:r>
              <a:rPr lang="en-US" dirty="0"/>
              <a:t>These dictionaries are responsible to determine which stop words are not important and whether differently derived words have the same base language.</a:t>
            </a:r>
          </a:p>
          <a:p>
            <a:endParaRPr lang="en-IN" dirty="0"/>
          </a:p>
        </p:txBody>
      </p:sp>
      <p:sp>
        <p:nvSpPr>
          <p:cNvPr id="3" name="Title 2">
            <a:extLst>
              <a:ext uri="{FF2B5EF4-FFF2-40B4-BE49-F238E27FC236}">
                <a16:creationId xmlns:a16="http://schemas.microsoft.com/office/drawing/2014/main" id="{25BC7A38-5859-E851-DF33-39CC9A03FE3A}"/>
              </a:ext>
            </a:extLst>
          </p:cNvPr>
          <p:cNvSpPr>
            <a:spLocks noGrp="1"/>
          </p:cNvSpPr>
          <p:nvPr>
            <p:ph type="title"/>
          </p:nvPr>
        </p:nvSpPr>
        <p:spPr/>
        <p:txBody>
          <a:bodyPr/>
          <a:lstStyle/>
          <a:p>
            <a:r>
              <a:rPr lang="en-US" dirty="0"/>
              <a:t>PostgreSQL Full Text Search Entities</a:t>
            </a:r>
            <a:endParaRPr lang="en-IN" dirty="0"/>
          </a:p>
        </p:txBody>
      </p:sp>
    </p:spTree>
    <p:extLst>
      <p:ext uri="{BB962C8B-B14F-4D97-AF65-F5344CB8AC3E}">
        <p14:creationId xmlns:p14="http://schemas.microsoft.com/office/powerpoint/2010/main" val="126464694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B28D899-9ABE-E80B-3420-94039208A7E4}"/>
              </a:ext>
            </a:extLst>
          </p:cNvPr>
          <p:cNvSpPr>
            <a:spLocks noGrp="1"/>
          </p:cNvSpPr>
          <p:nvPr>
            <p:ph sz="quarter" idx="12"/>
          </p:nvPr>
        </p:nvSpPr>
        <p:spPr/>
        <p:txBody>
          <a:bodyPr/>
          <a:lstStyle/>
          <a:p>
            <a:r>
              <a:rPr lang="en-US" dirty="0"/>
              <a:t>To create a vector for a sentence, you can use the </a:t>
            </a:r>
            <a:r>
              <a:rPr lang="en-US" dirty="0" err="1"/>
              <a:t>to_tsvector</a:t>
            </a:r>
            <a:r>
              <a:rPr lang="en-US" dirty="0"/>
              <a:t> function as follows:</a:t>
            </a:r>
          </a:p>
          <a:p>
            <a:r>
              <a:rPr lang="en-US" dirty="0"/>
              <a:t>SELECT </a:t>
            </a:r>
            <a:r>
              <a:rPr lang="en-US" dirty="0" err="1"/>
              <a:t>to_tsvector</a:t>
            </a:r>
            <a:r>
              <a:rPr lang="en-US" dirty="0"/>
              <a:t>('The quick brown fox jumped over the lazy dog.’);</a:t>
            </a:r>
          </a:p>
          <a:p>
            <a:r>
              <a:rPr lang="en-IN" b="0" i="0" dirty="0" err="1">
                <a:solidFill>
                  <a:srgbClr val="212529"/>
                </a:solidFill>
                <a:effectLst/>
                <a:latin typeface="SFMono-Regular"/>
              </a:rPr>
              <a:t>to_tsvector</a:t>
            </a:r>
            <a:r>
              <a:rPr lang="en-IN" b="0" i="0" dirty="0">
                <a:solidFill>
                  <a:srgbClr val="212529"/>
                </a:solidFill>
                <a:effectLst/>
                <a:latin typeface="SFMono-Regular"/>
              </a:rPr>
              <a:t> -----'brown':3 'dog':9 'fox':4 'jump':5 'lazi':8 'quick':2</a:t>
            </a:r>
            <a:endParaRPr lang="en-US" dirty="0"/>
          </a:p>
          <a:p>
            <a:endParaRPr lang="en-IN" dirty="0"/>
          </a:p>
        </p:txBody>
      </p:sp>
      <p:sp>
        <p:nvSpPr>
          <p:cNvPr id="3" name="Title 2">
            <a:extLst>
              <a:ext uri="{FF2B5EF4-FFF2-40B4-BE49-F238E27FC236}">
                <a16:creationId xmlns:a16="http://schemas.microsoft.com/office/drawing/2014/main" id="{6C910F5C-C845-5D4A-4F3E-B52029CEBC48}"/>
              </a:ext>
            </a:extLst>
          </p:cNvPr>
          <p:cNvSpPr>
            <a:spLocks noGrp="1"/>
          </p:cNvSpPr>
          <p:nvPr>
            <p:ph type="title"/>
          </p:nvPr>
        </p:nvSpPr>
        <p:spPr/>
        <p:txBody>
          <a:bodyPr/>
          <a:lstStyle/>
          <a:p>
            <a:r>
              <a:rPr lang="en-IN" dirty="0" err="1"/>
              <a:t>to_tsvector</a:t>
            </a:r>
            <a:endParaRPr lang="en-IN" dirty="0"/>
          </a:p>
        </p:txBody>
      </p:sp>
    </p:spTree>
    <p:extLst>
      <p:ext uri="{BB962C8B-B14F-4D97-AF65-F5344CB8AC3E}">
        <p14:creationId xmlns:p14="http://schemas.microsoft.com/office/powerpoint/2010/main" val="67596381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B28D899-9ABE-E80B-3420-94039208A7E4}"/>
              </a:ext>
            </a:extLst>
          </p:cNvPr>
          <p:cNvSpPr>
            <a:spLocks noGrp="1"/>
          </p:cNvSpPr>
          <p:nvPr>
            <p:ph sz="quarter" idx="12"/>
          </p:nvPr>
        </p:nvSpPr>
        <p:spPr/>
        <p:txBody>
          <a:bodyPr/>
          <a:lstStyle/>
          <a:p>
            <a:r>
              <a:rPr lang="en-US" dirty="0"/>
              <a:t>This function accepts a list of words that would be checked against the normalized vector created with the </a:t>
            </a:r>
            <a:r>
              <a:rPr lang="en-US" dirty="0" err="1"/>
              <a:t>to_tsvector</a:t>
            </a:r>
            <a:r>
              <a:rPr lang="en-US" dirty="0"/>
              <a:t>() function. </a:t>
            </a:r>
          </a:p>
          <a:p>
            <a:r>
              <a:rPr lang="en-US" dirty="0"/>
              <a:t>You can use the following Postgres functions to convert text fields to </a:t>
            </a:r>
            <a:r>
              <a:rPr lang="en-US" dirty="0" err="1"/>
              <a:t>tsquery</a:t>
            </a:r>
            <a:r>
              <a:rPr lang="en-US" dirty="0"/>
              <a:t> values such as </a:t>
            </a:r>
            <a:r>
              <a:rPr lang="en-US" dirty="0" err="1"/>
              <a:t>to_tsquery</a:t>
            </a:r>
            <a:r>
              <a:rPr lang="en-US" dirty="0"/>
              <a:t>, </a:t>
            </a:r>
            <a:r>
              <a:rPr lang="en-US" dirty="0" err="1"/>
              <a:t>plainto_tsquery</a:t>
            </a:r>
            <a:r>
              <a:rPr lang="en-US" dirty="0"/>
              <a:t>, and </a:t>
            </a:r>
            <a:r>
              <a:rPr lang="en-US" dirty="0" err="1"/>
              <a:t>phraseto_tsquery</a:t>
            </a:r>
            <a:r>
              <a:rPr lang="en-US" dirty="0"/>
              <a:t>.</a:t>
            </a:r>
          </a:p>
          <a:p>
            <a:endParaRPr lang="en-US" dirty="0"/>
          </a:p>
          <a:p>
            <a:r>
              <a:rPr lang="en-US" dirty="0"/>
              <a:t>SELECT </a:t>
            </a:r>
            <a:r>
              <a:rPr lang="en-US" dirty="0" err="1"/>
              <a:t>to_tsquery</a:t>
            </a:r>
            <a:r>
              <a:rPr lang="en-US" dirty="0"/>
              <a:t>('The quick brown fox jumped over the lazy dog')</a:t>
            </a:r>
            <a:endParaRPr lang="en-IN" dirty="0"/>
          </a:p>
        </p:txBody>
      </p:sp>
      <p:sp>
        <p:nvSpPr>
          <p:cNvPr id="3" name="Title 2">
            <a:extLst>
              <a:ext uri="{FF2B5EF4-FFF2-40B4-BE49-F238E27FC236}">
                <a16:creationId xmlns:a16="http://schemas.microsoft.com/office/drawing/2014/main" id="{6C910F5C-C845-5D4A-4F3E-B52029CEBC48}"/>
              </a:ext>
            </a:extLst>
          </p:cNvPr>
          <p:cNvSpPr>
            <a:spLocks noGrp="1"/>
          </p:cNvSpPr>
          <p:nvPr>
            <p:ph type="title"/>
          </p:nvPr>
        </p:nvSpPr>
        <p:spPr/>
        <p:txBody>
          <a:bodyPr/>
          <a:lstStyle/>
          <a:p>
            <a:r>
              <a:rPr lang="en-IN" dirty="0" err="1"/>
              <a:t>to_tsquery</a:t>
            </a:r>
            <a:endParaRPr lang="en-IN" dirty="0"/>
          </a:p>
        </p:txBody>
      </p:sp>
    </p:spTree>
    <p:extLst>
      <p:ext uri="{BB962C8B-B14F-4D97-AF65-F5344CB8AC3E}">
        <p14:creationId xmlns:p14="http://schemas.microsoft.com/office/powerpoint/2010/main" val="37647662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3F81C55-1BE0-DA66-0740-75B4D6790A20}"/>
              </a:ext>
            </a:extLst>
          </p:cNvPr>
          <p:cNvSpPr>
            <a:spLocks noGrp="1"/>
          </p:cNvSpPr>
          <p:nvPr>
            <p:ph sz="quarter" idx="12"/>
          </p:nvPr>
        </p:nvSpPr>
        <p:spPr/>
        <p:txBody>
          <a:bodyPr/>
          <a:lstStyle/>
          <a:p>
            <a:r>
              <a:rPr lang="en-US" dirty="0"/>
              <a:t>After creating </a:t>
            </a:r>
            <a:r>
              <a:rPr lang="en-US" dirty="0" err="1"/>
              <a:t>tsvector</a:t>
            </a:r>
            <a:r>
              <a:rPr lang="en-US" dirty="0"/>
              <a:t> from your text data and </a:t>
            </a:r>
            <a:r>
              <a:rPr lang="en-US" dirty="0" err="1"/>
              <a:t>tsquery</a:t>
            </a:r>
            <a:r>
              <a:rPr lang="en-US" dirty="0"/>
              <a:t> from your search terms, you can further perform a full-text search using the @@ operator.</a:t>
            </a:r>
          </a:p>
          <a:p>
            <a:r>
              <a:rPr lang="en-US" dirty="0"/>
              <a:t>@@ operator checks if </a:t>
            </a:r>
            <a:r>
              <a:rPr lang="en-US" dirty="0" err="1"/>
              <a:t>tsquery</a:t>
            </a:r>
            <a:r>
              <a:rPr lang="en-US" dirty="0"/>
              <a:t> matches </a:t>
            </a:r>
            <a:r>
              <a:rPr lang="en-US" dirty="0" err="1"/>
              <a:t>tsvector</a:t>
            </a:r>
            <a:r>
              <a:rPr lang="en-US" dirty="0"/>
              <a:t>. </a:t>
            </a:r>
          </a:p>
          <a:p>
            <a:r>
              <a:rPr lang="en-US" dirty="0"/>
              <a:t>For instance, if the word to be queried is “fox” for the above-mentioned example, then:</a:t>
            </a:r>
          </a:p>
          <a:p>
            <a:r>
              <a:rPr lang="en-US" dirty="0"/>
              <a:t>SELECT </a:t>
            </a:r>
            <a:r>
              <a:rPr lang="en-US" dirty="0" err="1"/>
              <a:t>to_tsvector</a:t>
            </a:r>
            <a:r>
              <a:rPr lang="en-US" dirty="0"/>
              <a:t>('The quick brown fox jumped over the lazy dog') @@ </a:t>
            </a:r>
            <a:r>
              <a:rPr lang="en-US" dirty="0" err="1"/>
              <a:t>to_tsquery</a:t>
            </a:r>
            <a:r>
              <a:rPr lang="en-US" dirty="0"/>
              <a:t>('fox’);</a:t>
            </a:r>
          </a:p>
          <a:p>
            <a:endParaRPr lang="en-US" dirty="0"/>
          </a:p>
          <a:p>
            <a:r>
              <a:rPr lang="en-US" dirty="0"/>
              <a:t>Refer courses table </a:t>
            </a:r>
            <a:r>
              <a:rPr lang="en-US"/>
              <a:t>in queries.txt</a:t>
            </a:r>
            <a:endParaRPr lang="en-IN" dirty="0"/>
          </a:p>
        </p:txBody>
      </p:sp>
      <p:sp>
        <p:nvSpPr>
          <p:cNvPr id="3" name="Title 2">
            <a:extLst>
              <a:ext uri="{FF2B5EF4-FFF2-40B4-BE49-F238E27FC236}">
                <a16:creationId xmlns:a16="http://schemas.microsoft.com/office/drawing/2014/main" id="{7768D806-61E2-61B3-87C2-A5E9ABC1633B}"/>
              </a:ext>
            </a:extLst>
          </p:cNvPr>
          <p:cNvSpPr>
            <a:spLocks noGrp="1"/>
          </p:cNvSpPr>
          <p:nvPr>
            <p:ph type="title"/>
          </p:nvPr>
        </p:nvSpPr>
        <p:spPr/>
        <p:txBody>
          <a:bodyPr/>
          <a:lstStyle/>
          <a:p>
            <a:r>
              <a:rPr lang="en-IN" dirty="0"/>
              <a:t>Searching</a:t>
            </a:r>
          </a:p>
        </p:txBody>
      </p:sp>
    </p:spTree>
    <p:extLst>
      <p:ext uri="{BB962C8B-B14F-4D97-AF65-F5344CB8AC3E}">
        <p14:creationId xmlns:p14="http://schemas.microsoft.com/office/powerpoint/2010/main" val="362003431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556D21-8F04-424E-AECC-E039130530EB}"/>
              </a:ext>
            </a:extLst>
          </p:cNvPr>
          <p:cNvSpPr>
            <a:spLocks noGrp="1"/>
          </p:cNvSpPr>
          <p:nvPr>
            <p:ph sz="quarter" idx="12"/>
          </p:nvPr>
        </p:nvSpPr>
        <p:spPr/>
        <p:txBody>
          <a:bodyPr/>
          <a:lstStyle/>
          <a:p>
            <a:r>
              <a:rPr lang="en-IN" dirty="0"/>
              <a:t>Creating a New Table</a:t>
            </a:r>
          </a:p>
          <a:p>
            <a:pPr marL="225425" lvl="1" indent="0">
              <a:buNone/>
            </a:pPr>
            <a:r>
              <a:rPr lang="en-US" dirty="0"/>
              <a:t>CREATE TABLE weather (</a:t>
            </a:r>
          </a:p>
          <a:p>
            <a:pPr marL="225425" lvl="1" indent="0">
              <a:buNone/>
            </a:pPr>
            <a:r>
              <a:rPr lang="en-US" dirty="0"/>
              <a:t>city varchar(80),</a:t>
            </a:r>
          </a:p>
          <a:p>
            <a:pPr marL="225425" lvl="1" indent="0">
              <a:buNone/>
            </a:pPr>
            <a:r>
              <a:rPr lang="en-US" dirty="0" err="1"/>
              <a:t>temp_lo</a:t>
            </a:r>
            <a:r>
              <a:rPr lang="en-US" dirty="0"/>
              <a:t> int, -- low temperature</a:t>
            </a:r>
          </a:p>
          <a:p>
            <a:pPr marL="225425" lvl="1" indent="0">
              <a:buNone/>
            </a:pPr>
            <a:r>
              <a:rPr lang="en-US" dirty="0" err="1"/>
              <a:t>temp_hi</a:t>
            </a:r>
            <a:r>
              <a:rPr lang="en-US" dirty="0"/>
              <a:t> int, -- high temperature</a:t>
            </a:r>
          </a:p>
          <a:p>
            <a:pPr marL="225425" lvl="1" indent="0">
              <a:buNone/>
            </a:pPr>
            <a:r>
              <a:rPr lang="en-US" dirty="0" err="1"/>
              <a:t>prcp</a:t>
            </a:r>
            <a:r>
              <a:rPr lang="en-US" dirty="0"/>
              <a:t> real, -- precipitation</a:t>
            </a:r>
          </a:p>
          <a:p>
            <a:pPr marL="225425" lvl="1" indent="0">
              <a:buNone/>
            </a:pPr>
            <a:r>
              <a:rPr lang="en-US" dirty="0"/>
              <a:t>date </a:t>
            </a:r>
            <a:r>
              <a:rPr lang="en-US" dirty="0" err="1"/>
              <a:t>date</a:t>
            </a:r>
            <a:endParaRPr lang="en-US" dirty="0"/>
          </a:p>
          <a:p>
            <a:pPr marL="225425" lvl="1" indent="0">
              <a:buNone/>
            </a:pPr>
            <a:r>
              <a:rPr lang="en-US" dirty="0"/>
              <a:t>);</a:t>
            </a:r>
            <a:endParaRPr lang="en-IN" dirty="0"/>
          </a:p>
        </p:txBody>
      </p:sp>
      <p:sp>
        <p:nvSpPr>
          <p:cNvPr id="3" name="Title 2">
            <a:extLst>
              <a:ext uri="{FF2B5EF4-FFF2-40B4-BE49-F238E27FC236}">
                <a16:creationId xmlns:a16="http://schemas.microsoft.com/office/drawing/2014/main" id="{F670A925-4258-4AE9-A13B-330ADBCE82D7}"/>
              </a:ext>
            </a:extLst>
          </p:cNvPr>
          <p:cNvSpPr>
            <a:spLocks noGrp="1"/>
          </p:cNvSpPr>
          <p:nvPr>
            <p:ph type="title"/>
          </p:nvPr>
        </p:nvSpPr>
        <p:spPr/>
        <p:txBody>
          <a:bodyPr/>
          <a:lstStyle/>
          <a:p>
            <a:r>
              <a:rPr lang="en-IN" dirty="0"/>
              <a:t>The SQL Language</a:t>
            </a:r>
          </a:p>
        </p:txBody>
      </p:sp>
    </p:spTree>
    <p:extLst>
      <p:ext uri="{BB962C8B-B14F-4D97-AF65-F5344CB8AC3E}">
        <p14:creationId xmlns:p14="http://schemas.microsoft.com/office/powerpoint/2010/main" val="49570786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2B0008-C074-4820-BDF9-8C7C715AD740}"/>
              </a:ext>
            </a:extLst>
          </p:cNvPr>
          <p:cNvSpPr>
            <a:spLocks noGrp="1"/>
          </p:cNvSpPr>
          <p:nvPr>
            <p:ph sz="quarter" idx="12"/>
          </p:nvPr>
        </p:nvSpPr>
        <p:spPr/>
        <p:txBody>
          <a:bodyPr/>
          <a:lstStyle/>
          <a:p>
            <a:r>
              <a:rPr lang="en-US" dirty="0"/>
              <a:t>The INSERT statement is used to populate a table with rows:</a:t>
            </a:r>
          </a:p>
          <a:p>
            <a:r>
              <a:rPr lang="en-US" dirty="0"/>
              <a:t>INSERT INTO weather VALUES ('San Francisco', 46, 50, 0.25, '1994-11-27');</a:t>
            </a:r>
          </a:p>
          <a:p>
            <a:r>
              <a:rPr lang="en-US" dirty="0"/>
              <a:t>Note that all data types use rather obvious input formats. </a:t>
            </a:r>
          </a:p>
          <a:p>
            <a:r>
              <a:rPr lang="en-US" dirty="0"/>
              <a:t>Constants that are not simple numeric values usually must be surrounded by single quotes ('), as in the example</a:t>
            </a:r>
            <a:endParaRPr lang="en-IN" dirty="0"/>
          </a:p>
        </p:txBody>
      </p:sp>
      <p:sp>
        <p:nvSpPr>
          <p:cNvPr id="3" name="Title 2">
            <a:extLst>
              <a:ext uri="{FF2B5EF4-FFF2-40B4-BE49-F238E27FC236}">
                <a16:creationId xmlns:a16="http://schemas.microsoft.com/office/drawing/2014/main" id="{E21B38C3-0164-4DCC-A597-B041770C0BD2}"/>
              </a:ext>
            </a:extLst>
          </p:cNvPr>
          <p:cNvSpPr>
            <a:spLocks noGrp="1"/>
          </p:cNvSpPr>
          <p:nvPr>
            <p:ph type="title"/>
          </p:nvPr>
        </p:nvSpPr>
        <p:spPr/>
        <p:txBody>
          <a:bodyPr/>
          <a:lstStyle/>
          <a:p>
            <a:r>
              <a:rPr lang="en-US" dirty="0"/>
              <a:t>Populating a Table With Rows</a:t>
            </a:r>
            <a:endParaRPr lang="en-IN" dirty="0"/>
          </a:p>
        </p:txBody>
      </p:sp>
    </p:spTree>
    <p:extLst>
      <p:ext uri="{BB962C8B-B14F-4D97-AF65-F5344CB8AC3E}">
        <p14:creationId xmlns:p14="http://schemas.microsoft.com/office/powerpoint/2010/main" val="68062804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03E848-0E4A-B20C-1A98-A046AB37A132}"/>
              </a:ext>
            </a:extLst>
          </p:cNvPr>
          <p:cNvSpPr>
            <a:spLocks noGrp="1"/>
          </p:cNvSpPr>
          <p:nvPr>
            <p:ph sz="quarter" idx="12"/>
          </p:nvPr>
        </p:nvSpPr>
        <p:spPr/>
        <p:txBody>
          <a:bodyPr/>
          <a:lstStyle/>
          <a:p>
            <a:r>
              <a:rPr lang="en-US" b="1" dirty="0"/>
              <a:t>Normalization</a:t>
            </a:r>
            <a:r>
              <a:rPr lang="en-US" dirty="0"/>
              <a:t> is the process of organizing data in a database to:</a:t>
            </a:r>
          </a:p>
          <a:p>
            <a:pPr lvl="1"/>
            <a:r>
              <a:rPr lang="en-US" dirty="0"/>
              <a:t>Eliminate </a:t>
            </a:r>
            <a:r>
              <a:rPr lang="en-US" b="1" dirty="0"/>
              <a:t>redundant data</a:t>
            </a:r>
            <a:r>
              <a:rPr lang="en-US" dirty="0"/>
              <a:t> (repetition).</a:t>
            </a:r>
          </a:p>
          <a:p>
            <a:pPr lvl="1"/>
            <a:r>
              <a:rPr lang="en-US" dirty="0"/>
              <a:t>Ensure </a:t>
            </a:r>
            <a:r>
              <a:rPr lang="en-US" b="1" dirty="0"/>
              <a:t>data dependencies</a:t>
            </a:r>
            <a:r>
              <a:rPr lang="en-US" dirty="0"/>
              <a:t> make sense.</a:t>
            </a:r>
          </a:p>
          <a:p>
            <a:pPr lvl="1"/>
            <a:r>
              <a:rPr lang="en-US" dirty="0"/>
              <a:t>Improve </a:t>
            </a:r>
            <a:r>
              <a:rPr lang="en-US" b="1" dirty="0"/>
              <a:t>data integrity</a:t>
            </a:r>
            <a:r>
              <a:rPr lang="en-US" dirty="0"/>
              <a:t>.</a:t>
            </a:r>
          </a:p>
          <a:p>
            <a:endParaRPr lang="en-IN" dirty="0"/>
          </a:p>
        </p:txBody>
      </p:sp>
      <p:sp>
        <p:nvSpPr>
          <p:cNvPr id="3" name="Title 2">
            <a:extLst>
              <a:ext uri="{FF2B5EF4-FFF2-40B4-BE49-F238E27FC236}">
                <a16:creationId xmlns:a16="http://schemas.microsoft.com/office/drawing/2014/main" id="{93512E9C-F711-A57F-5E75-2B52E9580330}"/>
              </a:ext>
            </a:extLst>
          </p:cNvPr>
          <p:cNvSpPr>
            <a:spLocks noGrp="1"/>
          </p:cNvSpPr>
          <p:nvPr>
            <p:ph type="title"/>
          </p:nvPr>
        </p:nvSpPr>
        <p:spPr/>
        <p:txBody>
          <a:bodyPr/>
          <a:lstStyle/>
          <a:p>
            <a:r>
              <a:rPr lang="en-IN" dirty="0"/>
              <a:t>What is Normalization?</a:t>
            </a:r>
          </a:p>
        </p:txBody>
      </p:sp>
    </p:spTree>
    <p:extLst>
      <p:ext uri="{BB962C8B-B14F-4D97-AF65-F5344CB8AC3E}">
        <p14:creationId xmlns:p14="http://schemas.microsoft.com/office/powerpoint/2010/main" val="206509695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FD309D-429D-FC12-6F1C-5AD8A8C7E46E}"/>
              </a:ext>
            </a:extLst>
          </p:cNvPr>
          <p:cNvSpPr>
            <a:spLocks noGrp="1"/>
          </p:cNvSpPr>
          <p:nvPr>
            <p:ph sz="quarter" idx="12"/>
          </p:nvPr>
        </p:nvSpPr>
        <p:spPr/>
        <p:txBody>
          <a:bodyPr/>
          <a:lstStyle/>
          <a:p>
            <a:pPr lvl="1"/>
            <a:r>
              <a:rPr lang="en-US" dirty="0"/>
              <a:t>Minimize duplication of data.</a:t>
            </a:r>
          </a:p>
          <a:p>
            <a:pPr lvl="1"/>
            <a:r>
              <a:rPr lang="en-US" dirty="0"/>
              <a:t>Protect the database against logical or structural anomalies.</a:t>
            </a:r>
          </a:p>
          <a:p>
            <a:pPr lvl="1"/>
            <a:r>
              <a:rPr lang="en-US" dirty="0"/>
              <a:t>Make database maintenance easier and more efficient.</a:t>
            </a:r>
            <a:endParaRPr lang="en-IN" dirty="0"/>
          </a:p>
        </p:txBody>
      </p:sp>
      <p:sp>
        <p:nvSpPr>
          <p:cNvPr id="3" name="Title 2">
            <a:extLst>
              <a:ext uri="{FF2B5EF4-FFF2-40B4-BE49-F238E27FC236}">
                <a16:creationId xmlns:a16="http://schemas.microsoft.com/office/drawing/2014/main" id="{E80A1DCC-6803-86E1-BBBF-1419EC9062C2}"/>
              </a:ext>
            </a:extLst>
          </p:cNvPr>
          <p:cNvSpPr>
            <a:spLocks noGrp="1"/>
          </p:cNvSpPr>
          <p:nvPr>
            <p:ph type="title"/>
          </p:nvPr>
        </p:nvSpPr>
        <p:spPr/>
        <p:txBody>
          <a:bodyPr/>
          <a:lstStyle/>
          <a:p>
            <a:r>
              <a:rPr lang="en-IN" dirty="0"/>
              <a:t>Goals of Normalization</a:t>
            </a:r>
          </a:p>
        </p:txBody>
      </p:sp>
    </p:spTree>
    <p:extLst>
      <p:ext uri="{BB962C8B-B14F-4D97-AF65-F5344CB8AC3E}">
        <p14:creationId xmlns:p14="http://schemas.microsoft.com/office/powerpoint/2010/main" val="208376133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4056321-B9E2-DF67-5129-3292F56FFF32}"/>
              </a:ext>
            </a:extLst>
          </p:cNvPr>
          <p:cNvSpPr>
            <a:spLocks noGrp="1"/>
          </p:cNvSpPr>
          <p:nvPr>
            <p:ph sz="quarter" idx="12"/>
          </p:nvPr>
        </p:nvSpPr>
        <p:spPr/>
        <p:txBody>
          <a:bodyPr/>
          <a:lstStyle/>
          <a:p>
            <a:r>
              <a:rPr lang="en-US" dirty="0"/>
              <a:t>Normalization is done through a series of </a:t>
            </a:r>
            <a:r>
              <a:rPr lang="en-US" b="1" dirty="0"/>
              <a:t>normal forms</a:t>
            </a:r>
            <a:r>
              <a:rPr lang="en-US" dirty="0"/>
              <a:t>, each building on the previous:</a:t>
            </a:r>
          </a:p>
          <a:p>
            <a:r>
              <a:rPr lang="en-US" b="1" dirty="0"/>
              <a:t>🧩 1. First Normal Form (1NF)</a:t>
            </a:r>
          </a:p>
          <a:p>
            <a:r>
              <a:rPr lang="en-US" b="1" dirty="0"/>
              <a:t>Atomic values</a:t>
            </a:r>
            <a:r>
              <a:rPr lang="en-US" dirty="0"/>
              <a:t> only (no repeating groups or arrays).</a:t>
            </a:r>
          </a:p>
          <a:p>
            <a:r>
              <a:rPr lang="en-US" dirty="0"/>
              <a:t>Each column should contain </a:t>
            </a:r>
            <a:r>
              <a:rPr lang="en-US" b="1" dirty="0"/>
              <a:t>unique and indivisible</a:t>
            </a:r>
            <a:r>
              <a:rPr lang="en-US" dirty="0"/>
              <a:t> values.</a:t>
            </a:r>
          </a:p>
          <a:p>
            <a:endParaRPr lang="en-IN" dirty="0"/>
          </a:p>
        </p:txBody>
      </p:sp>
      <p:sp>
        <p:nvSpPr>
          <p:cNvPr id="3" name="Title 2">
            <a:extLst>
              <a:ext uri="{FF2B5EF4-FFF2-40B4-BE49-F238E27FC236}">
                <a16:creationId xmlns:a16="http://schemas.microsoft.com/office/drawing/2014/main" id="{1D5C1DEB-8AD4-A594-516B-CEA2DC995109}"/>
              </a:ext>
            </a:extLst>
          </p:cNvPr>
          <p:cNvSpPr>
            <a:spLocks noGrp="1"/>
          </p:cNvSpPr>
          <p:nvPr>
            <p:ph type="title"/>
          </p:nvPr>
        </p:nvSpPr>
        <p:spPr/>
        <p:txBody>
          <a:bodyPr/>
          <a:lstStyle/>
          <a:p>
            <a:r>
              <a:rPr lang="en-IN" dirty="0"/>
              <a:t>Normal Forms (NF)</a:t>
            </a:r>
          </a:p>
        </p:txBody>
      </p:sp>
    </p:spTree>
    <p:extLst>
      <p:ext uri="{BB962C8B-B14F-4D97-AF65-F5344CB8AC3E}">
        <p14:creationId xmlns:p14="http://schemas.microsoft.com/office/powerpoint/2010/main" val="361559214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2D1D1-0B57-B287-966E-FA176D0C29B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D1198AF-6ABC-4EFF-2B5A-928A56980AC0}"/>
              </a:ext>
            </a:extLst>
          </p:cNvPr>
          <p:cNvSpPr>
            <a:spLocks noGrp="1"/>
          </p:cNvSpPr>
          <p:nvPr>
            <p:ph sz="quarter" idx="12"/>
          </p:nvPr>
        </p:nvSpPr>
        <p:spPr/>
        <p:txBody>
          <a:bodyPr/>
          <a:lstStyle/>
          <a:p>
            <a:r>
              <a:rPr lang="en-US" dirty="0"/>
              <a:t>Normalization is done through a series of </a:t>
            </a:r>
            <a:r>
              <a:rPr lang="en-US" b="1" dirty="0"/>
              <a:t>normal forms</a:t>
            </a:r>
            <a:r>
              <a:rPr lang="en-US" dirty="0"/>
              <a:t>, each building on the previous:</a:t>
            </a:r>
          </a:p>
          <a:p>
            <a:r>
              <a:rPr lang="en-US" b="1" dirty="0"/>
              <a:t>🧩 1. First Normal Form (1NF)</a:t>
            </a:r>
          </a:p>
          <a:p>
            <a:r>
              <a:rPr lang="en-US" b="1" dirty="0"/>
              <a:t>Atomic values</a:t>
            </a:r>
            <a:r>
              <a:rPr lang="en-US" dirty="0"/>
              <a:t> only (no repeating groups or arrays).</a:t>
            </a:r>
          </a:p>
          <a:p>
            <a:r>
              <a:rPr lang="en-US" dirty="0"/>
              <a:t>Each column should contain </a:t>
            </a:r>
            <a:r>
              <a:rPr lang="en-US" b="1" dirty="0"/>
              <a:t>unique and indivisible</a:t>
            </a:r>
            <a:r>
              <a:rPr lang="en-US" dirty="0"/>
              <a:t> values.</a:t>
            </a:r>
          </a:p>
          <a:p>
            <a:endParaRPr lang="en-IN" dirty="0"/>
          </a:p>
        </p:txBody>
      </p:sp>
      <p:sp>
        <p:nvSpPr>
          <p:cNvPr id="3" name="Title 2">
            <a:extLst>
              <a:ext uri="{FF2B5EF4-FFF2-40B4-BE49-F238E27FC236}">
                <a16:creationId xmlns:a16="http://schemas.microsoft.com/office/drawing/2014/main" id="{9D7A5B34-34AA-BF7C-849E-7C03DAF21BA4}"/>
              </a:ext>
            </a:extLst>
          </p:cNvPr>
          <p:cNvSpPr>
            <a:spLocks noGrp="1"/>
          </p:cNvSpPr>
          <p:nvPr>
            <p:ph type="title"/>
          </p:nvPr>
        </p:nvSpPr>
        <p:spPr/>
        <p:txBody>
          <a:bodyPr/>
          <a:lstStyle/>
          <a:p>
            <a:r>
              <a:rPr lang="en-IN" dirty="0"/>
              <a:t>Normal Forms (NF)</a:t>
            </a:r>
          </a:p>
        </p:txBody>
      </p:sp>
    </p:spTree>
    <p:extLst>
      <p:ext uri="{BB962C8B-B14F-4D97-AF65-F5344CB8AC3E}">
        <p14:creationId xmlns:p14="http://schemas.microsoft.com/office/powerpoint/2010/main" val="210946365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B3A52F-FB6B-6005-F1D6-47F3F90875F4}"/>
              </a:ext>
            </a:extLst>
          </p:cNvPr>
          <p:cNvSpPr>
            <a:spLocks noGrp="1"/>
          </p:cNvSpPr>
          <p:nvPr>
            <p:ph type="title"/>
          </p:nvPr>
        </p:nvSpPr>
        <p:spPr/>
        <p:txBody>
          <a:bodyPr/>
          <a:lstStyle/>
          <a:p>
            <a:r>
              <a:rPr lang="en-IN" dirty="0"/>
              <a:t>First Normal Form</a:t>
            </a:r>
          </a:p>
        </p:txBody>
      </p:sp>
      <p:graphicFrame>
        <p:nvGraphicFramePr>
          <p:cNvPr id="4" name="Table 3">
            <a:extLst>
              <a:ext uri="{FF2B5EF4-FFF2-40B4-BE49-F238E27FC236}">
                <a16:creationId xmlns:a16="http://schemas.microsoft.com/office/drawing/2014/main" id="{925D5D6E-8F1E-31FE-875C-372C48BEB23B}"/>
              </a:ext>
            </a:extLst>
          </p:cNvPr>
          <p:cNvGraphicFramePr>
            <a:graphicFrameLocks noGrp="1"/>
          </p:cNvGraphicFramePr>
          <p:nvPr/>
        </p:nvGraphicFramePr>
        <p:xfrm>
          <a:off x="461035" y="1849028"/>
          <a:ext cx="8228012" cy="731520"/>
        </p:xfrm>
        <a:graphic>
          <a:graphicData uri="http://schemas.openxmlformats.org/drawingml/2006/table">
            <a:tbl>
              <a:tblPr>
                <a:tableStyleId>{35758FB7-9AC5-4552-8A53-C91805E547FA}</a:tableStyleId>
              </a:tblPr>
              <a:tblGrid>
                <a:gridCol w="4114006">
                  <a:extLst>
                    <a:ext uri="{9D8B030D-6E8A-4147-A177-3AD203B41FA5}">
                      <a16:colId xmlns:a16="http://schemas.microsoft.com/office/drawing/2014/main" val="4036890382"/>
                    </a:ext>
                  </a:extLst>
                </a:gridCol>
                <a:gridCol w="4114006">
                  <a:extLst>
                    <a:ext uri="{9D8B030D-6E8A-4147-A177-3AD203B41FA5}">
                      <a16:colId xmlns:a16="http://schemas.microsoft.com/office/drawing/2014/main" val="3412281544"/>
                    </a:ext>
                  </a:extLst>
                </a:gridCol>
              </a:tblGrid>
              <a:tr h="365760">
                <a:tc>
                  <a:txBody>
                    <a:bodyPr/>
                    <a:lstStyle/>
                    <a:p>
                      <a:pPr>
                        <a:buNone/>
                      </a:pPr>
                      <a:r>
                        <a:rPr lang="en-IN" sz="1800"/>
                        <a:t>Student</a:t>
                      </a:r>
                    </a:p>
                  </a:txBody>
                  <a:tcPr anchor="ctr"/>
                </a:tc>
                <a:tc>
                  <a:txBody>
                    <a:bodyPr/>
                    <a:lstStyle/>
                    <a:p>
                      <a:pPr>
                        <a:buNone/>
                      </a:pPr>
                      <a:r>
                        <a:rPr lang="en-IN" sz="1800"/>
                        <a:t>Subjects</a:t>
                      </a:r>
                    </a:p>
                  </a:txBody>
                  <a:tcPr anchor="ctr"/>
                </a:tc>
                <a:extLst>
                  <a:ext uri="{0D108BD9-81ED-4DB2-BD59-A6C34878D82A}">
                    <a16:rowId xmlns:a16="http://schemas.microsoft.com/office/drawing/2014/main" val="2821892582"/>
                  </a:ext>
                </a:extLst>
              </a:tr>
              <a:tr h="365760">
                <a:tc>
                  <a:txBody>
                    <a:bodyPr/>
                    <a:lstStyle/>
                    <a:p>
                      <a:pPr>
                        <a:buNone/>
                      </a:pPr>
                      <a:r>
                        <a:rPr lang="en-IN" sz="1800"/>
                        <a:t>John</a:t>
                      </a:r>
                    </a:p>
                  </a:txBody>
                  <a:tcPr anchor="ctr"/>
                </a:tc>
                <a:tc>
                  <a:txBody>
                    <a:bodyPr/>
                    <a:lstStyle/>
                    <a:p>
                      <a:pPr>
                        <a:buNone/>
                      </a:pPr>
                      <a:r>
                        <a:rPr lang="en-IN" sz="1800" dirty="0"/>
                        <a:t>Math, Science</a:t>
                      </a:r>
                    </a:p>
                  </a:txBody>
                  <a:tcPr anchor="ctr"/>
                </a:tc>
                <a:extLst>
                  <a:ext uri="{0D108BD9-81ED-4DB2-BD59-A6C34878D82A}">
                    <a16:rowId xmlns:a16="http://schemas.microsoft.com/office/drawing/2014/main" val="1214440164"/>
                  </a:ext>
                </a:extLst>
              </a:tr>
            </a:tbl>
          </a:graphicData>
        </a:graphic>
      </p:graphicFrame>
      <p:graphicFrame>
        <p:nvGraphicFramePr>
          <p:cNvPr id="5" name="Table 4">
            <a:extLst>
              <a:ext uri="{FF2B5EF4-FFF2-40B4-BE49-F238E27FC236}">
                <a16:creationId xmlns:a16="http://schemas.microsoft.com/office/drawing/2014/main" id="{28674DA4-215D-3AE3-410F-E1F32875369A}"/>
              </a:ext>
            </a:extLst>
          </p:cNvPr>
          <p:cNvGraphicFramePr>
            <a:graphicFrameLocks noGrp="1"/>
          </p:cNvGraphicFramePr>
          <p:nvPr/>
        </p:nvGraphicFramePr>
        <p:xfrm>
          <a:off x="457200" y="3244691"/>
          <a:ext cx="8228012" cy="1097280"/>
        </p:xfrm>
        <a:graphic>
          <a:graphicData uri="http://schemas.openxmlformats.org/drawingml/2006/table">
            <a:tbl>
              <a:tblPr>
                <a:tableStyleId>{3C2FFA5D-87B4-456A-9821-1D502468CF0F}</a:tableStyleId>
              </a:tblPr>
              <a:tblGrid>
                <a:gridCol w="4114006">
                  <a:extLst>
                    <a:ext uri="{9D8B030D-6E8A-4147-A177-3AD203B41FA5}">
                      <a16:colId xmlns:a16="http://schemas.microsoft.com/office/drawing/2014/main" val="3950130799"/>
                    </a:ext>
                  </a:extLst>
                </a:gridCol>
                <a:gridCol w="4114006">
                  <a:extLst>
                    <a:ext uri="{9D8B030D-6E8A-4147-A177-3AD203B41FA5}">
                      <a16:colId xmlns:a16="http://schemas.microsoft.com/office/drawing/2014/main" val="3754329280"/>
                    </a:ext>
                  </a:extLst>
                </a:gridCol>
              </a:tblGrid>
              <a:tr h="365760">
                <a:tc>
                  <a:txBody>
                    <a:bodyPr/>
                    <a:lstStyle/>
                    <a:p>
                      <a:pPr>
                        <a:buNone/>
                      </a:pPr>
                      <a:r>
                        <a:rPr lang="en-IN" sz="1800"/>
                        <a:t>Student</a:t>
                      </a:r>
                    </a:p>
                  </a:txBody>
                  <a:tcPr anchor="ctr"/>
                </a:tc>
                <a:tc>
                  <a:txBody>
                    <a:bodyPr/>
                    <a:lstStyle/>
                    <a:p>
                      <a:pPr>
                        <a:buNone/>
                      </a:pPr>
                      <a:r>
                        <a:rPr lang="en-IN" sz="1800"/>
                        <a:t>Subject</a:t>
                      </a:r>
                    </a:p>
                  </a:txBody>
                  <a:tcPr anchor="ctr"/>
                </a:tc>
                <a:extLst>
                  <a:ext uri="{0D108BD9-81ED-4DB2-BD59-A6C34878D82A}">
                    <a16:rowId xmlns:a16="http://schemas.microsoft.com/office/drawing/2014/main" val="4164529228"/>
                  </a:ext>
                </a:extLst>
              </a:tr>
              <a:tr h="365760">
                <a:tc>
                  <a:txBody>
                    <a:bodyPr/>
                    <a:lstStyle/>
                    <a:p>
                      <a:pPr>
                        <a:buNone/>
                      </a:pPr>
                      <a:r>
                        <a:rPr lang="en-IN" sz="1800"/>
                        <a:t>John</a:t>
                      </a:r>
                    </a:p>
                  </a:txBody>
                  <a:tcPr anchor="ctr"/>
                </a:tc>
                <a:tc>
                  <a:txBody>
                    <a:bodyPr/>
                    <a:lstStyle/>
                    <a:p>
                      <a:pPr>
                        <a:buNone/>
                      </a:pPr>
                      <a:r>
                        <a:rPr lang="en-IN" sz="1800"/>
                        <a:t>Math</a:t>
                      </a:r>
                    </a:p>
                  </a:txBody>
                  <a:tcPr anchor="ctr"/>
                </a:tc>
                <a:extLst>
                  <a:ext uri="{0D108BD9-81ED-4DB2-BD59-A6C34878D82A}">
                    <a16:rowId xmlns:a16="http://schemas.microsoft.com/office/drawing/2014/main" val="886844893"/>
                  </a:ext>
                </a:extLst>
              </a:tr>
              <a:tr h="365760">
                <a:tc>
                  <a:txBody>
                    <a:bodyPr/>
                    <a:lstStyle/>
                    <a:p>
                      <a:pPr>
                        <a:buNone/>
                      </a:pPr>
                      <a:r>
                        <a:rPr lang="en-IN" sz="1800"/>
                        <a:t>John</a:t>
                      </a:r>
                    </a:p>
                  </a:txBody>
                  <a:tcPr anchor="ctr"/>
                </a:tc>
                <a:tc>
                  <a:txBody>
                    <a:bodyPr/>
                    <a:lstStyle/>
                    <a:p>
                      <a:pPr>
                        <a:buNone/>
                      </a:pPr>
                      <a:r>
                        <a:rPr lang="en-IN" sz="1800" dirty="0"/>
                        <a:t>Science</a:t>
                      </a:r>
                    </a:p>
                  </a:txBody>
                  <a:tcPr anchor="ctr"/>
                </a:tc>
                <a:extLst>
                  <a:ext uri="{0D108BD9-81ED-4DB2-BD59-A6C34878D82A}">
                    <a16:rowId xmlns:a16="http://schemas.microsoft.com/office/drawing/2014/main" val="2438259227"/>
                  </a:ext>
                </a:extLst>
              </a:tr>
            </a:tbl>
          </a:graphicData>
        </a:graphic>
      </p:graphicFrame>
    </p:spTree>
    <p:extLst>
      <p:ext uri="{BB962C8B-B14F-4D97-AF65-F5344CB8AC3E}">
        <p14:creationId xmlns:p14="http://schemas.microsoft.com/office/powerpoint/2010/main" val="195822289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E530F4-D481-872A-94AF-7B671A63D67A}"/>
              </a:ext>
            </a:extLst>
          </p:cNvPr>
          <p:cNvSpPr>
            <a:spLocks noGrp="1"/>
          </p:cNvSpPr>
          <p:nvPr>
            <p:ph sz="quarter" idx="12"/>
          </p:nvPr>
        </p:nvSpPr>
        <p:spPr>
          <a:xfrm>
            <a:off x="457201" y="1381125"/>
            <a:ext cx="8228012" cy="1650833"/>
          </a:xfrm>
        </p:spPr>
        <p:txBody>
          <a:bodyPr/>
          <a:lstStyle/>
          <a:p>
            <a:r>
              <a:rPr lang="en-US" dirty="0"/>
              <a:t>1NF + every non-key attribute is fully dependent on the entire primary key (no partial dependency).</a:t>
            </a:r>
          </a:p>
          <a:p>
            <a:r>
              <a:rPr lang="en-US" dirty="0"/>
              <a:t>Applies only to tables with composite keys.</a:t>
            </a:r>
            <a:endParaRPr lang="en-IN" dirty="0"/>
          </a:p>
        </p:txBody>
      </p:sp>
      <p:sp>
        <p:nvSpPr>
          <p:cNvPr id="3" name="Title 2">
            <a:extLst>
              <a:ext uri="{FF2B5EF4-FFF2-40B4-BE49-F238E27FC236}">
                <a16:creationId xmlns:a16="http://schemas.microsoft.com/office/drawing/2014/main" id="{C6EDA9FF-7C29-9197-76FF-CC16D2F6E6BE}"/>
              </a:ext>
            </a:extLst>
          </p:cNvPr>
          <p:cNvSpPr>
            <a:spLocks noGrp="1"/>
          </p:cNvSpPr>
          <p:nvPr>
            <p:ph type="title"/>
          </p:nvPr>
        </p:nvSpPr>
        <p:spPr/>
        <p:txBody>
          <a:bodyPr/>
          <a:lstStyle/>
          <a:p>
            <a:r>
              <a:rPr lang="en-US" dirty="0"/>
              <a:t>2. Second Normal Form (2NF)</a:t>
            </a:r>
            <a:endParaRPr lang="en-IN" dirty="0"/>
          </a:p>
        </p:txBody>
      </p:sp>
      <p:pic>
        <p:nvPicPr>
          <p:cNvPr id="8" name="Picture 7">
            <a:extLst>
              <a:ext uri="{FF2B5EF4-FFF2-40B4-BE49-F238E27FC236}">
                <a16:creationId xmlns:a16="http://schemas.microsoft.com/office/drawing/2014/main" id="{6EE0D6E4-2063-253C-70B4-1EE45E62ADFC}"/>
              </a:ext>
            </a:extLst>
          </p:cNvPr>
          <p:cNvPicPr>
            <a:picLocks noChangeAspect="1"/>
          </p:cNvPicPr>
          <p:nvPr/>
        </p:nvPicPr>
        <p:blipFill>
          <a:blip r:embed="rId2"/>
          <a:srcRect r="11684"/>
          <a:stretch>
            <a:fillRect/>
          </a:stretch>
        </p:blipFill>
        <p:spPr>
          <a:xfrm>
            <a:off x="609618" y="3349491"/>
            <a:ext cx="8075595" cy="2687424"/>
          </a:xfrm>
          <a:prstGeom prst="rect">
            <a:avLst/>
          </a:prstGeom>
        </p:spPr>
      </p:pic>
    </p:spTree>
    <p:extLst>
      <p:ext uri="{BB962C8B-B14F-4D97-AF65-F5344CB8AC3E}">
        <p14:creationId xmlns:p14="http://schemas.microsoft.com/office/powerpoint/2010/main" val="15237596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3521AA-B645-6890-4039-2E8C637C0024}"/>
              </a:ext>
            </a:extLst>
          </p:cNvPr>
          <p:cNvSpPr>
            <a:spLocks noGrp="1"/>
          </p:cNvSpPr>
          <p:nvPr>
            <p:ph sz="quarter" idx="12"/>
          </p:nvPr>
        </p:nvSpPr>
        <p:spPr>
          <a:xfrm>
            <a:off x="457201" y="1381125"/>
            <a:ext cx="8228012" cy="1121443"/>
          </a:xfrm>
        </p:spPr>
        <p:txBody>
          <a:bodyPr/>
          <a:lstStyle/>
          <a:p>
            <a:r>
              <a:rPr lang="en-US" dirty="0"/>
              <a:t>2NF + no transitive dependencies (non-key attribute depends on another non-key attribute).</a:t>
            </a:r>
          </a:p>
          <a:p>
            <a:endParaRPr lang="en-IN" dirty="0"/>
          </a:p>
        </p:txBody>
      </p:sp>
      <p:sp>
        <p:nvSpPr>
          <p:cNvPr id="3" name="Title 2">
            <a:extLst>
              <a:ext uri="{FF2B5EF4-FFF2-40B4-BE49-F238E27FC236}">
                <a16:creationId xmlns:a16="http://schemas.microsoft.com/office/drawing/2014/main" id="{01D61A6E-276E-9A6B-E085-2F81F8236CB6}"/>
              </a:ext>
            </a:extLst>
          </p:cNvPr>
          <p:cNvSpPr>
            <a:spLocks noGrp="1"/>
          </p:cNvSpPr>
          <p:nvPr>
            <p:ph type="title"/>
          </p:nvPr>
        </p:nvSpPr>
        <p:spPr/>
        <p:txBody>
          <a:bodyPr/>
          <a:lstStyle/>
          <a:p>
            <a:r>
              <a:rPr lang="en-IN" dirty="0"/>
              <a:t>Third Normal Form (3NF)</a:t>
            </a:r>
          </a:p>
        </p:txBody>
      </p:sp>
      <p:pic>
        <p:nvPicPr>
          <p:cNvPr id="5" name="Picture 4">
            <a:extLst>
              <a:ext uri="{FF2B5EF4-FFF2-40B4-BE49-F238E27FC236}">
                <a16:creationId xmlns:a16="http://schemas.microsoft.com/office/drawing/2014/main" id="{6D8E9A95-D0E4-E33D-06FD-A12D076BA0A6}"/>
              </a:ext>
            </a:extLst>
          </p:cNvPr>
          <p:cNvPicPr>
            <a:picLocks noChangeAspect="1"/>
          </p:cNvPicPr>
          <p:nvPr/>
        </p:nvPicPr>
        <p:blipFill>
          <a:blip r:embed="rId2"/>
          <a:stretch>
            <a:fillRect/>
          </a:stretch>
        </p:blipFill>
        <p:spPr>
          <a:xfrm>
            <a:off x="1080727" y="2502853"/>
            <a:ext cx="7193355" cy="3310805"/>
          </a:xfrm>
          <a:prstGeom prst="rect">
            <a:avLst/>
          </a:prstGeom>
        </p:spPr>
      </p:pic>
    </p:spTree>
    <p:extLst>
      <p:ext uri="{BB962C8B-B14F-4D97-AF65-F5344CB8AC3E}">
        <p14:creationId xmlns:p14="http://schemas.microsoft.com/office/powerpoint/2010/main" val="155792678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572854E-41BC-9075-C46B-F61966AD5E99}"/>
              </a:ext>
            </a:extLst>
          </p:cNvPr>
          <p:cNvSpPr>
            <a:spLocks noGrp="1"/>
          </p:cNvSpPr>
          <p:nvPr>
            <p:ph sz="quarter" idx="12"/>
          </p:nvPr>
        </p:nvSpPr>
        <p:spPr/>
        <p:txBody>
          <a:bodyPr/>
          <a:lstStyle/>
          <a:p>
            <a:r>
              <a:rPr lang="en-US" dirty="0"/>
              <a:t>BCNF (Boyce-Codd Normal Form) is a stronger version of the Third Normal Form (3NF).</a:t>
            </a:r>
          </a:p>
          <a:p>
            <a:r>
              <a:rPr lang="en-US" b="1" dirty="0"/>
              <a:t>Rule</a:t>
            </a:r>
            <a:r>
              <a:rPr lang="en-US" dirty="0"/>
              <a:t>:</a:t>
            </a:r>
            <a:br>
              <a:rPr lang="en-US" dirty="0"/>
            </a:br>
            <a:r>
              <a:rPr lang="en-US" dirty="0"/>
              <a:t>A relation is in </a:t>
            </a:r>
            <a:r>
              <a:rPr lang="en-US" b="1" dirty="0"/>
              <a:t>BCNF</a:t>
            </a:r>
            <a:r>
              <a:rPr lang="en-US" dirty="0"/>
              <a:t> </a:t>
            </a:r>
            <a:r>
              <a:rPr lang="en-US" b="1" dirty="0"/>
              <a:t>if and only if</a:t>
            </a:r>
            <a:r>
              <a:rPr lang="en-US" dirty="0"/>
              <a:t> </a:t>
            </a:r>
            <a:r>
              <a:rPr lang="en-US" b="1" dirty="0"/>
              <a:t>every determinant is a candidate key</a:t>
            </a:r>
            <a:r>
              <a:rPr lang="en-US" dirty="0"/>
              <a:t>.</a:t>
            </a:r>
          </a:p>
          <a:p>
            <a:r>
              <a:rPr lang="en-US" dirty="0"/>
              <a:t>A </a:t>
            </a:r>
            <a:r>
              <a:rPr lang="en-US" b="1" dirty="0"/>
              <a:t>determinant</a:t>
            </a:r>
            <a:r>
              <a:rPr lang="en-US" dirty="0"/>
              <a:t> is any attribute (or set of attributes) on which some other attribute is </a:t>
            </a:r>
            <a:r>
              <a:rPr lang="en-US" b="1" dirty="0"/>
              <a:t>fully functionally dependent</a:t>
            </a:r>
            <a:r>
              <a:rPr lang="en-US" dirty="0"/>
              <a:t>.</a:t>
            </a:r>
          </a:p>
          <a:p>
            <a:r>
              <a:rPr lang="en-US" dirty="0"/>
              <a:t>A </a:t>
            </a:r>
            <a:r>
              <a:rPr lang="en-US" b="1" dirty="0"/>
              <a:t>candidate key</a:t>
            </a:r>
            <a:r>
              <a:rPr lang="en-US" dirty="0"/>
              <a:t> is a minimal set of attributes that can uniquely identify a tuple.</a:t>
            </a:r>
          </a:p>
          <a:p>
            <a:endParaRPr lang="en-IN" dirty="0"/>
          </a:p>
        </p:txBody>
      </p:sp>
      <p:sp>
        <p:nvSpPr>
          <p:cNvPr id="3" name="Title 2">
            <a:extLst>
              <a:ext uri="{FF2B5EF4-FFF2-40B4-BE49-F238E27FC236}">
                <a16:creationId xmlns:a16="http://schemas.microsoft.com/office/drawing/2014/main" id="{DB0CB29B-8ED6-D883-F5E8-2991B4B0500A}"/>
              </a:ext>
            </a:extLst>
          </p:cNvPr>
          <p:cNvSpPr>
            <a:spLocks noGrp="1"/>
          </p:cNvSpPr>
          <p:nvPr>
            <p:ph type="title"/>
          </p:nvPr>
        </p:nvSpPr>
        <p:spPr/>
        <p:txBody>
          <a:bodyPr/>
          <a:lstStyle/>
          <a:p>
            <a:r>
              <a:rPr lang="en-IN" dirty="0"/>
              <a:t> Boyce-Codd Normal Form (BCNF)</a:t>
            </a:r>
          </a:p>
        </p:txBody>
      </p:sp>
    </p:spTree>
    <p:extLst>
      <p:ext uri="{BB962C8B-B14F-4D97-AF65-F5344CB8AC3E}">
        <p14:creationId xmlns:p14="http://schemas.microsoft.com/office/powerpoint/2010/main" val="187275437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57599DF-6862-95C7-5972-AB54B69D1BCA}"/>
              </a:ext>
            </a:extLst>
          </p:cNvPr>
          <p:cNvGraphicFramePr>
            <a:graphicFrameLocks noGrp="1"/>
          </p:cNvGraphicFramePr>
          <p:nvPr>
            <p:ph sz="quarter" idx="12"/>
          </p:nvPr>
        </p:nvGraphicFramePr>
        <p:xfrm>
          <a:off x="457200" y="2697480"/>
          <a:ext cx="8228013" cy="1463040"/>
        </p:xfrm>
        <a:graphic>
          <a:graphicData uri="http://schemas.openxmlformats.org/drawingml/2006/table">
            <a:tbl>
              <a:tblPr>
                <a:tableStyleId>{3C2FFA5D-87B4-456A-9821-1D502468CF0F}</a:tableStyleId>
              </a:tblPr>
              <a:tblGrid>
                <a:gridCol w="2742671">
                  <a:extLst>
                    <a:ext uri="{9D8B030D-6E8A-4147-A177-3AD203B41FA5}">
                      <a16:colId xmlns:a16="http://schemas.microsoft.com/office/drawing/2014/main" val="2233098941"/>
                    </a:ext>
                  </a:extLst>
                </a:gridCol>
                <a:gridCol w="2742671">
                  <a:extLst>
                    <a:ext uri="{9D8B030D-6E8A-4147-A177-3AD203B41FA5}">
                      <a16:colId xmlns:a16="http://schemas.microsoft.com/office/drawing/2014/main" val="1458546249"/>
                    </a:ext>
                  </a:extLst>
                </a:gridCol>
                <a:gridCol w="2742671">
                  <a:extLst>
                    <a:ext uri="{9D8B030D-6E8A-4147-A177-3AD203B41FA5}">
                      <a16:colId xmlns:a16="http://schemas.microsoft.com/office/drawing/2014/main" val="4139463949"/>
                    </a:ext>
                  </a:extLst>
                </a:gridCol>
              </a:tblGrid>
              <a:tr h="0">
                <a:tc>
                  <a:txBody>
                    <a:bodyPr/>
                    <a:lstStyle/>
                    <a:p>
                      <a:pPr>
                        <a:buNone/>
                      </a:pPr>
                      <a:r>
                        <a:rPr lang="en-IN" b="1"/>
                        <a:t>Course</a:t>
                      </a:r>
                      <a:endParaRPr lang="en-IN"/>
                    </a:p>
                  </a:txBody>
                  <a:tcPr anchor="ctr"/>
                </a:tc>
                <a:tc>
                  <a:txBody>
                    <a:bodyPr/>
                    <a:lstStyle/>
                    <a:p>
                      <a:pPr>
                        <a:buNone/>
                      </a:pPr>
                      <a:r>
                        <a:rPr lang="en-IN" b="1"/>
                        <a:t>Instructor</a:t>
                      </a:r>
                      <a:endParaRPr lang="en-IN"/>
                    </a:p>
                  </a:txBody>
                  <a:tcPr anchor="ctr"/>
                </a:tc>
                <a:tc>
                  <a:txBody>
                    <a:bodyPr/>
                    <a:lstStyle/>
                    <a:p>
                      <a:pPr>
                        <a:buNone/>
                      </a:pPr>
                      <a:r>
                        <a:rPr lang="en-IN" b="1"/>
                        <a:t>Room</a:t>
                      </a:r>
                      <a:endParaRPr lang="en-IN"/>
                    </a:p>
                  </a:txBody>
                  <a:tcPr anchor="ctr"/>
                </a:tc>
                <a:extLst>
                  <a:ext uri="{0D108BD9-81ED-4DB2-BD59-A6C34878D82A}">
                    <a16:rowId xmlns:a16="http://schemas.microsoft.com/office/drawing/2014/main" val="1079500194"/>
                  </a:ext>
                </a:extLst>
              </a:tr>
              <a:tr h="0">
                <a:tc>
                  <a:txBody>
                    <a:bodyPr/>
                    <a:lstStyle/>
                    <a:p>
                      <a:pPr>
                        <a:buNone/>
                      </a:pPr>
                      <a:r>
                        <a:rPr lang="en-IN"/>
                        <a:t>DBMS</a:t>
                      </a:r>
                    </a:p>
                  </a:txBody>
                  <a:tcPr anchor="ctr"/>
                </a:tc>
                <a:tc>
                  <a:txBody>
                    <a:bodyPr/>
                    <a:lstStyle/>
                    <a:p>
                      <a:pPr>
                        <a:buNone/>
                      </a:pPr>
                      <a:r>
                        <a:rPr lang="en-IN"/>
                        <a:t>Alice</a:t>
                      </a:r>
                    </a:p>
                  </a:txBody>
                  <a:tcPr anchor="ctr"/>
                </a:tc>
                <a:tc>
                  <a:txBody>
                    <a:bodyPr/>
                    <a:lstStyle/>
                    <a:p>
                      <a:pPr>
                        <a:buNone/>
                      </a:pPr>
                      <a:r>
                        <a:rPr lang="en-IN"/>
                        <a:t>R1</a:t>
                      </a:r>
                    </a:p>
                  </a:txBody>
                  <a:tcPr anchor="ctr"/>
                </a:tc>
                <a:extLst>
                  <a:ext uri="{0D108BD9-81ED-4DB2-BD59-A6C34878D82A}">
                    <a16:rowId xmlns:a16="http://schemas.microsoft.com/office/drawing/2014/main" val="54133384"/>
                  </a:ext>
                </a:extLst>
              </a:tr>
              <a:tr h="0">
                <a:tc>
                  <a:txBody>
                    <a:bodyPr/>
                    <a:lstStyle/>
                    <a:p>
                      <a:pPr>
                        <a:buNone/>
                      </a:pPr>
                      <a:r>
                        <a:rPr lang="en-IN"/>
                        <a:t>OS</a:t>
                      </a:r>
                    </a:p>
                  </a:txBody>
                  <a:tcPr anchor="ctr"/>
                </a:tc>
                <a:tc>
                  <a:txBody>
                    <a:bodyPr/>
                    <a:lstStyle/>
                    <a:p>
                      <a:pPr>
                        <a:buNone/>
                      </a:pPr>
                      <a:r>
                        <a:rPr lang="en-IN"/>
                        <a:t>Bob</a:t>
                      </a:r>
                    </a:p>
                  </a:txBody>
                  <a:tcPr anchor="ctr"/>
                </a:tc>
                <a:tc>
                  <a:txBody>
                    <a:bodyPr/>
                    <a:lstStyle/>
                    <a:p>
                      <a:pPr>
                        <a:buNone/>
                      </a:pPr>
                      <a:r>
                        <a:rPr lang="en-IN"/>
                        <a:t>R2</a:t>
                      </a:r>
                    </a:p>
                  </a:txBody>
                  <a:tcPr anchor="ctr"/>
                </a:tc>
                <a:extLst>
                  <a:ext uri="{0D108BD9-81ED-4DB2-BD59-A6C34878D82A}">
                    <a16:rowId xmlns:a16="http://schemas.microsoft.com/office/drawing/2014/main" val="2993816387"/>
                  </a:ext>
                </a:extLst>
              </a:tr>
              <a:tr h="0">
                <a:tc>
                  <a:txBody>
                    <a:bodyPr/>
                    <a:lstStyle/>
                    <a:p>
                      <a:pPr>
                        <a:buNone/>
                      </a:pPr>
                      <a:r>
                        <a:rPr lang="en-IN"/>
                        <a:t>DBMS</a:t>
                      </a:r>
                    </a:p>
                  </a:txBody>
                  <a:tcPr anchor="ctr"/>
                </a:tc>
                <a:tc>
                  <a:txBody>
                    <a:bodyPr/>
                    <a:lstStyle/>
                    <a:p>
                      <a:pPr>
                        <a:buNone/>
                      </a:pPr>
                      <a:r>
                        <a:rPr lang="en-IN"/>
                        <a:t>Alice</a:t>
                      </a:r>
                    </a:p>
                  </a:txBody>
                  <a:tcPr anchor="ctr"/>
                </a:tc>
                <a:tc>
                  <a:txBody>
                    <a:bodyPr/>
                    <a:lstStyle/>
                    <a:p>
                      <a:pPr>
                        <a:buNone/>
                      </a:pPr>
                      <a:r>
                        <a:rPr lang="en-IN" dirty="0"/>
                        <a:t>R1</a:t>
                      </a:r>
                    </a:p>
                  </a:txBody>
                  <a:tcPr anchor="ctr"/>
                </a:tc>
                <a:extLst>
                  <a:ext uri="{0D108BD9-81ED-4DB2-BD59-A6C34878D82A}">
                    <a16:rowId xmlns:a16="http://schemas.microsoft.com/office/drawing/2014/main" val="2087853927"/>
                  </a:ext>
                </a:extLst>
              </a:tr>
            </a:tbl>
          </a:graphicData>
        </a:graphic>
      </p:graphicFrame>
      <p:sp>
        <p:nvSpPr>
          <p:cNvPr id="3" name="Title 2">
            <a:extLst>
              <a:ext uri="{FF2B5EF4-FFF2-40B4-BE49-F238E27FC236}">
                <a16:creationId xmlns:a16="http://schemas.microsoft.com/office/drawing/2014/main" id="{725C4579-8B07-FB70-0322-FBA0AAD3F8C6}"/>
              </a:ext>
            </a:extLst>
          </p:cNvPr>
          <p:cNvSpPr>
            <a:spLocks noGrp="1"/>
          </p:cNvSpPr>
          <p:nvPr>
            <p:ph type="title"/>
          </p:nvPr>
        </p:nvSpPr>
        <p:spPr/>
        <p:txBody>
          <a:bodyPr/>
          <a:lstStyle/>
          <a:p>
            <a:r>
              <a:rPr lang="en-US" dirty="0"/>
              <a:t>Example That Is in 3NF but Not in BCNF</a:t>
            </a:r>
            <a:endParaRPr lang="en-IN" dirty="0"/>
          </a:p>
        </p:txBody>
      </p:sp>
    </p:spTree>
    <p:extLst>
      <p:ext uri="{BB962C8B-B14F-4D97-AF65-F5344CB8AC3E}">
        <p14:creationId xmlns:p14="http://schemas.microsoft.com/office/powerpoint/2010/main" val="126904245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CEB913-3072-21C0-070B-9163AE3ED0E5}"/>
              </a:ext>
            </a:extLst>
          </p:cNvPr>
          <p:cNvSpPr>
            <a:spLocks noGrp="1"/>
          </p:cNvSpPr>
          <p:nvPr>
            <p:ph sz="quarter" idx="12"/>
          </p:nvPr>
        </p:nvSpPr>
        <p:spPr/>
        <p:txBody>
          <a:bodyPr/>
          <a:lstStyle/>
          <a:p>
            <a:r>
              <a:rPr lang="en-US" dirty="0"/>
              <a:t>Course → Instructor ✅ (Each course has one instructor)</a:t>
            </a:r>
          </a:p>
          <a:p>
            <a:r>
              <a:rPr lang="en-US" dirty="0"/>
              <a:t>Instructor → Course ❌ Not always true</a:t>
            </a:r>
          </a:p>
          <a:p>
            <a:r>
              <a:rPr lang="en-US" dirty="0"/>
              <a:t>Instructor → Room ✅ (Each instructor has a fixed room)</a:t>
            </a:r>
            <a:endParaRPr lang="en-IN" dirty="0"/>
          </a:p>
        </p:txBody>
      </p:sp>
      <p:sp>
        <p:nvSpPr>
          <p:cNvPr id="3" name="Title 2">
            <a:extLst>
              <a:ext uri="{FF2B5EF4-FFF2-40B4-BE49-F238E27FC236}">
                <a16:creationId xmlns:a16="http://schemas.microsoft.com/office/drawing/2014/main" id="{EF44E12E-B669-09F5-AA1F-C2B3AE571443}"/>
              </a:ext>
            </a:extLst>
          </p:cNvPr>
          <p:cNvSpPr>
            <a:spLocks noGrp="1"/>
          </p:cNvSpPr>
          <p:nvPr>
            <p:ph type="title"/>
          </p:nvPr>
        </p:nvSpPr>
        <p:spPr/>
        <p:txBody>
          <a:bodyPr/>
          <a:lstStyle/>
          <a:p>
            <a:r>
              <a:rPr lang="en-IN" dirty="0"/>
              <a:t>Functional Dependencies (FDs):</a:t>
            </a:r>
          </a:p>
        </p:txBody>
      </p:sp>
    </p:spTree>
    <p:extLst>
      <p:ext uri="{BB962C8B-B14F-4D97-AF65-F5344CB8AC3E}">
        <p14:creationId xmlns:p14="http://schemas.microsoft.com/office/powerpoint/2010/main" val="369639498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D1D0C8-D090-CCC7-2AEA-24D452B41369}"/>
              </a:ext>
            </a:extLst>
          </p:cNvPr>
          <p:cNvSpPr>
            <a:spLocks noGrp="1"/>
          </p:cNvSpPr>
          <p:nvPr>
            <p:ph sz="quarter" idx="12"/>
          </p:nvPr>
        </p:nvSpPr>
        <p:spPr/>
        <p:txBody>
          <a:bodyPr/>
          <a:lstStyle/>
          <a:p>
            <a:r>
              <a:rPr lang="en-US" dirty="0"/>
              <a:t>All non-key attributes are dependent on keys, so it satisfies 3NF.</a:t>
            </a:r>
          </a:p>
          <a:p>
            <a:r>
              <a:rPr lang="en-US" dirty="0"/>
              <a:t>But Instructor → Room violates BCNF because:</a:t>
            </a:r>
          </a:p>
          <a:p>
            <a:pPr lvl="1"/>
            <a:r>
              <a:rPr lang="en-US" dirty="0"/>
              <a:t>Instructor is not a candidate key, but it's a determinant.</a:t>
            </a:r>
          </a:p>
          <a:p>
            <a:r>
              <a:rPr lang="en-US" dirty="0"/>
              <a:t>Hence, not in BCNF.</a:t>
            </a:r>
            <a:endParaRPr lang="en-IN" dirty="0"/>
          </a:p>
        </p:txBody>
      </p:sp>
      <p:sp>
        <p:nvSpPr>
          <p:cNvPr id="3" name="Title 2">
            <a:extLst>
              <a:ext uri="{FF2B5EF4-FFF2-40B4-BE49-F238E27FC236}">
                <a16:creationId xmlns:a16="http://schemas.microsoft.com/office/drawing/2014/main" id="{95ED2470-46F5-8CA3-DE0A-E4A69CB10B24}"/>
              </a:ext>
            </a:extLst>
          </p:cNvPr>
          <p:cNvSpPr>
            <a:spLocks noGrp="1"/>
          </p:cNvSpPr>
          <p:nvPr>
            <p:ph type="title"/>
          </p:nvPr>
        </p:nvSpPr>
        <p:spPr/>
        <p:txBody>
          <a:bodyPr/>
          <a:lstStyle/>
          <a:p>
            <a:r>
              <a:rPr lang="en-US" dirty="0"/>
              <a:t>Why It's in 3NF but Not in BCNF?</a:t>
            </a:r>
            <a:endParaRPr lang="en-IN" dirty="0"/>
          </a:p>
        </p:txBody>
      </p:sp>
    </p:spTree>
    <p:extLst>
      <p:ext uri="{BB962C8B-B14F-4D97-AF65-F5344CB8AC3E}">
        <p14:creationId xmlns:p14="http://schemas.microsoft.com/office/powerpoint/2010/main" val="11275149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3F4F233-B333-768B-00BE-E2AD4286468A}"/>
              </a:ext>
            </a:extLst>
          </p:cNvPr>
          <p:cNvSpPr>
            <a:spLocks noGrp="1"/>
          </p:cNvSpPr>
          <p:nvPr>
            <p:ph type="title"/>
          </p:nvPr>
        </p:nvSpPr>
        <p:spPr/>
        <p:txBody>
          <a:bodyPr/>
          <a:lstStyle/>
          <a:p>
            <a:r>
              <a:rPr lang="en-IN" dirty="0"/>
              <a:t>Fix: Decompose into BCNF</a:t>
            </a:r>
          </a:p>
        </p:txBody>
      </p:sp>
      <p:pic>
        <p:nvPicPr>
          <p:cNvPr id="5" name="Picture 4">
            <a:extLst>
              <a:ext uri="{FF2B5EF4-FFF2-40B4-BE49-F238E27FC236}">
                <a16:creationId xmlns:a16="http://schemas.microsoft.com/office/drawing/2014/main" id="{327F6271-0269-EB94-F20D-F5133D57F5F7}"/>
              </a:ext>
            </a:extLst>
          </p:cNvPr>
          <p:cNvPicPr>
            <a:picLocks noChangeAspect="1"/>
          </p:cNvPicPr>
          <p:nvPr/>
        </p:nvPicPr>
        <p:blipFill>
          <a:blip r:embed="rId2"/>
          <a:stretch>
            <a:fillRect/>
          </a:stretch>
        </p:blipFill>
        <p:spPr>
          <a:xfrm>
            <a:off x="695975" y="1716042"/>
            <a:ext cx="7735380" cy="3772426"/>
          </a:xfrm>
          <a:prstGeom prst="rect">
            <a:avLst/>
          </a:prstGeom>
        </p:spPr>
      </p:pic>
    </p:spTree>
    <p:extLst>
      <p:ext uri="{BB962C8B-B14F-4D97-AF65-F5344CB8AC3E}">
        <p14:creationId xmlns:p14="http://schemas.microsoft.com/office/powerpoint/2010/main" val="411478386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0D946-9858-539A-1B8A-20D1E71BAF8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4E38A6B-6AB5-8B4C-1A9D-E55E852A9082}"/>
              </a:ext>
            </a:extLst>
          </p:cNvPr>
          <p:cNvSpPr>
            <a:spLocks noGrp="1"/>
          </p:cNvSpPr>
          <p:nvPr>
            <p:ph type="title"/>
          </p:nvPr>
        </p:nvSpPr>
        <p:spPr/>
        <p:txBody>
          <a:bodyPr/>
          <a:lstStyle/>
          <a:p>
            <a:r>
              <a:rPr lang="en-IN" dirty="0"/>
              <a:t>Fix: Decompose into BCNF</a:t>
            </a:r>
          </a:p>
        </p:txBody>
      </p:sp>
      <p:pic>
        <p:nvPicPr>
          <p:cNvPr id="4" name="Picture 3">
            <a:extLst>
              <a:ext uri="{FF2B5EF4-FFF2-40B4-BE49-F238E27FC236}">
                <a16:creationId xmlns:a16="http://schemas.microsoft.com/office/drawing/2014/main" id="{7F9301F4-30B3-9AC9-C3DF-3805AA3EE009}"/>
              </a:ext>
            </a:extLst>
          </p:cNvPr>
          <p:cNvPicPr>
            <a:picLocks noChangeAspect="1"/>
          </p:cNvPicPr>
          <p:nvPr/>
        </p:nvPicPr>
        <p:blipFill>
          <a:blip r:embed="rId2"/>
          <a:stretch>
            <a:fillRect/>
          </a:stretch>
        </p:blipFill>
        <p:spPr>
          <a:xfrm>
            <a:off x="613810" y="1909550"/>
            <a:ext cx="7916380" cy="3038899"/>
          </a:xfrm>
          <a:prstGeom prst="rect">
            <a:avLst/>
          </a:prstGeom>
        </p:spPr>
      </p:pic>
    </p:spTree>
    <p:extLst>
      <p:ext uri="{BB962C8B-B14F-4D97-AF65-F5344CB8AC3E}">
        <p14:creationId xmlns:p14="http://schemas.microsoft.com/office/powerpoint/2010/main" val="217896487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D46CB6-7752-828F-8F95-F391F72D0577}"/>
              </a:ext>
            </a:extLst>
          </p:cNvPr>
          <p:cNvSpPr>
            <a:spLocks noGrp="1"/>
          </p:cNvSpPr>
          <p:nvPr>
            <p:ph sz="quarter" idx="12"/>
          </p:nvPr>
        </p:nvSpPr>
        <p:spPr/>
        <p:txBody>
          <a:bodyPr/>
          <a:lstStyle/>
          <a:p>
            <a:r>
              <a:rPr lang="en-US" dirty="0"/>
              <a:t>Handle multi-valued dependencies and join dependencies.</a:t>
            </a:r>
          </a:p>
          <a:p>
            <a:r>
              <a:rPr lang="en-US" dirty="0"/>
              <a:t>Rarely used in everyday business applications but important in theoretical or complex systems.</a:t>
            </a:r>
            <a:endParaRPr lang="en-IN" dirty="0"/>
          </a:p>
        </p:txBody>
      </p:sp>
      <p:sp>
        <p:nvSpPr>
          <p:cNvPr id="3" name="Title 2">
            <a:extLst>
              <a:ext uri="{FF2B5EF4-FFF2-40B4-BE49-F238E27FC236}">
                <a16:creationId xmlns:a16="http://schemas.microsoft.com/office/drawing/2014/main" id="{DC73F82E-7DFB-99A5-3B8A-E08E8023F2E7}"/>
              </a:ext>
            </a:extLst>
          </p:cNvPr>
          <p:cNvSpPr>
            <a:spLocks noGrp="1"/>
          </p:cNvSpPr>
          <p:nvPr>
            <p:ph type="title"/>
          </p:nvPr>
        </p:nvSpPr>
        <p:spPr/>
        <p:txBody>
          <a:bodyPr/>
          <a:lstStyle/>
          <a:p>
            <a:r>
              <a:rPr lang="en-US" dirty="0"/>
              <a:t>Higher Normal Forms (4NF, 5NF)</a:t>
            </a:r>
            <a:endParaRPr lang="en-IN" dirty="0"/>
          </a:p>
        </p:txBody>
      </p:sp>
    </p:spTree>
    <p:extLst>
      <p:ext uri="{BB962C8B-B14F-4D97-AF65-F5344CB8AC3E}">
        <p14:creationId xmlns:p14="http://schemas.microsoft.com/office/powerpoint/2010/main" val="379460356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389658-D7DA-E7F0-EDEF-17E15003BA78}"/>
              </a:ext>
            </a:extLst>
          </p:cNvPr>
          <p:cNvSpPr>
            <a:spLocks noGrp="1"/>
          </p:cNvSpPr>
          <p:nvPr>
            <p:ph type="title"/>
          </p:nvPr>
        </p:nvSpPr>
        <p:spPr/>
        <p:txBody>
          <a:bodyPr/>
          <a:lstStyle/>
          <a:p>
            <a:r>
              <a:rPr lang="en-US" dirty="0"/>
              <a:t>Example: Joining employee and department tables</a:t>
            </a:r>
            <a:endParaRPr lang="en-IN" dirty="0"/>
          </a:p>
        </p:txBody>
      </p:sp>
      <p:graphicFrame>
        <p:nvGraphicFramePr>
          <p:cNvPr id="4" name="Table 3">
            <a:extLst>
              <a:ext uri="{FF2B5EF4-FFF2-40B4-BE49-F238E27FC236}">
                <a16:creationId xmlns:a16="http://schemas.microsoft.com/office/drawing/2014/main" id="{1B47F595-1C09-7C1D-6F18-9BCAD9133655}"/>
              </a:ext>
            </a:extLst>
          </p:cNvPr>
          <p:cNvGraphicFramePr>
            <a:graphicFrameLocks noGrp="1"/>
          </p:cNvGraphicFramePr>
          <p:nvPr/>
        </p:nvGraphicFramePr>
        <p:xfrm>
          <a:off x="461035" y="2330291"/>
          <a:ext cx="8228012" cy="1463040"/>
        </p:xfrm>
        <a:graphic>
          <a:graphicData uri="http://schemas.openxmlformats.org/drawingml/2006/table">
            <a:tbl>
              <a:tblPr>
                <a:tableStyleId>{3C2FFA5D-87B4-456A-9821-1D502468CF0F}</a:tableStyleId>
              </a:tblPr>
              <a:tblGrid>
                <a:gridCol w="4114006">
                  <a:extLst>
                    <a:ext uri="{9D8B030D-6E8A-4147-A177-3AD203B41FA5}">
                      <a16:colId xmlns:a16="http://schemas.microsoft.com/office/drawing/2014/main" val="3576505961"/>
                    </a:ext>
                  </a:extLst>
                </a:gridCol>
                <a:gridCol w="4114006">
                  <a:extLst>
                    <a:ext uri="{9D8B030D-6E8A-4147-A177-3AD203B41FA5}">
                      <a16:colId xmlns:a16="http://schemas.microsoft.com/office/drawing/2014/main" val="1312347519"/>
                    </a:ext>
                  </a:extLst>
                </a:gridCol>
              </a:tblGrid>
              <a:tr h="365760">
                <a:tc>
                  <a:txBody>
                    <a:bodyPr/>
                    <a:lstStyle/>
                    <a:p>
                      <a:pPr>
                        <a:buNone/>
                      </a:pPr>
                      <a:r>
                        <a:rPr lang="en-IN" sz="1800"/>
                        <a:t>dept_id</a:t>
                      </a:r>
                    </a:p>
                  </a:txBody>
                  <a:tcPr anchor="ctr"/>
                </a:tc>
                <a:tc>
                  <a:txBody>
                    <a:bodyPr/>
                    <a:lstStyle/>
                    <a:p>
                      <a:pPr>
                        <a:buNone/>
                      </a:pPr>
                      <a:r>
                        <a:rPr lang="en-IN" sz="1800"/>
                        <a:t>dept_name</a:t>
                      </a:r>
                    </a:p>
                  </a:txBody>
                  <a:tcPr anchor="ctr"/>
                </a:tc>
                <a:extLst>
                  <a:ext uri="{0D108BD9-81ED-4DB2-BD59-A6C34878D82A}">
                    <a16:rowId xmlns:a16="http://schemas.microsoft.com/office/drawing/2014/main" val="888044355"/>
                  </a:ext>
                </a:extLst>
              </a:tr>
              <a:tr h="365760">
                <a:tc>
                  <a:txBody>
                    <a:bodyPr/>
                    <a:lstStyle/>
                    <a:p>
                      <a:pPr>
                        <a:buNone/>
                      </a:pPr>
                      <a:r>
                        <a:rPr lang="en-IN" sz="1800"/>
                        <a:t>1</a:t>
                      </a:r>
                    </a:p>
                  </a:txBody>
                  <a:tcPr anchor="ctr"/>
                </a:tc>
                <a:tc>
                  <a:txBody>
                    <a:bodyPr/>
                    <a:lstStyle/>
                    <a:p>
                      <a:pPr>
                        <a:buNone/>
                      </a:pPr>
                      <a:r>
                        <a:rPr lang="en-IN" sz="1800"/>
                        <a:t>HR</a:t>
                      </a:r>
                    </a:p>
                  </a:txBody>
                  <a:tcPr anchor="ctr"/>
                </a:tc>
                <a:extLst>
                  <a:ext uri="{0D108BD9-81ED-4DB2-BD59-A6C34878D82A}">
                    <a16:rowId xmlns:a16="http://schemas.microsoft.com/office/drawing/2014/main" val="457403260"/>
                  </a:ext>
                </a:extLst>
              </a:tr>
              <a:tr h="365760">
                <a:tc>
                  <a:txBody>
                    <a:bodyPr/>
                    <a:lstStyle/>
                    <a:p>
                      <a:pPr>
                        <a:buNone/>
                      </a:pPr>
                      <a:r>
                        <a:rPr lang="en-IN" sz="1800"/>
                        <a:t>2</a:t>
                      </a:r>
                    </a:p>
                  </a:txBody>
                  <a:tcPr anchor="ctr"/>
                </a:tc>
                <a:tc>
                  <a:txBody>
                    <a:bodyPr/>
                    <a:lstStyle/>
                    <a:p>
                      <a:pPr>
                        <a:buNone/>
                      </a:pPr>
                      <a:r>
                        <a:rPr lang="en-IN" sz="1800"/>
                        <a:t>IT</a:t>
                      </a:r>
                    </a:p>
                  </a:txBody>
                  <a:tcPr anchor="ctr"/>
                </a:tc>
                <a:extLst>
                  <a:ext uri="{0D108BD9-81ED-4DB2-BD59-A6C34878D82A}">
                    <a16:rowId xmlns:a16="http://schemas.microsoft.com/office/drawing/2014/main" val="1336322466"/>
                  </a:ext>
                </a:extLst>
              </a:tr>
              <a:tr h="365760">
                <a:tc>
                  <a:txBody>
                    <a:bodyPr/>
                    <a:lstStyle/>
                    <a:p>
                      <a:pPr>
                        <a:buNone/>
                      </a:pPr>
                      <a:r>
                        <a:rPr lang="en-IN" sz="1800"/>
                        <a:t>3</a:t>
                      </a:r>
                    </a:p>
                  </a:txBody>
                  <a:tcPr anchor="ctr"/>
                </a:tc>
                <a:tc>
                  <a:txBody>
                    <a:bodyPr/>
                    <a:lstStyle/>
                    <a:p>
                      <a:pPr>
                        <a:buNone/>
                      </a:pPr>
                      <a:r>
                        <a:rPr lang="en-IN" sz="1800" dirty="0"/>
                        <a:t>Finance</a:t>
                      </a:r>
                    </a:p>
                  </a:txBody>
                  <a:tcPr anchor="ctr"/>
                </a:tc>
                <a:extLst>
                  <a:ext uri="{0D108BD9-81ED-4DB2-BD59-A6C34878D82A}">
                    <a16:rowId xmlns:a16="http://schemas.microsoft.com/office/drawing/2014/main" val="3468698384"/>
                  </a:ext>
                </a:extLst>
              </a:tr>
            </a:tbl>
          </a:graphicData>
        </a:graphic>
      </p:graphicFrame>
    </p:spTree>
    <p:extLst>
      <p:ext uri="{BB962C8B-B14F-4D97-AF65-F5344CB8AC3E}">
        <p14:creationId xmlns:p14="http://schemas.microsoft.com/office/powerpoint/2010/main" val="251963053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CB61E-3A82-15D0-BB98-64757D0B76B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DA699FB-1D3C-C868-8C51-9EC2B2328D70}"/>
              </a:ext>
            </a:extLst>
          </p:cNvPr>
          <p:cNvSpPr>
            <a:spLocks noGrp="1"/>
          </p:cNvSpPr>
          <p:nvPr>
            <p:ph type="title"/>
          </p:nvPr>
        </p:nvSpPr>
        <p:spPr/>
        <p:txBody>
          <a:bodyPr/>
          <a:lstStyle/>
          <a:p>
            <a:r>
              <a:rPr lang="en-US" dirty="0"/>
              <a:t>Example: Joining employee and department tables</a:t>
            </a:r>
            <a:endParaRPr lang="en-IN" dirty="0"/>
          </a:p>
        </p:txBody>
      </p:sp>
      <p:graphicFrame>
        <p:nvGraphicFramePr>
          <p:cNvPr id="2" name="Table 1">
            <a:extLst>
              <a:ext uri="{FF2B5EF4-FFF2-40B4-BE49-F238E27FC236}">
                <a16:creationId xmlns:a16="http://schemas.microsoft.com/office/drawing/2014/main" id="{91CE8BD2-AF61-2672-D874-ADDF52BE1B1C}"/>
              </a:ext>
            </a:extLst>
          </p:cNvPr>
          <p:cNvGraphicFramePr>
            <a:graphicFrameLocks noGrp="1"/>
          </p:cNvGraphicFramePr>
          <p:nvPr/>
        </p:nvGraphicFramePr>
        <p:xfrm>
          <a:off x="668956" y="2320666"/>
          <a:ext cx="8228013" cy="1828800"/>
        </p:xfrm>
        <a:graphic>
          <a:graphicData uri="http://schemas.openxmlformats.org/drawingml/2006/table">
            <a:tbl>
              <a:tblPr>
                <a:tableStyleId>{3C2FFA5D-87B4-456A-9821-1D502468CF0F}</a:tableStyleId>
              </a:tblPr>
              <a:tblGrid>
                <a:gridCol w="2742671">
                  <a:extLst>
                    <a:ext uri="{9D8B030D-6E8A-4147-A177-3AD203B41FA5}">
                      <a16:colId xmlns:a16="http://schemas.microsoft.com/office/drawing/2014/main" val="167445810"/>
                    </a:ext>
                  </a:extLst>
                </a:gridCol>
                <a:gridCol w="2742671">
                  <a:extLst>
                    <a:ext uri="{9D8B030D-6E8A-4147-A177-3AD203B41FA5}">
                      <a16:colId xmlns:a16="http://schemas.microsoft.com/office/drawing/2014/main" val="1318690855"/>
                    </a:ext>
                  </a:extLst>
                </a:gridCol>
                <a:gridCol w="2742671">
                  <a:extLst>
                    <a:ext uri="{9D8B030D-6E8A-4147-A177-3AD203B41FA5}">
                      <a16:colId xmlns:a16="http://schemas.microsoft.com/office/drawing/2014/main" val="1972196541"/>
                    </a:ext>
                  </a:extLst>
                </a:gridCol>
              </a:tblGrid>
              <a:tr h="0">
                <a:tc>
                  <a:txBody>
                    <a:bodyPr/>
                    <a:lstStyle/>
                    <a:p>
                      <a:pPr>
                        <a:buNone/>
                      </a:pPr>
                      <a:r>
                        <a:rPr lang="en-IN"/>
                        <a:t>emp_id</a:t>
                      </a:r>
                    </a:p>
                  </a:txBody>
                  <a:tcPr anchor="ctr"/>
                </a:tc>
                <a:tc>
                  <a:txBody>
                    <a:bodyPr/>
                    <a:lstStyle/>
                    <a:p>
                      <a:pPr>
                        <a:buNone/>
                      </a:pPr>
                      <a:r>
                        <a:rPr lang="en-IN"/>
                        <a:t>emp_name</a:t>
                      </a:r>
                    </a:p>
                  </a:txBody>
                  <a:tcPr anchor="ctr"/>
                </a:tc>
                <a:tc>
                  <a:txBody>
                    <a:bodyPr/>
                    <a:lstStyle/>
                    <a:p>
                      <a:pPr>
                        <a:buNone/>
                      </a:pPr>
                      <a:r>
                        <a:rPr lang="en-IN"/>
                        <a:t>dept_id</a:t>
                      </a:r>
                    </a:p>
                  </a:txBody>
                  <a:tcPr anchor="ctr"/>
                </a:tc>
                <a:extLst>
                  <a:ext uri="{0D108BD9-81ED-4DB2-BD59-A6C34878D82A}">
                    <a16:rowId xmlns:a16="http://schemas.microsoft.com/office/drawing/2014/main" val="614225216"/>
                  </a:ext>
                </a:extLst>
              </a:tr>
              <a:tr h="0">
                <a:tc>
                  <a:txBody>
                    <a:bodyPr/>
                    <a:lstStyle/>
                    <a:p>
                      <a:pPr>
                        <a:buNone/>
                      </a:pPr>
                      <a:r>
                        <a:rPr lang="en-IN"/>
                        <a:t>101</a:t>
                      </a:r>
                    </a:p>
                  </a:txBody>
                  <a:tcPr anchor="ctr"/>
                </a:tc>
                <a:tc>
                  <a:txBody>
                    <a:bodyPr/>
                    <a:lstStyle/>
                    <a:p>
                      <a:pPr>
                        <a:buNone/>
                      </a:pPr>
                      <a:r>
                        <a:rPr lang="en-IN"/>
                        <a:t>Alice</a:t>
                      </a:r>
                    </a:p>
                  </a:txBody>
                  <a:tcPr anchor="ctr"/>
                </a:tc>
                <a:tc>
                  <a:txBody>
                    <a:bodyPr/>
                    <a:lstStyle/>
                    <a:p>
                      <a:pPr>
                        <a:buNone/>
                      </a:pPr>
                      <a:r>
                        <a:rPr lang="en-IN"/>
                        <a:t>2</a:t>
                      </a:r>
                    </a:p>
                  </a:txBody>
                  <a:tcPr anchor="ctr"/>
                </a:tc>
                <a:extLst>
                  <a:ext uri="{0D108BD9-81ED-4DB2-BD59-A6C34878D82A}">
                    <a16:rowId xmlns:a16="http://schemas.microsoft.com/office/drawing/2014/main" val="2623926048"/>
                  </a:ext>
                </a:extLst>
              </a:tr>
              <a:tr h="0">
                <a:tc>
                  <a:txBody>
                    <a:bodyPr/>
                    <a:lstStyle/>
                    <a:p>
                      <a:pPr>
                        <a:buNone/>
                      </a:pPr>
                      <a:r>
                        <a:rPr lang="en-IN"/>
                        <a:t>102</a:t>
                      </a:r>
                    </a:p>
                  </a:txBody>
                  <a:tcPr anchor="ctr"/>
                </a:tc>
                <a:tc>
                  <a:txBody>
                    <a:bodyPr/>
                    <a:lstStyle/>
                    <a:p>
                      <a:pPr>
                        <a:buNone/>
                      </a:pPr>
                      <a:r>
                        <a:rPr lang="en-IN"/>
                        <a:t>Bob</a:t>
                      </a:r>
                    </a:p>
                  </a:txBody>
                  <a:tcPr anchor="ctr"/>
                </a:tc>
                <a:tc>
                  <a:txBody>
                    <a:bodyPr/>
                    <a:lstStyle/>
                    <a:p>
                      <a:pPr>
                        <a:buNone/>
                      </a:pPr>
                      <a:r>
                        <a:rPr lang="en-IN"/>
                        <a:t>1</a:t>
                      </a:r>
                    </a:p>
                  </a:txBody>
                  <a:tcPr anchor="ctr"/>
                </a:tc>
                <a:extLst>
                  <a:ext uri="{0D108BD9-81ED-4DB2-BD59-A6C34878D82A}">
                    <a16:rowId xmlns:a16="http://schemas.microsoft.com/office/drawing/2014/main" val="3176135784"/>
                  </a:ext>
                </a:extLst>
              </a:tr>
              <a:tr h="0">
                <a:tc>
                  <a:txBody>
                    <a:bodyPr/>
                    <a:lstStyle/>
                    <a:p>
                      <a:pPr>
                        <a:buNone/>
                      </a:pPr>
                      <a:r>
                        <a:rPr lang="en-IN"/>
                        <a:t>103</a:t>
                      </a:r>
                    </a:p>
                  </a:txBody>
                  <a:tcPr anchor="ctr"/>
                </a:tc>
                <a:tc>
                  <a:txBody>
                    <a:bodyPr/>
                    <a:lstStyle/>
                    <a:p>
                      <a:pPr>
                        <a:buNone/>
                      </a:pPr>
                      <a:r>
                        <a:rPr lang="en-IN"/>
                        <a:t>Charlie</a:t>
                      </a:r>
                    </a:p>
                  </a:txBody>
                  <a:tcPr anchor="ctr"/>
                </a:tc>
                <a:tc>
                  <a:txBody>
                    <a:bodyPr/>
                    <a:lstStyle/>
                    <a:p>
                      <a:pPr>
                        <a:buNone/>
                      </a:pPr>
                      <a:r>
                        <a:rPr lang="en-IN"/>
                        <a:t>3</a:t>
                      </a:r>
                    </a:p>
                  </a:txBody>
                  <a:tcPr anchor="ctr"/>
                </a:tc>
                <a:extLst>
                  <a:ext uri="{0D108BD9-81ED-4DB2-BD59-A6C34878D82A}">
                    <a16:rowId xmlns:a16="http://schemas.microsoft.com/office/drawing/2014/main" val="708227768"/>
                  </a:ext>
                </a:extLst>
              </a:tr>
              <a:tr h="0">
                <a:tc>
                  <a:txBody>
                    <a:bodyPr/>
                    <a:lstStyle/>
                    <a:p>
                      <a:pPr>
                        <a:buNone/>
                      </a:pPr>
                      <a:r>
                        <a:rPr lang="en-IN"/>
                        <a:t>104</a:t>
                      </a:r>
                    </a:p>
                  </a:txBody>
                  <a:tcPr anchor="ctr"/>
                </a:tc>
                <a:tc>
                  <a:txBody>
                    <a:bodyPr/>
                    <a:lstStyle/>
                    <a:p>
                      <a:pPr>
                        <a:buNone/>
                      </a:pPr>
                      <a:r>
                        <a:rPr lang="en-IN"/>
                        <a:t>David</a:t>
                      </a:r>
                    </a:p>
                  </a:txBody>
                  <a:tcPr anchor="ctr"/>
                </a:tc>
                <a:tc>
                  <a:txBody>
                    <a:bodyPr/>
                    <a:lstStyle/>
                    <a:p>
                      <a:pPr>
                        <a:buNone/>
                      </a:pPr>
                      <a:r>
                        <a:rPr lang="en-IN" dirty="0"/>
                        <a:t>NULL</a:t>
                      </a:r>
                    </a:p>
                  </a:txBody>
                  <a:tcPr anchor="ctr"/>
                </a:tc>
                <a:extLst>
                  <a:ext uri="{0D108BD9-81ED-4DB2-BD59-A6C34878D82A}">
                    <a16:rowId xmlns:a16="http://schemas.microsoft.com/office/drawing/2014/main" val="655782647"/>
                  </a:ext>
                </a:extLst>
              </a:tr>
            </a:tbl>
          </a:graphicData>
        </a:graphic>
      </p:graphicFrame>
    </p:spTree>
    <p:extLst>
      <p:ext uri="{BB962C8B-B14F-4D97-AF65-F5344CB8AC3E}">
        <p14:creationId xmlns:p14="http://schemas.microsoft.com/office/powerpoint/2010/main" val="176543732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7C4B15-B931-07A1-7018-C5B2A3171A41}"/>
              </a:ext>
            </a:extLst>
          </p:cNvPr>
          <p:cNvSpPr>
            <a:spLocks noGrp="1"/>
          </p:cNvSpPr>
          <p:nvPr>
            <p:ph type="title"/>
          </p:nvPr>
        </p:nvSpPr>
        <p:spPr/>
        <p:txBody>
          <a:bodyPr/>
          <a:lstStyle/>
          <a:p>
            <a:r>
              <a:rPr lang="en-IN" dirty="0"/>
              <a:t>Create Tables with Constraints</a:t>
            </a:r>
          </a:p>
        </p:txBody>
      </p:sp>
      <p:sp>
        <p:nvSpPr>
          <p:cNvPr id="5" name="TextBox 4">
            <a:extLst>
              <a:ext uri="{FF2B5EF4-FFF2-40B4-BE49-F238E27FC236}">
                <a16:creationId xmlns:a16="http://schemas.microsoft.com/office/drawing/2014/main" id="{7F920C6A-0255-64BC-4F9E-9E8277626E12}"/>
              </a:ext>
            </a:extLst>
          </p:cNvPr>
          <p:cNvSpPr txBox="1"/>
          <p:nvPr/>
        </p:nvSpPr>
        <p:spPr>
          <a:xfrm>
            <a:off x="539016" y="1383138"/>
            <a:ext cx="8127280" cy="4801314"/>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dirty="0"/>
              <a:t>-- 1. Create Department table</a:t>
            </a:r>
          </a:p>
          <a:p>
            <a:r>
              <a:rPr lang="en-US" dirty="0"/>
              <a:t>CREATE TABLE IF NOT EXISTS department (</a:t>
            </a:r>
          </a:p>
          <a:p>
            <a:r>
              <a:rPr lang="en-US" dirty="0"/>
              <a:t>    </a:t>
            </a:r>
            <a:r>
              <a:rPr lang="en-US" dirty="0" err="1"/>
              <a:t>dept_id</a:t>
            </a:r>
            <a:r>
              <a:rPr lang="en-US" dirty="0"/>
              <a:t> SERIAL PRIMARY KEY,</a:t>
            </a:r>
          </a:p>
          <a:p>
            <a:r>
              <a:rPr lang="en-US" dirty="0"/>
              <a:t>    </a:t>
            </a:r>
            <a:r>
              <a:rPr lang="en-US" dirty="0" err="1"/>
              <a:t>dept_name</a:t>
            </a:r>
            <a:r>
              <a:rPr lang="en-US" dirty="0"/>
              <a:t> VARCHAR(100) NOT NULL</a:t>
            </a:r>
          </a:p>
          <a:p>
            <a:r>
              <a:rPr lang="en-US" dirty="0"/>
              <a:t>);</a:t>
            </a:r>
          </a:p>
          <a:p>
            <a:endParaRPr lang="en-US" dirty="0"/>
          </a:p>
          <a:p>
            <a:r>
              <a:rPr lang="en-US" dirty="0"/>
              <a:t>-- 2. Create Employee table with Foreign Key referencing Department</a:t>
            </a:r>
          </a:p>
          <a:p>
            <a:r>
              <a:rPr lang="en-US" dirty="0"/>
              <a:t>CREATE TABLE IF NOT EXISTS employee (</a:t>
            </a:r>
          </a:p>
          <a:p>
            <a:r>
              <a:rPr lang="en-US" dirty="0"/>
              <a:t>    </a:t>
            </a:r>
            <a:r>
              <a:rPr lang="en-US" dirty="0" err="1"/>
              <a:t>emp_id</a:t>
            </a:r>
            <a:r>
              <a:rPr lang="en-US" dirty="0"/>
              <a:t> SERIAL PRIMARY KEY,</a:t>
            </a:r>
          </a:p>
          <a:p>
            <a:r>
              <a:rPr lang="en-US" dirty="0"/>
              <a:t>    </a:t>
            </a:r>
            <a:r>
              <a:rPr lang="en-US" dirty="0" err="1"/>
              <a:t>emp_name</a:t>
            </a:r>
            <a:r>
              <a:rPr lang="en-US" dirty="0"/>
              <a:t> VARCHAR(100) NOT NULL,</a:t>
            </a:r>
          </a:p>
          <a:p>
            <a:r>
              <a:rPr lang="en-US" dirty="0"/>
              <a:t>    </a:t>
            </a:r>
            <a:r>
              <a:rPr lang="en-US" dirty="0" err="1"/>
              <a:t>dept_id_fk</a:t>
            </a:r>
            <a:r>
              <a:rPr lang="en-US" dirty="0"/>
              <a:t> INTEGER,</a:t>
            </a:r>
          </a:p>
          <a:p>
            <a:r>
              <a:rPr lang="en-US" dirty="0"/>
              <a:t>    CONSTRAINT </a:t>
            </a:r>
            <a:r>
              <a:rPr lang="en-US" dirty="0" err="1"/>
              <a:t>fk_department</a:t>
            </a:r>
            <a:endParaRPr lang="en-US" dirty="0"/>
          </a:p>
          <a:p>
            <a:r>
              <a:rPr lang="en-US" dirty="0"/>
              <a:t>        FOREIGN KEY (</a:t>
            </a:r>
            <a:r>
              <a:rPr lang="en-US" dirty="0" err="1"/>
              <a:t>dept_id_fk</a:t>
            </a:r>
            <a:r>
              <a:rPr lang="en-US" dirty="0"/>
              <a:t>)</a:t>
            </a:r>
          </a:p>
          <a:p>
            <a:r>
              <a:rPr lang="en-US" dirty="0"/>
              <a:t>        REFERENCES department(</a:t>
            </a:r>
            <a:r>
              <a:rPr lang="en-US" dirty="0" err="1"/>
              <a:t>dept_id</a:t>
            </a:r>
            <a:r>
              <a:rPr lang="en-US" dirty="0"/>
              <a:t>)</a:t>
            </a:r>
          </a:p>
          <a:p>
            <a:r>
              <a:rPr lang="en-US" dirty="0"/>
              <a:t>        ON DELETE SET NULL</a:t>
            </a:r>
          </a:p>
          <a:p>
            <a:r>
              <a:rPr lang="en-US" dirty="0"/>
              <a:t>        ON UPDATE CASCADE</a:t>
            </a:r>
          </a:p>
          <a:p>
            <a:r>
              <a:rPr lang="en-US" dirty="0"/>
              <a:t>);</a:t>
            </a:r>
          </a:p>
        </p:txBody>
      </p:sp>
    </p:spTree>
    <p:extLst>
      <p:ext uri="{BB962C8B-B14F-4D97-AF65-F5344CB8AC3E}">
        <p14:creationId xmlns:p14="http://schemas.microsoft.com/office/powerpoint/2010/main" val="135922616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4F6A0C-BB3F-CF63-E5F4-9689AB0C5ABB}"/>
              </a:ext>
            </a:extLst>
          </p:cNvPr>
          <p:cNvSpPr>
            <a:spLocks noGrp="1"/>
          </p:cNvSpPr>
          <p:nvPr>
            <p:ph sz="quarter" idx="12"/>
          </p:nvPr>
        </p:nvSpPr>
        <p:spPr/>
        <p:txBody>
          <a:bodyPr/>
          <a:lstStyle/>
          <a:p>
            <a:r>
              <a:rPr lang="en-IN" dirty="0"/>
              <a:t>Sudo –</a:t>
            </a:r>
            <a:r>
              <a:rPr lang="en-IN" dirty="0" err="1"/>
              <a:t>i</a:t>
            </a:r>
            <a:r>
              <a:rPr lang="en-IN" dirty="0"/>
              <a:t> –u </a:t>
            </a:r>
            <a:r>
              <a:rPr lang="en-IN" dirty="0" err="1"/>
              <a:t>postgres</a:t>
            </a:r>
            <a:endParaRPr lang="en-IN" dirty="0"/>
          </a:p>
          <a:p>
            <a:r>
              <a:rPr lang="en-IN" dirty="0" err="1"/>
              <a:t>Psql</a:t>
            </a:r>
            <a:endParaRPr lang="en-IN" dirty="0"/>
          </a:p>
          <a:p>
            <a:r>
              <a:rPr lang="en-US" dirty="0"/>
              <a:t>\</a:t>
            </a:r>
            <a:r>
              <a:rPr lang="en-US" dirty="0" err="1"/>
              <a:t>i</a:t>
            </a:r>
            <a:r>
              <a:rPr lang="en-US" dirty="0"/>
              <a:t> /home/ubuntu-user/Documents/Labs/Lab01/</a:t>
            </a:r>
            <a:r>
              <a:rPr lang="en-US" dirty="0" err="1"/>
              <a:t>script.sql</a:t>
            </a:r>
            <a:endParaRPr lang="en-IN" dirty="0"/>
          </a:p>
        </p:txBody>
      </p:sp>
      <p:sp>
        <p:nvSpPr>
          <p:cNvPr id="3" name="Title 2">
            <a:extLst>
              <a:ext uri="{FF2B5EF4-FFF2-40B4-BE49-F238E27FC236}">
                <a16:creationId xmlns:a16="http://schemas.microsoft.com/office/drawing/2014/main" id="{72966239-033F-2258-232E-F186A5BECE27}"/>
              </a:ext>
            </a:extLst>
          </p:cNvPr>
          <p:cNvSpPr>
            <a:spLocks noGrp="1"/>
          </p:cNvSpPr>
          <p:nvPr>
            <p:ph type="title"/>
          </p:nvPr>
        </p:nvSpPr>
        <p:spPr/>
        <p:txBody>
          <a:bodyPr/>
          <a:lstStyle/>
          <a:p>
            <a:r>
              <a:rPr lang="en-IN" dirty="0"/>
              <a:t>Create .</a:t>
            </a:r>
            <a:r>
              <a:rPr lang="en-IN" dirty="0" err="1"/>
              <a:t>sql</a:t>
            </a:r>
            <a:r>
              <a:rPr lang="en-IN" dirty="0"/>
              <a:t> file</a:t>
            </a:r>
          </a:p>
        </p:txBody>
      </p:sp>
    </p:spTree>
    <p:extLst>
      <p:ext uri="{BB962C8B-B14F-4D97-AF65-F5344CB8AC3E}">
        <p14:creationId xmlns:p14="http://schemas.microsoft.com/office/powerpoint/2010/main" val="345692789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5C45B10-2D7D-6AA5-9D8B-E1BF6B94BE96}"/>
              </a:ext>
            </a:extLst>
          </p:cNvPr>
          <p:cNvSpPr>
            <a:spLocks noGrp="1"/>
          </p:cNvSpPr>
          <p:nvPr>
            <p:ph sz="quarter" idx="12"/>
          </p:nvPr>
        </p:nvSpPr>
        <p:spPr>
          <a:xfrm>
            <a:off x="457201" y="1381125"/>
            <a:ext cx="8228012" cy="785553"/>
          </a:xfrm>
        </p:spPr>
        <p:txBody>
          <a:bodyPr/>
          <a:lstStyle/>
          <a:p>
            <a:r>
              <a:rPr lang="en-IN" dirty="0"/>
              <a:t>\d department</a:t>
            </a:r>
          </a:p>
        </p:txBody>
      </p:sp>
      <p:sp>
        <p:nvSpPr>
          <p:cNvPr id="3" name="Title 2">
            <a:extLst>
              <a:ext uri="{FF2B5EF4-FFF2-40B4-BE49-F238E27FC236}">
                <a16:creationId xmlns:a16="http://schemas.microsoft.com/office/drawing/2014/main" id="{2E5149DF-F67A-22DC-6888-65CE643284B5}"/>
              </a:ext>
            </a:extLst>
          </p:cNvPr>
          <p:cNvSpPr>
            <a:spLocks noGrp="1"/>
          </p:cNvSpPr>
          <p:nvPr>
            <p:ph type="title"/>
          </p:nvPr>
        </p:nvSpPr>
        <p:spPr/>
        <p:txBody>
          <a:bodyPr/>
          <a:lstStyle/>
          <a:p>
            <a:r>
              <a:rPr lang="en-IN" dirty="0"/>
              <a:t>Describe Table</a:t>
            </a:r>
          </a:p>
        </p:txBody>
      </p:sp>
      <p:pic>
        <p:nvPicPr>
          <p:cNvPr id="5" name="Picture 4">
            <a:extLst>
              <a:ext uri="{FF2B5EF4-FFF2-40B4-BE49-F238E27FC236}">
                <a16:creationId xmlns:a16="http://schemas.microsoft.com/office/drawing/2014/main" id="{6EF855CF-0920-2907-3D2C-CD42D177FC57}"/>
              </a:ext>
            </a:extLst>
          </p:cNvPr>
          <p:cNvPicPr>
            <a:picLocks noChangeAspect="1"/>
          </p:cNvPicPr>
          <p:nvPr/>
        </p:nvPicPr>
        <p:blipFill>
          <a:blip r:embed="rId2"/>
          <a:stretch>
            <a:fillRect/>
          </a:stretch>
        </p:blipFill>
        <p:spPr>
          <a:xfrm>
            <a:off x="0" y="2463343"/>
            <a:ext cx="9144000" cy="2227980"/>
          </a:xfrm>
          <a:prstGeom prst="rect">
            <a:avLst/>
          </a:prstGeom>
        </p:spPr>
      </p:pic>
    </p:spTree>
    <p:extLst>
      <p:ext uri="{BB962C8B-B14F-4D97-AF65-F5344CB8AC3E}">
        <p14:creationId xmlns:p14="http://schemas.microsoft.com/office/powerpoint/2010/main" val="83705604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966B0E5-B97B-0B38-E08B-320EDF8850F7}"/>
              </a:ext>
            </a:extLst>
          </p:cNvPr>
          <p:cNvSpPr>
            <a:spLocks noGrp="1"/>
          </p:cNvSpPr>
          <p:nvPr>
            <p:ph sz="quarter" idx="12"/>
          </p:nvPr>
        </p:nvSpPr>
        <p:spPr/>
        <p:txBody>
          <a:bodyPr/>
          <a:lstStyle/>
          <a:p>
            <a:r>
              <a:rPr lang="en-IN" dirty="0"/>
              <a:t>Insert into department(</a:t>
            </a:r>
            <a:r>
              <a:rPr lang="en-IN" dirty="0" err="1"/>
              <a:t>dept_name</a:t>
            </a:r>
            <a:r>
              <a:rPr lang="en-IN" dirty="0"/>
              <a:t>) values(‘HR’);</a:t>
            </a:r>
          </a:p>
          <a:p>
            <a:r>
              <a:rPr lang="en-IN" dirty="0"/>
              <a:t>Insert into employee(</a:t>
            </a:r>
            <a:r>
              <a:rPr lang="en-IN" dirty="0" err="1"/>
              <a:t>emp_name,dept_id_fk</a:t>
            </a:r>
            <a:r>
              <a:rPr lang="en-IN" dirty="0"/>
              <a:t>)values(‘param’,1);</a:t>
            </a:r>
          </a:p>
        </p:txBody>
      </p:sp>
      <p:sp>
        <p:nvSpPr>
          <p:cNvPr id="3" name="Title 2">
            <a:extLst>
              <a:ext uri="{FF2B5EF4-FFF2-40B4-BE49-F238E27FC236}">
                <a16:creationId xmlns:a16="http://schemas.microsoft.com/office/drawing/2014/main" id="{47B49B12-9EB9-8D5A-1D6D-CA1C7D5FC19E}"/>
              </a:ext>
            </a:extLst>
          </p:cNvPr>
          <p:cNvSpPr>
            <a:spLocks noGrp="1"/>
          </p:cNvSpPr>
          <p:nvPr>
            <p:ph type="title"/>
          </p:nvPr>
        </p:nvSpPr>
        <p:spPr/>
        <p:txBody>
          <a:bodyPr/>
          <a:lstStyle/>
          <a:p>
            <a:r>
              <a:rPr lang="en-IN" dirty="0"/>
              <a:t>Insert into table</a:t>
            </a:r>
          </a:p>
        </p:txBody>
      </p:sp>
    </p:spTree>
    <p:extLst>
      <p:ext uri="{BB962C8B-B14F-4D97-AF65-F5344CB8AC3E}">
        <p14:creationId xmlns:p14="http://schemas.microsoft.com/office/powerpoint/2010/main" val="86456746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133CE9-9729-811B-12F5-63E1B974B944}"/>
              </a:ext>
            </a:extLst>
          </p:cNvPr>
          <p:cNvSpPr>
            <a:spLocks noGrp="1"/>
          </p:cNvSpPr>
          <p:nvPr>
            <p:ph type="title"/>
          </p:nvPr>
        </p:nvSpPr>
        <p:spPr/>
        <p:txBody>
          <a:bodyPr/>
          <a:lstStyle/>
          <a:p>
            <a:r>
              <a:rPr lang="en-IN" dirty="0"/>
              <a:t>Joins</a:t>
            </a:r>
          </a:p>
        </p:txBody>
      </p:sp>
      <p:sp>
        <p:nvSpPr>
          <p:cNvPr id="20" name="Content Placeholder 9">
            <a:extLst>
              <a:ext uri="{FF2B5EF4-FFF2-40B4-BE49-F238E27FC236}">
                <a16:creationId xmlns:a16="http://schemas.microsoft.com/office/drawing/2014/main" id="{9AF144E6-2472-02F6-6A27-1FCD3987CCF3}"/>
              </a:ext>
            </a:extLst>
          </p:cNvPr>
          <p:cNvSpPr txBox="1">
            <a:spLocks/>
          </p:cNvSpPr>
          <p:nvPr/>
        </p:nvSpPr>
        <p:spPr>
          <a:xfrm>
            <a:off x="461035" y="1474136"/>
            <a:ext cx="7152548" cy="691548"/>
          </a:xfrm>
          <a:prstGeom prst="rect">
            <a:avLst/>
          </a:prstGeom>
        </p:spPr>
        <p:txBody>
          <a:bodyPr/>
          <a:lstStyle>
            <a:lvl1pPr marL="231775" indent="-231775" algn="l" defTabSz="914400" rtl="0" eaLnBrk="1" latinLnBrk="0" hangingPunct="1">
              <a:lnSpc>
                <a:spcPct val="100000"/>
              </a:lnSpc>
              <a:spcBef>
                <a:spcPts val="1200"/>
              </a:spcBef>
              <a:spcAft>
                <a:spcPts val="0"/>
              </a:spcAft>
              <a:buClr>
                <a:schemeClr val="tx1"/>
              </a:buClr>
              <a:buSzPct val="80000"/>
              <a:buFont typeface="Arial" pitchFamily="34" charset="0"/>
              <a:buChar char="•"/>
              <a:defRPr sz="2600" b="0" kern="1200">
                <a:solidFill>
                  <a:schemeClr val="tx1"/>
                </a:solidFill>
                <a:latin typeface="Arial" pitchFamily="34" charset="0"/>
                <a:ea typeface="+mn-ea"/>
                <a:cs typeface="Arial" pitchFamily="34" charset="0"/>
              </a:defRPr>
            </a:lvl1pPr>
            <a:lvl2pPr marL="457200" indent="-231775" algn="l" defTabSz="914400" rtl="0" eaLnBrk="1" latinLnBrk="0" hangingPunct="1">
              <a:lnSpc>
                <a:spcPct val="100000"/>
              </a:lnSpc>
              <a:spcBef>
                <a:spcPts val="624"/>
              </a:spcBef>
              <a:spcAft>
                <a:spcPts val="0"/>
              </a:spcAft>
              <a:buClr>
                <a:schemeClr val="tx1"/>
              </a:buClr>
              <a:buSzPct val="80000"/>
              <a:buFont typeface="Arial" pitchFamily="34" charset="0"/>
              <a:buChar char="–"/>
              <a:defRPr sz="2400" kern="1200">
                <a:solidFill>
                  <a:srgbClr val="000000"/>
                </a:solidFill>
                <a:latin typeface="Arial" pitchFamily="34" charset="0"/>
                <a:ea typeface="+mn-ea"/>
                <a:cs typeface="Arial" pitchFamily="34" charset="0"/>
              </a:defRPr>
            </a:lvl2pPr>
            <a:lvl3pPr marL="688975" indent="-231775" algn="l" defTabSz="914400" rtl="0" eaLnBrk="1" latinLnBrk="0" hangingPunct="1">
              <a:lnSpc>
                <a:spcPct val="100000"/>
              </a:lnSpc>
              <a:spcBef>
                <a:spcPts val="576"/>
              </a:spcBef>
              <a:spcAft>
                <a:spcPts val="0"/>
              </a:spcAft>
              <a:buClr>
                <a:schemeClr val="tx1"/>
              </a:buClr>
              <a:buSzPct val="80000"/>
              <a:buFont typeface="Arial" pitchFamily="34" charset="0"/>
              <a:buChar char="•"/>
              <a:defRPr sz="2000" kern="1200" baseline="0">
                <a:solidFill>
                  <a:srgbClr val="000000"/>
                </a:solidFill>
                <a:latin typeface="Arial" pitchFamily="34" charset="0"/>
                <a:ea typeface="+mn-ea"/>
                <a:cs typeface="Arial" pitchFamily="34" charset="0"/>
              </a:defRPr>
            </a:lvl3pPr>
            <a:lvl4pPr marL="914400" indent="-225425" algn="l" defTabSz="914400" rtl="0" eaLnBrk="1" latinLnBrk="0" hangingPunct="1">
              <a:lnSpc>
                <a:spcPct val="100000"/>
              </a:lnSpc>
              <a:spcBef>
                <a:spcPts val="528"/>
              </a:spcBef>
              <a:spcAft>
                <a:spcPts val="0"/>
              </a:spcAft>
              <a:buClr>
                <a:schemeClr val="tx1"/>
              </a:buClr>
              <a:buSzPct val="80000"/>
              <a:buFont typeface="Arial" pitchFamily="34" charset="0"/>
              <a:buChar char="–"/>
              <a:defRPr sz="1800" kern="1200" baseline="0">
                <a:solidFill>
                  <a:srgbClr val="000000"/>
                </a:solidFill>
                <a:latin typeface="Arial" pitchFamily="34" charset="0"/>
                <a:ea typeface="+mn-ea"/>
                <a:cs typeface="Arial" pitchFamily="34" charset="0"/>
              </a:defRPr>
            </a:lvl4pPr>
            <a:lvl5pPr marL="1146175" indent="-231775" algn="l" defTabSz="914400" rtl="0" eaLnBrk="1" latinLnBrk="0" hangingPunct="1">
              <a:lnSpc>
                <a:spcPct val="100000"/>
              </a:lnSpc>
              <a:spcBef>
                <a:spcPts val="480"/>
              </a:spcBef>
              <a:spcAft>
                <a:spcPts val="0"/>
              </a:spcAft>
              <a:buClr>
                <a:schemeClr val="tx1"/>
              </a:buClr>
              <a:buSzPct val="80000"/>
              <a:buFont typeface="Arial" pitchFamily="34" charset="0"/>
              <a:buChar char="•"/>
              <a:defRPr sz="1600" kern="1200" baseline="0">
                <a:solidFill>
                  <a:srgbClr val="000000"/>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t>INNER JOIN</a:t>
            </a:r>
            <a:r>
              <a:rPr lang="en-US" dirty="0"/>
              <a:t>: Match rows in both tables</a:t>
            </a:r>
            <a:endParaRPr lang="en-GB" dirty="0"/>
          </a:p>
        </p:txBody>
      </p:sp>
      <p:pic>
        <p:nvPicPr>
          <p:cNvPr id="21" name="Picture 20">
            <a:extLst>
              <a:ext uri="{FF2B5EF4-FFF2-40B4-BE49-F238E27FC236}">
                <a16:creationId xmlns:a16="http://schemas.microsoft.com/office/drawing/2014/main" id="{3E420010-4B83-F6AA-6006-8A43E4DCAEC4}"/>
              </a:ext>
            </a:extLst>
          </p:cNvPr>
          <p:cNvPicPr>
            <a:picLocks noChangeAspect="1"/>
          </p:cNvPicPr>
          <p:nvPr/>
        </p:nvPicPr>
        <p:blipFill>
          <a:blip r:embed="rId2"/>
          <a:stretch>
            <a:fillRect/>
          </a:stretch>
        </p:blipFill>
        <p:spPr>
          <a:xfrm>
            <a:off x="2189282" y="2456861"/>
            <a:ext cx="2695575" cy="1609725"/>
          </a:xfrm>
          <a:prstGeom prst="rect">
            <a:avLst/>
          </a:prstGeom>
        </p:spPr>
      </p:pic>
      <p:sp>
        <p:nvSpPr>
          <p:cNvPr id="23" name="TextBox 22">
            <a:extLst>
              <a:ext uri="{FF2B5EF4-FFF2-40B4-BE49-F238E27FC236}">
                <a16:creationId xmlns:a16="http://schemas.microsoft.com/office/drawing/2014/main" id="{CC81E2A1-7931-8F91-7600-E8AAD7DD09DC}"/>
              </a:ext>
            </a:extLst>
          </p:cNvPr>
          <p:cNvSpPr txBox="1"/>
          <p:nvPr/>
        </p:nvSpPr>
        <p:spPr>
          <a:xfrm>
            <a:off x="818146" y="4550417"/>
            <a:ext cx="8037095" cy="923330"/>
          </a:xfrm>
          <a:prstGeom prst="rect">
            <a:avLst/>
          </a:prstGeom>
          <a:noFill/>
        </p:spPr>
        <p:txBody>
          <a:bodyPr wrap="square">
            <a:spAutoFit/>
          </a:bodyPr>
          <a:lstStyle/>
          <a:p>
            <a:r>
              <a:rPr lang="en-IN" dirty="0"/>
              <a:t>SELECT </a:t>
            </a:r>
            <a:r>
              <a:rPr lang="en-IN" dirty="0" err="1"/>
              <a:t>e.emp_id</a:t>
            </a:r>
            <a:r>
              <a:rPr lang="en-IN" dirty="0"/>
              <a:t>, </a:t>
            </a:r>
            <a:r>
              <a:rPr lang="en-IN" dirty="0" err="1"/>
              <a:t>e.emp_name</a:t>
            </a:r>
            <a:r>
              <a:rPr lang="en-IN" dirty="0"/>
              <a:t>, </a:t>
            </a:r>
            <a:r>
              <a:rPr lang="en-IN" dirty="0" err="1"/>
              <a:t>d.dept_name</a:t>
            </a:r>
            <a:endParaRPr lang="en-IN" dirty="0"/>
          </a:p>
          <a:p>
            <a:r>
              <a:rPr lang="en-IN" dirty="0"/>
              <a:t>FROM employee e</a:t>
            </a:r>
          </a:p>
          <a:p>
            <a:r>
              <a:rPr lang="en-IN" dirty="0"/>
              <a:t>INNER JOIN department d ON </a:t>
            </a:r>
            <a:r>
              <a:rPr lang="en-IN" dirty="0" err="1"/>
              <a:t>e.dept_id_fk</a:t>
            </a:r>
            <a:r>
              <a:rPr lang="en-IN" dirty="0"/>
              <a:t> = </a:t>
            </a:r>
            <a:r>
              <a:rPr lang="en-IN" dirty="0" err="1"/>
              <a:t>d.dept_id</a:t>
            </a:r>
            <a:r>
              <a:rPr lang="en-IN" dirty="0"/>
              <a:t>;</a:t>
            </a:r>
          </a:p>
        </p:txBody>
      </p:sp>
    </p:spTree>
    <p:extLst>
      <p:ext uri="{BB962C8B-B14F-4D97-AF65-F5344CB8AC3E}">
        <p14:creationId xmlns:p14="http://schemas.microsoft.com/office/powerpoint/2010/main" val="172522244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596C7-8219-9DDF-85EC-D4367BF19C7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80A9A65-C844-3EC6-B963-5B4754F7999A}"/>
              </a:ext>
            </a:extLst>
          </p:cNvPr>
          <p:cNvSpPr>
            <a:spLocks noGrp="1"/>
          </p:cNvSpPr>
          <p:nvPr>
            <p:ph type="title"/>
          </p:nvPr>
        </p:nvSpPr>
        <p:spPr/>
        <p:txBody>
          <a:bodyPr/>
          <a:lstStyle/>
          <a:p>
            <a:r>
              <a:rPr lang="en-IN" dirty="0"/>
              <a:t>Joins</a:t>
            </a:r>
          </a:p>
        </p:txBody>
      </p:sp>
      <p:sp>
        <p:nvSpPr>
          <p:cNvPr id="20" name="Content Placeholder 9">
            <a:extLst>
              <a:ext uri="{FF2B5EF4-FFF2-40B4-BE49-F238E27FC236}">
                <a16:creationId xmlns:a16="http://schemas.microsoft.com/office/drawing/2014/main" id="{1FB950C4-060F-B272-ED27-CB4E4ABC437C}"/>
              </a:ext>
            </a:extLst>
          </p:cNvPr>
          <p:cNvSpPr txBox="1">
            <a:spLocks/>
          </p:cNvSpPr>
          <p:nvPr/>
        </p:nvSpPr>
        <p:spPr>
          <a:xfrm>
            <a:off x="461035" y="1474136"/>
            <a:ext cx="8519336" cy="932180"/>
          </a:xfrm>
          <a:prstGeom prst="rect">
            <a:avLst/>
          </a:prstGeom>
        </p:spPr>
        <p:txBody>
          <a:bodyPr/>
          <a:lstStyle>
            <a:lvl1pPr marL="231775" indent="-231775" algn="l" defTabSz="914400" rtl="0" eaLnBrk="1" latinLnBrk="0" hangingPunct="1">
              <a:lnSpc>
                <a:spcPct val="100000"/>
              </a:lnSpc>
              <a:spcBef>
                <a:spcPts val="1200"/>
              </a:spcBef>
              <a:spcAft>
                <a:spcPts val="0"/>
              </a:spcAft>
              <a:buClr>
                <a:schemeClr val="tx1"/>
              </a:buClr>
              <a:buSzPct val="80000"/>
              <a:buFont typeface="Arial" pitchFamily="34" charset="0"/>
              <a:buChar char="•"/>
              <a:defRPr sz="2600" b="0" kern="1200">
                <a:solidFill>
                  <a:schemeClr val="tx1"/>
                </a:solidFill>
                <a:latin typeface="Arial" pitchFamily="34" charset="0"/>
                <a:ea typeface="+mn-ea"/>
                <a:cs typeface="Arial" pitchFamily="34" charset="0"/>
              </a:defRPr>
            </a:lvl1pPr>
            <a:lvl2pPr marL="457200" indent="-231775" algn="l" defTabSz="914400" rtl="0" eaLnBrk="1" latinLnBrk="0" hangingPunct="1">
              <a:lnSpc>
                <a:spcPct val="100000"/>
              </a:lnSpc>
              <a:spcBef>
                <a:spcPts val="624"/>
              </a:spcBef>
              <a:spcAft>
                <a:spcPts val="0"/>
              </a:spcAft>
              <a:buClr>
                <a:schemeClr val="tx1"/>
              </a:buClr>
              <a:buSzPct val="80000"/>
              <a:buFont typeface="Arial" pitchFamily="34" charset="0"/>
              <a:buChar char="–"/>
              <a:defRPr sz="2400" kern="1200">
                <a:solidFill>
                  <a:srgbClr val="000000"/>
                </a:solidFill>
                <a:latin typeface="Arial" pitchFamily="34" charset="0"/>
                <a:ea typeface="+mn-ea"/>
                <a:cs typeface="Arial" pitchFamily="34" charset="0"/>
              </a:defRPr>
            </a:lvl2pPr>
            <a:lvl3pPr marL="688975" indent="-231775" algn="l" defTabSz="914400" rtl="0" eaLnBrk="1" latinLnBrk="0" hangingPunct="1">
              <a:lnSpc>
                <a:spcPct val="100000"/>
              </a:lnSpc>
              <a:spcBef>
                <a:spcPts val="576"/>
              </a:spcBef>
              <a:spcAft>
                <a:spcPts val="0"/>
              </a:spcAft>
              <a:buClr>
                <a:schemeClr val="tx1"/>
              </a:buClr>
              <a:buSzPct val="80000"/>
              <a:buFont typeface="Arial" pitchFamily="34" charset="0"/>
              <a:buChar char="•"/>
              <a:defRPr sz="2000" kern="1200" baseline="0">
                <a:solidFill>
                  <a:srgbClr val="000000"/>
                </a:solidFill>
                <a:latin typeface="Arial" pitchFamily="34" charset="0"/>
                <a:ea typeface="+mn-ea"/>
                <a:cs typeface="Arial" pitchFamily="34" charset="0"/>
              </a:defRPr>
            </a:lvl3pPr>
            <a:lvl4pPr marL="914400" indent="-225425" algn="l" defTabSz="914400" rtl="0" eaLnBrk="1" latinLnBrk="0" hangingPunct="1">
              <a:lnSpc>
                <a:spcPct val="100000"/>
              </a:lnSpc>
              <a:spcBef>
                <a:spcPts val="528"/>
              </a:spcBef>
              <a:spcAft>
                <a:spcPts val="0"/>
              </a:spcAft>
              <a:buClr>
                <a:schemeClr val="tx1"/>
              </a:buClr>
              <a:buSzPct val="80000"/>
              <a:buFont typeface="Arial" pitchFamily="34" charset="0"/>
              <a:buChar char="–"/>
              <a:defRPr sz="1800" kern="1200" baseline="0">
                <a:solidFill>
                  <a:srgbClr val="000000"/>
                </a:solidFill>
                <a:latin typeface="Arial" pitchFamily="34" charset="0"/>
                <a:ea typeface="+mn-ea"/>
                <a:cs typeface="Arial" pitchFamily="34" charset="0"/>
              </a:defRPr>
            </a:lvl4pPr>
            <a:lvl5pPr marL="1146175" indent="-231775" algn="l" defTabSz="914400" rtl="0" eaLnBrk="1" latinLnBrk="0" hangingPunct="1">
              <a:lnSpc>
                <a:spcPct val="100000"/>
              </a:lnSpc>
              <a:spcBef>
                <a:spcPts val="480"/>
              </a:spcBef>
              <a:spcAft>
                <a:spcPts val="0"/>
              </a:spcAft>
              <a:buClr>
                <a:schemeClr val="tx1"/>
              </a:buClr>
              <a:buSzPct val="80000"/>
              <a:buFont typeface="Arial" pitchFamily="34" charset="0"/>
              <a:buChar char="•"/>
              <a:defRPr sz="1600" kern="1200" baseline="0">
                <a:solidFill>
                  <a:srgbClr val="000000"/>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t>LEFT JOIN: All rows from left + matched rows from right</a:t>
            </a:r>
          </a:p>
        </p:txBody>
      </p:sp>
      <p:pic>
        <p:nvPicPr>
          <p:cNvPr id="2" name="Picture 1">
            <a:extLst>
              <a:ext uri="{FF2B5EF4-FFF2-40B4-BE49-F238E27FC236}">
                <a16:creationId xmlns:a16="http://schemas.microsoft.com/office/drawing/2014/main" id="{3FBF9D1F-D478-1783-38BF-7FBCE445579B}"/>
              </a:ext>
            </a:extLst>
          </p:cNvPr>
          <p:cNvPicPr>
            <a:picLocks noChangeAspect="1"/>
          </p:cNvPicPr>
          <p:nvPr/>
        </p:nvPicPr>
        <p:blipFill>
          <a:blip r:embed="rId2"/>
          <a:stretch>
            <a:fillRect/>
          </a:stretch>
        </p:blipFill>
        <p:spPr>
          <a:xfrm>
            <a:off x="2493837" y="3111279"/>
            <a:ext cx="2674929" cy="1708700"/>
          </a:xfrm>
          <a:prstGeom prst="rect">
            <a:avLst/>
          </a:prstGeom>
        </p:spPr>
      </p:pic>
      <p:sp>
        <p:nvSpPr>
          <p:cNvPr id="5" name="TextBox 4">
            <a:extLst>
              <a:ext uri="{FF2B5EF4-FFF2-40B4-BE49-F238E27FC236}">
                <a16:creationId xmlns:a16="http://schemas.microsoft.com/office/drawing/2014/main" id="{18D1BE80-8AB5-B2DF-592B-21DB1AE44B10}"/>
              </a:ext>
            </a:extLst>
          </p:cNvPr>
          <p:cNvSpPr txBox="1"/>
          <p:nvPr/>
        </p:nvSpPr>
        <p:spPr>
          <a:xfrm>
            <a:off x="774834" y="4819979"/>
            <a:ext cx="7594332" cy="923330"/>
          </a:xfrm>
          <a:prstGeom prst="rect">
            <a:avLst/>
          </a:prstGeom>
          <a:noFill/>
        </p:spPr>
        <p:txBody>
          <a:bodyPr wrap="square">
            <a:spAutoFit/>
          </a:bodyPr>
          <a:lstStyle/>
          <a:p>
            <a:r>
              <a:rPr lang="en-IN" dirty="0"/>
              <a:t>SELECT </a:t>
            </a:r>
            <a:r>
              <a:rPr lang="en-IN" dirty="0" err="1"/>
              <a:t>e.emp_id</a:t>
            </a:r>
            <a:r>
              <a:rPr lang="en-IN" dirty="0"/>
              <a:t>, </a:t>
            </a:r>
            <a:r>
              <a:rPr lang="en-IN" dirty="0" err="1"/>
              <a:t>e.emp_name</a:t>
            </a:r>
            <a:r>
              <a:rPr lang="en-IN" dirty="0"/>
              <a:t>, </a:t>
            </a:r>
            <a:r>
              <a:rPr lang="en-IN" dirty="0" err="1"/>
              <a:t>d.dept_name</a:t>
            </a:r>
            <a:endParaRPr lang="en-IN" dirty="0"/>
          </a:p>
          <a:p>
            <a:r>
              <a:rPr lang="en-IN" dirty="0"/>
              <a:t>FROM employee e</a:t>
            </a:r>
          </a:p>
          <a:p>
            <a:r>
              <a:rPr lang="en-IN" dirty="0"/>
              <a:t>LEFT JOIN department d ON </a:t>
            </a:r>
            <a:r>
              <a:rPr lang="en-IN" dirty="0" err="1"/>
              <a:t>e.dept_id</a:t>
            </a:r>
            <a:r>
              <a:rPr lang="en-IN" dirty="0"/>
              <a:t> = </a:t>
            </a:r>
            <a:r>
              <a:rPr lang="en-IN" dirty="0" err="1"/>
              <a:t>d.dept_id</a:t>
            </a:r>
            <a:r>
              <a:rPr lang="en-IN" dirty="0"/>
              <a:t>;</a:t>
            </a:r>
          </a:p>
        </p:txBody>
      </p:sp>
    </p:spTree>
    <p:extLst>
      <p:ext uri="{BB962C8B-B14F-4D97-AF65-F5344CB8AC3E}">
        <p14:creationId xmlns:p14="http://schemas.microsoft.com/office/powerpoint/2010/main" val="236274854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87C13-7C34-3A22-7C07-2C6C4FC2880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72859D3-EB3D-B440-BFCC-D98E45A15768}"/>
              </a:ext>
            </a:extLst>
          </p:cNvPr>
          <p:cNvSpPr>
            <a:spLocks noGrp="1"/>
          </p:cNvSpPr>
          <p:nvPr>
            <p:ph type="title"/>
          </p:nvPr>
        </p:nvSpPr>
        <p:spPr/>
        <p:txBody>
          <a:bodyPr/>
          <a:lstStyle/>
          <a:p>
            <a:r>
              <a:rPr lang="en-IN" dirty="0"/>
              <a:t>Joins</a:t>
            </a:r>
          </a:p>
        </p:txBody>
      </p:sp>
      <p:sp>
        <p:nvSpPr>
          <p:cNvPr id="20" name="Content Placeholder 9">
            <a:extLst>
              <a:ext uri="{FF2B5EF4-FFF2-40B4-BE49-F238E27FC236}">
                <a16:creationId xmlns:a16="http://schemas.microsoft.com/office/drawing/2014/main" id="{023B591B-BF2D-7A8F-4C48-30EFC73F09B8}"/>
              </a:ext>
            </a:extLst>
          </p:cNvPr>
          <p:cNvSpPr txBox="1">
            <a:spLocks/>
          </p:cNvSpPr>
          <p:nvPr/>
        </p:nvSpPr>
        <p:spPr>
          <a:xfrm>
            <a:off x="461035" y="1474136"/>
            <a:ext cx="8519336" cy="932180"/>
          </a:xfrm>
          <a:prstGeom prst="rect">
            <a:avLst/>
          </a:prstGeom>
        </p:spPr>
        <p:txBody>
          <a:bodyPr/>
          <a:lstStyle>
            <a:lvl1pPr marL="231775" indent="-231775" algn="l" defTabSz="914400" rtl="0" eaLnBrk="1" latinLnBrk="0" hangingPunct="1">
              <a:lnSpc>
                <a:spcPct val="100000"/>
              </a:lnSpc>
              <a:spcBef>
                <a:spcPts val="1200"/>
              </a:spcBef>
              <a:spcAft>
                <a:spcPts val="0"/>
              </a:spcAft>
              <a:buClr>
                <a:schemeClr val="tx1"/>
              </a:buClr>
              <a:buSzPct val="80000"/>
              <a:buFont typeface="Arial" pitchFamily="34" charset="0"/>
              <a:buChar char="•"/>
              <a:defRPr sz="2600" b="0" kern="1200">
                <a:solidFill>
                  <a:schemeClr val="tx1"/>
                </a:solidFill>
                <a:latin typeface="Arial" pitchFamily="34" charset="0"/>
                <a:ea typeface="+mn-ea"/>
                <a:cs typeface="Arial" pitchFamily="34" charset="0"/>
              </a:defRPr>
            </a:lvl1pPr>
            <a:lvl2pPr marL="457200" indent="-231775" algn="l" defTabSz="914400" rtl="0" eaLnBrk="1" latinLnBrk="0" hangingPunct="1">
              <a:lnSpc>
                <a:spcPct val="100000"/>
              </a:lnSpc>
              <a:spcBef>
                <a:spcPts val="624"/>
              </a:spcBef>
              <a:spcAft>
                <a:spcPts val="0"/>
              </a:spcAft>
              <a:buClr>
                <a:schemeClr val="tx1"/>
              </a:buClr>
              <a:buSzPct val="80000"/>
              <a:buFont typeface="Arial" pitchFamily="34" charset="0"/>
              <a:buChar char="–"/>
              <a:defRPr sz="2400" kern="1200">
                <a:solidFill>
                  <a:srgbClr val="000000"/>
                </a:solidFill>
                <a:latin typeface="Arial" pitchFamily="34" charset="0"/>
                <a:ea typeface="+mn-ea"/>
                <a:cs typeface="Arial" pitchFamily="34" charset="0"/>
              </a:defRPr>
            </a:lvl2pPr>
            <a:lvl3pPr marL="688975" indent="-231775" algn="l" defTabSz="914400" rtl="0" eaLnBrk="1" latinLnBrk="0" hangingPunct="1">
              <a:lnSpc>
                <a:spcPct val="100000"/>
              </a:lnSpc>
              <a:spcBef>
                <a:spcPts val="576"/>
              </a:spcBef>
              <a:spcAft>
                <a:spcPts val="0"/>
              </a:spcAft>
              <a:buClr>
                <a:schemeClr val="tx1"/>
              </a:buClr>
              <a:buSzPct val="80000"/>
              <a:buFont typeface="Arial" pitchFamily="34" charset="0"/>
              <a:buChar char="•"/>
              <a:defRPr sz="2000" kern="1200" baseline="0">
                <a:solidFill>
                  <a:srgbClr val="000000"/>
                </a:solidFill>
                <a:latin typeface="Arial" pitchFamily="34" charset="0"/>
                <a:ea typeface="+mn-ea"/>
                <a:cs typeface="Arial" pitchFamily="34" charset="0"/>
              </a:defRPr>
            </a:lvl3pPr>
            <a:lvl4pPr marL="914400" indent="-225425" algn="l" defTabSz="914400" rtl="0" eaLnBrk="1" latinLnBrk="0" hangingPunct="1">
              <a:lnSpc>
                <a:spcPct val="100000"/>
              </a:lnSpc>
              <a:spcBef>
                <a:spcPts val="528"/>
              </a:spcBef>
              <a:spcAft>
                <a:spcPts val="0"/>
              </a:spcAft>
              <a:buClr>
                <a:schemeClr val="tx1"/>
              </a:buClr>
              <a:buSzPct val="80000"/>
              <a:buFont typeface="Arial" pitchFamily="34" charset="0"/>
              <a:buChar char="–"/>
              <a:defRPr sz="1800" kern="1200" baseline="0">
                <a:solidFill>
                  <a:srgbClr val="000000"/>
                </a:solidFill>
                <a:latin typeface="Arial" pitchFamily="34" charset="0"/>
                <a:ea typeface="+mn-ea"/>
                <a:cs typeface="Arial" pitchFamily="34" charset="0"/>
              </a:defRPr>
            </a:lvl4pPr>
            <a:lvl5pPr marL="1146175" indent="-231775" algn="l" defTabSz="914400" rtl="0" eaLnBrk="1" latinLnBrk="0" hangingPunct="1">
              <a:lnSpc>
                <a:spcPct val="100000"/>
              </a:lnSpc>
              <a:spcBef>
                <a:spcPts val="480"/>
              </a:spcBef>
              <a:spcAft>
                <a:spcPts val="0"/>
              </a:spcAft>
              <a:buClr>
                <a:schemeClr val="tx1"/>
              </a:buClr>
              <a:buSzPct val="80000"/>
              <a:buFont typeface="Arial" pitchFamily="34" charset="0"/>
              <a:buChar char="•"/>
              <a:defRPr sz="1600" kern="1200" baseline="0">
                <a:solidFill>
                  <a:srgbClr val="000000"/>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t>RIGHT JOIN: All rows from right + matched rows from left</a:t>
            </a:r>
          </a:p>
        </p:txBody>
      </p:sp>
      <p:pic>
        <p:nvPicPr>
          <p:cNvPr id="4" name="Picture 3">
            <a:extLst>
              <a:ext uri="{FF2B5EF4-FFF2-40B4-BE49-F238E27FC236}">
                <a16:creationId xmlns:a16="http://schemas.microsoft.com/office/drawing/2014/main" id="{D5A84177-10FE-92D6-A442-638BFC736434}"/>
              </a:ext>
            </a:extLst>
          </p:cNvPr>
          <p:cNvPicPr>
            <a:picLocks noChangeAspect="1"/>
          </p:cNvPicPr>
          <p:nvPr/>
        </p:nvPicPr>
        <p:blipFill>
          <a:blip r:embed="rId2"/>
          <a:stretch>
            <a:fillRect/>
          </a:stretch>
        </p:blipFill>
        <p:spPr>
          <a:xfrm>
            <a:off x="2491926" y="2924777"/>
            <a:ext cx="2590800" cy="1562100"/>
          </a:xfrm>
          <a:prstGeom prst="rect">
            <a:avLst/>
          </a:prstGeom>
        </p:spPr>
      </p:pic>
      <p:sp>
        <p:nvSpPr>
          <p:cNvPr id="5" name="TextBox 4">
            <a:extLst>
              <a:ext uri="{FF2B5EF4-FFF2-40B4-BE49-F238E27FC236}">
                <a16:creationId xmlns:a16="http://schemas.microsoft.com/office/drawing/2014/main" id="{CDD91522-AAB7-FEE5-68FE-68B458CCE33B}"/>
              </a:ext>
            </a:extLst>
          </p:cNvPr>
          <p:cNvSpPr txBox="1"/>
          <p:nvPr/>
        </p:nvSpPr>
        <p:spPr>
          <a:xfrm>
            <a:off x="770021" y="4922199"/>
            <a:ext cx="7729085" cy="923330"/>
          </a:xfrm>
          <a:prstGeom prst="rect">
            <a:avLst/>
          </a:prstGeom>
          <a:noFill/>
        </p:spPr>
        <p:txBody>
          <a:bodyPr wrap="square">
            <a:spAutoFit/>
          </a:bodyPr>
          <a:lstStyle/>
          <a:p>
            <a:r>
              <a:rPr lang="en-IN" dirty="0"/>
              <a:t>SELECT </a:t>
            </a:r>
            <a:r>
              <a:rPr lang="en-IN" dirty="0" err="1"/>
              <a:t>e.emp_id</a:t>
            </a:r>
            <a:r>
              <a:rPr lang="en-IN" dirty="0"/>
              <a:t>, </a:t>
            </a:r>
            <a:r>
              <a:rPr lang="en-IN" dirty="0" err="1"/>
              <a:t>e.emp_name</a:t>
            </a:r>
            <a:r>
              <a:rPr lang="en-IN" dirty="0"/>
              <a:t>, </a:t>
            </a:r>
            <a:r>
              <a:rPr lang="en-IN" dirty="0" err="1"/>
              <a:t>d.dept_name</a:t>
            </a:r>
            <a:endParaRPr lang="en-IN" dirty="0"/>
          </a:p>
          <a:p>
            <a:r>
              <a:rPr lang="en-IN" dirty="0"/>
              <a:t>FROM employee e</a:t>
            </a:r>
          </a:p>
          <a:p>
            <a:r>
              <a:rPr lang="en-IN" dirty="0"/>
              <a:t>RIGHT JOIN department d ON </a:t>
            </a:r>
            <a:r>
              <a:rPr lang="en-IN" dirty="0" err="1"/>
              <a:t>e.dept_id</a:t>
            </a:r>
            <a:r>
              <a:rPr lang="en-IN" dirty="0"/>
              <a:t> = </a:t>
            </a:r>
            <a:r>
              <a:rPr lang="en-IN" dirty="0" err="1"/>
              <a:t>d.dept_id</a:t>
            </a:r>
            <a:r>
              <a:rPr lang="en-IN" dirty="0"/>
              <a:t>;</a:t>
            </a:r>
          </a:p>
        </p:txBody>
      </p:sp>
    </p:spTree>
    <p:extLst>
      <p:ext uri="{BB962C8B-B14F-4D97-AF65-F5344CB8AC3E}">
        <p14:creationId xmlns:p14="http://schemas.microsoft.com/office/powerpoint/2010/main" val="261598141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82D8E-ACB5-29F8-223A-FD47FBDCEFD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536BF33-2D22-6E39-9C53-C4CCE8E16F19}"/>
              </a:ext>
            </a:extLst>
          </p:cNvPr>
          <p:cNvSpPr>
            <a:spLocks noGrp="1"/>
          </p:cNvSpPr>
          <p:nvPr>
            <p:ph type="title"/>
          </p:nvPr>
        </p:nvSpPr>
        <p:spPr/>
        <p:txBody>
          <a:bodyPr/>
          <a:lstStyle/>
          <a:p>
            <a:r>
              <a:rPr lang="en-IN" dirty="0"/>
              <a:t>Joins</a:t>
            </a:r>
          </a:p>
        </p:txBody>
      </p:sp>
      <p:sp>
        <p:nvSpPr>
          <p:cNvPr id="20" name="Content Placeholder 9">
            <a:extLst>
              <a:ext uri="{FF2B5EF4-FFF2-40B4-BE49-F238E27FC236}">
                <a16:creationId xmlns:a16="http://schemas.microsoft.com/office/drawing/2014/main" id="{E9574F7A-9C38-7089-521E-EFE7658B272D}"/>
              </a:ext>
            </a:extLst>
          </p:cNvPr>
          <p:cNvSpPr txBox="1">
            <a:spLocks/>
          </p:cNvSpPr>
          <p:nvPr/>
        </p:nvSpPr>
        <p:spPr>
          <a:xfrm>
            <a:off x="461035" y="1474136"/>
            <a:ext cx="8519336" cy="932180"/>
          </a:xfrm>
          <a:prstGeom prst="rect">
            <a:avLst/>
          </a:prstGeom>
        </p:spPr>
        <p:txBody>
          <a:bodyPr/>
          <a:lstStyle>
            <a:lvl1pPr marL="231775" indent="-231775" algn="l" defTabSz="914400" rtl="0" eaLnBrk="1" latinLnBrk="0" hangingPunct="1">
              <a:lnSpc>
                <a:spcPct val="100000"/>
              </a:lnSpc>
              <a:spcBef>
                <a:spcPts val="1200"/>
              </a:spcBef>
              <a:spcAft>
                <a:spcPts val="0"/>
              </a:spcAft>
              <a:buClr>
                <a:schemeClr val="tx1"/>
              </a:buClr>
              <a:buSzPct val="80000"/>
              <a:buFont typeface="Arial" pitchFamily="34" charset="0"/>
              <a:buChar char="•"/>
              <a:defRPr sz="2600" b="0" kern="1200">
                <a:solidFill>
                  <a:schemeClr val="tx1"/>
                </a:solidFill>
                <a:latin typeface="Arial" pitchFamily="34" charset="0"/>
                <a:ea typeface="+mn-ea"/>
                <a:cs typeface="Arial" pitchFamily="34" charset="0"/>
              </a:defRPr>
            </a:lvl1pPr>
            <a:lvl2pPr marL="457200" indent="-231775" algn="l" defTabSz="914400" rtl="0" eaLnBrk="1" latinLnBrk="0" hangingPunct="1">
              <a:lnSpc>
                <a:spcPct val="100000"/>
              </a:lnSpc>
              <a:spcBef>
                <a:spcPts val="624"/>
              </a:spcBef>
              <a:spcAft>
                <a:spcPts val="0"/>
              </a:spcAft>
              <a:buClr>
                <a:schemeClr val="tx1"/>
              </a:buClr>
              <a:buSzPct val="80000"/>
              <a:buFont typeface="Arial" pitchFamily="34" charset="0"/>
              <a:buChar char="–"/>
              <a:defRPr sz="2400" kern="1200">
                <a:solidFill>
                  <a:srgbClr val="000000"/>
                </a:solidFill>
                <a:latin typeface="Arial" pitchFamily="34" charset="0"/>
                <a:ea typeface="+mn-ea"/>
                <a:cs typeface="Arial" pitchFamily="34" charset="0"/>
              </a:defRPr>
            </a:lvl2pPr>
            <a:lvl3pPr marL="688975" indent="-231775" algn="l" defTabSz="914400" rtl="0" eaLnBrk="1" latinLnBrk="0" hangingPunct="1">
              <a:lnSpc>
                <a:spcPct val="100000"/>
              </a:lnSpc>
              <a:spcBef>
                <a:spcPts val="576"/>
              </a:spcBef>
              <a:spcAft>
                <a:spcPts val="0"/>
              </a:spcAft>
              <a:buClr>
                <a:schemeClr val="tx1"/>
              </a:buClr>
              <a:buSzPct val="80000"/>
              <a:buFont typeface="Arial" pitchFamily="34" charset="0"/>
              <a:buChar char="•"/>
              <a:defRPr sz="2000" kern="1200" baseline="0">
                <a:solidFill>
                  <a:srgbClr val="000000"/>
                </a:solidFill>
                <a:latin typeface="Arial" pitchFamily="34" charset="0"/>
                <a:ea typeface="+mn-ea"/>
                <a:cs typeface="Arial" pitchFamily="34" charset="0"/>
              </a:defRPr>
            </a:lvl3pPr>
            <a:lvl4pPr marL="914400" indent="-225425" algn="l" defTabSz="914400" rtl="0" eaLnBrk="1" latinLnBrk="0" hangingPunct="1">
              <a:lnSpc>
                <a:spcPct val="100000"/>
              </a:lnSpc>
              <a:spcBef>
                <a:spcPts val="528"/>
              </a:spcBef>
              <a:spcAft>
                <a:spcPts val="0"/>
              </a:spcAft>
              <a:buClr>
                <a:schemeClr val="tx1"/>
              </a:buClr>
              <a:buSzPct val="80000"/>
              <a:buFont typeface="Arial" pitchFamily="34" charset="0"/>
              <a:buChar char="–"/>
              <a:defRPr sz="1800" kern="1200" baseline="0">
                <a:solidFill>
                  <a:srgbClr val="000000"/>
                </a:solidFill>
                <a:latin typeface="Arial" pitchFamily="34" charset="0"/>
                <a:ea typeface="+mn-ea"/>
                <a:cs typeface="Arial" pitchFamily="34" charset="0"/>
              </a:defRPr>
            </a:lvl4pPr>
            <a:lvl5pPr marL="1146175" indent="-231775" algn="l" defTabSz="914400" rtl="0" eaLnBrk="1" latinLnBrk="0" hangingPunct="1">
              <a:lnSpc>
                <a:spcPct val="100000"/>
              </a:lnSpc>
              <a:spcBef>
                <a:spcPts val="480"/>
              </a:spcBef>
              <a:spcAft>
                <a:spcPts val="0"/>
              </a:spcAft>
              <a:buClr>
                <a:schemeClr val="tx1"/>
              </a:buClr>
              <a:buSzPct val="80000"/>
              <a:buFont typeface="Arial" pitchFamily="34" charset="0"/>
              <a:buChar char="•"/>
              <a:defRPr sz="1600" kern="1200" baseline="0">
                <a:solidFill>
                  <a:srgbClr val="000000"/>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t>FULL OUTER JOIN: All rows from both tables, with NULLs where no match</a:t>
            </a:r>
          </a:p>
        </p:txBody>
      </p:sp>
      <p:pic>
        <p:nvPicPr>
          <p:cNvPr id="2" name="Picture 1">
            <a:extLst>
              <a:ext uri="{FF2B5EF4-FFF2-40B4-BE49-F238E27FC236}">
                <a16:creationId xmlns:a16="http://schemas.microsoft.com/office/drawing/2014/main" id="{C215038E-6FB2-F2F5-433C-DD2308B33DD1}"/>
              </a:ext>
            </a:extLst>
          </p:cNvPr>
          <p:cNvPicPr>
            <a:picLocks noChangeAspect="1"/>
          </p:cNvPicPr>
          <p:nvPr/>
        </p:nvPicPr>
        <p:blipFill>
          <a:blip r:embed="rId2"/>
          <a:stretch>
            <a:fillRect/>
          </a:stretch>
        </p:blipFill>
        <p:spPr>
          <a:xfrm>
            <a:off x="2317424" y="3137167"/>
            <a:ext cx="2819400" cy="1657350"/>
          </a:xfrm>
          <a:prstGeom prst="rect">
            <a:avLst/>
          </a:prstGeom>
        </p:spPr>
      </p:pic>
      <p:sp>
        <p:nvSpPr>
          <p:cNvPr id="6" name="TextBox 5">
            <a:extLst>
              <a:ext uri="{FF2B5EF4-FFF2-40B4-BE49-F238E27FC236}">
                <a16:creationId xmlns:a16="http://schemas.microsoft.com/office/drawing/2014/main" id="{188A87BF-0102-B475-4FF7-724DC0B0C044}"/>
              </a:ext>
            </a:extLst>
          </p:cNvPr>
          <p:cNvSpPr txBox="1"/>
          <p:nvPr/>
        </p:nvSpPr>
        <p:spPr>
          <a:xfrm>
            <a:off x="866273" y="5012430"/>
            <a:ext cx="8027469" cy="923330"/>
          </a:xfrm>
          <a:prstGeom prst="rect">
            <a:avLst/>
          </a:prstGeom>
          <a:noFill/>
        </p:spPr>
        <p:txBody>
          <a:bodyPr wrap="square">
            <a:spAutoFit/>
          </a:bodyPr>
          <a:lstStyle/>
          <a:p>
            <a:r>
              <a:rPr lang="en-IN" dirty="0"/>
              <a:t>SELECT </a:t>
            </a:r>
            <a:r>
              <a:rPr lang="en-IN" dirty="0" err="1"/>
              <a:t>e.emp_id</a:t>
            </a:r>
            <a:r>
              <a:rPr lang="en-IN" dirty="0"/>
              <a:t>, </a:t>
            </a:r>
            <a:r>
              <a:rPr lang="en-IN" dirty="0" err="1"/>
              <a:t>e.emp_name</a:t>
            </a:r>
            <a:r>
              <a:rPr lang="en-IN" dirty="0"/>
              <a:t>, </a:t>
            </a:r>
            <a:r>
              <a:rPr lang="en-IN" dirty="0" err="1"/>
              <a:t>d.dept_name</a:t>
            </a:r>
            <a:endParaRPr lang="en-IN" dirty="0"/>
          </a:p>
          <a:p>
            <a:r>
              <a:rPr lang="en-IN" dirty="0"/>
              <a:t>FROM employee e</a:t>
            </a:r>
          </a:p>
          <a:p>
            <a:r>
              <a:rPr lang="en-IN" dirty="0"/>
              <a:t>FULL OUTER JOIN department d ON </a:t>
            </a:r>
            <a:r>
              <a:rPr lang="en-IN" dirty="0" err="1"/>
              <a:t>e.dept_id</a:t>
            </a:r>
            <a:r>
              <a:rPr lang="en-IN" dirty="0"/>
              <a:t> = </a:t>
            </a:r>
            <a:r>
              <a:rPr lang="en-IN" dirty="0" err="1"/>
              <a:t>d.dept_id</a:t>
            </a:r>
            <a:r>
              <a:rPr lang="en-IN" dirty="0"/>
              <a:t>;</a:t>
            </a:r>
          </a:p>
        </p:txBody>
      </p:sp>
    </p:spTree>
    <p:extLst>
      <p:ext uri="{BB962C8B-B14F-4D97-AF65-F5344CB8AC3E}">
        <p14:creationId xmlns:p14="http://schemas.microsoft.com/office/powerpoint/2010/main" val="320706288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E926B-AE43-B394-C76F-8DE05BC5E2E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6C42A00-2CD3-8488-9048-2180F7080488}"/>
              </a:ext>
            </a:extLst>
          </p:cNvPr>
          <p:cNvSpPr>
            <a:spLocks noGrp="1"/>
          </p:cNvSpPr>
          <p:nvPr>
            <p:ph type="title"/>
          </p:nvPr>
        </p:nvSpPr>
        <p:spPr/>
        <p:txBody>
          <a:bodyPr/>
          <a:lstStyle/>
          <a:p>
            <a:r>
              <a:rPr lang="en-IN" dirty="0"/>
              <a:t>Joins</a:t>
            </a:r>
          </a:p>
        </p:txBody>
      </p:sp>
      <p:sp>
        <p:nvSpPr>
          <p:cNvPr id="20" name="Content Placeholder 9">
            <a:extLst>
              <a:ext uri="{FF2B5EF4-FFF2-40B4-BE49-F238E27FC236}">
                <a16:creationId xmlns:a16="http://schemas.microsoft.com/office/drawing/2014/main" id="{D5C24C7E-3711-F1B7-43D7-915B5AC9B3A8}"/>
              </a:ext>
            </a:extLst>
          </p:cNvPr>
          <p:cNvSpPr txBox="1">
            <a:spLocks/>
          </p:cNvSpPr>
          <p:nvPr/>
        </p:nvSpPr>
        <p:spPr>
          <a:xfrm>
            <a:off x="461034" y="1474136"/>
            <a:ext cx="8682965" cy="1001904"/>
          </a:xfrm>
          <a:prstGeom prst="rect">
            <a:avLst/>
          </a:prstGeom>
        </p:spPr>
        <p:txBody>
          <a:bodyPr/>
          <a:lstStyle>
            <a:lvl1pPr marL="231775" indent="-231775" algn="l" defTabSz="914400" rtl="0" eaLnBrk="1" latinLnBrk="0" hangingPunct="1">
              <a:lnSpc>
                <a:spcPct val="100000"/>
              </a:lnSpc>
              <a:spcBef>
                <a:spcPts val="1200"/>
              </a:spcBef>
              <a:spcAft>
                <a:spcPts val="0"/>
              </a:spcAft>
              <a:buClr>
                <a:schemeClr val="tx1"/>
              </a:buClr>
              <a:buSzPct val="80000"/>
              <a:buFont typeface="Arial" pitchFamily="34" charset="0"/>
              <a:buChar char="•"/>
              <a:defRPr sz="2600" b="0" kern="1200">
                <a:solidFill>
                  <a:schemeClr val="tx1"/>
                </a:solidFill>
                <a:latin typeface="Arial" pitchFamily="34" charset="0"/>
                <a:ea typeface="+mn-ea"/>
                <a:cs typeface="Arial" pitchFamily="34" charset="0"/>
              </a:defRPr>
            </a:lvl1pPr>
            <a:lvl2pPr marL="457200" indent="-231775" algn="l" defTabSz="914400" rtl="0" eaLnBrk="1" latinLnBrk="0" hangingPunct="1">
              <a:lnSpc>
                <a:spcPct val="100000"/>
              </a:lnSpc>
              <a:spcBef>
                <a:spcPts val="624"/>
              </a:spcBef>
              <a:spcAft>
                <a:spcPts val="0"/>
              </a:spcAft>
              <a:buClr>
                <a:schemeClr val="tx1"/>
              </a:buClr>
              <a:buSzPct val="80000"/>
              <a:buFont typeface="Arial" pitchFamily="34" charset="0"/>
              <a:buChar char="–"/>
              <a:defRPr sz="2400" kern="1200">
                <a:solidFill>
                  <a:srgbClr val="000000"/>
                </a:solidFill>
                <a:latin typeface="Arial" pitchFamily="34" charset="0"/>
                <a:ea typeface="+mn-ea"/>
                <a:cs typeface="Arial" pitchFamily="34" charset="0"/>
              </a:defRPr>
            </a:lvl2pPr>
            <a:lvl3pPr marL="688975" indent="-231775" algn="l" defTabSz="914400" rtl="0" eaLnBrk="1" latinLnBrk="0" hangingPunct="1">
              <a:lnSpc>
                <a:spcPct val="100000"/>
              </a:lnSpc>
              <a:spcBef>
                <a:spcPts val="576"/>
              </a:spcBef>
              <a:spcAft>
                <a:spcPts val="0"/>
              </a:spcAft>
              <a:buClr>
                <a:schemeClr val="tx1"/>
              </a:buClr>
              <a:buSzPct val="80000"/>
              <a:buFont typeface="Arial" pitchFamily="34" charset="0"/>
              <a:buChar char="•"/>
              <a:defRPr sz="2000" kern="1200" baseline="0">
                <a:solidFill>
                  <a:srgbClr val="000000"/>
                </a:solidFill>
                <a:latin typeface="Arial" pitchFamily="34" charset="0"/>
                <a:ea typeface="+mn-ea"/>
                <a:cs typeface="Arial" pitchFamily="34" charset="0"/>
              </a:defRPr>
            </a:lvl3pPr>
            <a:lvl4pPr marL="914400" indent="-225425" algn="l" defTabSz="914400" rtl="0" eaLnBrk="1" latinLnBrk="0" hangingPunct="1">
              <a:lnSpc>
                <a:spcPct val="100000"/>
              </a:lnSpc>
              <a:spcBef>
                <a:spcPts val="528"/>
              </a:spcBef>
              <a:spcAft>
                <a:spcPts val="0"/>
              </a:spcAft>
              <a:buClr>
                <a:schemeClr val="tx1"/>
              </a:buClr>
              <a:buSzPct val="80000"/>
              <a:buFont typeface="Arial" pitchFamily="34" charset="0"/>
              <a:buChar char="–"/>
              <a:defRPr sz="1800" kern="1200" baseline="0">
                <a:solidFill>
                  <a:srgbClr val="000000"/>
                </a:solidFill>
                <a:latin typeface="Arial" pitchFamily="34" charset="0"/>
                <a:ea typeface="+mn-ea"/>
                <a:cs typeface="Arial" pitchFamily="34" charset="0"/>
              </a:defRPr>
            </a:lvl4pPr>
            <a:lvl5pPr marL="1146175" indent="-231775" algn="l" defTabSz="914400" rtl="0" eaLnBrk="1" latinLnBrk="0" hangingPunct="1">
              <a:lnSpc>
                <a:spcPct val="100000"/>
              </a:lnSpc>
              <a:spcBef>
                <a:spcPts val="480"/>
              </a:spcBef>
              <a:spcAft>
                <a:spcPts val="0"/>
              </a:spcAft>
              <a:buClr>
                <a:schemeClr val="tx1"/>
              </a:buClr>
              <a:buSzPct val="80000"/>
              <a:buFont typeface="Arial" pitchFamily="34" charset="0"/>
              <a:buChar char="•"/>
              <a:defRPr sz="1600" kern="1200" baseline="0">
                <a:solidFill>
                  <a:srgbClr val="000000"/>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t>Self Join: Join a table with itself (e.g., employee → manager)</a:t>
            </a:r>
          </a:p>
          <a:p>
            <a:endParaRPr lang="en-US" b="1" dirty="0"/>
          </a:p>
        </p:txBody>
      </p:sp>
      <p:sp>
        <p:nvSpPr>
          <p:cNvPr id="8" name="Oval 7">
            <a:extLst>
              <a:ext uri="{FF2B5EF4-FFF2-40B4-BE49-F238E27FC236}">
                <a16:creationId xmlns:a16="http://schemas.microsoft.com/office/drawing/2014/main" id="{DB011A03-3E5E-7EB6-897F-4EF486F8CE75}"/>
              </a:ext>
            </a:extLst>
          </p:cNvPr>
          <p:cNvSpPr/>
          <p:nvPr/>
        </p:nvSpPr>
        <p:spPr bwMode="auto">
          <a:xfrm>
            <a:off x="2714088" y="3653226"/>
            <a:ext cx="2223672" cy="2170057"/>
          </a:xfrm>
          <a:prstGeom prst="ellipse">
            <a:avLst/>
          </a:prstGeom>
          <a:solidFill>
            <a:schemeClr val="tx2">
              <a:lumMod val="10000"/>
              <a:lumOff val="90000"/>
            </a:schemeClr>
          </a:solidFill>
          <a:ln w="6350">
            <a:solidFill>
              <a:schemeClr val="accent1"/>
            </a:solidFill>
            <a:miter lim="800000"/>
            <a:headEnd/>
            <a:tailEnd/>
          </a:ln>
        </p:spPr>
        <p:txBody>
          <a:bodyPr lIns="100913" tIns="50457" rIns="100913" bIns="50457" rtlCol="0" anchor="ctr">
            <a:noAutofit/>
          </a:bodyPr>
          <a:lstStyle/>
          <a:p>
            <a:pPr algn="ctr" defTabSz="963613" eaLnBrk="0" hangingPunct="0">
              <a:tabLst>
                <a:tab pos="1257300" algn="l"/>
              </a:tabLst>
            </a:pPr>
            <a:endParaRPr lang="en-IN" dirty="0" err="1">
              <a:solidFill>
                <a:srgbClr val="FFFFFF"/>
              </a:solidFill>
              <a:latin typeface="+mn-lt"/>
            </a:endParaRPr>
          </a:p>
        </p:txBody>
      </p:sp>
      <p:sp>
        <p:nvSpPr>
          <p:cNvPr id="9" name="TextBox 8">
            <a:extLst>
              <a:ext uri="{FF2B5EF4-FFF2-40B4-BE49-F238E27FC236}">
                <a16:creationId xmlns:a16="http://schemas.microsoft.com/office/drawing/2014/main" id="{808C6343-D89D-85DE-57CB-64A0257BB841}"/>
              </a:ext>
            </a:extLst>
          </p:cNvPr>
          <p:cNvSpPr txBox="1"/>
          <p:nvPr/>
        </p:nvSpPr>
        <p:spPr bwMode="ltGray">
          <a:xfrm>
            <a:off x="3034339" y="4178175"/>
            <a:ext cx="1192569" cy="286565"/>
          </a:xfrm>
          <a:prstGeom prst="rect">
            <a:avLst/>
          </a:prstGeom>
          <a:noFill/>
          <a:ln w="6350">
            <a:noFill/>
            <a:miter lim="800000"/>
            <a:headEnd/>
            <a:tailEnd/>
          </a:ln>
        </p:spPr>
        <p:txBody>
          <a:bodyPr wrap="square" lIns="100913" tIns="50457" rIns="100913" bIns="50457" rtlCol="0" anchor="t" anchorCtr="0">
            <a:spAutoFit/>
          </a:bodyPr>
          <a:lstStyle/>
          <a:p>
            <a:pPr eaLnBrk="0" hangingPunct="0"/>
            <a:r>
              <a:rPr lang="en-US" sz="1200" dirty="0">
                <a:solidFill>
                  <a:srgbClr val="16184E"/>
                </a:solidFill>
                <a:latin typeface="+mn-lt"/>
              </a:rPr>
              <a:t>Table A</a:t>
            </a:r>
            <a:endParaRPr lang="en-IN" sz="1200" dirty="0" err="1">
              <a:solidFill>
                <a:srgbClr val="16184E"/>
              </a:solidFill>
              <a:latin typeface="+mn-lt"/>
            </a:endParaRPr>
          </a:p>
        </p:txBody>
      </p:sp>
      <p:sp>
        <p:nvSpPr>
          <p:cNvPr id="10" name="Arrow: U-Turn 9">
            <a:extLst>
              <a:ext uri="{FF2B5EF4-FFF2-40B4-BE49-F238E27FC236}">
                <a16:creationId xmlns:a16="http://schemas.microsoft.com/office/drawing/2014/main" id="{6033DF0E-64DF-4341-FA63-7DE254BE51E5}"/>
              </a:ext>
            </a:extLst>
          </p:cNvPr>
          <p:cNvSpPr/>
          <p:nvPr/>
        </p:nvSpPr>
        <p:spPr bwMode="auto">
          <a:xfrm>
            <a:off x="2854553" y="3294179"/>
            <a:ext cx="1461864" cy="1001904"/>
          </a:xfrm>
          <a:prstGeom prst="uturnArrow">
            <a:avLst>
              <a:gd name="adj1" fmla="val 5171"/>
              <a:gd name="adj2" fmla="val 10509"/>
              <a:gd name="adj3" fmla="val 14323"/>
              <a:gd name="adj4" fmla="val 40848"/>
              <a:gd name="adj5" fmla="val 70424"/>
            </a:avLst>
          </a:prstGeom>
          <a:solidFill>
            <a:schemeClr val="accent1"/>
          </a:solidFill>
          <a:ln w="6350">
            <a:noFill/>
            <a:miter lim="800000"/>
            <a:headEnd/>
            <a:tailEnd/>
          </a:ln>
        </p:spPr>
        <p:txBody>
          <a:bodyPr lIns="100913" tIns="50457" rIns="100913" bIns="50457" rtlCol="0" anchor="ctr">
            <a:noAutofit/>
          </a:bodyPr>
          <a:lstStyle/>
          <a:p>
            <a:pPr algn="ctr" defTabSz="963613" eaLnBrk="0" hangingPunct="0">
              <a:tabLst>
                <a:tab pos="1257300" algn="l"/>
              </a:tabLst>
            </a:pPr>
            <a:endParaRPr lang="en-IN" dirty="0" err="1">
              <a:solidFill>
                <a:srgbClr val="FFFFFF"/>
              </a:solidFill>
              <a:latin typeface="+mn-lt"/>
            </a:endParaRPr>
          </a:p>
        </p:txBody>
      </p:sp>
      <p:sp>
        <p:nvSpPr>
          <p:cNvPr id="11" name="TextBox 10">
            <a:extLst>
              <a:ext uri="{FF2B5EF4-FFF2-40B4-BE49-F238E27FC236}">
                <a16:creationId xmlns:a16="http://schemas.microsoft.com/office/drawing/2014/main" id="{C153F0D9-87FA-C331-E421-A4396FA87936}"/>
              </a:ext>
            </a:extLst>
          </p:cNvPr>
          <p:cNvSpPr txBox="1"/>
          <p:nvPr/>
        </p:nvSpPr>
        <p:spPr bwMode="ltGray">
          <a:xfrm>
            <a:off x="2092350" y="3366408"/>
            <a:ext cx="1321599" cy="286565"/>
          </a:xfrm>
          <a:prstGeom prst="rect">
            <a:avLst/>
          </a:prstGeom>
          <a:noFill/>
          <a:ln w="6350">
            <a:noFill/>
            <a:miter lim="800000"/>
            <a:headEnd/>
            <a:tailEnd/>
          </a:ln>
        </p:spPr>
        <p:txBody>
          <a:bodyPr wrap="square" lIns="100913" tIns="50457" rIns="100913" bIns="50457" rtlCol="0" anchor="t" anchorCtr="0">
            <a:spAutoFit/>
          </a:bodyPr>
          <a:lstStyle/>
          <a:p>
            <a:pPr eaLnBrk="0" hangingPunct="0"/>
            <a:r>
              <a:rPr lang="en-US" sz="1200" dirty="0">
                <a:solidFill>
                  <a:srgbClr val="16184E"/>
                </a:solidFill>
                <a:latin typeface="+mn-lt"/>
              </a:rPr>
              <a:t>Self Join</a:t>
            </a:r>
            <a:endParaRPr lang="en-IN" sz="1200" dirty="0" err="1">
              <a:solidFill>
                <a:srgbClr val="16184E"/>
              </a:solidFill>
              <a:latin typeface="+mn-lt"/>
            </a:endParaRPr>
          </a:p>
        </p:txBody>
      </p:sp>
    </p:spTree>
    <p:extLst>
      <p:ext uri="{BB962C8B-B14F-4D97-AF65-F5344CB8AC3E}">
        <p14:creationId xmlns:p14="http://schemas.microsoft.com/office/powerpoint/2010/main" val="104203879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20B06-9F3B-62CE-AB07-9B05BFB9245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DBBE2BD-7AC4-00A6-97B9-9BA6A94EFC9C}"/>
              </a:ext>
            </a:extLst>
          </p:cNvPr>
          <p:cNvSpPr>
            <a:spLocks noGrp="1"/>
          </p:cNvSpPr>
          <p:nvPr>
            <p:ph type="title"/>
          </p:nvPr>
        </p:nvSpPr>
        <p:spPr/>
        <p:txBody>
          <a:bodyPr/>
          <a:lstStyle/>
          <a:p>
            <a:r>
              <a:rPr lang="en-IN" dirty="0"/>
              <a:t>Joins – Self Join</a:t>
            </a:r>
          </a:p>
        </p:txBody>
      </p:sp>
      <p:sp>
        <p:nvSpPr>
          <p:cNvPr id="20" name="Content Placeholder 9">
            <a:extLst>
              <a:ext uri="{FF2B5EF4-FFF2-40B4-BE49-F238E27FC236}">
                <a16:creationId xmlns:a16="http://schemas.microsoft.com/office/drawing/2014/main" id="{A934A8D0-B293-9036-2C08-0C82783BCB14}"/>
              </a:ext>
            </a:extLst>
          </p:cNvPr>
          <p:cNvSpPr txBox="1">
            <a:spLocks/>
          </p:cNvSpPr>
          <p:nvPr/>
        </p:nvSpPr>
        <p:spPr>
          <a:xfrm>
            <a:off x="461034" y="1474136"/>
            <a:ext cx="8326831" cy="4926664"/>
          </a:xfrm>
          <a:prstGeom prst="rect">
            <a:avLst/>
          </a:prstGeom>
        </p:spPr>
        <p:txBody>
          <a:bodyPr/>
          <a:lstStyle>
            <a:lvl1pPr marL="231775" indent="-231775" algn="l" defTabSz="914400" rtl="0" eaLnBrk="1" latinLnBrk="0" hangingPunct="1">
              <a:lnSpc>
                <a:spcPct val="100000"/>
              </a:lnSpc>
              <a:spcBef>
                <a:spcPts val="1200"/>
              </a:spcBef>
              <a:spcAft>
                <a:spcPts val="0"/>
              </a:spcAft>
              <a:buClr>
                <a:schemeClr val="tx1"/>
              </a:buClr>
              <a:buSzPct val="80000"/>
              <a:buFont typeface="Arial" pitchFamily="34" charset="0"/>
              <a:buChar char="•"/>
              <a:defRPr sz="2600" b="0" kern="1200">
                <a:solidFill>
                  <a:schemeClr val="tx1"/>
                </a:solidFill>
                <a:latin typeface="Arial" pitchFamily="34" charset="0"/>
                <a:ea typeface="+mn-ea"/>
                <a:cs typeface="Arial" pitchFamily="34" charset="0"/>
              </a:defRPr>
            </a:lvl1pPr>
            <a:lvl2pPr marL="457200" indent="-231775" algn="l" defTabSz="914400" rtl="0" eaLnBrk="1" latinLnBrk="0" hangingPunct="1">
              <a:lnSpc>
                <a:spcPct val="100000"/>
              </a:lnSpc>
              <a:spcBef>
                <a:spcPts val="624"/>
              </a:spcBef>
              <a:spcAft>
                <a:spcPts val="0"/>
              </a:spcAft>
              <a:buClr>
                <a:schemeClr val="tx1"/>
              </a:buClr>
              <a:buSzPct val="80000"/>
              <a:buFont typeface="Arial" pitchFamily="34" charset="0"/>
              <a:buChar char="–"/>
              <a:defRPr sz="2400" kern="1200">
                <a:solidFill>
                  <a:srgbClr val="000000"/>
                </a:solidFill>
                <a:latin typeface="Arial" pitchFamily="34" charset="0"/>
                <a:ea typeface="+mn-ea"/>
                <a:cs typeface="Arial" pitchFamily="34" charset="0"/>
              </a:defRPr>
            </a:lvl2pPr>
            <a:lvl3pPr marL="688975" indent="-231775" algn="l" defTabSz="914400" rtl="0" eaLnBrk="1" latinLnBrk="0" hangingPunct="1">
              <a:lnSpc>
                <a:spcPct val="100000"/>
              </a:lnSpc>
              <a:spcBef>
                <a:spcPts val="576"/>
              </a:spcBef>
              <a:spcAft>
                <a:spcPts val="0"/>
              </a:spcAft>
              <a:buClr>
                <a:schemeClr val="tx1"/>
              </a:buClr>
              <a:buSzPct val="80000"/>
              <a:buFont typeface="Arial" pitchFamily="34" charset="0"/>
              <a:buChar char="•"/>
              <a:defRPr sz="2000" kern="1200" baseline="0">
                <a:solidFill>
                  <a:srgbClr val="000000"/>
                </a:solidFill>
                <a:latin typeface="Arial" pitchFamily="34" charset="0"/>
                <a:ea typeface="+mn-ea"/>
                <a:cs typeface="Arial" pitchFamily="34" charset="0"/>
              </a:defRPr>
            </a:lvl3pPr>
            <a:lvl4pPr marL="914400" indent="-225425" algn="l" defTabSz="914400" rtl="0" eaLnBrk="1" latinLnBrk="0" hangingPunct="1">
              <a:lnSpc>
                <a:spcPct val="100000"/>
              </a:lnSpc>
              <a:spcBef>
                <a:spcPts val="528"/>
              </a:spcBef>
              <a:spcAft>
                <a:spcPts val="0"/>
              </a:spcAft>
              <a:buClr>
                <a:schemeClr val="tx1"/>
              </a:buClr>
              <a:buSzPct val="80000"/>
              <a:buFont typeface="Arial" pitchFamily="34" charset="0"/>
              <a:buChar char="–"/>
              <a:defRPr sz="1800" kern="1200" baseline="0">
                <a:solidFill>
                  <a:srgbClr val="000000"/>
                </a:solidFill>
                <a:latin typeface="Arial" pitchFamily="34" charset="0"/>
                <a:ea typeface="+mn-ea"/>
                <a:cs typeface="Arial" pitchFamily="34" charset="0"/>
              </a:defRPr>
            </a:lvl4pPr>
            <a:lvl5pPr marL="1146175" indent="-231775" algn="l" defTabSz="914400" rtl="0" eaLnBrk="1" latinLnBrk="0" hangingPunct="1">
              <a:lnSpc>
                <a:spcPct val="100000"/>
              </a:lnSpc>
              <a:spcBef>
                <a:spcPts val="480"/>
              </a:spcBef>
              <a:spcAft>
                <a:spcPts val="0"/>
              </a:spcAft>
              <a:buClr>
                <a:schemeClr val="tx1"/>
              </a:buClr>
              <a:buSzPct val="80000"/>
              <a:buFont typeface="Arial" pitchFamily="34" charset="0"/>
              <a:buChar char="•"/>
              <a:defRPr sz="1600" kern="1200" baseline="0">
                <a:solidFill>
                  <a:srgbClr val="000000"/>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t>CREATE TABLE employee (</a:t>
            </a:r>
          </a:p>
          <a:p>
            <a:r>
              <a:rPr lang="en-US" b="1" dirty="0"/>
              <a:t>    </a:t>
            </a:r>
            <a:r>
              <a:rPr lang="en-US" b="1" dirty="0" err="1"/>
              <a:t>emp_id</a:t>
            </a:r>
            <a:r>
              <a:rPr lang="en-US" b="1" dirty="0"/>
              <a:t> SERIAL PRIMARY KEY,</a:t>
            </a:r>
          </a:p>
          <a:p>
            <a:r>
              <a:rPr lang="en-US" b="1" dirty="0"/>
              <a:t>    </a:t>
            </a:r>
            <a:r>
              <a:rPr lang="en-US" b="1" dirty="0" err="1"/>
              <a:t>emp_name</a:t>
            </a:r>
            <a:r>
              <a:rPr lang="en-US" b="1" dirty="0"/>
              <a:t> VARCHAR(100),</a:t>
            </a:r>
          </a:p>
          <a:p>
            <a:r>
              <a:rPr lang="en-US" b="1" dirty="0"/>
              <a:t>    </a:t>
            </a:r>
            <a:r>
              <a:rPr lang="en-US" b="1" dirty="0" err="1"/>
              <a:t>manager_id</a:t>
            </a:r>
            <a:r>
              <a:rPr lang="en-US" b="1" dirty="0"/>
              <a:t> INTEGER  -- References another employee</a:t>
            </a:r>
          </a:p>
          <a:p>
            <a:r>
              <a:rPr lang="en-US" b="1" dirty="0"/>
              <a:t>);</a:t>
            </a:r>
          </a:p>
          <a:p>
            <a:endParaRPr lang="en-US" b="1" dirty="0"/>
          </a:p>
        </p:txBody>
      </p:sp>
    </p:spTree>
    <p:extLst>
      <p:ext uri="{BB962C8B-B14F-4D97-AF65-F5344CB8AC3E}">
        <p14:creationId xmlns:p14="http://schemas.microsoft.com/office/powerpoint/2010/main" val="54744953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EE00A-618B-7A7C-FABA-67BA63649BB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B67B2FE-30FF-0103-C951-3B19794AB81D}"/>
              </a:ext>
            </a:extLst>
          </p:cNvPr>
          <p:cNvSpPr>
            <a:spLocks noGrp="1"/>
          </p:cNvSpPr>
          <p:nvPr>
            <p:ph type="title"/>
          </p:nvPr>
        </p:nvSpPr>
        <p:spPr/>
        <p:txBody>
          <a:bodyPr/>
          <a:lstStyle/>
          <a:p>
            <a:r>
              <a:rPr lang="en-IN" dirty="0"/>
              <a:t>Joins – Self Join</a:t>
            </a:r>
          </a:p>
        </p:txBody>
      </p:sp>
      <p:graphicFrame>
        <p:nvGraphicFramePr>
          <p:cNvPr id="2" name="Table 1">
            <a:extLst>
              <a:ext uri="{FF2B5EF4-FFF2-40B4-BE49-F238E27FC236}">
                <a16:creationId xmlns:a16="http://schemas.microsoft.com/office/drawing/2014/main" id="{3A176DA7-07D1-BECF-72AF-A75677D9CCDE}"/>
              </a:ext>
            </a:extLst>
          </p:cNvPr>
          <p:cNvGraphicFramePr>
            <a:graphicFrameLocks noGrp="1"/>
          </p:cNvGraphicFramePr>
          <p:nvPr/>
        </p:nvGraphicFramePr>
        <p:xfrm>
          <a:off x="543827" y="2445794"/>
          <a:ext cx="8228013" cy="1828800"/>
        </p:xfrm>
        <a:graphic>
          <a:graphicData uri="http://schemas.openxmlformats.org/drawingml/2006/table">
            <a:tbl>
              <a:tblPr>
                <a:tableStyleId>{3C2FFA5D-87B4-456A-9821-1D502468CF0F}</a:tableStyleId>
              </a:tblPr>
              <a:tblGrid>
                <a:gridCol w="2742671">
                  <a:extLst>
                    <a:ext uri="{9D8B030D-6E8A-4147-A177-3AD203B41FA5}">
                      <a16:colId xmlns:a16="http://schemas.microsoft.com/office/drawing/2014/main" val="2179108361"/>
                    </a:ext>
                  </a:extLst>
                </a:gridCol>
                <a:gridCol w="2742671">
                  <a:extLst>
                    <a:ext uri="{9D8B030D-6E8A-4147-A177-3AD203B41FA5}">
                      <a16:colId xmlns:a16="http://schemas.microsoft.com/office/drawing/2014/main" val="2241970054"/>
                    </a:ext>
                  </a:extLst>
                </a:gridCol>
                <a:gridCol w="2742671">
                  <a:extLst>
                    <a:ext uri="{9D8B030D-6E8A-4147-A177-3AD203B41FA5}">
                      <a16:colId xmlns:a16="http://schemas.microsoft.com/office/drawing/2014/main" val="3902128742"/>
                    </a:ext>
                  </a:extLst>
                </a:gridCol>
              </a:tblGrid>
              <a:tr h="0">
                <a:tc>
                  <a:txBody>
                    <a:bodyPr/>
                    <a:lstStyle/>
                    <a:p>
                      <a:pPr>
                        <a:buNone/>
                      </a:pPr>
                      <a:r>
                        <a:rPr lang="en-IN"/>
                        <a:t>employee_id</a:t>
                      </a:r>
                    </a:p>
                  </a:txBody>
                  <a:tcPr anchor="ctr"/>
                </a:tc>
                <a:tc>
                  <a:txBody>
                    <a:bodyPr/>
                    <a:lstStyle/>
                    <a:p>
                      <a:pPr>
                        <a:buNone/>
                      </a:pPr>
                      <a:r>
                        <a:rPr lang="en-IN"/>
                        <a:t>employee_name</a:t>
                      </a:r>
                    </a:p>
                  </a:txBody>
                  <a:tcPr anchor="ctr"/>
                </a:tc>
                <a:tc>
                  <a:txBody>
                    <a:bodyPr/>
                    <a:lstStyle/>
                    <a:p>
                      <a:pPr>
                        <a:buNone/>
                      </a:pPr>
                      <a:r>
                        <a:rPr lang="en-IN"/>
                        <a:t>manager_name</a:t>
                      </a:r>
                    </a:p>
                  </a:txBody>
                  <a:tcPr anchor="ctr"/>
                </a:tc>
                <a:extLst>
                  <a:ext uri="{0D108BD9-81ED-4DB2-BD59-A6C34878D82A}">
                    <a16:rowId xmlns:a16="http://schemas.microsoft.com/office/drawing/2014/main" val="763885911"/>
                  </a:ext>
                </a:extLst>
              </a:tr>
              <a:tr h="0">
                <a:tc>
                  <a:txBody>
                    <a:bodyPr/>
                    <a:lstStyle/>
                    <a:p>
                      <a:pPr>
                        <a:buNone/>
                      </a:pPr>
                      <a:r>
                        <a:rPr lang="en-IN"/>
                        <a:t>1</a:t>
                      </a:r>
                    </a:p>
                  </a:txBody>
                  <a:tcPr anchor="ctr"/>
                </a:tc>
                <a:tc>
                  <a:txBody>
                    <a:bodyPr/>
                    <a:lstStyle/>
                    <a:p>
                      <a:pPr>
                        <a:buNone/>
                      </a:pPr>
                      <a:r>
                        <a:rPr lang="en-IN"/>
                        <a:t>Alice</a:t>
                      </a:r>
                    </a:p>
                  </a:txBody>
                  <a:tcPr anchor="ctr"/>
                </a:tc>
                <a:tc>
                  <a:txBody>
                    <a:bodyPr/>
                    <a:lstStyle/>
                    <a:p>
                      <a:pPr>
                        <a:buNone/>
                      </a:pPr>
                      <a:r>
                        <a:rPr lang="en-IN"/>
                        <a:t>NULL</a:t>
                      </a:r>
                    </a:p>
                  </a:txBody>
                  <a:tcPr anchor="ctr"/>
                </a:tc>
                <a:extLst>
                  <a:ext uri="{0D108BD9-81ED-4DB2-BD59-A6C34878D82A}">
                    <a16:rowId xmlns:a16="http://schemas.microsoft.com/office/drawing/2014/main" val="1761028528"/>
                  </a:ext>
                </a:extLst>
              </a:tr>
              <a:tr h="0">
                <a:tc>
                  <a:txBody>
                    <a:bodyPr/>
                    <a:lstStyle/>
                    <a:p>
                      <a:pPr>
                        <a:buNone/>
                      </a:pPr>
                      <a:r>
                        <a:rPr lang="en-IN"/>
                        <a:t>2</a:t>
                      </a:r>
                    </a:p>
                  </a:txBody>
                  <a:tcPr anchor="ctr"/>
                </a:tc>
                <a:tc>
                  <a:txBody>
                    <a:bodyPr/>
                    <a:lstStyle/>
                    <a:p>
                      <a:pPr>
                        <a:buNone/>
                      </a:pPr>
                      <a:r>
                        <a:rPr lang="en-IN"/>
                        <a:t>Bob</a:t>
                      </a:r>
                    </a:p>
                  </a:txBody>
                  <a:tcPr anchor="ctr"/>
                </a:tc>
                <a:tc>
                  <a:txBody>
                    <a:bodyPr/>
                    <a:lstStyle/>
                    <a:p>
                      <a:pPr>
                        <a:buNone/>
                      </a:pPr>
                      <a:r>
                        <a:rPr lang="en-IN"/>
                        <a:t>Alice</a:t>
                      </a:r>
                    </a:p>
                  </a:txBody>
                  <a:tcPr anchor="ctr"/>
                </a:tc>
                <a:extLst>
                  <a:ext uri="{0D108BD9-81ED-4DB2-BD59-A6C34878D82A}">
                    <a16:rowId xmlns:a16="http://schemas.microsoft.com/office/drawing/2014/main" val="4053187727"/>
                  </a:ext>
                </a:extLst>
              </a:tr>
              <a:tr h="0">
                <a:tc>
                  <a:txBody>
                    <a:bodyPr/>
                    <a:lstStyle/>
                    <a:p>
                      <a:pPr>
                        <a:buNone/>
                      </a:pPr>
                      <a:r>
                        <a:rPr lang="en-IN"/>
                        <a:t>3</a:t>
                      </a:r>
                    </a:p>
                  </a:txBody>
                  <a:tcPr anchor="ctr"/>
                </a:tc>
                <a:tc>
                  <a:txBody>
                    <a:bodyPr/>
                    <a:lstStyle/>
                    <a:p>
                      <a:pPr>
                        <a:buNone/>
                      </a:pPr>
                      <a:r>
                        <a:rPr lang="en-IN"/>
                        <a:t>Charlie</a:t>
                      </a:r>
                    </a:p>
                  </a:txBody>
                  <a:tcPr anchor="ctr"/>
                </a:tc>
                <a:tc>
                  <a:txBody>
                    <a:bodyPr/>
                    <a:lstStyle/>
                    <a:p>
                      <a:pPr>
                        <a:buNone/>
                      </a:pPr>
                      <a:r>
                        <a:rPr lang="en-IN"/>
                        <a:t>Alice</a:t>
                      </a:r>
                    </a:p>
                  </a:txBody>
                  <a:tcPr anchor="ctr"/>
                </a:tc>
                <a:extLst>
                  <a:ext uri="{0D108BD9-81ED-4DB2-BD59-A6C34878D82A}">
                    <a16:rowId xmlns:a16="http://schemas.microsoft.com/office/drawing/2014/main" val="2296678288"/>
                  </a:ext>
                </a:extLst>
              </a:tr>
              <a:tr h="0">
                <a:tc>
                  <a:txBody>
                    <a:bodyPr/>
                    <a:lstStyle/>
                    <a:p>
                      <a:pPr>
                        <a:buNone/>
                      </a:pPr>
                      <a:r>
                        <a:rPr lang="en-IN"/>
                        <a:t>4</a:t>
                      </a:r>
                    </a:p>
                  </a:txBody>
                  <a:tcPr anchor="ctr"/>
                </a:tc>
                <a:tc>
                  <a:txBody>
                    <a:bodyPr/>
                    <a:lstStyle/>
                    <a:p>
                      <a:pPr>
                        <a:buNone/>
                      </a:pPr>
                      <a:r>
                        <a:rPr lang="en-IN"/>
                        <a:t>David</a:t>
                      </a:r>
                    </a:p>
                  </a:txBody>
                  <a:tcPr anchor="ctr"/>
                </a:tc>
                <a:tc>
                  <a:txBody>
                    <a:bodyPr/>
                    <a:lstStyle/>
                    <a:p>
                      <a:pPr>
                        <a:buNone/>
                      </a:pPr>
                      <a:r>
                        <a:rPr lang="en-IN" dirty="0"/>
                        <a:t>Bob</a:t>
                      </a:r>
                    </a:p>
                  </a:txBody>
                  <a:tcPr anchor="ctr"/>
                </a:tc>
                <a:extLst>
                  <a:ext uri="{0D108BD9-81ED-4DB2-BD59-A6C34878D82A}">
                    <a16:rowId xmlns:a16="http://schemas.microsoft.com/office/drawing/2014/main" val="1458493320"/>
                  </a:ext>
                </a:extLst>
              </a:tr>
            </a:tbl>
          </a:graphicData>
        </a:graphic>
      </p:graphicFrame>
    </p:spTree>
    <p:extLst>
      <p:ext uri="{BB962C8B-B14F-4D97-AF65-F5344CB8AC3E}">
        <p14:creationId xmlns:p14="http://schemas.microsoft.com/office/powerpoint/2010/main" val="259474814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2DF73-30BB-3FCE-E22D-3D111C4FFAD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468065C-1F01-69A5-AFF0-B6553329CCE6}"/>
              </a:ext>
            </a:extLst>
          </p:cNvPr>
          <p:cNvSpPr>
            <a:spLocks noGrp="1"/>
          </p:cNvSpPr>
          <p:nvPr>
            <p:ph type="title"/>
          </p:nvPr>
        </p:nvSpPr>
        <p:spPr/>
        <p:txBody>
          <a:bodyPr/>
          <a:lstStyle/>
          <a:p>
            <a:r>
              <a:rPr lang="en-IN" dirty="0"/>
              <a:t>Joins – Self Join</a:t>
            </a:r>
          </a:p>
        </p:txBody>
      </p:sp>
      <p:sp>
        <p:nvSpPr>
          <p:cNvPr id="20" name="Content Placeholder 9">
            <a:extLst>
              <a:ext uri="{FF2B5EF4-FFF2-40B4-BE49-F238E27FC236}">
                <a16:creationId xmlns:a16="http://schemas.microsoft.com/office/drawing/2014/main" id="{3D784F27-E31E-D019-7CBF-820BBDC4BD60}"/>
              </a:ext>
            </a:extLst>
          </p:cNvPr>
          <p:cNvSpPr txBox="1">
            <a:spLocks/>
          </p:cNvSpPr>
          <p:nvPr/>
        </p:nvSpPr>
        <p:spPr>
          <a:xfrm>
            <a:off x="461034" y="1474136"/>
            <a:ext cx="8326831" cy="4926664"/>
          </a:xfrm>
          <a:prstGeom prst="rect">
            <a:avLst/>
          </a:prstGeom>
        </p:spPr>
        <p:txBody>
          <a:bodyPr/>
          <a:lstStyle>
            <a:lvl1pPr marL="231775" indent="-231775" algn="l" defTabSz="914400" rtl="0" eaLnBrk="1" latinLnBrk="0" hangingPunct="1">
              <a:lnSpc>
                <a:spcPct val="100000"/>
              </a:lnSpc>
              <a:spcBef>
                <a:spcPts val="1200"/>
              </a:spcBef>
              <a:spcAft>
                <a:spcPts val="0"/>
              </a:spcAft>
              <a:buClr>
                <a:schemeClr val="tx1"/>
              </a:buClr>
              <a:buSzPct val="80000"/>
              <a:buFont typeface="Arial" pitchFamily="34" charset="0"/>
              <a:buChar char="•"/>
              <a:defRPr sz="2600" b="0" kern="1200">
                <a:solidFill>
                  <a:schemeClr val="tx1"/>
                </a:solidFill>
                <a:latin typeface="Arial" pitchFamily="34" charset="0"/>
                <a:ea typeface="+mn-ea"/>
                <a:cs typeface="Arial" pitchFamily="34" charset="0"/>
              </a:defRPr>
            </a:lvl1pPr>
            <a:lvl2pPr marL="457200" indent="-231775" algn="l" defTabSz="914400" rtl="0" eaLnBrk="1" latinLnBrk="0" hangingPunct="1">
              <a:lnSpc>
                <a:spcPct val="100000"/>
              </a:lnSpc>
              <a:spcBef>
                <a:spcPts val="624"/>
              </a:spcBef>
              <a:spcAft>
                <a:spcPts val="0"/>
              </a:spcAft>
              <a:buClr>
                <a:schemeClr val="tx1"/>
              </a:buClr>
              <a:buSzPct val="80000"/>
              <a:buFont typeface="Arial" pitchFamily="34" charset="0"/>
              <a:buChar char="–"/>
              <a:defRPr sz="2400" kern="1200">
                <a:solidFill>
                  <a:srgbClr val="000000"/>
                </a:solidFill>
                <a:latin typeface="Arial" pitchFamily="34" charset="0"/>
                <a:ea typeface="+mn-ea"/>
                <a:cs typeface="Arial" pitchFamily="34" charset="0"/>
              </a:defRPr>
            </a:lvl2pPr>
            <a:lvl3pPr marL="688975" indent="-231775" algn="l" defTabSz="914400" rtl="0" eaLnBrk="1" latinLnBrk="0" hangingPunct="1">
              <a:lnSpc>
                <a:spcPct val="100000"/>
              </a:lnSpc>
              <a:spcBef>
                <a:spcPts val="576"/>
              </a:spcBef>
              <a:spcAft>
                <a:spcPts val="0"/>
              </a:spcAft>
              <a:buClr>
                <a:schemeClr val="tx1"/>
              </a:buClr>
              <a:buSzPct val="80000"/>
              <a:buFont typeface="Arial" pitchFamily="34" charset="0"/>
              <a:buChar char="•"/>
              <a:defRPr sz="2000" kern="1200" baseline="0">
                <a:solidFill>
                  <a:srgbClr val="000000"/>
                </a:solidFill>
                <a:latin typeface="Arial" pitchFamily="34" charset="0"/>
                <a:ea typeface="+mn-ea"/>
                <a:cs typeface="Arial" pitchFamily="34" charset="0"/>
              </a:defRPr>
            </a:lvl3pPr>
            <a:lvl4pPr marL="914400" indent="-225425" algn="l" defTabSz="914400" rtl="0" eaLnBrk="1" latinLnBrk="0" hangingPunct="1">
              <a:lnSpc>
                <a:spcPct val="100000"/>
              </a:lnSpc>
              <a:spcBef>
                <a:spcPts val="528"/>
              </a:spcBef>
              <a:spcAft>
                <a:spcPts val="0"/>
              </a:spcAft>
              <a:buClr>
                <a:schemeClr val="tx1"/>
              </a:buClr>
              <a:buSzPct val="80000"/>
              <a:buFont typeface="Arial" pitchFamily="34" charset="0"/>
              <a:buChar char="–"/>
              <a:defRPr sz="1800" kern="1200" baseline="0">
                <a:solidFill>
                  <a:srgbClr val="000000"/>
                </a:solidFill>
                <a:latin typeface="Arial" pitchFamily="34" charset="0"/>
                <a:ea typeface="+mn-ea"/>
                <a:cs typeface="Arial" pitchFamily="34" charset="0"/>
              </a:defRPr>
            </a:lvl4pPr>
            <a:lvl5pPr marL="1146175" indent="-231775" algn="l" defTabSz="914400" rtl="0" eaLnBrk="1" latinLnBrk="0" hangingPunct="1">
              <a:lnSpc>
                <a:spcPct val="100000"/>
              </a:lnSpc>
              <a:spcBef>
                <a:spcPts val="480"/>
              </a:spcBef>
              <a:spcAft>
                <a:spcPts val="0"/>
              </a:spcAft>
              <a:buClr>
                <a:schemeClr val="tx1"/>
              </a:buClr>
              <a:buSzPct val="80000"/>
              <a:buFont typeface="Arial" pitchFamily="34" charset="0"/>
              <a:buChar char="•"/>
              <a:defRPr sz="1600" kern="1200" baseline="0">
                <a:solidFill>
                  <a:srgbClr val="000000"/>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t>SELECT</a:t>
            </a:r>
          </a:p>
          <a:p>
            <a:r>
              <a:rPr lang="en-US" b="1" dirty="0"/>
              <a:t>    </a:t>
            </a:r>
            <a:r>
              <a:rPr lang="en-US" b="1" dirty="0" err="1"/>
              <a:t>e.emp_id</a:t>
            </a:r>
            <a:r>
              <a:rPr lang="en-US" b="1" dirty="0"/>
              <a:t> AS </a:t>
            </a:r>
            <a:r>
              <a:rPr lang="en-US" b="1" dirty="0" err="1"/>
              <a:t>employee_id</a:t>
            </a:r>
            <a:r>
              <a:rPr lang="en-US" b="1" dirty="0"/>
              <a:t>,</a:t>
            </a:r>
          </a:p>
          <a:p>
            <a:r>
              <a:rPr lang="en-US" b="1" dirty="0"/>
              <a:t>    </a:t>
            </a:r>
            <a:r>
              <a:rPr lang="en-US" b="1" dirty="0" err="1"/>
              <a:t>e.emp_name</a:t>
            </a:r>
            <a:r>
              <a:rPr lang="en-US" b="1" dirty="0"/>
              <a:t> AS </a:t>
            </a:r>
            <a:r>
              <a:rPr lang="en-US" b="1" dirty="0" err="1"/>
              <a:t>employee_name</a:t>
            </a:r>
            <a:r>
              <a:rPr lang="en-US" b="1" dirty="0"/>
              <a:t>,</a:t>
            </a:r>
          </a:p>
          <a:p>
            <a:r>
              <a:rPr lang="en-US" b="1" dirty="0"/>
              <a:t>    </a:t>
            </a:r>
            <a:r>
              <a:rPr lang="en-US" b="1" dirty="0" err="1"/>
              <a:t>m.emp_name</a:t>
            </a:r>
            <a:r>
              <a:rPr lang="en-US" b="1" dirty="0"/>
              <a:t> AS </a:t>
            </a:r>
            <a:r>
              <a:rPr lang="en-US" b="1" dirty="0" err="1"/>
              <a:t>manager_name</a:t>
            </a:r>
            <a:endParaRPr lang="en-US" b="1" dirty="0"/>
          </a:p>
          <a:p>
            <a:r>
              <a:rPr lang="en-US" b="1" dirty="0"/>
              <a:t>FROM employee e</a:t>
            </a:r>
          </a:p>
          <a:p>
            <a:r>
              <a:rPr lang="en-US" b="1" dirty="0"/>
              <a:t>LEFT JOIN employee m ON </a:t>
            </a:r>
            <a:r>
              <a:rPr lang="en-US" b="1" dirty="0" err="1"/>
              <a:t>e.manager_id</a:t>
            </a:r>
            <a:r>
              <a:rPr lang="en-US" b="1" dirty="0"/>
              <a:t> = </a:t>
            </a:r>
            <a:r>
              <a:rPr lang="en-US" b="1" dirty="0" err="1"/>
              <a:t>m.emp_id</a:t>
            </a:r>
            <a:r>
              <a:rPr lang="en-US" b="1" dirty="0"/>
              <a:t>;</a:t>
            </a:r>
          </a:p>
          <a:p>
            <a:endParaRPr lang="en-US" b="1" dirty="0"/>
          </a:p>
        </p:txBody>
      </p:sp>
    </p:spTree>
    <p:extLst>
      <p:ext uri="{BB962C8B-B14F-4D97-AF65-F5344CB8AC3E}">
        <p14:creationId xmlns:p14="http://schemas.microsoft.com/office/powerpoint/2010/main" val="305913239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2BEBE-8870-D40F-AC2F-F1C4445054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EC02248-4C3E-91CC-348D-F2EED2159BF3}"/>
              </a:ext>
            </a:extLst>
          </p:cNvPr>
          <p:cNvSpPr>
            <a:spLocks noGrp="1"/>
          </p:cNvSpPr>
          <p:nvPr>
            <p:ph type="title"/>
          </p:nvPr>
        </p:nvSpPr>
        <p:spPr/>
        <p:txBody>
          <a:bodyPr/>
          <a:lstStyle/>
          <a:p>
            <a:r>
              <a:rPr lang="en-IN" dirty="0"/>
              <a:t>Joins</a:t>
            </a:r>
          </a:p>
        </p:txBody>
      </p:sp>
      <p:sp>
        <p:nvSpPr>
          <p:cNvPr id="20" name="Content Placeholder 9">
            <a:extLst>
              <a:ext uri="{FF2B5EF4-FFF2-40B4-BE49-F238E27FC236}">
                <a16:creationId xmlns:a16="http://schemas.microsoft.com/office/drawing/2014/main" id="{38119C22-0C6B-00B3-8EF6-254C5317C2CE}"/>
              </a:ext>
            </a:extLst>
          </p:cNvPr>
          <p:cNvSpPr txBox="1">
            <a:spLocks/>
          </p:cNvSpPr>
          <p:nvPr/>
        </p:nvSpPr>
        <p:spPr>
          <a:xfrm>
            <a:off x="461034" y="1474136"/>
            <a:ext cx="8682965" cy="1001904"/>
          </a:xfrm>
          <a:prstGeom prst="rect">
            <a:avLst/>
          </a:prstGeom>
        </p:spPr>
        <p:txBody>
          <a:bodyPr/>
          <a:lstStyle>
            <a:lvl1pPr marL="231775" indent="-231775" algn="l" defTabSz="914400" rtl="0" eaLnBrk="1" latinLnBrk="0" hangingPunct="1">
              <a:lnSpc>
                <a:spcPct val="100000"/>
              </a:lnSpc>
              <a:spcBef>
                <a:spcPts val="1200"/>
              </a:spcBef>
              <a:spcAft>
                <a:spcPts val="0"/>
              </a:spcAft>
              <a:buClr>
                <a:schemeClr val="tx1"/>
              </a:buClr>
              <a:buSzPct val="80000"/>
              <a:buFont typeface="Arial" pitchFamily="34" charset="0"/>
              <a:buChar char="•"/>
              <a:defRPr sz="2600" b="0" kern="1200">
                <a:solidFill>
                  <a:schemeClr val="tx1"/>
                </a:solidFill>
                <a:latin typeface="Arial" pitchFamily="34" charset="0"/>
                <a:ea typeface="+mn-ea"/>
                <a:cs typeface="Arial" pitchFamily="34" charset="0"/>
              </a:defRPr>
            </a:lvl1pPr>
            <a:lvl2pPr marL="457200" indent="-231775" algn="l" defTabSz="914400" rtl="0" eaLnBrk="1" latinLnBrk="0" hangingPunct="1">
              <a:lnSpc>
                <a:spcPct val="100000"/>
              </a:lnSpc>
              <a:spcBef>
                <a:spcPts val="624"/>
              </a:spcBef>
              <a:spcAft>
                <a:spcPts val="0"/>
              </a:spcAft>
              <a:buClr>
                <a:schemeClr val="tx1"/>
              </a:buClr>
              <a:buSzPct val="80000"/>
              <a:buFont typeface="Arial" pitchFamily="34" charset="0"/>
              <a:buChar char="–"/>
              <a:defRPr sz="2400" kern="1200">
                <a:solidFill>
                  <a:srgbClr val="000000"/>
                </a:solidFill>
                <a:latin typeface="Arial" pitchFamily="34" charset="0"/>
                <a:ea typeface="+mn-ea"/>
                <a:cs typeface="Arial" pitchFamily="34" charset="0"/>
              </a:defRPr>
            </a:lvl2pPr>
            <a:lvl3pPr marL="688975" indent="-231775" algn="l" defTabSz="914400" rtl="0" eaLnBrk="1" latinLnBrk="0" hangingPunct="1">
              <a:lnSpc>
                <a:spcPct val="100000"/>
              </a:lnSpc>
              <a:spcBef>
                <a:spcPts val="576"/>
              </a:spcBef>
              <a:spcAft>
                <a:spcPts val="0"/>
              </a:spcAft>
              <a:buClr>
                <a:schemeClr val="tx1"/>
              </a:buClr>
              <a:buSzPct val="80000"/>
              <a:buFont typeface="Arial" pitchFamily="34" charset="0"/>
              <a:buChar char="•"/>
              <a:defRPr sz="2000" kern="1200" baseline="0">
                <a:solidFill>
                  <a:srgbClr val="000000"/>
                </a:solidFill>
                <a:latin typeface="Arial" pitchFamily="34" charset="0"/>
                <a:ea typeface="+mn-ea"/>
                <a:cs typeface="Arial" pitchFamily="34" charset="0"/>
              </a:defRPr>
            </a:lvl3pPr>
            <a:lvl4pPr marL="914400" indent="-225425" algn="l" defTabSz="914400" rtl="0" eaLnBrk="1" latinLnBrk="0" hangingPunct="1">
              <a:lnSpc>
                <a:spcPct val="100000"/>
              </a:lnSpc>
              <a:spcBef>
                <a:spcPts val="528"/>
              </a:spcBef>
              <a:spcAft>
                <a:spcPts val="0"/>
              </a:spcAft>
              <a:buClr>
                <a:schemeClr val="tx1"/>
              </a:buClr>
              <a:buSzPct val="80000"/>
              <a:buFont typeface="Arial" pitchFamily="34" charset="0"/>
              <a:buChar char="–"/>
              <a:defRPr sz="1800" kern="1200" baseline="0">
                <a:solidFill>
                  <a:srgbClr val="000000"/>
                </a:solidFill>
                <a:latin typeface="Arial" pitchFamily="34" charset="0"/>
                <a:ea typeface="+mn-ea"/>
                <a:cs typeface="Arial" pitchFamily="34" charset="0"/>
              </a:defRPr>
            </a:lvl4pPr>
            <a:lvl5pPr marL="1146175" indent="-231775" algn="l" defTabSz="914400" rtl="0" eaLnBrk="1" latinLnBrk="0" hangingPunct="1">
              <a:lnSpc>
                <a:spcPct val="100000"/>
              </a:lnSpc>
              <a:spcBef>
                <a:spcPts val="480"/>
              </a:spcBef>
              <a:spcAft>
                <a:spcPts val="0"/>
              </a:spcAft>
              <a:buClr>
                <a:schemeClr val="tx1"/>
              </a:buClr>
              <a:buSzPct val="80000"/>
              <a:buFont typeface="Arial" pitchFamily="34" charset="0"/>
              <a:buChar char="•"/>
              <a:defRPr sz="1600" kern="1200" baseline="0">
                <a:solidFill>
                  <a:srgbClr val="000000"/>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b="1" dirty="0"/>
          </a:p>
        </p:txBody>
      </p:sp>
      <p:sp>
        <p:nvSpPr>
          <p:cNvPr id="4" name="TextBox 3">
            <a:extLst>
              <a:ext uri="{FF2B5EF4-FFF2-40B4-BE49-F238E27FC236}">
                <a16:creationId xmlns:a16="http://schemas.microsoft.com/office/drawing/2014/main" id="{A5F386AC-EFD8-B136-E0C3-34D1AAD51EF0}"/>
              </a:ext>
            </a:extLst>
          </p:cNvPr>
          <p:cNvSpPr txBox="1"/>
          <p:nvPr/>
        </p:nvSpPr>
        <p:spPr>
          <a:xfrm>
            <a:off x="847023" y="1686585"/>
            <a:ext cx="7449953" cy="892552"/>
          </a:xfrm>
          <a:prstGeom prst="rect">
            <a:avLst/>
          </a:prstGeom>
        </p:spPr>
        <p:txBody>
          <a:bodyPr/>
          <a:lstStyle>
            <a:defPPr>
              <a:defRPr lang="en-US"/>
            </a:defPPr>
            <a:lvl1pPr marL="231775" indent="-231775">
              <a:lnSpc>
                <a:spcPct val="100000"/>
              </a:lnSpc>
              <a:spcBef>
                <a:spcPts val="1200"/>
              </a:spcBef>
              <a:spcAft>
                <a:spcPts val="0"/>
              </a:spcAft>
              <a:buClr>
                <a:schemeClr val="tx1"/>
              </a:buClr>
              <a:buSzPct val="80000"/>
              <a:buFont typeface="Arial" pitchFamily="34" charset="0"/>
              <a:buChar char="•"/>
              <a:defRPr sz="2600" b="1">
                <a:latin typeface="Arial" pitchFamily="34" charset="0"/>
                <a:cs typeface="Arial" pitchFamily="34" charset="0"/>
              </a:defRPr>
            </a:lvl1pPr>
            <a:lvl2pPr indent="-231775">
              <a:lnSpc>
                <a:spcPct val="100000"/>
              </a:lnSpc>
              <a:spcBef>
                <a:spcPts val="624"/>
              </a:spcBef>
              <a:spcAft>
                <a:spcPts val="0"/>
              </a:spcAft>
              <a:buClr>
                <a:schemeClr val="tx1"/>
              </a:buClr>
              <a:buSzPct val="80000"/>
              <a:buFont typeface="Arial" pitchFamily="34" charset="0"/>
              <a:buChar char="–"/>
              <a:defRPr sz="2400">
                <a:solidFill>
                  <a:srgbClr val="000000"/>
                </a:solidFill>
                <a:latin typeface="Arial" pitchFamily="34" charset="0"/>
                <a:cs typeface="Arial" pitchFamily="34" charset="0"/>
              </a:defRPr>
            </a:lvl2pPr>
            <a:lvl3pPr marL="688975" indent="-231775">
              <a:lnSpc>
                <a:spcPct val="100000"/>
              </a:lnSpc>
              <a:spcBef>
                <a:spcPts val="576"/>
              </a:spcBef>
              <a:spcAft>
                <a:spcPts val="0"/>
              </a:spcAft>
              <a:buClr>
                <a:schemeClr val="tx1"/>
              </a:buClr>
              <a:buSzPct val="80000"/>
              <a:buFont typeface="Arial" pitchFamily="34" charset="0"/>
              <a:buChar char="•"/>
              <a:defRPr sz="2000" baseline="0">
                <a:solidFill>
                  <a:srgbClr val="000000"/>
                </a:solidFill>
                <a:latin typeface="Arial" pitchFamily="34" charset="0"/>
                <a:cs typeface="Arial" pitchFamily="34" charset="0"/>
              </a:defRPr>
            </a:lvl3pPr>
            <a:lvl4pPr marL="914400" indent="-225425">
              <a:lnSpc>
                <a:spcPct val="100000"/>
              </a:lnSpc>
              <a:spcBef>
                <a:spcPts val="528"/>
              </a:spcBef>
              <a:spcAft>
                <a:spcPts val="0"/>
              </a:spcAft>
              <a:buClr>
                <a:schemeClr val="tx1"/>
              </a:buClr>
              <a:buSzPct val="80000"/>
              <a:buFont typeface="Arial" pitchFamily="34" charset="0"/>
              <a:buChar char="–"/>
              <a:defRPr baseline="0">
                <a:solidFill>
                  <a:srgbClr val="000000"/>
                </a:solidFill>
                <a:latin typeface="Arial" pitchFamily="34" charset="0"/>
                <a:cs typeface="Arial" pitchFamily="34" charset="0"/>
              </a:defRPr>
            </a:lvl4pPr>
            <a:lvl5pPr marL="1146175" indent="-231775">
              <a:lnSpc>
                <a:spcPct val="100000"/>
              </a:lnSpc>
              <a:spcBef>
                <a:spcPts val="480"/>
              </a:spcBef>
              <a:spcAft>
                <a:spcPts val="0"/>
              </a:spcAft>
              <a:buClr>
                <a:schemeClr val="tx1"/>
              </a:buClr>
              <a:buSzPct val="80000"/>
              <a:buFont typeface="Arial" pitchFamily="34" charset="0"/>
              <a:buChar char="•"/>
              <a:defRPr sz="1600" baseline="0">
                <a:solidFill>
                  <a:srgbClr val="000000"/>
                </a:solidFill>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dirty="0"/>
              <a:t>Cross Join: Cartesian product of two tables</a:t>
            </a:r>
          </a:p>
        </p:txBody>
      </p:sp>
      <p:pic>
        <p:nvPicPr>
          <p:cNvPr id="15" name="Picture 14">
            <a:extLst>
              <a:ext uri="{FF2B5EF4-FFF2-40B4-BE49-F238E27FC236}">
                <a16:creationId xmlns:a16="http://schemas.microsoft.com/office/drawing/2014/main" id="{7372EE0E-0160-A097-3ACD-DF27E5A30F10}"/>
              </a:ext>
            </a:extLst>
          </p:cNvPr>
          <p:cNvPicPr>
            <a:picLocks noChangeAspect="1"/>
          </p:cNvPicPr>
          <p:nvPr/>
        </p:nvPicPr>
        <p:blipFill>
          <a:blip r:embed="rId2"/>
          <a:stretch>
            <a:fillRect/>
          </a:stretch>
        </p:blipFill>
        <p:spPr>
          <a:xfrm>
            <a:off x="1952684" y="2791585"/>
            <a:ext cx="4356312" cy="2309803"/>
          </a:xfrm>
          <a:prstGeom prst="rect">
            <a:avLst/>
          </a:prstGeom>
        </p:spPr>
      </p:pic>
      <p:sp>
        <p:nvSpPr>
          <p:cNvPr id="17" name="TextBox 16">
            <a:extLst>
              <a:ext uri="{FF2B5EF4-FFF2-40B4-BE49-F238E27FC236}">
                <a16:creationId xmlns:a16="http://schemas.microsoft.com/office/drawing/2014/main" id="{C6C05E6B-D49A-4A27-3652-ED21FBD66D48}"/>
              </a:ext>
            </a:extLst>
          </p:cNvPr>
          <p:cNvSpPr txBox="1"/>
          <p:nvPr/>
        </p:nvSpPr>
        <p:spPr>
          <a:xfrm>
            <a:off x="693018" y="5318996"/>
            <a:ext cx="7449953" cy="923330"/>
          </a:xfrm>
          <a:prstGeom prst="rect">
            <a:avLst/>
          </a:prstGeom>
          <a:noFill/>
        </p:spPr>
        <p:txBody>
          <a:bodyPr wrap="square">
            <a:spAutoFit/>
          </a:bodyPr>
          <a:lstStyle/>
          <a:p>
            <a:r>
              <a:rPr lang="en-US" dirty="0"/>
              <a:t>SELECT </a:t>
            </a:r>
            <a:r>
              <a:rPr lang="en-US" dirty="0" err="1"/>
              <a:t>e.emp_name</a:t>
            </a:r>
            <a:r>
              <a:rPr lang="en-US" dirty="0"/>
              <a:t>, </a:t>
            </a:r>
            <a:r>
              <a:rPr lang="en-US" dirty="0" err="1"/>
              <a:t>d.dept_name</a:t>
            </a:r>
            <a:endParaRPr lang="en-US" dirty="0"/>
          </a:p>
          <a:p>
            <a:r>
              <a:rPr lang="en-US" dirty="0"/>
              <a:t>FROM employee e</a:t>
            </a:r>
          </a:p>
          <a:p>
            <a:r>
              <a:rPr lang="en-US" dirty="0"/>
              <a:t>CROSS JOIN department d;</a:t>
            </a:r>
          </a:p>
        </p:txBody>
      </p:sp>
    </p:spTree>
    <p:extLst>
      <p:ext uri="{BB962C8B-B14F-4D97-AF65-F5344CB8AC3E}">
        <p14:creationId xmlns:p14="http://schemas.microsoft.com/office/powerpoint/2010/main" val="78825435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02B69C7-0BF8-406C-EEDD-949ECD63463A}"/>
              </a:ext>
            </a:extLst>
          </p:cNvPr>
          <p:cNvSpPr>
            <a:spLocks noGrp="1"/>
          </p:cNvSpPr>
          <p:nvPr>
            <p:ph sz="quarter" idx="12"/>
          </p:nvPr>
        </p:nvSpPr>
        <p:spPr/>
        <p:txBody>
          <a:bodyPr/>
          <a:lstStyle/>
          <a:p>
            <a:r>
              <a:rPr lang="en-US" b="1" dirty="0">
                <a:solidFill>
                  <a:srgbClr val="FF0000"/>
                </a:solidFill>
              </a:rPr>
              <a:t>Get employees only from the IT department, using a subquery in the join:</a:t>
            </a:r>
            <a:endParaRPr lang="en-IN" b="1" dirty="0">
              <a:solidFill>
                <a:srgbClr val="FF0000"/>
              </a:solidFill>
            </a:endParaRPr>
          </a:p>
          <a:p>
            <a:r>
              <a:rPr lang="en-IN" dirty="0"/>
              <a:t>SELECT </a:t>
            </a:r>
            <a:r>
              <a:rPr lang="en-IN" dirty="0" err="1"/>
              <a:t>e.emp_id</a:t>
            </a:r>
            <a:r>
              <a:rPr lang="en-IN" dirty="0"/>
              <a:t>, </a:t>
            </a:r>
            <a:r>
              <a:rPr lang="en-IN" dirty="0" err="1"/>
              <a:t>e.emp_name</a:t>
            </a:r>
            <a:r>
              <a:rPr lang="en-IN" dirty="0"/>
              <a:t>, </a:t>
            </a:r>
            <a:r>
              <a:rPr lang="en-IN" dirty="0" err="1"/>
              <a:t>d.dept_name</a:t>
            </a:r>
            <a:endParaRPr lang="en-IN" dirty="0"/>
          </a:p>
          <a:p>
            <a:r>
              <a:rPr lang="en-IN" dirty="0"/>
              <a:t>FROM employee e</a:t>
            </a:r>
          </a:p>
          <a:p>
            <a:r>
              <a:rPr lang="en-IN" dirty="0"/>
              <a:t>JOIN (</a:t>
            </a:r>
          </a:p>
          <a:p>
            <a:r>
              <a:rPr lang="en-IN" dirty="0"/>
              <a:t>    SELECT </a:t>
            </a:r>
            <a:r>
              <a:rPr lang="en-IN" dirty="0" err="1"/>
              <a:t>dept_id</a:t>
            </a:r>
            <a:r>
              <a:rPr lang="en-IN" dirty="0"/>
              <a:t>, </a:t>
            </a:r>
            <a:r>
              <a:rPr lang="en-IN" dirty="0" err="1"/>
              <a:t>dept_name</a:t>
            </a:r>
            <a:endParaRPr lang="en-IN" dirty="0"/>
          </a:p>
          <a:p>
            <a:r>
              <a:rPr lang="en-IN" dirty="0"/>
              <a:t>    FROM department</a:t>
            </a:r>
          </a:p>
          <a:p>
            <a:r>
              <a:rPr lang="en-IN" dirty="0"/>
              <a:t>    WHERE </a:t>
            </a:r>
            <a:r>
              <a:rPr lang="en-IN" dirty="0" err="1"/>
              <a:t>dept_name</a:t>
            </a:r>
            <a:r>
              <a:rPr lang="en-IN" dirty="0"/>
              <a:t> = 'IT'</a:t>
            </a:r>
          </a:p>
          <a:p>
            <a:r>
              <a:rPr lang="en-IN" dirty="0"/>
              <a:t>) AS d ON </a:t>
            </a:r>
            <a:r>
              <a:rPr lang="en-IN" dirty="0" err="1"/>
              <a:t>e.dept_id</a:t>
            </a:r>
            <a:r>
              <a:rPr lang="en-IN" dirty="0"/>
              <a:t> = </a:t>
            </a:r>
            <a:r>
              <a:rPr lang="en-IN" dirty="0" err="1"/>
              <a:t>d.dept_id</a:t>
            </a:r>
            <a:r>
              <a:rPr lang="en-IN" dirty="0"/>
              <a:t>;</a:t>
            </a:r>
          </a:p>
          <a:p>
            <a:endParaRPr lang="en-IN" dirty="0"/>
          </a:p>
          <a:p>
            <a:endParaRPr lang="en-IN" dirty="0"/>
          </a:p>
          <a:p>
            <a:endParaRPr lang="en-IN" dirty="0"/>
          </a:p>
        </p:txBody>
      </p:sp>
      <p:sp>
        <p:nvSpPr>
          <p:cNvPr id="3" name="Title 2">
            <a:extLst>
              <a:ext uri="{FF2B5EF4-FFF2-40B4-BE49-F238E27FC236}">
                <a16:creationId xmlns:a16="http://schemas.microsoft.com/office/drawing/2014/main" id="{8A44F7FD-DD9C-5F33-E03E-39320635A2AA}"/>
              </a:ext>
            </a:extLst>
          </p:cNvPr>
          <p:cNvSpPr>
            <a:spLocks noGrp="1"/>
          </p:cNvSpPr>
          <p:nvPr>
            <p:ph type="title"/>
          </p:nvPr>
        </p:nvSpPr>
        <p:spPr/>
        <p:txBody>
          <a:bodyPr/>
          <a:lstStyle/>
          <a:p>
            <a:r>
              <a:rPr lang="en-IN" dirty="0"/>
              <a:t>Join with subquery</a:t>
            </a:r>
          </a:p>
        </p:txBody>
      </p:sp>
    </p:spTree>
    <p:extLst>
      <p:ext uri="{BB962C8B-B14F-4D97-AF65-F5344CB8AC3E}">
        <p14:creationId xmlns:p14="http://schemas.microsoft.com/office/powerpoint/2010/main" val="170562873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90BE6A2-0B4C-5261-FF17-633BDE043FB7}"/>
              </a:ext>
            </a:extLst>
          </p:cNvPr>
          <p:cNvSpPr>
            <a:spLocks noGrp="1"/>
          </p:cNvSpPr>
          <p:nvPr>
            <p:ph type="title"/>
          </p:nvPr>
        </p:nvSpPr>
        <p:spPr/>
        <p:txBody>
          <a:bodyPr/>
          <a:lstStyle/>
          <a:p>
            <a:r>
              <a:rPr lang="en-IN" dirty="0"/>
              <a:t>Joins Summary</a:t>
            </a:r>
          </a:p>
        </p:txBody>
      </p:sp>
      <p:graphicFrame>
        <p:nvGraphicFramePr>
          <p:cNvPr id="4" name="Table 3">
            <a:extLst>
              <a:ext uri="{FF2B5EF4-FFF2-40B4-BE49-F238E27FC236}">
                <a16:creationId xmlns:a16="http://schemas.microsoft.com/office/drawing/2014/main" id="{AC06F3FD-E7D3-B61B-817E-31DBB8832541}"/>
              </a:ext>
            </a:extLst>
          </p:cNvPr>
          <p:cNvGraphicFramePr>
            <a:graphicFrameLocks noGrp="1"/>
          </p:cNvGraphicFramePr>
          <p:nvPr/>
        </p:nvGraphicFramePr>
        <p:xfrm>
          <a:off x="967136" y="2137627"/>
          <a:ext cx="7002582" cy="3002265"/>
        </p:xfrm>
        <a:graphic>
          <a:graphicData uri="http://schemas.openxmlformats.org/drawingml/2006/table">
            <a:tbl>
              <a:tblPr>
                <a:tableStyleId>{616DA210-FB5B-4158-B5E0-FEB733F419BA}</a:tableStyleId>
              </a:tblPr>
              <a:tblGrid>
                <a:gridCol w="2334194">
                  <a:extLst>
                    <a:ext uri="{9D8B030D-6E8A-4147-A177-3AD203B41FA5}">
                      <a16:colId xmlns:a16="http://schemas.microsoft.com/office/drawing/2014/main" val="1515917747"/>
                    </a:ext>
                  </a:extLst>
                </a:gridCol>
                <a:gridCol w="2334194">
                  <a:extLst>
                    <a:ext uri="{9D8B030D-6E8A-4147-A177-3AD203B41FA5}">
                      <a16:colId xmlns:a16="http://schemas.microsoft.com/office/drawing/2014/main" val="4144588324"/>
                    </a:ext>
                  </a:extLst>
                </a:gridCol>
                <a:gridCol w="2334194">
                  <a:extLst>
                    <a:ext uri="{9D8B030D-6E8A-4147-A177-3AD203B41FA5}">
                      <a16:colId xmlns:a16="http://schemas.microsoft.com/office/drawing/2014/main" val="898189853"/>
                    </a:ext>
                  </a:extLst>
                </a:gridCol>
              </a:tblGrid>
              <a:tr h="600453">
                <a:tc>
                  <a:txBody>
                    <a:bodyPr/>
                    <a:lstStyle/>
                    <a:p>
                      <a:r>
                        <a:rPr lang="en-IN" sz="1200" dirty="0"/>
                        <a:t>Join Type</a:t>
                      </a:r>
                    </a:p>
                  </a:txBody>
                  <a:tcPr anchor="ctr"/>
                </a:tc>
                <a:tc>
                  <a:txBody>
                    <a:bodyPr/>
                    <a:lstStyle/>
                    <a:p>
                      <a:r>
                        <a:rPr lang="en-IN" sz="1200"/>
                        <a:t>Matching Rows</a:t>
                      </a:r>
                    </a:p>
                  </a:txBody>
                  <a:tcPr anchor="ctr"/>
                </a:tc>
                <a:tc>
                  <a:txBody>
                    <a:bodyPr/>
                    <a:lstStyle/>
                    <a:p>
                      <a:r>
                        <a:rPr lang="en-IN" sz="1200"/>
                        <a:t>Non-Matching Rows</a:t>
                      </a:r>
                    </a:p>
                  </a:txBody>
                  <a:tcPr anchor="ctr"/>
                </a:tc>
                <a:extLst>
                  <a:ext uri="{0D108BD9-81ED-4DB2-BD59-A6C34878D82A}">
                    <a16:rowId xmlns:a16="http://schemas.microsoft.com/office/drawing/2014/main" val="1760379704"/>
                  </a:ext>
                </a:extLst>
              </a:tr>
              <a:tr h="600453">
                <a:tc>
                  <a:txBody>
                    <a:bodyPr/>
                    <a:lstStyle/>
                    <a:p>
                      <a:r>
                        <a:rPr lang="en-IN" sz="1200"/>
                        <a:t>INNER</a:t>
                      </a:r>
                    </a:p>
                  </a:txBody>
                  <a:tcPr anchor="ctr"/>
                </a:tc>
                <a:tc>
                  <a:txBody>
                    <a:bodyPr/>
                    <a:lstStyle/>
                    <a:p>
                      <a:r>
                        <a:rPr lang="en-IN" sz="1200"/>
                        <a:t>✅</a:t>
                      </a:r>
                    </a:p>
                  </a:txBody>
                  <a:tcPr anchor="ctr"/>
                </a:tc>
                <a:tc>
                  <a:txBody>
                    <a:bodyPr/>
                    <a:lstStyle/>
                    <a:p>
                      <a:r>
                        <a:rPr lang="en-IN" sz="1200"/>
                        <a:t>❌</a:t>
                      </a:r>
                    </a:p>
                  </a:txBody>
                  <a:tcPr anchor="ctr"/>
                </a:tc>
                <a:extLst>
                  <a:ext uri="{0D108BD9-81ED-4DB2-BD59-A6C34878D82A}">
                    <a16:rowId xmlns:a16="http://schemas.microsoft.com/office/drawing/2014/main" val="64048435"/>
                  </a:ext>
                </a:extLst>
              </a:tr>
              <a:tr h="600453">
                <a:tc>
                  <a:txBody>
                    <a:bodyPr/>
                    <a:lstStyle/>
                    <a:p>
                      <a:r>
                        <a:rPr lang="en-IN" sz="1200"/>
                        <a:t>LEFT</a:t>
                      </a:r>
                    </a:p>
                  </a:txBody>
                  <a:tcPr anchor="ctr"/>
                </a:tc>
                <a:tc>
                  <a:txBody>
                    <a:bodyPr/>
                    <a:lstStyle/>
                    <a:p>
                      <a:r>
                        <a:rPr lang="en-IN" sz="1200"/>
                        <a:t>✅ (left)</a:t>
                      </a:r>
                    </a:p>
                  </a:txBody>
                  <a:tcPr anchor="ctr"/>
                </a:tc>
                <a:tc>
                  <a:txBody>
                    <a:bodyPr/>
                    <a:lstStyle/>
                    <a:p>
                      <a:r>
                        <a:rPr lang="en-IN" sz="1200"/>
                        <a:t>NULLs from right</a:t>
                      </a:r>
                    </a:p>
                  </a:txBody>
                  <a:tcPr anchor="ctr"/>
                </a:tc>
                <a:extLst>
                  <a:ext uri="{0D108BD9-81ED-4DB2-BD59-A6C34878D82A}">
                    <a16:rowId xmlns:a16="http://schemas.microsoft.com/office/drawing/2014/main" val="730312592"/>
                  </a:ext>
                </a:extLst>
              </a:tr>
              <a:tr h="600453">
                <a:tc>
                  <a:txBody>
                    <a:bodyPr/>
                    <a:lstStyle/>
                    <a:p>
                      <a:r>
                        <a:rPr lang="en-IN" sz="1200"/>
                        <a:t>RIGHT</a:t>
                      </a:r>
                    </a:p>
                  </a:txBody>
                  <a:tcPr anchor="ctr"/>
                </a:tc>
                <a:tc>
                  <a:txBody>
                    <a:bodyPr/>
                    <a:lstStyle/>
                    <a:p>
                      <a:r>
                        <a:rPr lang="en-IN" sz="1200"/>
                        <a:t>✅ (right)</a:t>
                      </a:r>
                    </a:p>
                  </a:txBody>
                  <a:tcPr anchor="ctr"/>
                </a:tc>
                <a:tc>
                  <a:txBody>
                    <a:bodyPr/>
                    <a:lstStyle/>
                    <a:p>
                      <a:r>
                        <a:rPr lang="en-IN" sz="1200"/>
                        <a:t>NULLs from left</a:t>
                      </a:r>
                    </a:p>
                  </a:txBody>
                  <a:tcPr anchor="ctr"/>
                </a:tc>
                <a:extLst>
                  <a:ext uri="{0D108BD9-81ED-4DB2-BD59-A6C34878D82A}">
                    <a16:rowId xmlns:a16="http://schemas.microsoft.com/office/drawing/2014/main" val="1802407281"/>
                  </a:ext>
                </a:extLst>
              </a:tr>
              <a:tr h="600453">
                <a:tc>
                  <a:txBody>
                    <a:bodyPr/>
                    <a:lstStyle/>
                    <a:p>
                      <a:r>
                        <a:rPr lang="en-IN" sz="1200"/>
                        <a:t>FULL</a:t>
                      </a:r>
                    </a:p>
                  </a:txBody>
                  <a:tcPr anchor="ctr"/>
                </a:tc>
                <a:tc>
                  <a:txBody>
                    <a:bodyPr/>
                    <a:lstStyle/>
                    <a:p>
                      <a:r>
                        <a:rPr lang="en-IN" sz="1200"/>
                        <a:t>✅</a:t>
                      </a:r>
                    </a:p>
                  </a:txBody>
                  <a:tcPr anchor="ctr"/>
                </a:tc>
                <a:tc>
                  <a:txBody>
                    <a:bodyPr/>
                    <a:lstStyle/>
                    <a:p>
                      <a:r>
                        <a:rPr lang="en-IN" sz="1200" dirty="0"/>
                        <a:t>NULLs from both</a:t>
                      </a:r>
                    </a:p>
                  </a:txBody>
                  <a:tcPr anchor="ctr"/>
                </a:tc>
                <a:extLst>
                  <a:ext uri="{0D108BD9-81ED-4DB2-BD59-A6C34878D82A}">
                    <a16:rowId xmlns:a16="http://schemas.microsoft.com/office/drawing/2014/main" val="338405380"/>
                  </a:ext>
                </a:extLst>
              </a:tr>
            </a:tbl>
          </a:graphicData>
        </a:graphic>
      </p:graphicFrame>
    </p:spTree>
    <p:extLst>
      <p:ext uri="{BB962C8B-B14F-4D97-AF65-F5344CB8AC3E}">
        <p14:creationId xmlns:p14="http://schemas.microsoft.com/office/powerpoint/2010/main" val="375904506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76C8019-46D4-4EC4-BE6F-548451F45BFB}"/>
              </a:ext>
            </a:extLst>
          </p:cNvPr>
          <p:cNvSpPr>
            <a:spLocks noGrp="1"/>
          </p:cNvSpPr>
          <p:nvPr>
            <p:ph type="title"/>
          </p:nvPr>
        </p:nvSpPr>
        <p:spPr/>
        <p:txBody>
          <a:bodyPr/>
          <a:lstStyle/>
          <a:p>
            <a:r>
              <a:rPr lang="en-IN" dirty="0"/>
              <a:t>Views</a:t>
            </a:r>
          </a:p>
        </p:txBody>
      </p:sp>
      <p:sp>
        <p:nvSpPr>
          <p:cNvPr id="5" name="Content Placeholder 4">
            <a:extLst>
              <a:ext uri="{FF2B5EF4-FFF2-40B4-BE49-F238E27FC236}">
                <a16:creationId xmlns:a16="http://schemas.microsoft.com/office/drawing/2014/main" id="{289907D6-4E11-4BFA-A9C6-F77F84CAD079}"/>
              </a:ext>
            </a:extLst>
          </p:cNvPr>
          <p:cNvSpPr>
            <a:spLocks noGrp="1"/>
          </p:cNvSpPr>
          <p:nvPr>
            <p:ph sz="quarter" idx="12"/>
          </p:nvPr>
        </p:nvSpPr>
        <p:spPr>
          <a:xfrm>
            <a:off x="457201" y="1381125"/>
            <a:ext cx="8228012" cy="5151650"/>
          </a:xfrm>
        </p:spPr>
        <p:txBody>
          <a:bodyPr>
            <a:normAutofit fontScale="77500" lnSpcReduction="20000"/>
          </a:bodyPr>
          <a:lstStyle/>
          <a:p>
            <a:r>
              <a:rPr lang="en-US" dirty="0"/>
              <a:t>A VIEW is a pseudo table in PostgreSQL; it is not a solid table but appears as an ordinary table to select.</a:t>
            </a:r>
          </a:p>
          <a:p>
            <a:r>
              <a:rPr lang="en-US" dirty="0"/>
              <a:t> A view can also represent joined tables. </a:t>
            </a:r>
          </a:p>
          <a:p>
            <a:r>
              <a:rPr lang="en-US" dirty="0"/>
              <a:t>It can contain all rows of a table or selected rows from one or more tables.</a:t>
            </a:r>
          </a:p>
          <a:p>
            <a:r>
              <a:rPr lang="en-US" dirty="0"/>
              <a:t>A View simplifies users to perform the following aspects:</a:t>
            </a:r>
          </a:p>
          <a:p>
            <a:pPr lvl="1"/>
            <a:r>
              <a:rPr lang="en-US" dirty="0"/>
              <a:t>It structures data naturally and intuitively and makes it easy to find.</a:t>
            </a:r>
          </a:p>
          <a:p>
            <a:pPr lvl="1"/>
            <a:r>
              <a:rPr lang="en-US" dirty="0"/>
              <a:t>We can authorize permission to users over a view, which has a complete record that the users are authorized to see.</a:t>
            </a:r>
          </a:p>
          <a:p>
            <a:pPr lvl="1"/>
            <a:r>
              <a:rPr lang="en-US" dirty="0"/>
              <a:t>It restricts access to the data such that users can only see limited data instead of complete data.</a:t>
            </a:r>
          </a:p>
          <a:p>
            <a:pPr lvl="1"/>
            <a:r>
              <a:rPr lang="en-US" dirty="0"/>
              <a:t>A view provides a dependable layer, even the columns of necessary table modification.</a:t>
            </a:r>
          </a:p>
          <a:p>
            <a:pPr lvl="1"/>
            <a:r>
              <a:rPr lang="en-US" dirty="0"/>
              <a:t>It summarizes data from various tables to generate reports.</a:t>
            </a:r>
          </a:p>
          <a:p>
            <a:pPr lvl="1"/>
            <a:r>
              <a:rPr lang="en-US" dirty="0"/>
              <a:t>A view helps us to describe the difficulty of a statement as we can write a command of view based on a complex query with the help of a SELECT command.</a:t>
            </a:r>
            <a:endParaRPr lang="en-IN" dirty="0"/>
          </a:p>
        </p:txBody>
      </p:sp>
    </p:spTree>
    <p:extLst>
      <p:ext uri="{BB962C8B-B14F-4D97-AF65-F5344CB8AC3E}">
        <p14:creationId xmlns:p14="http://schemas.microsoft.com/office/powerpoint/2010/main" val="107067295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98EDD14-62CC-4FFE-A492-A2410458D990}"/>
              </a:ext>
            </a:extLst>
          </p:cNvPr>
          <p:cNvSpPr>
            <a:spLocks noGrp="1"/>
          </p:cNvSpPr>
          <p:nvPr>
            <p:ph sz="quarter" idx="12"/>
          </p:nvPr>
        </p:nvSpPr>
        <p:spPr/>
        <p:txBody>
          <a:bodyPr/>
          <a:lstStyle/>
          <a:p>
            <a:pPr marL="0" indent="0">
              <a:buNone/>
            </a:pPr>
            <a:r>
              <a:rPr lang="en-US" b="1" dirty="0"/>
              <a:t>CREATE [OR REPLACE] VIEW view-name AS</a:t>
            </a:r>
          </a:p>
          <a:p>
            <a:pPr marL="0" indent="0">
              <a:buNone/>
            </a:pPr>
            <a:r>
              <a:rPr lang="en-US" b="1" dirty="0"/>
              <a:t>  SELECT column(s)</a:t>
            </a:r>
          </a:p>
          <a:p>
            <a:pPr marL="0" indent="0">
              <a:buNone/>
            </a:pPr>
            <a:r>
              <a:rPr lang="en-US" b="1" dirty="0"/>
              <a:t>  FROM table(s)</a:t>
            </a:r>
          </a:p>
          <a:p>
            <a:pPr marL="0" indent="0">
              <a:buNone/>
            </a:pPr>
            <a:r>
              <a:rPr lang="en-US" b="1" dirty="0"/>
              <a:t>  [WHERE condition(s)];</a:t>
            </a:r>
          </a:p>
          <a:p>
            <a:pPr marL="0" indent="0">
              <a:buNone/>
            </a:pPr>
            <a:r>
              <a:rPr lang="en-US" b="1" dirty="0">
                <a:solidFill>
                  <a:srgbClr val="FF0000"/>
                </a:solidFill>
              </a:rPr>
              <a:t>CREATE VIEW </a:t>
            </a:r>
            <a:r>
              <a:rPr lang="en-US" b="1" dirty="0" err="1">
                <a:solidFill>
                  <a:srgbClr val="FF0000"/>
                </a:solidFill>
              </a:rPr>
              <a:t>Price_View</a:t>
            </a:r>
            <a:r>
              <a:rPr lang="en-US" b="1" dirty="0">
                <a:solidFill>
                  <a:srgbClr val="FF0000"/>
                </a:solidFill>
              </a:rPr>
              <a:t> AS</a:t>
            </a:r>
          </a:p>
          <a:p>
            <a:pPr marL="0" indent="0">
              <a:buNone/>
            </a:pPr>
            <a:r>
              <a:rPr lang="en-US" b="1" dirty="0">
                <a:solidFill>
                  <a:srgbClr val="FF0000"/>
                </a:solidFill>
              </a:rPr>
              <a:t>  SELECT id, price</a:t>
            </a:r>
          </a:p>
          <a:p>
            <a:pPr marL="0" indent="0">
              <a:buNone/>
            </a:pPr>
            <a:r>
              <a:rPr lang="en-US" b="1" dirty="0">
                <a:solidFill>
                  <a:srgbClr val="FF0000"/>
                </a:solidFill>
              </a:rPr>
              <a:t>  FROM Price</a:t>
            </a:r>
          </a:p>
          <a:p>
            <a:pPr marL="0" indent="0">
              <a:buNone/>
            </a:pPr>
            <a:r>
              <a:rPr lang="en-US" b="1" dirty="0">
                <a:solidFill>
                  <a:srgbClr val="FF0000"/>
                </a:solidFill>
              </a:rPr>
              <a:t>  WHERE price &gt; 200;</a:t>
            </a:r>
            <a:endParaRPr lang="en-IN" b="1" dirty="0">
              <a:solidFill>
                <a:srgbClr val="FF0000"/>
              </a:solidFill>
            </a:endParaRPr>
          </a:p>
        </p:txBody>
      </p:sp>
      <p:sp>
        <p:nvSpPr>
          <p:cNvPr id="3" name="Title 2">
            <a:extLst>
              <a:ext uri="{FF2B5EF4-FFF2-40B4-BE49-F238E27FC236}">
                <a16:creationId xmlns:a16="http://schemas.microsoft.com/office/drawing/2014/main" id="{D76C8019-46D4-4EC4-BE6F-548451F45BFB}"/>
              </a:ext>
            </a:extLst>
          </p:cNvPr>
          <p:cNvSpPr>
            <a:spLocks noGrp="1"/>
          </p:cNvSpPr>
          <p:nvPr>
            <p:ph type="title"/>
          </p:nvPr>
        </p:nvSpPr>
        <p:spPr/>
        <p:txBody>
          <a:bodyPr/>
          <a:lstStyle/>
          <a:p>
            <a:r>
              <a:rPr lang="en-IN" dirty="0"/>
              <a:t>Views</a:t>
            </a:r>
          </a:p>
        </p:txBody>
      </p:sp>
    </p:spTree>
    <p:extLst>
      <p:ext uri="{BB962C8B-B14F-4D97-AF65-F5344CB8AC3E}">
        <p14:creationId xmlns:p14="http://schemas.microsoft.com/office/powerpoint/2010/main" val="197081384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FFB042F-75AD-4316-903B-D04D1016088A}"/>
              </a:ext>
            </a:extLst>
          </p:cNvPr>
          <p:cNvSpPr>
            <a:spLocks noGrp="1"/>
          </p:cNvSpPr>
          <p:nvPr>
            <p:ph sz="quarter" idx="12"/>
          </p:nvPr>
        </p:nvSpPr>
        <p:spPr/>
        <p:txBody>
          <a:bodyPr/>
          <a:lstStyle/>
          <a:p>
            <a:r>
              <a:rPr lang="en-IN" dirty="0"/>
              <a:t>\! </a:t>
            </a:r>
            <a:r>
              <a:rPr lang="en-IN" dirty="0" err="1"/>
              <a:t>cls</a:t>
            </a:r>
            <a:endParaRPr lang="en-IN" dirty="0"/>
          </a:p>
        </p:txBody>
      </p:sp>
      <p:sp>
        <p:nvSpPr>
          <p:cNvPr id="3" name="Title 2">
            <a:extLst>
              <a:ext uri="{FF2B5EF4-FFF2-40B4-BE49-F238E27FC236}">
                <a16:creationId xmlns:a16="http://schemas.microsoft.com/office/drawing/2014/main" id="{072A8A7E-9E10-490E-ABE7-6D64B0BDAEDA}"/>
              </a:ext>
            </a:extLst>
          </p:cNvPr>
          <p:cNvSpPr>
            <a:spLocks noGrp="1"/>
          </p:cNvSpPr>
          <p:nvPr>
            <p:ph type="title"/>
          </p:nvPr>
        </p:nvSpPr>
        <p:spPr/>
        <p:txBody>
          <a:bodyPr/>
          <a:lstStyle/>
          <a:p>
            <a:r>
              <a:rPr lang="en-IN" dirty="0"/>
              <a:t>Clear the screen</a:t>
            </a:r>
          </a:p>
        </p:txBody>
      </p:sp>
    </p:spTree>
    <p:extLst>
      <p:ext uri="{BB962C8B-B14F-4D97-AF65-F5344CB8AC3E}">
        <p14:creationId xmlns:p14="http://schemas.microsoft.com/office/powerpoint/2010/main" val="299141382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726549-AF79-6805-B26A-3A775014BE27}"/>
              </a:ext>
            </a:extLst>
          </p:cNvPr>
          <p:cNvSpPr>
            <a:spLocks noGrp="1"/>
          </p:cNvSpPr>
          <p:nvPr>
            <p:ph sz="quarter" idx="12"/>
          </p:nvPr>
        </p:nvSpPr>
        <p:spPr>
          <a:xfrm>
            <a:off x="457201" y="1381125"/>
            <a:ext cx="8228012" cy="2459355"/>
          </a:xfrm>
        </p:spPr>
        <p:txBody>
          <a:bodyPr/>
          <a:lstStyle/>
          <a:p>
            <a:r>
              <a:rPr lang="en-US" dirty="0"/>
              <a:t>Shows how PostgreSQL will execute a query, including:</a:t>
            </a:r>
          </a:p>
          <a:p>
            <a:pPr lvl="1"/>
            <a:r>
              <a:rPr lang="en-US" dirty="0"/>
              <a:t>Join types</a:t>
            </a:r>
          </a:p>
          <a:p>
            <a:pPr lvl="1"/>
            <a:r>
              <a:rPr lang="en-US" dirty="0"/>
              <a:t>Index usage</a:t>
            </a:r>
          </a:p>
          <a:p>
            <a:pPr lvl="1"/>
            <a:r>
              <a:rPr lang="en-US" dirty="0"/>
              <a:t>Cost estimates (not actual execution)</a:t>
            </a:r>
            <a:endParaRPr lang="en-IN" dirty="0"/>
          </a:p>
        </p:txBody>
      </p:sp>
      <p:sp>
        <p:nvSpPr>
          <p:cNvPr id="3" name="Title 2">
            <a:extLst>
              <a:ext uri="{FF2B5EF4-FFF2-40B4-BE49-F238E27FC236}">
                <a16:creationId xmlns:a16="http://schemas.microsoft.com/office/drawing/2014/main" id="{66B9F51D-2BD3-2171-1BEE-3AA98C480332}"/>
              </a:ext>
            </a:extLst>
          </p:cNvPr>
          <p:cNvSpPr>
            <a:spLocks noGrp="1"/>
          </p:cNvSpPr>
          <p:nvPr>
            <p:ph type="title"/>
          </p:nvPr>
        </p:nvSpPr>
        <p:spPr/>
        <p:txBody>
          <a:bodyPr/>
          <a:lstStyle/>
          <a:p>
            <a:r>
              <a:rPr lang="en-US" dirty="0"/>
              <a:t>EXPLAIN – See the Query Plan</a:t>
            </a:r>
            <a:endParaRPr lang="en-IN" dirty="0"/>
          </a:p>
        </p:txBody>
      </p:sp>
      <p:sp>
        <p:nvSpPr>
          <p:cNvPr id="5" name="TextBox 4">
            <a:extLst>
              <a:ext uri="{FF2B5EF4-FFF2-40B4-BE49-F238E27FC236}">
                <a16:creationId xmlns:a16="http://schemas.microsoft.com/office/drawing/2014/main" id="{3F80215F-40BE-0714-2814-5F8F0F0A3A96}"/>
              </a:ext>
            </a:extLst>
          </p:cNvPr>
          <p:cNvSpPr txBox="1"/>
          <p:nvPr/>
        </p:nvSpPr>
        <p:spPr>
          <a:xfrm>
            <a:off x="635267" y="4128519"/>
            <a:ext cx="7190071" cy="369332"/>
          </a:xfrm>
          <a:prstGeom prst="rect">
            <a:avLst/>
          </a:prstGeom>
          <a:noFill/>
        </p:spPr>
        <p:txBody>
          <a:bodyPr wrap="square">
            <a:spAutoFit/>
          </a:bodyPr>
          <a:lstStyle/>
          <a:p>
            <a:r>
              <a:rPr lang="en-US" dirty="0"/>
              <a:t>EXPLAIN SELECT * FROM employee WHERE </a:t>
            </a:r>
            <a:r>
              <a:rPr lang="en-US" dirty="0" err="1"/>
              <a:t>dept_id</a:t>
            </a:r>
            <a:r>
              <a:rPr lang="en-US" dirty="0"/>
              <a:t> = 2;</a:t>
            </a:r>
          </a:p>
        </p:txBody>
      </p:sp>
    </p:spTree>
    <p:extLst>
      <p:ext uri="{BB962C8B-B14F-4D97-AF65-F5344CB8AC3E}">
        <p14:creationId xmlns:p14="http://schemas.microsoft.com/office/powerpoint/2010/main" val="111061799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4761A01-A873-1801-86F8-C72B113BFA36}"/>
              </a:ext>
            </a:extLst>
          </p:cNvPr>
          <p:cNvSpPr>
            <a:spLocks noGrp="1"/>
          </p:cNvSpPr>
          <p:nvPr>
            <p:ph sz="quarter" idx="12"/>
          </p:nvPr>
        </p:nvSpPr>
        <p:spPr>
          <a:xfrm>
            <a:off x="457201" y="1381125"/>
            <a:ext cx="8228012" cy="2805864"/>
          </a:xfrm>
        </p:spPr>
        <p:txBody>
          <a:bodyPr/>
          <a:lstStyle/>
          <a:p>
            <a:r>
              <a:rPr lang="en-US" dirty="0"/>
              <a:t>It </a:t>
            </a:r>
            <a:r>
              <a:rPr lang="en-US" b="1" dirty="0"/>
              <a:t>executes the query</a:t>
            </a:r>
            <a:r>
              <a:rPr lang="en-US" dirty="0"/>
              <a:t> and shows:</a:t>
            </a:r>
          </a:p>
          <a:p>
            <a:pPr lvl="1"/>
            <a:r>
              <a:rPr lang="en-US" dirty="0"/>
              <a:t>Actual time taken per step</a:t>
            </a:r>
          </a:p>
          <a:p>
            <a:pPr lvl="1"/>
            <a:r>
              <a:rPr lang="en-US" dirty="0"/>
              <a:t>Rows processed</a:t>
            </a:r>
          </a:p>
          <a:p>
            <a:pPr lvl="1"/>
            <a:r>
              <a:rPr lang="en-US" dirty="0"/>
              <a:t>Loops</a:t>
            </a:r>
          </a:p>
          <a:p>
            <a:pPr lvl="1"/>
            <a:r>
              <a:rPr lang="en-US" dirty="0"/>
              <a:t>Index usage</a:t>
            </a:r>
          </a:p>
          <a:p>
            <a:pPr lvl="1"/>
            <a:r>
              <a:rPr lang="en-US" dirty="0"/>
              <a:t>Total execution time</a:t>
            </a:r>
          </a:p>
          <a:p>
            <a:endParaRPr lang="en-IN" dirty="0"/>
          </a:p>
        </p:txBody>
      </p:sp>
      <p:sp>
        <p:nvSpPr>
          <p:cNvPr id="3" name="Title 2">
            <a:extLst>
              <a:ext uri="{FF2B5EF4-FFF2-40B4-BE49-F238E27FC236}">
                <a16:creationId xmlns:a16="http://schemas.microsoft.com/office/drawing/2014/main" id="{6A1F66F8-6E98-1A8A-6B79-811B3C69E205}"/>
              </a:ext>
            </a:extLst>
          </p:cNvPr>
          <p:cNvSpPr>
            <a:spLocks noGrp="1"/>
          </p:cNvSpPr>
          <p:nvPr>
            <p:ph type="title"/>
          </p:nvPr>
        </p:nvSpPr>
        <p:spPr/>
        <p:txBody>
          <a:bodyPr/>
          <a:lstStyle/>
          <a:p>
            <a:r>
              <a:rPr lang="en-US" dirty="0"/>
              <a:t>EXPLAIN ANALYZE – Run the Query and Show Actual Execution Details</a:t>
            </a:r>
            <a:endParaRPr lang="en-IN" dirty="0"/>
          </a:p>
        </p:txBody>
      </p:sp>
      <p:sp>
        <p:nvSpPr>
          <p:cNvPr id="5" name="TextBox 4">
            <a:extLst>
              <a:ext uri="{FF2B5EF4-FFF2-40B4-BE49-F238E27FC236}">
                <a16:creationId xmlns:a16="http://schemas.microsoft.com/office/drawing/2014/main" id="{1CC2FD94-48DE-4133-0C16-ED268D09A6F0}"/>
              </a:ext>
            </a:extLst>
          </p:cNvPr>
          <p:cNvSpPr txBox="1"/>
          <p:nvPr/>
        </p:nvSpPr>
        <p:spPr>
          <a:xfrm>
            <a:off x="800187" y="4243107"/>
            <a:ext cx="7526955" cy="369332"/>
          </a:xfrm>
          <a:prstGeom prst="rect">
            <a:avLst/>
          </a:prstGeom>
          <a:noFill/>
        </p:spPr>
        <p:txBody>
          <a:bodyPr wrap="square">
            <a:spAutoFit/>
          </a:bodyPr>
          <a:lstStyle/>
          <a:p>
            <a:r>
              <a:rPr lang="en-US" dirty="0"/>
              <a:t>EXPLAIN ANALYZE SELECT * FROM employee WHERE </a:t>
            </a:r>
            <a:r>
              <a:rPr lang="en-US" dirty="0" err="1"/>
              <a:t>dept_id</a:t>
            </a:r>
            <a:r>
              <a:rPr lang="en-US" dirty="0"/>
              <a:t> = 2;</a:t>
            </a:r>
          </a:p>
        </p:txBody>
      </p:sp>
      <p:sp>
        <p:nvSpPr>
          <p:cNvPr id="7" name="TextBox 6">
            <a:extLst>
              <a:ext uri="{FF2B5EF4-FFF2-40B4-BE49-F238E27FC236}">
                <a16:creationId xmlns:a16="http://schemas.microsoft.com/office/drawing/2014/main" id="{59C492B3-CC2B-2EC5-32CA-C8D39A88F7BE}"/>
              </a:ext>
            </a:extLst>
          </p:cNvPr>
          <p:cNvSpPr txBox="1"/>
          <p:nvPr/>
        </p:nvSpPr>
        <p:spPr>
          <a:xfrm>
            <a:off x="800186" y="4656553"/>
            <a:ext cx="7304285" cy="1754326"/>
          </a:xfrm>
          <a:prstGeom prst="rect">
            <a:avLst/>
          </a:prstGeom>
          <a:noFill/>
        </p:spPr>
        <p:txBody>
          <a:bodyPr wrap="square">
            <a:spAutoFit/>
          </a:bodyPr>
          <a:lstStyle/>
          <a:p>
            <a:r>
              <a:rPr lang="en-US" dirty="0"/>
              <a:t>Seq Scan on employee  (cost=0.00..25.00 rows=5 width=32) (actual time=0.021..0.023 rows=2 loops=1)</a:t>
            </a:r>
          </a:p>
          <a:p>
            <a:r>
              <a:rPr lang="en-US" dirty="0"/>
              <a:t>  Filter: (</a:t>
            </a:r>
            <a:r>
              <a:rPr lang="en-US" dirty="0" err="1"/>
              <a:t>dept_id</a:t>
            </a:r>
            <a:r>
              <a:rPr lang="en-US" dirty="0"/>
              <a:t> = 2)</a:t>
            </a:r>
          </a:p>
          <a:p>
            <a:r>
              <a:rPr lang="en-US" dirty="0"/>
              <a:t>  Rows Removed by Filter: 3</a:t>
            </a:r>
          </a:p>
          <a:p>
            <a:r>
              <a:rPr lang="en-US" dirty="0"/>
              <a:t>Planning Time: 0.100 </a:t>
            </a:r>
            <a:r>
              <a:rPr lang="en-US" dirty="0" err="1"/>
              <a:t>ms</a:t>
            </a:r>
            <a:endParaRPr lang="en-US" dirty="0"/>
          </a:p>
          <a:p>
            <a:r>
              <a:rPr lang="en-US" dirty="0"/>
              <a:t>Execution Time: 0.050 </a:t>
            </a:r>
            <a:r>
              <a:rPr lang="en-US" dirty="0" err="1"/>
              <a:t>ms</a:t>
            </a:r>
            <a:endParaRPr lang="en-US" dirty="0"/>
          </a:p>
        </p:txBody>
      </p:sp>
    </p:spTree>
    <p:extLst>
      <p:ext uri="{BB962C8B-B14F-4D97-AF65-F5344CB8AC3E}">
        <p14:creationId xmlns:p14="http://schemas.microsoft.com/office/powerpoint/2010/main" val="417242248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46A239-91B0-F0DF-D697-C7050F99D785}"/>
              </a:ext>
            </a:extLst>
          </p:cNvPr>
          <p:cNvSpPr>
            <a:spLocks noGrp="1"/>
          </p:cNvSpPr>
          <p:nvPr>
            <p:ph type="title"/>
          </p:nvPr>
        </p:nvSpPr>
        <p:spPr/>
        <p:txBody>
          <a:bodyPr/>
          <a:lstStyle/>
          <a:p>
            <a:r>
              <a:rPr lang="en-IN" dirty="0"/>
              <a:t>Key Terms Explained:</a:t>
            </a:r>
          </a:p>
        </p:txBody>
      </p:sp>
      <p:graphicFrame>
        <p:nvGraphicFramePr>
          <p:cNvPr id="4" name="Table 3">
            <a:extLst>
              <a:ext uri="{FF2B5EF4-FFF2-40B4-BE49-F238E27FC236}">
                <a16:creationId xmlns:a16="http://schemas.microsoft.com/office/drawing/2014/main" id="{619A5F82-48F6-6449-9371-4C175C64AC4A}"/>
              </a:ext>
            </a:extLst>
          </p:cNvPr>
          <p:cNvGraphicFramePr>
            <a:graphicFrameLocks noGrp="1"/>
          </p:cNvGraphicFramePr>
          <p:nvPr/>
        </p:nvGraphicFramePr>
        <p:xfrm>
          <a:off x="457200" y="1918811"/>
          <a:ext cx="8228012" cy="3749040"/>
        </p:xfrm>
        <a:graphic>
          <a:graphicData uri="http://schemas.openxmlformats.org/drawingml/2006/table">
            <a:tbl>
              <a:tblPr>
                <a:tableStyleId>{3C2FFA5D-87B4-456A-9821-1D502468CF0F}</a:tableStyleId>
              </a:tblPr>
              <a:tblGrid>
                <a:gridCol w="3190775">
                  <a:extLst>
                    <a:ext uri="{9D8B030D-6E8A-4147-A177-3AD203B41FA5}">
                      <a16:colId xmlns:a16="http://schemas.microsoft.com/office/drawing/2014/main" val="2814618595"/>
                    </a:ext>
                  </a:extLst>
                </a:gridCol>
                <a:gridCol w="5037237">
                  <a:extLst>
                    <a:ext uri="{9D8B030D-6E8A-4147-A177-3AD203B41FA5}">
                      <a16:colId xmlns:a16="http://schemas.microsoft.com/office/drawing/2014/main" val="213248815"/>
                    </a:ext>
                  </a:extLst>
                </a:gridCol>
              </a:tblGrid>
              <a:tr h="365760">
                <a:tc>
                  <a:txBody>
                    <a:bodyPr/>
                    <a:lstStyle/>
                    <a:p>
                      <a:pPr>
                        <a:buNone/>
                      </a:pPr>
                      <a:r>
                        <a:rPr lang="en-IN" sz="1800"/>
                        <a:t>Term</a:t>
                      </a:r>
                    </a:p>
                  </a:txBody>
                  <a:tcPr anchor="ctr"/>
                </a:tc>
                <a:tc>
                  <a:txBody>
                    <a:bodyPr/>
                    <a:lstStyle/>
                    <a:p>
                      <a:pPr>
                        <a:buNone/>
                      </a:pPr>
                      <a:r>
                        <a:rPr lang="en-IN" sz="1800"/>
                        <a:t>Meaning</a:t>
                      </a:r>
                    </a:p>
                  </a:txBody>
                  <a:tcPr anchor="ctr"/>
                </a:tc>
                <a:extLst>
                  <a:ext uri="{0D108BD9-81ED-4DB2-BD59-A6C34878D82A}">
                    <a16:rowId xmlns:a16="http://schemas.microsoft.com/office/drawing/2014/main" val="853537453"/>
                  </a:ext>
                </a:extLst>
              </a:tr>
              <a:tr h="640080">
                <a:tc>
                  <a:txBody>
                    <a:bodyPr/>
                    <a:lstStyle/>
                    <a:p>
                      <a:pPr>
                        <a:buNone/>
                      </a:pPr>
                      <a:r>
                        <a:rPr lang="en-IN" sz="1800" b="1"/>
                        <a:t>Seq Scan</a:t>
                      </a:r>
                      <a:endParaRPr lang="en-IN" sz="1800"/>
                    </a:p>
                  </a:txBody>
                  <a:tcPr anchor="ctr"/>
                </a:tc>
                <a:tc>
                  <a:txBody>
                    <a:bodyPr/>
                    <a:lstStyle/>
                    <a:p>
                      <a:pPr>
                        <a:buNone/>
                      </a:pPr>
                      <a:r>
                        <a:rPr lang="en-US" sz="1800"/>
                        <a:t>Sequential scan of the table (may be slow on large tables)</a:t>
                      </a:r>
                    </a:p>
                  </a:txBody>
                  <a:tcPr anchor="ctr"/>
                </a:tc>
                <a:extLst>
                  <a:ext uri="{0D108BD9-81ED-4DB2-BD59-A6C34878D82A}">
                    <a16:rowId xmlns:a16="http://schemas.microsoft.com/office/drawing/2014/main" val="2717518649"/>
                  </a:ext>
                </a:extLst>
              </a:tr>
              <a:tr h="365760">
                <a:tc>
                  <a:txBody>
                    <a:bodyPr/>
                    <a:lstStyle/>
                    <a:p>
                      <a:pPr>
                        <a:buNone/>
                      </a:pPr>
                      <a:r>
                        <a:rPr lang="en-IN" sz="1800" b="1"/>
                        <a:t>Index Scan</a:t>
                      </a:r>
                      <a:endParaRPr lang="en-IN" sz="1800"/>
                    </a:p>
                  </a:txBody>
                  <a:tcPr anchor="ctr"/>
                </a:tc>
                <a:tc>
                  <a:txBody>
                    <a:bodyPr/>
                    <a:lstStyle/>
                    <a:p>
                      <a:pPr>
                        <a:buNone/>
                      </a:pPr>
                      <a:r>
                        <a:rPr lang="en-US" sz="1800"/>
                        <a:t>Uses an index – usually faster</a:t>
                      </a:r>
                    </a:p>
                  </a:txBody>
                  <a:tcPr anchor="ctr"/>
                </a:tc>
                <a:extLst>
                  <a:ext uri="{0D108BD9-81ED-4DB2-BD59-A6C34878D82A}">
                    <a16:rowId xmlns:a16="http://schemas.microsoft.com/office/drawing/2014/main" val="2143601394"/>
                  </a:ext>
                </a:extLst>
              </a:tr>
              <a:tr h="365760">
                <a:tc>
                  <a:txBody>
                    <a:bodyPr/>
                    <a:lstStyle/>
                    <a:p>
                      <a:pPr>
                        <a:buNone/>
                      </a:pPr>
                      <a:r>
                        <a:rPr lang="en-IN" sz="1800" b="1"/>
                        <a:t>cost=X..Y</a:t>
                      </a:r>
                      <a:endParaRPr lang="en-IN" sz="1800"/>
                    </a:p>
                  </a:txBody>
                  <a:tcPr anchor="ctr"/>
                </a:tc>
                <a:tc>
                  <a:txBody>
                    <a:bodyPr/>
                    <a:lstStyle/>
                    <a:p>
                      <a:pPr>
                        <a:buNone/>
                      </a:pPr>
                      <a:r>
                        <a:rPr lang="en-US" sz="1800"/>
                        <a:t>Estimated startup cost and total cost</a:t>
                      </a:r>
                    </a:p>
                  </a:txBody>
                  <a:tcPr anchor="ctr"/>
                </a:tc>
                <a:extLst>
                  <a:ext uri="{0D108BD9-81ED-4DB2-BD59-A6C34878D82A}">
                    <a16:rowId xmlns:a16="http://schemas.microsoft.com/office/drawing/2014/main" val="138466597"/>
                  </a:ext>
                </a:extLst>
              </a:tr>
              <a:tr h="365760">
                <a:tc>
                  <a:txBody>
                    <a:bodyPr/>
                    <a:lstStyle/>
                    <a:p>
                      <a:pPr>
                        <a:buNone/>
                      </a:pPr>
                      <a:r>
                        <a:rPr lang="en-IN" sz="1800" b="1"/>
                        <a:t>rows=N</a:t>
                      </a:r>
                      <a:endParaRPr lang="en-IN" sz="1800"/>
                    </a:p>
                  </a:txBody>
                  <a:tcPr anchor="ctr"/>
                </a:tc>
                <a:tc>
                  <a:txBody>
                    <a:bodyPr/>
                    <a:lstStyle/>
                    <a:p>
                      <a:pPr>
                        <a:buNone/>
                      </a:pPr>
                      <a:r>
                        <a:rPr lang="en-IN" sz="1800"/>
                        <a:t>Estimated number of rows</a:t>
                      </a:r>
                    </a:p>
                  </a:txBody>
                  <a:tcPr anchor="ctr"/>
                </a:tc>
                <a:extLst>
                  <a:ext uri="{0D108BD9-81ED-4DB2-BD59-A6C34878D82A}">
                    <a16:rowId xmlns:a16="http://schemas.microsoft.com/office/drawing/2014/main" val="3553904977"/>
                  </a:ext>
                </a:extLst>
              </a:tr>
              <a:tr h="365760">
                <a:tc>
                  <a:txBody>
                    <a:bodyPr/>
                    <a:lstStyle/>
                    <a:p>
                      <a:pPr>
                        <a:buNone/>
                      </a:pPr>
                      <a:r>
                        <a:rPr lang="en-IN" sz="1800" b="1"/>
                        <a:t>actual time</a:t>
                      </a:r>
                      <a:endParaRPr lang="en-IN" sz="1800"/>
                    </a:p>
                  </a:txBody>
                  <a:tcPr anchor="ctr"/>
                </a:tc>
                <a:tc>
                  <a:txBody>
                    <a:bodyPr/>
                    <a:lstStyle/>
                    <a:p>
                      <a:pPr>
                        <a:buNone/>
                      </a:pPr>
                      <a:r>
                        <a:rPr lang="en-US" sz="1800"/>
                        <a:t>Actual time to fetch rows</a:t>
                      </a:r>
                    </a:p>
                  </a:txBody>
                  <a:tcPr anchor="ctr"/>
                </a:tc>
                <a:extLst>
                  <a:ext uri="{0D108BD9-81ED-4DB2-BD59-A6C34878D82A}">
                    <a16:rowId xmlns:a16="http://schemas.microsoft.com/office/drawing/2014/main" val="530289456"/>
                  </a:ext>
                </a:extLst>
              </a:tr>
              <a:tr h="640080">
                <a:tc>
                  <a:txBody>
                    <a:bodyPr/>
                    <a:lstStyle/>
                    <a:p>
                      <a:pPr>
                        <a:buNone/>
                      </a:pPr>
                      <a:r>
                        <a:rPr lang="en-IN" sz="1800" b="1"/>
                        <a:t>loops</a:t>
                      </a:r>
                      <a:endParaRPr lang="en-IN" sz="1800"/>
                    </a:p>
                  </a:txBody>
                  <a:tcPr anchor="ctr"/>
                </a:tc>
                <a:tc>
                  <a:txBody>
                    <a:bodyPr/>
                    <a:lstStyle/>
                    <a:p>
                      <a:pPr>
                        <a:buNone/>
                      </a:pPr>
                      <a:r>
                        <a:rPr lang="en-US" sz="1800"/>
                        <a:t>How many times this step was executed</a:t>
                      </a:r>
                    </a:p>
                  </a:txBody>
                  <a:tcPr anchor="ctr"/>
                </a:tc>
                <a:extLst>
                  <a:ext uri="{0D108BD9-81ED-4DB2-BD59-A6C34878D82A}">
                    <a16:rowId xmlns:a16="http://schemas.microsoft.com/office/drawing/2014/main" val="3939019393"/>
                  </a:ext>
                </a:extLst>
              </a:tr>
              <a:tr h="640080">
                <a:tc>
                  <a:txBody>
                    <a:bodyPr/>
                    <a:lstStyle/>
                    <a:p>
                      <a:pPr>
                        <a:buNone/>
                      </a:pPr>
                      <a:r>
                        <a:rPr lang="en-IN" sz="1800" b="1"/>
                        <a:t>Rows Removed by Filter</a:t>
                      </a:r>
                      <a:endParaRPr lang="en-IN" sz="1800"/>
                    </a:p>
                  </a:txBody>
                  <a:tcPr anchor="ctr"/>
                </a:tc>
                <a:tc>
                  <a:txBody>
                    <a:bodyPr/>
                    <a:lstStyle/>
                    <a:p>
                      <a:pPr>
                        <a:buNone/>
                      </a:pPr>
                      <a:r>
                        <a:rPr lang="en-US" sz="1800" dirty="0"/>
                        <a:t>Rows read but discarded by the WHERE clause</a:t>
                      </a:r>
                    </a:p>
                  </a:txBody>
                  <a:tcPr anchor="ctr"/>
                </a:tc>
                <a:extLst>
                  <a:ext uri="{0D108BD9-81ED-4DB2-BD59-A6C34878D82A}">
                    <a16:rowId xmlns:a16="http://schemas.microsoft.com/office/drawing/2014/main" val="3651293884"/>
                  </a:ext>
                </a:extLst>
              </a:tr>
            </a:tbl>
          </a:graphicData>
        </a:graphic>
      </p:graphicFrame>
    </p:spTree>
    <p:extLst>
      <p:ext uri="{BB962C8B-B14F-4D97-AF65-F5344CB8AC3E}">
        <p14:creationId xmlns:p14="http://schemas.microsoft.com/office/powerpoint/2010/main" val="403955557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3C30E7D-6F0D-00A4-9C14-AAD3DA28CED5}"/>
              </a:ext>
            </a:extLst>
          </p:cNvPr>
          <p:cNvSpPr>
            <a:spLocks noGrp="1"/>
          </p:cNvSpPr>
          <p:nvPr>
            <p:ph sz="quarter" idx="12"/>
          </p:nvPr>
        </p:nvSpPr>
        <p:spPr/>
        <p:txBody>
          <a:bodyPr/>
          <a:lstStyle/>
          <a:p>
            <a:r>
              <a:rPr lang="en-US" dirty="0"/>
              <a:t>Use EXPLAIN for safe preview.</a:t>
            </a:r>
          </a:p>
          <a:p>
            <a:r>
              <a:rPr lang="en-US" dirty="0"/>
              <a:t>Use EXPLAIN ANALYZE to benchmark real execution.</a:t>
            </a:r>
          </a:p>
          <a:p>
            <a:r>
              <a:rPr lang="en-US" dirty="0"/>
              <a:t>If the query is slow, look for:</a:t>
            </a:r>
          </a:p>
          <a:p>
            <a:pPr lvl="1"/>
            <a:r>
              <a:rPr lang="en-US" dirty="0"/>
              <a:t>Sequential scan instead of index scan</a:t>
            </a:r>
          </a:p>
          <a:p>
            <a:pPr lvl="1"/>
            <a:r>
              <a:rPr lang="en-US" dirty="0"/>
              <a:t>High number of loops</a:t>
            </a:r>
          </a:p>
          <a:p>
            <a:pPr lvl="1"/>
            <a:r>
              <a:rPr lang="en-US" dirty="0"/>
              <a:t>Large difference between estimated and actual rows</a:t>
            </a:r>
            <a:endParaRPr lang="en-IN" dirty="0"/>
          </a:p>
        </p:txBody>
      </p:sp>
      <p:sp>
        <p:nvSpPr>
          <p:cNvPr id="3" name="Title 2">
            <a:extLst>
              <a:ext uri="{FF2B5EF4-FFF2-40B4-BE49-F238E27FC236}">
                <a16:creationId xmlns:a16="http://schemas.microsoft.com/office/drawing/2014/main" id="{AD27447D-A712-E154-BFED-6F4BAC74FDB8}"/>
              </a:ext>
            </a:extLst>
          </p:cNvPr>
          <p:cNvSpPr>
            <a:spLocks noGrp="1"/>
          </p:cNvSpPr>
          <p:nvPr>
            <p:ph type="title"/>
          </p:nvPr>
        </p:nvSpPr>
        <p:spPr/>
        <p:txBody>
          <a:bodyPr/>
          <a:lstStyle/>
          <a:p>
            <a:r>
              <a:rPr lang="en-IN" dirty="0"/>
              <a:t>Best Practices</a:t>
            </a:r>
          </a:p>
        </p:txBody>
      </p:sp>
    </p:spTree>
    <p:extLst>
      <p:ext uri="{BB962C8B-B14F-4D97-AF65-F5344CB8AC3E}">
        <p14:creationId xmlns:p14="http://schemas.microsoft.com/office/powerpoint/2010/main" val="92499530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8B7FEE5-0AD8-AC5C-D479-DFCEC8ECE105}"/>
              </a:ext>
            </a:extLst>
          </p:cNvPr>
          <p:cNvSpPr>
            <a:spLocks noGrp="1"/>
          </p:cNvSpPr>
          <p:nvPr>
            <p:ph type="title"/>
          </p:nvPr>
        </p:nvSpPr>
        <p:spPr/>
        <p:txBody>
          <a:bodyPr/>
          <a:lstStyle/>
          <a:p>
            <a:r>
              <a:rPr lang="en-IN" dirty="0"/>
              <a:t>Normal View vs Materialized View</a:t>
            </a:r>
          </a:p>
        </p:txBody>
      </p:sp>
      <p:graphicFrame>
        <p:nvGraphicFramePr>
          <p:cNvPr id="4" name="Table 3">
            <a:extLst>
              <a:ext uri="{FF2B5EF4-FFF2-40B4-BE49-F238E27FC236}">
                <a16:creationId xmlns:a16="http://schemas.microsoft.com/office/drawing/2014/main" id="{5F2F7641-8F38-10BD-09FB-E8935F73F5AE}"/>
              </a:ext>
            </a:extLst>
          </p:cNvPr>
          <p:cNvGraphicFramePr>
            <a:graphicFrameLocks noGrp="1"/>
          </p:cNvGraphicFramePr>
          <p:nvPr>
            <p:extLst>
              <p:ext uri="{D42A27DB-BD31-4B8C-83A1-F6EECF244321}">
                <p14:modId xmlns:p14="http://schemas.microsoft.com/office/powerpoint/2010/main" val="729977886"/>
              </p:ext>
            </p:extLst>
          </p:nvPr>
        </p:nvGraphicFramePr>
        <p:xfrm>
          <a:off x="457200" y="2362200"/>
          <a:ext cx="8228013" cy="2194560"/>
        </p:xfrm>
        <a:graphic>
          <a:graphicData uri="http://schemas.openxmlformats.org/drawingml/2006/table">
            <a:tbl>
              <a:tblPr>
                <a:tableStyleId>{B301B821-A1FF-4177-AEE7-76D212191A09}</a:tableStyleId>
              </a:tblPr>
              <a:tblGrid>
                <a:gridCol w="2742671">
                  <a:extLst>
                    <a:ext uri="{9D8B030D-6E8A-4147-A177-3AD203B41FA5}">
                      <a16:colId xmlns:a16="http://schemas.microsoft.com/office/drawing/2014/main" val="2890390471"/>
                    </a:ext>
                  </a:extLst>
                </a:gridCol>
                <a:gridCol w="2742671">
                  <a:extLst>
                    <a:ext uri="{9D8B030D-6E8A-4147-A177-3AD203B41FA5}">
                      <a16:colId xmlns:a16="http://schemas.microsoft.com/office/drawing/2014/main" val="2757964855"/>
                    </a:ext>
                  </a:extLst>
                </a:gridCol>
                <a:gridCol w="2742671">
                  <a:extLst>
                    <a:ext uri="{9D8B030D-6E8A-4147-A177-3AD203B41FA5}">
                      <a16:colId xmlns:a16="http://schemas.microsoft.com/office/drawing/2014/main" val="3583719940"/>
                    </a:ext>
                  </a:extLst>
                </a:gridCol>
              </a:tblGrid>
              <a:tr h="0">
                <a:tc>
                  <a:txBody>
                    <a:bodyPr/>
                    <a:lstStyle/>
                    <a:p>
                      <a:pPr>
                        <a:buNone/>
                      </a:pPr>
                      <a:r>
                        <a:rPr lang="en-IN"/>
                        <a:t>Feature</a:t>
                      </a:r>
                    </a:p>
                  </a:txBody>
                  <a:tcPr anchor="ctr"/>
                </a:tc>
                <a:tc>
                  <a:txBody>
                    <a:bodyPr/>
                    <a:lstStyle/>
                    <a:p>
                      <a:pPr>
                        <a:buNone/>
                      </a:pPr>
                      <a:r>
                        <a:rPr lang="en-IN"/>
                        <a:t>View</a:t>
                      </a:r>
                    </a:p>
                  </a:txBody>
                  <a:tcPr anchor="ctr"/>
                </a:tc>
                <a:tc>
                  <a:txBody>
                    <a:bodyPr/>
                    <a:lstStyle/>
                    <a:p>
                      <a:pPr>
                        <a:buNone/>
                      </a:pPr>
                      <a:r>
                        <a:rPr lang="en-IN"/>
                        <a:t>Materialized View</a:t>
                      </a:r>
                    </a:p>
                  </a:txBody>
                  <a:tcPr anchor="ctr"/>
                </a:tc>
                <a:extLst>
                  <a:ext uri="{0D108BD9-81ED-4DB2-BD59-A6C34878D82A}">
                    <a16:rowId xmlns:a16="http://schemas.microsoft.com/office/drawing/2014/main" val="1286954669"/>
                  </a:ext>
                </a:extLst>
              </a:tr>
              <a:tr h="0">
                <a:tc>
                  <a:txBody>
                    <a:bodyPr/>
                    <a:lstStyle/>
                    <a:p>
                      <a:pPr>
                        <a:buNone/>
                      </a:pPr>
                      <a:r>
                        <a:rPr lang="en-IN"/>
                        <a:t>Stores data physically</a:t>
                      </a:r>
                    </a:p>
                  </a:txBody>
                  <a:tcPr anchor="ctr"/>
                </a:tc>
                <a:tc>
                  <a:txBody>
                    <a:bodyPr/>
                    <a:lstStyle/>
                    <a:p>
                      <a:pPr>
                        <a:buNone/>
                      </a:pPr>
                      <a:r>
                        <a:rPr lang="en-IN"/>
                        <a:t>No</a:t>
                      </a:r>
                    </a:p>
                  </a:txBody>
                  <a:tcPr anchor="ctr"/>
                </a:tc>
                <a:tc>
                  <a:txBody>
                    <a:bodyPr/>
                    <a:lstStyle/>
                    <a:p>
                      <a:pPr>
                        <a:buNone/>
                      </a:pPr>
                      <a:r>
                        <a:rPr lang="en-IN"/>
                        <a:t>Yes</a:t>
                      </a:r>
                    </a:p>
                  </a:txBody>
                  <a:tcPr anchor="ctr"/>
                </a:tc>
                <a:extLst>
                  <a:ext uri="{0D108BD9-81ED-4DB2-BD59-A6C34878D82A}">
                    <a16:rowId xmlns:a16="http://schemas.microsoft.com/office/drawing/2014/main" val="1913117822"/>
                  </a:ext>
                </a:extLst>
              </a:tr>
              <a:tr h="0">
                <a:tc>
                  <a:txBody>
                    <a:bodyPr/>
                    <a:lstStyle/>
                    <a:p>
                      <a:pPr>
                        <a:buNone/>
                      </a:pPr>
                      <a:r>
                        <a:rPr lang="en-IN"/>
                        <a:t>Always shows latest data</a:t>
                      </a:r>
                    </a:p>
                  </a:txBody>
                  <a:tcPr anchor="ctr"/>
                </a:tc>
                <a:tc>
                  <a:txBody>
                    <a:bodyPr/>
                    <a:lstStyle/>
                    <a:p>
                      <a:pPr>
                        <a:buNone/>
                      </a:pPr>
                      <a:r>
                        <a:rPr lang="en-IN"/>
                        <a:t>Yes</a:t>
                      </a:r>
                    </a:p>
                  </a:txBody>
                  <a:tcPr anchor="ctr"/>
                </a:tc>
                <a:tc>
                  <a:txBody>
                    <a:bodyPr/>
                    <a:lstStyle/>
                    <a:p>
                      <a:pPr>
                        <a:buNone/>
                      </a:pPr>
                      <a:r>
                        <a:rPr lang="en-IN"/>
                        <a:t>No</a:t>
                      </a:r>
                    </a:p>
                  </a:txBody>
                  <a:tcPr anchor="ctr"/>
                </a:tc>
                <a:extLst>
                  <a:ext uri="{0D108BD9-81ED-4DB2-BD59-A6C34878D82A}">
                    <a16:rowId xmlns:a16="http://schemas.microsoft.com/office/drawing/2014/main" val="3229243835"/>
                  </a:ext>
                </a:extLst>
              </a:tr>
              <a:tr h="0">
                <a:tc>
                  <a:txBody>
                    <a:bodyPr/>
                    <a:lstStyle/>
                    <a:p>
                      <a:pPr>
                        <a:buNone/>
                      </a:pPr>
                      <a:r>
                        <a:rPr lang="en-IN"/>
                        <a:t>Query speed</a:t>
                      </a:r>
                    </a:p>
                  </a:txBody>
                  <a:tcPr anchor="ctr"/>
                </a:tc>
                <a:tc>
                  <a:txBody>
                    <a:bodyPr/>
                    <a:lstStyle/>
                    <a:p>
                      <a:pPr>
                        <a:buNone/>
                      </a:pPr>
                      <a:r>
                        <a:rPr lang="en-IN"/>
                        <a:t>Depends on base query</a:t>
                      </a:r>
                    </a:p>
                  </a:txBody>
                  <a:tcPr anchor="ctr"/>
                </a:tc>
                <a:tc>
                  <a:txBody>
                    <a:bodyPr/>
                    <a:lstStyle/>
                    <a:p>
                      <a:pPr>
                        <a:buNone/>
                      </a:pPr>
                      <a:r>
                        <a:rPr lang="en-IN"/>
                        <a:t>Usually faster</a:t>
                      </a:r>
                    </a:p>
                  </a:txBody>
                  <a:tcPr anchor="ctr"/>
                </a:tc>
                <a:extLst>
                  <a:ext uri="{0D108BD9-81ED-4DB2-BD59-A6C34878D82A}">
                    <a16:rowId xmlns:a16="http://schemas.microsoft.com/office/drawing/2014/main" val="2226274800"/>
                  </a:ext>
                </a:extLst>
              </a:tr>
              <a:tr h="0">
                <a:tc>
                  <a:txBody>
                    <a:bodyPr/>
                    <a:lstStyle/>
                    <a:p>
                      <a:pPr>
                        <a:buNone/>
                      </a:pPr>
                      <a:r>
                        <a:rPr lang="en-IN"/>
                        <a:t>Needs refresh</a:t>
                      </a:r>
                    </a:p>
                  </a:txBody>
                  <a:tcPr anchor="ctr"/>
                </a:tc>
                <a:tc>
                  <a:txBody>
                    <a:bodyPr/>
                    <a:lstStyle/>
                    <a:p>
                      <a:pPr>
                        <a:buNone/>
                      </a:pPr>
                      <a:r>
                        <a:rPr lang="en-IN"/>
                        <a:t>No</a:t>
                      </a:r>
                    </a:p>
                  </a:txBody>
                  <a:tcPr anchor="ctr"/>
                </a:tc>
                <a:tc>
                  <a:txBody>
                    <a:bodyPr/>
                    <a:lstStyle/>
                    <a:p>
                      <a:pPr>
                        <a:buNone/>
                      </a:pPr>
                      <a:r>
                        <a:rPr lang="en-IN"/>
                        <a:t>Yes</a:t>
                      </a:r>
                    </a:p>
                  </a:txBody>
                  <a:tcPr anchor="ctr"/>
                </a:tc>
                <a:extLst>
                  <a:ext uri="{0D108BD9-81ED-4DB2-BD59-A6C34878D82A}">
                    <a16:rowId xmlns:a16="http://schemas.microsoft.com/office/drawing/2014/main" val="2821641675"/>
                  </a:ext>
                </a:extLst>
              </a:tr>
              <a:tr h="0">
                <a:tc>
                  <a:txBody>
                    <a:bodyPr/>
                    <a:lstStyle/>
                    <a:p>
                      <a:pPr>
                        <a:buNone/>
                      </a:pPr>
                      <a:r>
                        <a:rPr lang="en-IN"/>
                        <a:t>Can create indexes</a:t>
                      </a:r>
                    </a:p>
                  </a:txBody>
                  <a:tcPr anchor="ctr"/>
                </a:tc>
                <a:tc>
                  <a:txBody>
                    <a:bodyPr/>
                    <a:lstStyle/>
                    <a:p>
                      <a:pPr>
                        <a:buNone/>
                      </a:pPr>
                      <a:r>
                        <a:rPr lang="en-IN"/>
                        <a:t>Limited</a:t>
                      </a:r>
                    </a:p>
                  </a:txBody>
                  <a:tcPr anchor="ctr"/>
                </a:tc>
                <a:tc>
                  <a:txBody>
                    <a:bodyPr/>
                    <a:lstStyle/>
                    <a:p>
                      <a:pPr>
                        <a:buNone/>
                      </a:pPr>
                      <a:r>
                        <a:rPr lang="en-IN" dirty="0"/>
                        <a:t>Yes</a:t>
                      </a:r>
                    </a:p>
                  </a:txBody>
                  <a:tcPr anchor="ctr"/>
                </a:tc>
                <a:extLst>
                  <a:ext uri="{0D108BD9-81ED-4DB2-BD59-A6C34878D82A}">
                    <a16:rowId xmlns:a16="http://schemas.microsoft.com/office/drawing/2014/main" val="3874892519"/>
                  </a:ext>
                </a:extLst>
              </a:tr>
            </a:tbl>
          </a:graphicData>
        </a:graphic>
      </p:graphicFrame>
    </p:spTree>
    <p:extLst>
      <p:ext uri="{BB962C8B-B14F-4D97-AF65-F5344CB8AC3E}">
        <p14:creationId xmlns:p14="http://schemas.microsoft.com/office/powerpoint/2010/main" val="304192922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80C9D-AA59-6609-8505-38EB03E80AC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1CB39C1-6C66-C6BC-CCFE-DE64FF03C2F3}"/>
              </a:ext>
            </a:extLst>
          </p:cNvPr>
          <p:cNvSpPr>
            <a:spLocks noGrp="1"/>
          </p:cNvSpPr>
          <p:nvPr>
            <p:ph sz="quarter" idx="12"/>
          </p:nvPr>
        </p:nvSpPr>
        <p:spPr/>
        <p:txBody>
          <a:bodyPr/>
          <a:lstStyle/>
          <a:p>
            <a:r>
              <a:rPr lang="en-US" dirty="0"/>
              <a:t>CREATE MATERIALIZED VIEW </a:t>
            </a:r>
            <a:r>
              <a:rPr lang="en-US" dirty="0" err="1"/>
              <a:t>mv_city_sales</a:t>
            </a:r>
            <a:r>
              <a:rPr lang="en-US" dirty="0"/>
              <a:t> AS</a:t>
            </a:r>
          </a:p>
          <a:p>
            <a:r>
              <a:rPr lang="en-US" dirty="0"/>
              <a:t>SELECT</a:t>
            </a:r>
          </a:p>
          <a:p>
            <a:r>
              <a:rPr lang="en-US" dirty="0"/>
              <a:t>    city,</a:t>
            </a:r>
          </a:p>
          <a:p>
            <a:r>
              <a:rPr lang="en-US" dirty="0"/>
              <a:t>    COUNT(*) AS </a:t>
            </a:r>
            <a:r>
              <a:rPr lang="en-US" dirty="0" err="1"/>
              <a:t>total_sales</a:t>
            </a:r>
            <a:r>
              <a:rPr lang="en-US" dirty="0"/>
              <a:t>,</a:t>
            </a:r>
          </a:p>
          <a:p>
            <a:r>
              <a:rPr lang="en-US" dirty="0"/>
              <a:t>    SUM(price * quantity) AS </a:t>
            </a:r>
            <a:r>
              <a:rPr lang="en-US" dirty="0" err="1"/>
              <a:t>total_revenue</a:t>
            </a:r>
            <a:r>
              <a:rPr lang="en-US" dirty="0"/>
              <a:t>,</a:t>
            </a:r>
          </a:p>
          <a:p>
            <a:r>
              <a:rPr lang="en-US" dirty="0"/>
              <a:t>    AVG(price) AS </a:t>
            </a:r>
            <a:r>
              <a:rPr lang="en-US" dirty="0" err="1"/>
              <a:t>avg_price</a:t>
            </a:r>
            <a:endParaRPr lang="en-US" dirty="0"/>
          </a:p>
          <a:p>
            <a:r>
              <a:rPr lang="en-US" dirty="0"/>
              <a:t>FROM </a:t>
            </a:r>
            <a:r>
              <a:rPr lang="en-US" dirty="0" err="1"/>
              <a:t>vehicle_sales</a:t>
            </a:r>
            <a:endParaRPr lang="en-US" dirty="0"/>
          </a:p>
          <a:p>
            <a:r>
              <a:rPr lang="en-US" dirty="0"/>
              <a:t>GROUP BY city;</a:t>
            </a:r>
            <a:endParaRPr lang="en-IN" dirty="0"/>
          </a:p>
        </p:txBody>
      </p:sp>
      <p:sp>
        <p:nvSpPr>
          <p:cNvPr id="3" name="Title 2">
            <a:extLst>
              <a:ext uri="{FF2B5EF4-FFF2-40B4-BE49-F238E27FC236}">
                <a16:creationId xmlns:a16="http://schemas.microsoft.com/office/drawing/2014/main" id="{0763B01A-13C5-D19F-3DE9-E3F3501E501A}"/>
              </a:ext>
            </a:extLst>
          </p:cNvPr>
          <p:cNvSpPr>
            <a:spLocks noGrp="1"/>
          </p:cNvSpPr>
          <p:nvPr>
            <p:ph type="title"/>
          </p:nvPr>
        </p:nvSpPr>
        <p:spPr/>
        <p:txBody>
          <a:bodyPr/>
          <a:lstStyle/>
          <a:p>
            <a:r>
              <a:rPr lang="en-IN" dirty="0"/>
              <a:t>Materialized View</a:t>
            </a:r>
          </a:p>
        </p:txBody>
      </p:sp>
    </p:spTree>
    <p:extLst>
      <p:ext uri="{BB962C8B-B14F-4D97-AF65-F5344CB8AC3E}">
        <p14:creationId xmlns:p14="http://schemas.microsoft.com/office/powerpoint/2010/main" val="43221078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035C1-BB72-E746-1D19-45A0D4E3231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8215272-4DC2-3D62-96BA-B0FFAD3D9EA9}"/>
              </a:ext>
            </a:extLst>
          </p:cNvPr>
          <p:cNvSpPr>
            <a:spLocks noGrp="1"/>
          </p:cNvSpPr>
          <p:nvPr>
            <p:ph sz="quarter" idx="12"/>
          </p:nvPr>
        </p:nvSpPr>
        <p:spPr/>
        <p:txBody>
          <a:bodyPr/>
          <a:lstStyle/>
          <a:p>
            <a:r>
              <a:rPr lang="en-IN" dirty="0"/>
              <a:t>Query it like a table:</a:t>
            </a:r>
          </a:p>
          <a:p>
            <a:r>
              <a:rPr lang="en-IN" dirty="0"/>
              <a:t>SELECT * FROM </a:t>
            </a:r>
            <a:r>
              <a:rPr lang="en-IN" dirty="0" err="1"/>
              <a:t>mv_city_sales</a:t>
            </a:r>
            <a:r>
              <a:rPr lang="en-IN" dirty="0"/>
              <a:t>;</a:t>
            </a:r>
          </a:p>
          <a:p>
            <a:endParaRPr lang="en-IN" dirty="0"/>
          </a:p>
        </p:txBody>
      </p:sp>
      <p:sp>
        <p:nvSpPr>
          <p:cNvPr id="3" name="Title 2">
            <a:extLst>
              <a:ext uri="{FF2B5EF4-FFF2-40B4-BE49-F238E27FC236}">
                <a16:creationId xmlns:a16="http://schemas.microsoft.com/office/drawing/2014/main" id="{AC6BA52E-79D3-1C0B-93DC-8EF29FAB513C}"/>
              </a:ext>
            </a:extLst>
          </p:cNvPr>
          <p:cNvSpPr>
            <a:spLocks noGrp="1"/>
          </p:cNvSpPr>
          <p:nvPr>
            <p:ph type="title"/>
          </p:nvPr>
        </p:nvSpPr>
        <p:spPr/>
        <p:txBody>
          <a:bodyPr/>
          <a:lstStyle/>
          <a:p>
            <a:r>
              <a:rPr lang="en-IN" dirty="0"/>
              <a:t>Materialized View</a:t>
            </a:r>
          </a:p>
        </p:txBody>
      </p:sp>
    </p:spTree>
    <p:extLst>
      <p:ext uri="{BB962C8B-B14F-4D97-AF65-F5344CB8AC3E}">
        <p14:creationId xmlns:p14="http://schemas.microsoft.com/office/powerpoint/2010/main" val="104586337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79CB1-791A-362E-2A73-F791AF47BE0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5657A60-8143-81A7-5EA7-A68C53B326F1}"/>
              </a:ext>
            </a:extLst>
          </p:cNvPr>
          <p:cNvSpPr>
            <a:spLocks noGrp="1"/>
          </p:cNvSpPr>
          <p:nvPr>
            <p:ph sz="quarter" idx="12"/>
          </p:nvPr>
        </p:nvSpPr>
        <p:spPr/>
        <p:txBody>
          <a:bodyPr>
            <a:normAutofit/>
          </a:bodyPr>
          <a:lstStyle/>
          <a:p>
            <a:r>
              <a:rPr lang="en-IN" dirty="0"/>
              <a:t>Changes in the base table are </a:t>
            </a:r>
            <a:r>
              <a:rPr lang="en-IN" b="1" dirty="0"/>
              <a:t>not automatically reflected</a:t>
            </a:r>
            <a:r>
              <a:rPr lang="en-IN" dirty="0"/>
              <a:t>.</a:t>
            </a:r>
          </a:p>
          <a:p>
            <a:r>
              <a:rPr lang="en-IN" dirty="0"/>
              <a:t>REFRESH MATERIALIZED VIEW </a:t>
            </a:r>
            <a:r>
              <a:rPr lang="en-IN" dirty="0" err="1"/>
              <a:t>mv_city_sales</a:t>
            </a:r>
            <a:r>
              <a:rPr lang="en-IN" dirty="0"/>
              <a:t>;</a:t>
            </a:r>
          </a:p>
          <a:p>
            <a:r>
              <a:rPr lang="en-IN" dirty="0"/>
              <a:t>Example:</a:t>
            </a:r>
          </a:p>
          <a:p>
            <a:pPr lvl="1"/>
            <a:r>
              <a:rPr lang="en-IN" dirty="0"/>
              <a:t>INSERT INTO </a:t>
            </a:r>
            <a:r>
              <a:rPr lang="en-IN" dirty="0" err="1"/>
              <a:t>vehicle_sales</a:t>
            </a:r>
            <a:endParaRPr lang="en-IN" dirty="0"/>
          </a:p>
          <a:p>
            <a:pPr lvl="1"/>
            <a:r>
              <a:rPr lang="en-IN" dirty="0"/>
              <a:t>VALUES (101, 'X5', 'Petrol', 'Chennai', 8500000, 1);</a:t>
            </a:r>
          </a:p>
          <a:p>
            <a:pPr lvl="1"/>
            <a:endParaRPr lang="en-IN" dirty="0"/>
          </a:p>
          <a:p>
            <a:r>
              <a:rPr lang="en-IN" dirty="0"/>
              <a:t>-- materialized view still contains old data</a:t>
            </a:r>
          </a:p>
          <a:p>
            <a:endParaRPr lang="en-IN" dirty="0"/>
          </a:p>
          <a:p>
            <a:pPr lvl="1"/>
            <a:r>
              <a:rPr lang="en-IN" dirty="0"/>
              <a:t>REFRESH MATERIALIZED VIEW </a:t>
            </a:r>
            <a:r>
              <a:rPr lang="en-IN" dirty="0" err="1"/>
              <a:t>mv_city_sales</a:t>
            </a:r>
            <a:r>
              <a:rPr lang="en-IN" dirty="0"/>
              <a:t>;</a:t>
            </a:r>
          </a:p>
          <a:p>
            <a:endParaRPr lang="en-IN" dirty="0"/>
          </a:p>
        </p:txBody>
      </p:sp>
      <p:sp>
        <p:nvSpPr>
          <p:cNvPr id="3" name="Title 2">
            <a:extLst>
              <a:ext uri="{FF2B5EF4-FFF2-40B4-BE49-F238E27FC236}">
                <a16:creationId xmlns:a16="http://schemas.microsoft.com/office/drawing/2014/main" id="{0834E117-AE45-E3AB-D3F8-4FFCB7CC8766}"/>
              </a:ext>
            </a:extLst>
          </p:cNvPr>
          <p:cNvSpPr>
            <a:spLocks noGrp="1"/>
          </p:cNvSpPr>
          <p:nvPr>
            <p:ph type="title"/>
          </p:nvPr>
        </p:nvSpPr>
        <p:spPr/>
        <p:txBody>
          <a:bodyPr/>
          <a:lstStyle/>
          <a:p>
            <a:r>
              <a:rPr lang="en-IN" dirty="0"/>
              <a:t>Refreshing a Materialized View</a:t>
            </a:r>
          </a:p>
        </p:txBody>
      </p:sp>
    </p:spTree>
    <p:extLst>
      <p:ext uri="{BB962C8B-B14F-4D97-AF65-F5344CB8AC3E}">
        <p14:creationId xmlns:p14="http://schemas.microsoft.com/office/powerpoint/2010/main" val="241223197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49FB8-AE4C-380B-FFBE-5E4CC07F5BE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01C44E8-39AD-2217-5B6B-1766D7F08C23}"/>
              </a:ext>
            </a:extLst>
          </p:cNvPr>
          <p:cNvSpPr>
            <a:spLocks noGrp="1"/>
          </p:cNvSpPr>
          <p:nvPr>
            <p:ph sz="quarter" idx="12"/>
          </p:nvPr>
        </p:nvSpPr>
        <p:spPr/>
        <p:txBody>
          <a:bodyPr>
            <a:normAutofit/>
          </a:bodyPr>
          <a:lstStyle/>
          <a:p>
            <a:r>
              <a:rPr lang="en-IN" dirty="0"/>
              <a:t>For larger applications:</a:t>
            </a:r>
          </a:p>
          <a:p>
            <a:pPr lvl="1"/>
            <a:r>
              <a:rPr lang="en-IN" dirty="0"/>
              <a:t>REFRESH MATERIALIZED VIEW CONCURRENTLY </a:t>
            </a:r>
            <a:r>
              <a:rPr lang="en-IN" dirty="0" err="1"/>
              <a:t>mv_city_sales</a:t>
            </a:r>
            <a:r>
              <a:rPr lang="en-IN" dirty="0"/>
              <a:t>;</a:t>
            </a:r>
          </a:p>
          <a:p>
            <a:pPr lvl="1"/>
            <a:r>
              <a:rPr lang="en-IN" dirty="0"/>
              <a:t>This allows reads to continue while PostgreSQL refreshes the materialized view.</a:t>
            </a:r>
          </a:p>
          <a:p>
            <a:endParaRPr lang="en-IN" dirty="0"/>
          </a:p>
        </p:txBody>
      </p:sp>
      <p:sp>
        <p:nvSpPr>
          <p:cNvPr id="3" name="Title 2">
            <a:extLst>
              <a:ext uri="{FF2B5EF4-FFF2-40B4-BE49-F238E27FC236}">
                <a16:creationId xmlns:a16="http://schemas.microsoft.com/office/drawing/2014/main" id="{C9E3D97F-03AA-5248-4CB0-C4FCBF16B140}"/>
              </a:ext>
            </a:extLst>
          </p:cNvPr>
          <p:cNvSpPr>
            <a:spLocks noGrp="1"/>
          </p:cNvSpPr>
          <p:nvPr>
            <p:ph type="title"/>
          </p:nvPr>
        </p:nvSpPr>
        <p:spPr/>
        <p:txBody>
          <a:bodyPr/>
          <a:lstStyle/>
          <a:p>
            <a:r>
              <a:rPr lang="en-IN" dirty="0"/>
              <a:t>Concurrent refresh</a:t>
            </a:r>
          </a:p>
        </p:txBody>
      </p:sp>
    </p:spTree>
    <p:extLst>
      <p:ext uri="{BB962C8B-B14F-4D97-AF65-F5344CB8AC3E}">
        <p14:creationId xmlns:p14="http://schemas.microsoft.com/office/powerpoint/2010/main" val="397021737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FBDB047-8EF1-37E6-E203-8AFC2C547A30}"/>
              </a:ext>
            </a:extLst>
          </p:cNvPr>
          <p:cNvSpPr>
            <a:spLocks noGrp="1"/>
          </p:cNvSpPr>
          <p:nvPr>
            <p:ph type="title"/>
          </p:nvPr>
        </p:nvSpPr>
        <p:spPr/>
        <p:txBody>
          <a:bodyPr/>
          <a:lstStyle/>
          <a:p>
            <a:r>
              <a:rPr lang="en-IN" dirty="0"/>
              <a:t>When should you use one?</a:t>
            </a:r>
          </a:p>
        </p:txBody>
      </p:sp>
      <p:sp>
        <p:nvSpPr>
          <p:cNvPr id="5" name="TextBox 4">
            <a:extLst>
              <a:ext uri="{FF2B5EF4-FFF2-40B4-BE49-F238E27FC236}">
                <a16:creationId xmlns:a16="http://schemas.microsoft.com/office/drawing/2014/main" id="{05739D45-5081-FC90-2F00-5C9A3DAFEBFB}"/>
              </a:ext>
            </a:extLst>
          </p:cNvPr>
          <p:cNvSpPr txBox="1"/>
          <p:nvPr/>
        </p:nvSpPr>
        <p:spPr>
          <a:xfrm>
            <a:off x="2288157" y="1676400"/>
            <a:ext cx="4576312" cy="3693319"/>
          </a:xfrm>
          <a:prstGeom prst="rect">
            <a:avLst/>
          </a:prstGeom>
          <a:noFill/>
        </p:spPr>
        <p:txBody>
          <a:bodyPr wrap="square">
            <a:spAutoFit/>
          </a:bodyPr>
          <a:lstStyle/>
          <a:p>
            <a:r>
              <a:rPr lang="en-IN" dirty="0" err="1"/>
              <a:t>vehicle_sales</a:t>
            </a:r>
            <a:endParaRPr lang="en-IN" dirty="0"/>
          </a:p>
          <a:p>
            <a:r>
              <a:rPr lang="en-IN" dirty="0"/>
              <a:t>      │</a:t>
            </a:r>
          </a:p>
          <a:p>
            <a:r>
              <a:rPr lang="en-IN" dirty="0"/>
              <a:t>      │ millions of rows</a:t>
            </a:r>
          </a:p>
          <a:p>
            <a:r>
              <a:rPr lang="en-IN" dirty="0"/>
              <a:t>      ▼</a:t>
            </a:r>
          </a:p>
          <a:p>
            <a:r>
              <a:rPr lang="en-IN" dirty="0"/>
              <a:t>GROUP BY + JOIN + SUM + AVG</a:t>
            </a:r>
          </a:p>
          <a:p>
            <a:r>
              <a:rPr lang="en-IN" dirty="0"/>
              <a:t>      │</a:t>
            </a:r>
          </a:p>
          <a:p>
            <a:r>
              <a:rPr lang="en-IN" dirty="0"/>
              <a:t>      ▼</a:t>
            </a:r>
          </a:p>
          <a:p>
            <a:r>
              <a:rPr lang="en-IN" dirty="0"/>
              <a:t>Materialized View</a:t>
            </a:r>
          </a:p>
          <a:p>
            <a:r>
              <a:rPr lang="en-IN" dirty="0"/>
              <a:t>      │</a:t>
            </a:r>
          </a:p>
          <a:p>
            <a:r>
              <a:rPr lang="en-IN" dirty="0"/>
              <a:t>      ├── Dashboard</a:t>
            </a:r>
          </a:p>
          <a:p>
            <a:r>
              <a:rPr lang="en-IN" dirty="0"/>
              <a:t>      ├── Reporting API</a:t>
            </a:r>
          </a:p>
          <a:p>
            <a:r>
              <a:rPr lang="en-IN" dirty="0"/>
              <a:t>      ├── Analytics</a:t>
            </a:r>
          </a:p>
          <a:p>
            <a:r>
              <a:rPr lang="en-IN" dirty="0"/>
              <a:t>      └── BI Tool</a:t>
            </a:r>
          </a:p>
        </p:txBody>
      </p:sp>
    </p:spTree>
    <p:extLst>
      <p:ext uri="{BB962C8B-B14F-4D97-AF65-F5344CB8AC3E}">
        <p14:creationId xmlns:p14="http://schemas.microsoft.com/office/powerpoint/2010/main" val="205317024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12EBB4A-547A-409D-8253-57E1E4137215}"/>
              </a:ext>
            </a:extLst>
          </p:cNvPr>
          <p:cNvSpPr>
            <a:spLocks noGrp="1"/>
          </p:cNvSpPr>
          <p:nvPr>
            <p:ph type="title"/>
          </p:nvPr>
        </p:nvSpPr>
        <p:spPr/>
        <p:txBody>
          <a:bodyPr/>
          <a:lstStyle/>
          <a:p>
            <a:r>
              <a:rPr lang="en-IN" dirty="0"/>
              <a:t>Explain and </a:t>
            </a:r>
            <a:r>
              <a:rPr lang="en-IN" dirty="0" err="1"/>
              <a:t>Analyze</a:t>
            </a:r>
            <a:endParaRPr lang="en-IN" dirty="0"/>
          </a:p>
        </p:txBody>
      </p:sp>
      <p:pic>
        <p:nvPicPr>
          <p:cNvPr id="5" name="Picture 4">
            <a:extLst>
              <a:ext uri="{FF2B5EF4-FFF2-40B4-BE49-F238E27FC236}">
                <a16:creationId xmlns:a16="http://schemas.microsoft.com/office/drawing/2014/main" id="{52AD1218-CE43-45CA-A3D0-350C47BE1D13}"/>
              </a:ext>
            </a:extLst>
          </p:cNvPr>
          <p:cNvPicPr>
            <a:picLocks noChangeAspect="1"/>
          </p:cNvPicPr>
          <p:nvPr/>
        </p:nvPicPr>
        <p:blipFill rotWithShape="1">
          <a:blip r:embed="rId2"/>
          <a:srcRect t="2945" b="5601"/>
          <a:stretch/>
        </p:blipFill>
        <p:spPr>
          <a:xfrm>
            <a:off x="461035" y="1564849"/>
            <a:ext cx="8454366" cy="4703975"/>
          </a:xfrm>
          <a:prstGeom prst="rect">
            <a:avLst/>
          </a:prstGeom>
        </p:spPr>
      </p:pic>
    </p:spTree>
    <p:extLst>
      <p:ext uri="{BB962C8B-B14F-4D97-AF65-F5344CB8AC3E}">
        <p14:creationId xmlns:p14="http://schemas.microsoft.com/office/powerpoint/2010/main" val="124852778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B6C0EB-E024-44EE-932D-7B55EF43AFD3}"/>
              </a:ext>
            </a:extLst>
          </p:cNvPr>
          <p:cNvSpPr>
            <a:spLocks noGrp="1"/>
          </p:cNvSpPr>
          <p:nvPr>
            <p:ph type="title"/>
          </p:nvPr>
        </p:nvSpPr>
        <p:spPr/>
        <p:txBody>
          <a:bodyPr/>
          <a:lstStyle/>
          <a:p>
            <a:r>
              <a:rPr lang="en-IN" dirty="0"/>
              <a:t>Materialized View</a:t>
            </a:r>
          </a:p>
        </p:txBody>
      </p:sp>
      <p:pic>
        <p:nvPicPr>
          <p:cNvPr id="5" name="Picture 4">
            <a:extLst>
              <a:ext uri="{FF2B5EF4-FFF2-40B4-BE49-F238E27FC236}">
                <a16:creationId xmlns:a16="http://schemas.microsoft.com/office/drawing/2014/main" id="{1C7E8953-602C-4B13-B5F7-21340554BAA8}"/>
              </a:ext>
            </a:extLst>
          </p:cNvPr>
          <p:cNvPicPr>
            <a:picLocks noChangeAspect="1"/>
          </p:cNvPicPr>
          <p:nvPr/>
        </p:nvPicPr>
        <p:blipFill rotWithShape="1">
          <a:blip r:embed="rId2"/>
          <a:srcRect t="2944" r="1455" b="4685"/>
          <a:stretch/>
        </p:blipFill>
        <p:spPr>
          <a:xfrm>
            <a:off x="461035" y="1676400"/>
            <a:ext cx="8301965" cy="4535864"/>
          </a:xfrm>
          <a:prstGeom prst="rect">
            <a:avLst/>
          </a:prstGeom>
        </p:spPr>
      </p:pic>
    </p:spTree>
    <p:extLst>
      <p:ext uri="{BB962C8B-B14F-4D97-AF65-F5344CB8AC3E}">
        <p14:creationId xmlns:p14="http://schemas.microsoft.com/office/powerpoint/2010/main" val="355347756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305A56-43FF-4A8F-8E8C-D3496732B5A9}"/>
              </a:ext>
            </a:extLst>
          </p:cNvPr>
          <p:cNvSpPr>
            <a:spLocks noGrp="1"/>
          </p:cNvSpPr>
          <p:nvPr>
            <p:ph type="title"/>
          </p:nvPr>
        </p:nvSpPr>
        <p:spPr/>
        <p:txBody>
          <a:bodyPr/>
          <a:lstStyle/>
          <a:p>
            <a:r>
              <a:rPr lang="en-IN" dirty="0"/>
              <a:t>Refreshing a MATERIALIZED VIEW</a:t>
            </a:r>
          </a:p>
        </p:txBody>
      </p:sp>
      <p:pic>
        <p:nvPicPr>
          <p:cNvPr id="5" name="Picture 4">
            <a:extLst>
              <a:ext uri="{FF2B5EF4-FFF2-40B4-BE49-F238E27FC236}">
                <a16:creationId xmlns:a16="http://schemas.microsoft.com/office/drawing/2014/main" id="{BCD7B267-C7ED-4409-B4B7-CD8CECE297CE}"/>
              </a:ext>
            </a:extLst>
          </p:cNvPr>
          <p:cNvPicPr>
            <a:picLocks noChangeAspect="1"/>
          </p:cNvPicPr>
          <p:nvPr/>
        </p:nvPicPr>
        <p:blipFill rotWithShape="1">
          <a:blip r:embed="rId2"/>
          <a:srcRect b="79095"/>
          <a:stretch/>
        </p:blipFill>
        <p:spPr>
          <a:xfrm>
            <a:off x="304799" y="1567389"/>
            <a:ext cx="8830865" cy="1204091"/>
          </a:xfrm>
          <a:prstGeom prst="rect">
            <a:avLst/>
          </a:prstGeom>
        </p:spPr>
      </p:pic>
    </p:spTree>
    <p:extLst>
      <p:ext uri="{BB962C8B-B14F-4D97-AF65-F5344CB8AC3E}">
        <p14:creationId xmlns:p14="http://schemas.microsoft.com/office/powerpoint/2010/main" val="115264385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A1D7B8A-484A-470F-AD69-E9373FA42156}"/>
              </a:ext>
            </a:extLst>
          </p:cNvPr>
          <p:cNvSpPr>
            <a:spLocks noGrp="1"/>
          </p:cNvSpPr>
          <p:nvPr>
            <p:ph sz="quarter" idx="12"/>
          </p:nvPr>
        </p:nvSpPr>
        <p:spPr/>
        <p:txBody>
          <a:bodyPr/>
          <a:lstStyle/>
          <a:p>
            <a:r>
              <a:rPr lang="en-US" dirty="0"/>
              <a:t>An Index is the structure or object by which we can retrieve specific rows or data faster. </a:t>
            </a:r>
          </a:p>
          <a:p>
            <a:r>
              <a:rPr lang="en-US" dirty="0"/>
              <a:t>Indexes can be created using one or multiple columns or by using the partial data depending on your query requirement conditions.</a:t>
            </a:r>
          </a:p>
          <a:p>
            <a:r>
              <a:rPr lang="en-US" dirty="0"/>
              <a:t>Index will create a pointer to the actual rows in the specified table.</a:t>
            </a:r>
            <a:endParaRPr lang="en-IN" dirty="0"/>
          </a:p>
        </p:txBody>
      </p:sp>
      <p:sp>
        <p:nvSpPr>
          <p:cNvPr id="3" name="Title 2">
            <a:extLst>
              <a:ext uri="{FF2B5EF4-FFF2-40B4-BE49-F238E27FC236}">
                <a16:creationId xmlns:a16="http://schemas.microsoft.com/office/drawing/2014/main" id="{51420E1A-879E-43EB-9A21-A01C07E3FFF7}"/>
              </a:ext>
            </a:extLst>
          </p:cNvPr>
          <p:cNvSpPr>
            <a:spLocks noGrp="1"/>
          </p:cNvSpPr>
          <p:nvPr>
            <p:ph type="title"/>
          </p:nvPr>
        </p:nvSpPr>
        <p:spPr/>
        <p:txBody>
          <a:bodyPr/>
          <a:lstStyle/>
          <a:p>
            <a:r>
              <a:rPr lang="en-IN" dirty="0"/>
              <a:t>Postgres  Index</a:t>
            </a:r>
          </a:p>
        </p:txBody>
      </p:sp>
    </p:spTree>
    <p:extLst>
      <p:ext uri="{BB962C8B-B14F-4D97-AF65-F5344CB8AC3E}">
        <p14:creationId xmlns:p14="http://schemas.microsoft.com/office/powerpoint/2010/main" val="39650417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420E1A-879E-43EB-9A21-A01C07E3FFF7}"/>
              </a:ext>
            </a:extLst>
          </p:cNvPr>
          <p:cNvSpPr>
            <a:spLocks noGrp="1"/>
          </p:cNvSpPr>
          <p:nvPr>
            <p:ph type="title"/>
          </p:nvPr>
        </p:nvSpPr>
        <p:spPr/>
        <p:txBody>
          <a:bodyPr/>
          <a:lstStyle/>
          <a:p>
            <a:r>
              <a:rPr lang="en-IN" dirty="0"/>
              <a:t>Postgres  Index</a:t>
            </a:r>
          </a:p>
        </p:txBody>
      </p:sp>
      <p:pic>
        <p:nvPicPr>
          <p:cNvPr id="1026" name="Picture 2" descr="Indexes">
            <a:extLst>
              <a:ext uri="{FF2B5EF4-FFF2-40B4-BE49-F238E27FC236}">
                <a16:creationId xmlns:a16="http://schemas.microsoft.com/office/drawing/2014/main" id="{1D0EE4E5-ABC4-AC53-C993-C6DB1E0F4D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5" y="1648343"/>
            <a:ext cx="9144000" cy="4121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166538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A1D7B8A-484A-470F-AD69-E9373FA42156}"/>
              </a:ext>
            </a:extLst>
          </p:cNvPr>
          <p:cNvSpPr>
            <a:spLocks noGrp="1"/>
          </p:cNvSpPr>
          <p:nvPr>
            <p:ph sz="quarter" idx="12"/>
          </p:nvPr>
        </p:nvSpPr>
        <p:spPr/>
        <p:txBody>
          <a:bodyPr>
            <a:normAutofit/>
          </a:bodyPr>
          <a:lstStyle/>
          <a:p>
            <a:r>
              <a:rPr lang="en-US" dirty="0"/>
              <a:t>Types Of Indexes </a:t>
            </a:r>
          </a:p>
          <a:p>
            <a:pPr lvl="1"/>
            <a:r>
              <a:rPr lang="en-US" dirty="0"/>
              <a:t>PostgreSQL server provides following types of indexes, which each uses a different algorithm: </a:t>
            </a:r>
          </a:p>
          <a:p>
            <a:pPr lvl="2"/>
            <a:r>
              <a:rPr lang="en-US" dirty="0"/>
              <a:t>B-tree</a:t>
            </a:r>
          </a:p>
          <a:p>
            <a:pPr lvl="2"/>
            <a:r>
              <a:rPr lang="en-US" dirty="0"/>
              <a:t>Hash</a:t>
            </a:r>
          </a:p>
          <a:p>
            <a:pPr lvl="2"/>
            <a:r>
              <a:rPr lang="en-US" dirty="0" err="1"/>
              <a:t>GiST</a:t>
            </a:r>
            <a:endParaRPr lang="en-US" dirty="0"/>
          </a:p>
          <a:p>
            <a:pPr lvl="2"/>
            <a:r>
              <a:rPr lang="en-US" dirty="0"/>
              <a:t>SP-</a:t>
            </a:r>
            <a:r>
              <a:rPr lang="en-US" dirty="0" err="1"/>
              <a:t>GiST</a:t>
            </a:r>
            <a:endParaRPr lang="en-US" dirty="0"/>
          </a:p>
          <a:p>
            <a:pPr lvl="2"/>
            <a:r>
              <a:rPr lang="en-US" dirty="0"/>
              <a:t>GIN</a:t>
            </a:r>
          </a:p>
          <a:p>
            <a:pPr lvl="2"/>
            <a:r>
              <a:rPr lang="en-US" dirty="0"/>
              <a:t>BRIN</a:t>
            </a:r>
            <a:endParaRPr lang="en-IN" dirty="0"/>
          </a:p>
        </p:txBody>
      </p:sp>
      <p:sp>
        <p:nvSpPr>
          <p:cNvPr id="3" name="Title 2">
            <a:extLst>
              <a:ext uri="{FF2B5EF4-FFF2-40B4-BE49-F238E27FC236}">
                <a16:creationId xmlns:a16="http://schemas.microsoft.com/office/drawing/2014/main" id="{51420E1A-879E-43EB-9A21-A01C07E3FFF7}"/>
              </a:ext>
            </a:extLst>
          </p:cNvPr>
          <p:cNvSpPr>
            <a:spLocks noGrp="1"/>
          </p:cNvSpPr>
          <p:nvPr>
            <p:ph type="title"/>
          </p:nvPr>
        </p:nvSpPr>
        <p:spPr/>
        <p:txBody>
          <a:bodyPr/>
          <a:lstStyle/>
          <a:p>
            <a:r>
              <a:rPr lang="en-IN" dirty="0"/>
              <a:t>Postgres  Index</a:t>
            </a:r>
          </a:p>
        </p:txBody>
      </p:sp>
    </p:spTree>
    <p:extLst>
      <p:ext uri="{BB962C8B-B14F-4D97-AF65-F5344CB8AC3E}">
        <p14:creationId xmlns:p14="http://schemas.microsoft.com/office/powerpoint/2010/main" val="384474029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0279295-BB31-4C29-8DBD-2BA731AF4648}"/>
              </a:ext>
            </a:extLst>
          </p:cNvPr>
          <p:cNvSpPr>
            <a:spLocks noGrp="1"/>
          </p:cNvSpPr>
          <p:nvPr>
            <p:ph sz="quarter" idx="12"/>
          </p:nvPr>
        </p:nvSpPr>
        <p:spPr/>
        <p:txBody>
          <a:bodyPr/>
          <a:lstStyle/>
          <a:p>
            <a:r>
              <a:rPr lang="en-US" dirty="0"/>
              <a:t>The most common and widely used index type is the B-tree index. </a:t>
            </a:r>
          </a:p>
          <a:p>
            <a:r>
              <a:rPr lang="en-US" dirty="0"/>
              <a:t>This is the default index type for the CREATE INDEX command, unless you explicitly mention the type during index creation. </a:t>
            </a:r>
          </a:p>
          <a:p>
            <a:r>
              <a:rPr lang="en-US" dirty="0"/>
              <a:t>If the indexed column is used to perform the comparison by using comparison operators such as &lt;, &lt;=, =, &gt;=, and &gt;, then the  Postgres optimizer uses the index created by the B-tree option for the specified column.</a:t>
            </a:r>
            <a:endParaRPr lang="en-IN" dirty="0"/>
          </a:p>
        </p:txBody>
      </p:sp>
      <p:sp>
        <p:nvSpPr>
          <p:cNvPr id="3" name="Title 2">
            <a:extLst>
              <a:ext uri="{FF2B5EF4-FFF2-40B4-BE49-F238E27FC236}">
                <a16:creationId xmlns:a16="http://schemas.microsoft.com/office/drawing/2014/main" id="{C39DD2BF-67D8-4B05-BFC3-040CC1C2823A}"/>
              </a:ext>
            </a:extLst>
          </p:cNvPr>
          <p:cNvSpPr>
            <a:spLocks noGrp="1"/>
          </p:cNvSpPr>
          <p:nvPr>
            <p:ph type="title"/>
          </p:nvPr>
        </p:nvSpPr>
        <p:spPr/>
        <p:txBody>
          <a:bodyPr/>
          <a:lstStyle/>
          <a:p>
            <a:r>
              <a:rPr lang="en-IN" dirty="0"/>
              <a:t>B-tree index </a:t>
            </a:r>
          </a:p>
        </p:txBody>
      </p:sp>
    </p:spTree>
    <p:extLst>
      <p:ext uri="{BB962C8B-B14F-4D97-AF65-F5344CB8AC3E}">
        <p14:creationId xmlns:p14="http://schemas.microsoft.com/office/powerpoint/2010/main" val="270196087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39DD2BF-67D8-4B05-BFC3-040CC1C2823A}"/>
              </a:ext>
            </a:extLst>
          </p:cNvPr>
          <p:cNvSpPr>
            <a:spLocks noGrp="1"/>
          </p:cNvSpPr>
          <p:nvPr>
            <p:ph type="title"/>
          </p:nvPr>
        </p:nvSpPr>
        <p:spPr/>
        <p:txBody>
          <a:bodyPr/>
          <a:lstStyle/>
          <a:p>
            <a:r>
              <a:rPr lang="en-IN" dirty="0"/>
              <a:t>B-tree index </a:t>
            </a:r>
          </a:p>
        </p:txBody>
      </p:sp>
      <p:pic>
        <p:nvPicPr>
          <p:cNvPr id="2050" name="Picture 2" descr="B-Tree">
            <a:extLst>
              <a:ext uri="{FF2B5EF4-FFF2-40B4-BE49-F238E27FC236}">
                <a16:creationId xmlns:a16="http://schemas.microsoft.com/office/drawing/2014/main" id="{250ED322-9D8D-D5BC-18B8-9A7745C4D3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1683" y="2239444"/>
            <a:ext cx="8274613" cy="33029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910678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9BC60B8-98E3-3A85-5FC5-D76BFC29964A}"/>
              </a:ext>
            </a:extLst>
          </p:cNvPr>
          <p:cNvSpPr>
            <a:spLocks noGrp="1"/>
          </p:cNvSpPr>
          <p:nvPr>
            <p:ph sz="quarter" idx="12"/>
          </p:nvPr>
        </p:nvSpPr>
        <p:spPr/>
        <p:txBody>
          <a:bodyPr>
            <a:normAutofit fontScale="85000" lnSpcReduction="10000"/>
          </a:bodyPr>
          <a:lstStyle/>
          <a:p>
            <a:r>
              <a:rPr lang="en-US" dirty="0"/>
              <a:t>Advantages:</a:t>
            </a:r>
          </a:p>
          <a:p>
            <a:pPr lvl="1"/>
            <a:r>
              <a:rPr lang="en-US" dirty="0"/>
              <a:t>Retain sorting data</a:t>
            </a:r>
          </a:p>
          <a:p>
            <a:pPr lvl="1"/>
            <a:r>
              <a:rPr lang="en-US" dirty="0"/>
              <a:t>Support the search for the unary and binary predicates</a:t>
            </a:r>
          </a:p>
          <a:p>
            <a:pPr lvl="1"/>
            <a:r>
              <a:rPr lang="en-US" dirty="0"/>
              <a:t>Allow the entire sequence of data to estimate cardinality (number of entries) for the entire index (and therefore the table), range, and with arbitrary precision without scanning</a:t>
            </a:r>
          </a:p>
          <a:p>
            <a:r>
              <a:rPr lang="en-US" dirty="0"/>
              <a:t>Disadvantages:</a:t>
            </a:r>
          </a:p>
          <a:p>
            <a:pPr lvl="1"/>
            <a:r>
              <a:rPr lang="en-US" dirty="0"/>
              <a:t>For their construction is require to perform a full sorting pairs (row, </a:t>
            </a:r>
            <a:r>
              <a:rPr lang="en-US" dirty="0" err="1"/>
              <a:t>RowId</a:t>
            </a:r>
            <a:r>
              <a:rPr lang="en-US" dirty="0"/>
              <a:t>) (slow operation)</a:t>
            </a:r>
          </a:p>
          <a:p>
            <a:pPr lvl="1"/>
            <a:r>
              <a:rPr lang="en-US" dirty="0"/>
              <a:t>Take up a lot of disk space. Index on unique “Integers” weights twice more as the column (because </a:t>
            </a:r>
            <a:r>
              <a:rPr lang="en-US" dirty="0" err="1"/>
              <a:t>additionaly</a:t>
            </a:r>
            <a:r>
              <a:rPr lang="en-US" dirty="0"/>
              <a:t> </a:t>
            </a:r>
            <a:r>
              <a:rPr lang="en-US" dirty="0" err="1"/>
              <a:t>RowId</a:t>
            </a:r>
            <a:r>
              <a:rPr lang="en-US" dirty="0"/>
              <a:t> need stored)</a:t>
            </a:r>
          </a:p>
          <a:p>
            <a:pPr lvl="1"/>
            <a:r>
              <a:rPr lang="en-US" dirty="0"/>
              <a:t>Recording unbalances tree constantly, and begins to store data sparsely, and the access time is increased by increasing the amount of disk information. What is why, B-Tree indexes require monitoring and periodic rebuilding</a:t>
            </a:r>
            <a:endParaRPr lang="en-IN" dirty="0"/>
          </a:p>
        </p:txBody>
      </p:sp>
      <p:sp>
        <p:nvSpPr>
          <p:cNvPr id="3" name="Title 2">
            <a:extLst>
              <a:ext uri="{FF2B5EF4-FFF2-40B4-BE49-F238E27FC236}">
                <a16:creationId xmlns:a16="http://schemas.microsoft.com/office/drawing/2014/main" id="{C39DD2BF-67D8-4B05-BFC3-040CC1C2823A}"/>
              </a:ext>
            </a:extLst>
          </p:cNvPr>
          <p:cNvSpPr>
            <a:spLocks noGrp="1"/>
          </p:cNvSpPr>
          <p:nvPr>
            <p:ph type="title"/>
          </p:nvPr>
        </p:nvSpPr>
        <p:spPr/>
        <p:txBody>
          <a:bodyPr/>
          <a:lstStyle/>
          <a:p>
            <a:r>
              <a:rPr lang="en-IN" dirty="0"/>
              <a:t>B-tree index </a:t>
            </a:r>
          </a:p>
        </p:txBody>
      </p:sp>
    </p:spTree>
    <p:extLst>
      <p:ext uri="{BB962C8B-B14F-4D97-AF65-F5344CB8AC3E}">
        <p14:creationId xmlns:p14="http://schemas.microsoft.com/office/powerpoint/2010/main" val="109492388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005EDE-BC0F-4D8D-941F-3667337A5F81}"/>
              </a:ext>
            </a:extLst>
          </p:cNvPr>
          <p:cNvSpPr>
            <a:spLocks noGrp="1"/>
          </p:cNvSpPr>
          <p:nvPr>
            <p:ph sz="quarter" idx="12"/>
          </p:nvPr>
        </p:nvSpPr>
        <p:spPr/>
        <p:txBody>
          <a:bodyPr>
            <a:normAutofit fontScale="92500" lnSpcReduction="20000"/>
          </a:bodyPr>
          <a:lstStyle/>
          <a:p>
            <a:r>
              <a:rPr lang="en-US" dirty="0"/>
              <a:t>SELECT</a:t>
            </a:r>
          </a:p>
          <a:p>
            <a:r>
              <a:rPr lang="en-US" dirty="0"/>
              <a:t>    </a:t>
            </a:r>
            <a:r>
              <a:rPr lang="en-US" dirty="0" err="1"/>
              <a:t>tablename</a:t>
            </a:r>
            <a:r>
              <a:rPr lang="en-US" dirty="0"/>
              <a:t>,</a:t>
            </a:r>
          </a:p>
          <a:p>
            <a:r>
              <a:rPr lang="en-US" dirty="0"/>
              <a:t>    </a:t>
            </a:r>
            <a:r>
              <a:rPr lang="en-US" dirty="0" err="1"/>
              <a:t>indexname</a:t>
            </a:r>
            <a:r>
              <a:rPr lang="en-US" dirty="0"/>
              <a:t>,</a:t>
            </a:r>
          </a:p>
          <a:p>
            <a:r>
              <a:rPr lang="en-US" dirty="0"/>
              <a:t>    </a:t>
            </a:r>
            <a:r>
              <a:rPr lang="en-US" dirty="0" err="1"/>
              <a:t>indexdef</a:t>
            </a:r>
            <a:endParaRPr lang="en-US" dirty="0"/>
          </a:p>
          <a:p>
            <a:r>
              <a:rPr lang="en-US" dirty="0"/>
              <a:t>FROM</a:t>
            </a:r>
          </a:p>
          <a:p>
            <a:r>
              <a:rPr lang="en-US" dirty="0"/>
              <a:t>    </a:t>
            </a:r>
            <a:r>
              <a:rPr lang="en-US" dirty="0" err="1"/>
              <a:t>pg_indexes</a:t>
            </a:r>
            <a:endParaRPr lang="en-US" dirty="0"/>
          </a:p>
          <a:p>
            <a:r>
              <a:rPr lang="en-US" dirty="0"/>
              <a:t>WHERE</a:t>
            </a:r>
          </a:p>
          <a:p>
            <a:r>
              <a:rPr lang="en-US" dirty="0"/>
              <a:t>    </a:t>
            </a:r>
            <a:r>
              <a:rPr lang="en-US" dirty="0" err="1"/>
              <a:t>schemaname</a:t>
            </a:r>
            <a:r>
              <a:rPr lang="en-US" dirty="0"/>
              <a:t> = 'public'</a:t>
            </a:r>
          </a:p>
          <a:p>
            <a:r>
              <a:rPr lang="en-US" dirty="0"/>
              <a:t>ORDER BY</a:t>
            </a:r>
          </a:p>
          <a:p>
            <a:r>
              <a:rPr lang="en-US" dirty="0"/>
              <a:t>    </a:t>
            </a:r>
            <a:r>
              <a:rPr lang="en-US" dirty="0" err="1"/>
              <a:t>tablename</a:t>
            </a:r>
            <a:r>
              <a:rPr lang="en-US" dirty="0"/>
              <a:t>,</a:t>
            </a:r>
          </a:p>
          <a:p>
            <a:r>
              <a:rPr lang="en-US" dirty="0"/>
              <a:t>    </a:t>
            </a:r>
            <a:r>
              <a:rPr lang="en-US" dirty="0" err="1"/>
              <a:t>indexname</a:t>
            </a:r>
            <a:r>
              <a:rPr lang="en-US" dirty="0"/>
              <a:t>;</a:t>
            </a:r>
            <a:endParaRPr lang="en-IN" dirty="0"/>
          </a:p>
        </p:txBody>
      </p:sp>
      <p:sp>
        <p:nvSpPr>
          <p:cNvPr id="3" name="Title 2">
            <a:extLst>
              <a:ext uri="{FF2B5EF4-FFF2-40B4-BE49-F238E27FC236}">
                <a16:creationId xmlns:a16="http://schemas.microsoft.com/office/drawing/2014/main" id="{D64B9123-BD25-43C8-9B62-FE39E987B4DB}"/>
              </a:ext>
            </a:extLst>
          </p:cNvPr>
          <p:cNvSpPr>
            <a:spLocks noGrp="1"/>
          </p:cNvSpPr>
          <p:nvPr>
            <p:ph type="title"/>
          </p:nvPr>
        </p:nvSpPr>
        <p:spPr/>
        <p:txBody>
          <a:bodyPr/>
          <a:lstStyle/>
          <a:p>
            <a:r>
              <a:rPr lang="en-IN" dirty="0"/>
              <a:t>List indexes</a:t>
            </a:r>
          </a:p>
        </p:txBody>
      </p:sp>
    </p:spTree>
    <p:extLst>
      <p:ext uri="{BB962C8B-B14F-4D97-AF65-F5344CB8AC3E}">
        <p14:creationId xmlns:p14="http://schemas.microsoft.com/office/powerpoint/2010/main" val="3081279827"/>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64B9123-BD25-43C8-9B62-FE39E987B4DB}"/>
              </a:ext>
            </a:extLst>
          </p:cNvPr>
          <p:cNvSpPr>
            <a:spLocks noGrp="1"/>
          </p:cNvSpPr>
          <p:nvPr>
            <p:ph type="title"/>
          </p:nvPr>
        </p:nvSpPr>
        <p:spPr/>
        <p:txBody>
          <a:bodyPr/>
          <a:lstStyle/>
          <a:p>
            <a:r>
              <a:rPr lang="en-IN" dirty="0"/>
              <a:t>List indexes</a:t>
            </a:r>
          </a:p>
        </p:txBody>
      </p:sp>
      <p:pic>
        <p:nvPicPr>
          <p:cNvPr id="7" name="Picture 6">
            <a:extLst>
              <a:ext uri="{FF2B5EF4-FFF2-40B4-BE49-F238E27FC236}">
                <a16:creationId xmlns:a16="http://schemas.microsoft.com/office/drawing/2014/main" id="{3BAED43D-3027-4C69-9752-E4D6E7965401}"/>
              </a:ext>
            </a:extLst>
          </p:cNvPr>
          <p:cNvPicPr>
            <a:picLocks noChangeAspect="1"/>
          </p:cNvPicPr>
          <p:nvPr/>
        </p:nvPicPr>
        <p:blipFill>
          <a:blip r:embed="rId2"/>
          <a:stretch>
            <a:fillRect/>
          </a:stretch>
        </p:blipFill>
        <p:spPr>
          <a:xfrm>
            <a:off x="381000" y="1524000"/>
            <a:ext cx="8610600" cy="4890744"/>
          </a:xfrm>
          <a:prstGeom prst="rect">
            <a:avLst/>
          </a:prstGeom>
        </p:spPr>
      </p:pic>
    </p:spTree>
    <p:extLst>
      <p:ext uri="{BB962C8B-B14F-4D97-AF65-F5344CB8AC3E}">
        <p14:creationId xmlns:p14="http://schemas.microsoft.com/office/powerpoint/2010/main" val="389430477"/>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3618C6-B783-4C53-B324-A1CE8D0497C8}"/>
              </a:ext>
            </a:extLst>
          </p:cNvPr>
          <p:cNvSpPr>
            <a:spLocks noGrp="1"/>
          </p:cNvSpPr>
          <p:nvPr>
            <p:ph type="title"/>
          </p:nvPr>
        </p:nvSpPr>
        <p:spPr/>
        <p:txBody>
          <a:bodyPr/>
          <a:lstStyle/>
          <a:p>
            <a:r>
              <a:rPr lang="en-IN" dirty="0"/>
              <a:t>B-Tree Index</a:t>
            </a:r>
          </a:p>
        </p:txBody>
      </p:sp>
      <p:pic>
        <p:nvPicPr>
          <p:cNvPr id="4" name="Picture 3">
            <a:extLst>
              <a:ext uri="{FF2B5EF4-FFF2-40B4-BE49-F238E27FC236}">
                <a16:creationId xmlns:a16="http://schemas.microsoft.com/office/drawing/2014/main" id="{01A241F0-2B0F-4BF9-ABCD-4EA2DC0A89E0}"/>
              </a:ext>
            </a:extLst>
          </p:cNvPr>
          <p:cNvPicPr>
            <a:picLocks noChangeAspect="1"/>
          </p:cNvPicPr>
          <p:nvPr/>
        </p:nvPicPr>
        <p:blipFill rotWithShape="1">
          <a:blip r:embed="rId2"/>
          <a:srcRect b="4319"/>
          <a:stretch/>
        </p:blipFill>
        <p:spPr>
          <a:xfrm>
            <a:off x="381000" y="1447800"/>
            <a:ext cx="8534400" cy="4921381"/>
          </a:xfrm>
          <a:prstGeom prst="rect">
            <a:avLst/>
          </a:prstGeom>
        </p:spPr>
      </p:pic>
    </p:spTree>
    <p:extLst>
      <p:ext uri="{BB962C8B-B14F-4D97-AF65-F5344CB8AC3E}">
        <p14:creationId xmlns:p14="http://schemas.microsoft.com/office/powerpoint/2010/main" val="2543928425"/>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3618C6-B783-4C53-B324-A1CE8D0497C8}"/>
              </a:ext>
            </a:extLst>
          </p:cNvPr>
          <p:cNvSpPr>
            <a:spLocks noGrp="1"/>
          </p:cNvSpPr>
          <p:nvPr>
            <p:ph type="title"/>
          </p:nvPr>
        </p:nvSpPr>
        <p:spPr/>
        <p:txBody>
          <a:bodyPr/>
          <a:lstStyle/>
          <a:p>
            <a:r>
              <a:rPr lang="en-IN" dirty="0"/>
              <a:t>B-Tree Index</a:t>
            </a:r>
          </a:p>
        </p:txBody>
      </p:sp>
      <p:pic>
        <p:nvPicPr>
          <p:cNvPr id="4" name="Picture 3">
            <a:extLst>
              <a:ext uri="{FF2B5EF4-FFF2-40B4-BE49-F238E27FC236}">
                <a16:creationId xmlns:a16="http://schemas.microsoft.com/office/drawing/2014/main" id="{792FE8B4-6C29-4B84-9502-04A752670A29}"/>
              </a:ext>
            </a:extLst>
          </p:cNvPr>
          <p:cNvPicPr>
            <a:picLocks noChangeAspect="1"/>
          </p:cNvPicPr>
          <p:nvPr/>
        </p:nvPicPr>
        <p:blipFill rotWithShape="1">
          <a:blip r:embed="rId2"/>
          <a:srcRect l="14330" t="22921" r="35773" b="20264"/>
          <a:stretch/>
        </p:blipFill>
        <p:spPr>
          <a:xfrm>
            <a:off x="574157" y="1432875"/>
            <a:ext cx="7796845" cy="4993847"/>
          </a:xfrm>
          <a:prstGeom prst="rect">
            <a:avLst/>
          </a:prstGeom>
        </p:spPr>
      </p:pic>
    </p:spTree>
    <p:extLst>
      <p:ext uri="{BB962C8B-B14F-4D97-AF65-F5344CB8AC3E}">
        <p14:creationId xmlns:p14="http://schemas.microsoft.com/office/powerpoint/2010/main" val="226074640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3618C6-B783-4C53-B324-A1CE8D0497C8}"/>
              </a:ext>
            </a:extLst>
          </p:cNvPr>
          <p:cNvSpPr>
            <a:spLocks noGrp="1"/>
          </p:cNvSpPr>
          <p:nvPr>
            <p:ph type="title"/>
          </p:nvPr>
        </p:nvSpPr>
        <p:spPr/>
        <p:txBody>
          <a:bodyPr/>
          <a:lstStyle/>
          <a:p>
            <a:r>
              <a:rPr lang="en-IN" dirty="0"/>
              <a:t>B-Tree Index</a:t>
            </a:r>
          </a:p>
        </p:txBody>
      </p:sp>
      <p:pic>
        <p:nvPicPr>
          <p:cNvPr id="5" name="Picture 4">
            <a:extLst>
              <a:ext uri="{FF2B5EF4-FFF2-40B4-BE49-F238E27FC236}">
                <a16:creationId xmlns:a16="http://schemas.microsoft.com/office/drawing/2014/main" id="{ACEBE985-EA69-4A28-B999-9C00800FD4B9}"/>
              </a:ext>
            </a:extLst>
          </p:cNvPr>
          <p:cNvPicPr>
            <a:picLocks noChangeAspect="1"/>
          </p:cNvPicPr>
          <p:nvPr/>
        </p:nvPicPr>
        <p:blipFill rotWithShape="1">
          <a:blip r:embed="rId2"/>
          <a:srcRect b="5418"/>
          <a:stretch/>
        </p:blipFill>
        <p:spPr>
          <a:xfrm>
            <a:off x="461035" y="1524000"/>
            <a:ext cx="8530566" cy="4864820"/>
          </a:xfrm>
          <a:prstGeom prst="rect">
            <a:avLst/>
          </a:prstGeom>
        </p:spPr>
      </p:pic>
    </p:spTree>
    <p:extLst>
      <p:ext uri="{BB962C8B-B14F-4D97-AF65-F5344CB8AC3E}">
        <p14:creationId xmlns:p14="http://schemas.microsoft.com/office/powerpoint/2010/main" val="153114188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3618C6-B783-4C53-B324-A1CE8D0497C8}"/>
              </a:ext>
            </a:extLst>
          </p:cNvPr>
          <p:cNvSpPr>
            <a:spLocks noGrp="1"/>
          </p:cNvSpPr>
          <p:nvPr>
            <p:ph type="title"/>
          </p:nvPr>
        </p:nvSpPr>
        <p:spPr/>
        <p:txBody>
          <a:bodyPr/>
          <a:lstStyle/>
          <a:p>
            <a:r>
              <a:rPr lang="en-IN" dirty="0"/>
              <a:t>B-Tree Index</a:t>
            </a:r>
          </a:p>
        </p:txBody>
      </p:sp>
      <p:pic>
        <p:nvPicPr>
          <p:cNvPr id="5" name="Picture 4">
            <a:extLst>
              <a:ext uri="{FF2B5EF4-FFF2-40B4-BE49-F238E27FC236}">
                <a16:creationId xmlns:a16="http://schemas.microsoft.com/office/drawing/2014/main" id="{C37E05F0-65DA-4C35-82EF-9C8989AE67B2}"/>
              </a:ext>
            </a:extLst>
          </p:cNvPr>
          <p:cNvPicPr>
            <a:picLocks noChangeAspect="1"/>
          </p:cNvPicPr>
          <p:nvPr/>
        </p:nvPicPr>
        <p:blipFill rotWithShape="1">
          <a:blip r:embed="rId2"/>
          <a:srcRect l="13402" t="30618" r="35670" b="5052"/>
          <a:stretch/>
        </p:blipFill>
        <p:spPr>
          <a:xfrm>
            <a:off x="254523" y="1303625"/>
            <a:ext cx="8205260" cy="5478960"/>
          </a:xfrm>
          <a:prstGeom prst="rect">
            <a:avLst/>
          </a:prstGeom>
        </p:spPr>
      </p:pic>
    </p:spTree>
    <p:extLst>
      <p:ext uri="{BB962C8B-B14F-4D97-AF65-F5344CB8AC3E}">
        <p14:creationId xmlns:p14="http://schemas.microsoft.com/office/powerpoint/2010/main" val="260605387"/>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CC5DF79-FDB7-41AA-A1B3-412CB6D374F8}"/>
              </a:ext>
            </a:extLst>
          </p:cNvPr>
          <p:cNvSpPr>
            <a:spLocks noGrp="1"/>
          </p:cNvSpPr>
          <p:nvPr>
            <p:ph type="title"/>
          </p:nvPr>
        </p:nvSpPr>
        <p:spPr/>
        <p:txBody>
          <a:bodyPr/>
          <a:lstStyle/>
          <a:p>
            <a:r>
              <a:rPr lang="en-IN" dirty="0"/>
              <a:t>Hash index</a:t>
            </a:r>
          </a:p>
        </p:txBody>
      </p:sp>
      <p:pic>
        <p:nvPicPr>
          <p:cNvPr id="3074" name="Picture 2" descr="Hash indexes">
            <a:extLst>
              <a:ext uri="{FF2B5EF4-FFF2-40B4-BE49-F238E27FC236}">
                <a16:creationId xmlns:a16="http://schemas.microsoft.com/office/drawing/2014/main" id="{F663367A-C842-C844-5B69-88FAA247BA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396" y="1204063"/>
            <a:ext cx="8205261" cy="5653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2359332"/>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7CD8573-E8F0-8C65-C1A2-E9C3669F04CC}"/>
              </a:ext>
            </a:extLst>
          </p:cNvPr>
          <p:cNvSpPr>
            <a:spLocks noGrp="1"/>
          </p:cNvSpPr>
          <p:nvPr>
            <p:ph sz="quarter" idx="12"/>
          </p:nvPr>
        </p:nvSpPr>
        <p:spPr/>
        <p:txBody>
          <a:bodyPr>
            <a:normAutofit/>
          </a:bodyPr>
          <a:lstStyle/>
          <a:p>
            <a:r>
              <a:rPr lang="en-US" dirty="0"/>
              <a:t>Advantages:</a:t>
            </a:r>
          </a:p>
          <a:p>
            <a:pPr lvl="1"/>
            <a:r>
              <a:rPr lang="en-US" dirty="0"/>
              <a:t>Very fast search O(1)</a:t>
            </a:r>
          </a:p>
          <a:p>
            <a:pPr lvl="1"/>
            <a:r>
              <a:rPr lang="en-US" dirty="0"/>
              <a:t>Stability - the index does not need to be rebuild</a:t>
            </a:r>
          </a:p>
          <a:p>
            <a:r>
              <a:rPr lang="en-US" dirty="0"/>
              <a:t>Disadvantages:</a:t>
            </a:r>
          </a:p>
          <a:p>
            <a:r>
              <a:rPr lang="en-US" dirty="0"/>
              <a:t>Hash is very sensitive to collisions. In the case of “bad” data distribution, most of the entries will be concentrated in a few bouquets, and in fact the search will occur through collision resolution.</a:t>
            </a:r>
            <a:endParaRPr lang="en-IN" dirty="0"/>
          </a:p>
        </p:txBody>
      </p:sp>
      <p:sp>
        <p:nvSpPr>
          <p:cNvPr id="3" name="Title 2">
            <a:extLst>
              <a:ext uri="{FF2B5EF4-FFF2-40B4-BE49-F238E27FC236}">
                <a16:creationId xmlns:a16="http://schemas.microsoft.com/office/drawing/2014/main" id="{5CC5DF79-FDB7-41AA-A1B3-412CB6D374F8}"/>
              </a:ext>
            </a:extLst>
          </p:cNvPr>
          <p:cNvSpPr>
            <a:spLocks noGrp="1"/>
          </p:cNvSpPr>
          <p:nvPr>
            <p:ph type="title"/>
          </p:nvPr>
        </p:nvSpPr>
        <p:spPr/>
        <p:txBody>
          <a:bodyPr/>
          <a:lstStyle/>
          <a:p>
            <a:r>
              <a:rPr lang="en-IN" dirty="0"/>
              <a:t>Hash index</a:t>
            </a:r>
          </a:p>
        </p:txBody>
      </p:sp>
    </p:spTree>
    <p:extLst>
      <p:ext uri="{BB962C8B-B14F-4D97-AF65-F5344CB8AC3E}">
        <p14:creationId xmlns:p14="http://schemas.microsoft.com/office/powerpoint/2010/main" val="232737637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3B56FA-9E57-4C24-849D-AEE57A8A3D87}"/>
              </a:ext>
            </a:extLst>
          </p:cNvPr>
          <p:cNvSpPr>
            <a:spLocks noGrp="1"/>
          </p:cNvSpPr>
          <p:nvPr>
            <p:ph sz="quarter" idx="12"/>
          </p:nvPr>
        </p:nvSpPr>
        <p:spPr>
          <a:xfrm>
            <a:off x="457201" y="1381125"/>
            <a:ext cx="8228012" cy="785553"/>
          </a:xfrm>
        </p:spPr>
        <p:txBody>
          <a:bodyPr>
            <a:normAutofit lnSpcReduction="10000"/>
          </a:bodyPr>
          <a:lstStyle/>
          <a:p>
            <a:r>
              <a:rPr lang="en-US" dirty="0"/>
              <a:t>The Hash index can be used only if the equality condition = is being used in the query.  </a:t>
            </a:r>
            <a:endParaRPr lang="en-IN" dirty="0"/>
          </a:p>
        </p:txBody>
      </p:sp>
      <p:sp>
        <p:nvSpPr>
          <p:cNvPr id="3" name="Title 2">
            <a:extLst>
              <a:ext uri="{FF2B5EF4-FFF2-40B4-BE49-F238E27FC236}">
                <a16:creationId xmlns:a16="http://schemas.microsoft.com/office/drawing/2014/main" id="{5CC5DF79-FDB7-41AA-A1B3-412CB6D374F8}"/>
              </a:ext>
            </a:extLst>
          </p:cNvPr>
          <p:cNvSpPr>
            <a:spLocks noGrp="1"/>
          </p:cNvSpPr>
          <p:nvPr>
            <p:ph type="title"/>
          </p:nvPr>
        </p:nvSpPr>
        <p:spPr/>
        <p:txBody>
          <a:bodyPr/>
          <a:lstStyle/>
          <a:p>
            <a:r>
              <a:rPr lang="en-IN" dirty="0"/>
              <a:t>Hash index</a:t>
            </a:r>
          </a:p>
        </p:txBody>
      </p:sp>
      <p:pic>
        <p:nvPicPr>
          <p:cNvPr id="7" name="Picture 6">
            <a:extLst>
              <a:ext uri="{FF2B5EF4-FFF2-40B4-BE49-F238E27FC236}">
                <a16:creationId xmlns:a16="http://schemas.microsoft.com/office/drawing/2014/main" id="{F216765E-AA0F-4C3E-89B4-671580AC35F0}"/>
              </a:ext>
            </a:extLst>
          </p:cNvPr>
          <p:cNvPicPr>
            <a:picLocks noChangeAspect="1"/>
          </p:cNvPicPr>
          <p:nvPr/>
        </p:nvPicPr>
        <p:blipFill rotWithShape="1">
          <a:blip r:embed="rId2"/>
          <a:srcRect l="21443" t="22188" r="38556" b="7801"/>
          <a:stretch/>
        </p:blipFill>
        <p:spPr>
          <a:xfrm>
            <a:off x="556181" y="2166678"/>
            <a:ext cx="8110115" cy="4441512"/>
          </a:xfrm>
          <a:prstGeom prst="rect">
            <a:avLst/>
          </a:prstGeom>
        </p:spPr>
      </p:pic>
    </p:spTree>
    <p:extLst>
      <p:ext uri="{BB962C8B-B14F-4D97-AF65-F5344CB8AC3E}">
        <p14:creationId xmlns:p14="http://schemas.microsoft.com/office/powerpoint/2010/main" val="146147219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6169B53-93B8-C2E9-6602-43A8EE7151C3}"/>
              </a:ext>
            </a:extLst>
          </p:cNvPr>
          <p:cNvSpPr>
            <a:spLocks noGrp="1"/>
          </p:cNvSpPr>
          <p:nvPr>
            <p:ph sz="quarter" idx="12"/>
          </p:nvPr>
        </p:nvSpPr>
        <p:spPr/>
        <p:txBody>
          <a:bodyPr/>
          <a:lstStyle/>
          <a:p>
            <a:r>
              <a:rPr lang="en-US" dirty="0"/>
              <a:t>Bitmap index create a separate bitmap (a sequence of 0 and 1) for each possible value of the column, where each bit corresponds to a string with an indexed value. Bitmap indexes are optimal for data where bit unique values (example, gender field).</a:t>
            </a:r>
            <a:endParaRPr lang="en-IN" dirty="0"/>
          </a:p>
        </p:txBody>
      </p:sp>
      <p:sp>
        <p:nvSpPr>
          <p:cNvPr id="3" name="Title 2">
            <a:extLst>
              <a:ext uri="{FF2B5EF4-FFF2-40B4-BE49-F238E27FC236}">
                <a16:creationId xmlns:a16="http://schemas.microsoft.com/office/drawing/2014/main" id="{75512B1F-4A51-CD62-CA94-E063D6DD1923}"/>
              </a:ext>
            </a:extLst>
          </p:cNvPr>
          <p:cNvSpPr>
            <a:spLocks noGrp="1"/>
          </p:cNvSpPr>
          <p:nvPr>
            <p:ph type="title"/>
          </p:nvPr>
        </p:nvSpPr>
        <p:spPr/>
        <p:txBody>
          <a:bodyPr/>
          <a:lstStyle/>
          <a:p>
            <a:r>
              <a:rPr lang="en-IN" dirty="0"/>
              <a:t>Bitmap index</a:t>
            </a:r>
          </a:p>
        </p:txBody>
      </p:sp>
    </p:spTree>
    <p:extLst>
      <p:ext uri="{BB962C8B-B14F-4D97-AF65-F5344CB8AC3E}">
        <p14:creationId xmlns:p14="http://schemas.microsoft.com/office/powerpoint/2010/main" val="2954964761"/>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5512B1F-4A51-CD62-CA94-E063D6DD1923}"/>
              </a:ext>
            </a:extLst>
          </p:cNvPr>
          <p:cNvSpPr>
            <a:spLocks noGrp="1"/>
          </p:cNvSpPr>
          <p:nvPr>
            <p:ph type="title"/>
          </p:nvPr>
        </p:nvSpPr>
        <p:spPr/>
        <p:txBody>
          <a:bodyPr/>
          <a:lstStyle/>
          <a:p>
            <a:r>
              <a:rPr lang="en-IN" dirty="0"/>
              <a:t>Bitmap index</a:t>
            </a:r>
          </a:p>
        </p:txBody>
      </p:sp>
      <p:pic>
        <p:nvPicPr>
          <p:cNvPr id="4098" name="Picture 2" descr="Bitmap indexes">
            <a:extLst>
              <a:ext uri="{FF2B5EF4-FFF2-40B4-BE49-F238E27FC236}">
                <a16:creationId xmlns:a16="http://schemas.microsoft.com/office/drawing/2014/main" id="{87182636-7BC9-C974-1B56-5364F9F168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2109" y="1693020"/>
            <a:ext cx="7905882" cy="4493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039089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6B627F-0B13-45E7-9F41-CCF4442B6CB8}"/>
              </a:ext>
            </a:extLst>
          </p:cNvPr>
          <p:cNvSpPr>
            <a:spLocks noGrp="1"/>
          </p:cNvSpPr>
          <p:nvPr>
            <p:ph sz="quarter" idx="12"/>
          </p:nvPr>
        </p:nvSpPr>
        <p:spPr/>
        <p:txBody>
          <a:bodyPr>
            <a:normAutofit/>
          </a:bodyPr>
          <a:lstStyle/>
          <a:p>
            <a:r>
              <a:rPr lang="en-US" dirty="0"/>
              <a:t>Advantages:</a:t>
            </a:r>
          </a:p>
          <a:p>
            <a:pPr lvl="1"/>
            <a:r>
              <a:rPr lang="en-US" dirty="0"/>
              <a:t>Compact representation (small amount of disk space)</a:t>
            </a:r>
          </a:p>
          <a:p>
            <a:pPr lvl="1"/>
            <a:r>
              <a:rPr lang="en-US" dirty="0"/>
              <a:t>Fast reading and searching for the predicate “is”</a:t>
            </a:r>
          </a:p>
          <a:p>
            <a:pPr lvl="1"/>
            <a:r>
              <a:rPr lang="en-US" dirty="0"/>
              <a:t>Effective algorithms for packing masks (even more compact representation, than indexed data)</a:t>
            </a:r>
          </a:p>
          <a:p>
            <a:r>
              <a:rPr lang="en-US" dirty="0"/>
              <a:t>Disadvantages:</a:t>
            </a:r>
          </a:p>
          <a:p>
            <a:pPr lvl="1"/>
            <a:r>
              <a:rPr lang="en-US" dirty="0"/>
              <a:t>You can not change the method of encoding values in the process of updating the data. From this it follows that if the distribution data has changed, it is required the index to be completely rebuild</a:t>
            </a:r>
            <a:endParaRPr lang="en-IN" dirty="0"/>
          </a:p>
        </p:txBody>
      </p:sp>
      <p:sp>
        <p:nvSpPr>
          <p:cNvPr id="3" name="Title 2">
            <a:extLst>
              <a:ext uri="{FF2B5EF4-FFF2-40B4-BE49-F238E27FC236}">
                <a16:creationId xmlns:a16="http://schemas.microsoft.com/office/drawing/2014/main" id="{75512B1F-4A51-CD62-CA94-E063D6DD1923}"/>
              </a:ext>
            </a:extLst>
          </p:cNvPr>
          <p:cNvSpPr>
            <a:spLocks noGrp="1"/>
          </p:cNvSpPr>
          <p:nvPr>
            <p:ph type="title"/>
          </p:nvPr>
        </p:nvSpPr>
        <p:spPr/>
        <p:txBody>
          <a:bodyPr/>
          <a:lstStyle/>
          <a:p>
            <a:r>
              <a:rPr lang="en-IN" dirty="0"/>
              <a:t>Bitmap index</a:t>
            </a:r>
          </a:p>
        </p:txBody>
      </p:sp>
    </p:spTree>
    <p:extLst>
      <p:ext uri="{BB962C8B-B14F-4D97-AF65-F5344CB8AC3E}">
        <p14:creationId xmlns:p14="http://schemas.microsoft.com/office/powerpoint/2010/main" val="363199912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1931F1-286F-456F-9BE7-A3CB9677D7B4}"/>
              </a:ext>
            </a:extLst>
          </p:cNvPr>
          <p:cNvSpPr>
            <a:spLocks noGrp="1"/>
          </p:cNvSpPr>
          <p:nvPr>
            <p:ph sz="quarter" idx="12"/>
          </p:nvPr>
        </p:nvSpPr>
        <p:spPr/>
        <p:txBody>
          <a:bodyPr>
            <a:normAutofit/>
          </a:bodyPr>
          <a:lstStyle/>
          <a:p>
            <a:r>
              <a:rPr lang="en-US" dirty="0" err="1"/>
              <a:t>GiST</a:t>
            </a:r>
            <a:r>
              <a:rPr lang="en-US" dirty="0"/>
              <a:t> stands for Generalized Search Tree Index. </a:t>
            </a:r>
          </a:p>
          <a:p>
            <a:r>
              <a:rPr lang="en-US" dirty="0"/>
              <a:t>The main point of </a:t>
            </a:r>
            <a:r>
              <a:rPr lang="en-US" dirty="0" err="1"/>
              <a:t>GiST</a:t>
            </a:r>
            <a:r>
              <a:rPr lang="en-US" dirty="0"/>
              <a:t> is to be able to index queries that simply are not indexable using B-tree. </a:t>
            </a:r>
          </a:p>
          <a:p>
            <a:r>
              <a:rPr lang="en-US" dirty="0"/>
              <a:t>So </a:t>
            </a:r>
            <a:r>
              <a:rPr lang="en-US" dirty="0" err="1"/>
              <a:t>GiST</a:t>
            </a:r>
            <a:r>
              <a:rPr lang="en-US" dirty="0"/>
              <a:t> is useful when you have queries that are not </a:t>
            </a:r>
            <a:r>
              <a:rPr lang="en-US" dirty="0" err="1"/>
              <a:t>btree</a:t>
            </a:r>
            <a:r>
              <a:rPr lang="en-US" dirty="0"/>
              <a:t>-indexable. </a:t>
            </a:r>
          </a:p>
          <a:p>
            <a:r>
              <a:rPr lang="en-US" dirty="0"/>
              <a:t>The column can be of </a:t>
            </a:r>
            <a:r>
              <a:rPr lang="en-US" dirty="0" err="1"/>
              <a:t>tsvector</a:t>
            </a:r>
            <a:r>
              <a:rPr lang="en-US" dirty="0"/>
              <a:t> or </a:t>
            </a:r>
            <a:r>
              <a:rPr lang="en-US" dirty="0" err="1"/>
              <a:t>tsquery</a:t>
            </a:r>
            <a:r>
              <a:rPr lang="en-US" dirty="0"/>
              <a:t> type.</a:t>
            </a:r>
          </a:p>
          <a:p>
            <a:r>
              <a:rPr lang="en-US" dirty="0"/>
              <a:t>There is a well-known, and pretty fast, geographic extension to PostgreSQL — </a:t>
            </a:r>
            <a:r>
              <a:rPr lang="en-US" dirty="0" err="1"/>
              <a:t>PostGIS</a:t>
            </a:r>
            <a:r>
              <a:rPr lang="en-US" dirty="0"/>
              <a:t>, which uses </a:t>
            </a:r>
            <a:r>
              <a:rPr lang="en-US" dirty="0" err="1"/>
              <a:t>GiST</a:t>
            </a:r>
            <a:r>
              <a:rPr lang="en-US" dirty="0"/>
              <a:t> for its purposes. </a:t>
            </a:r>
            <a:r>
              <a:rPr lang="en-US" dirty="0" err="1"/>
              <a:t>GiST</a:t>
            </a:r>
            <a:r>
              <a:rPr lang="en-US" dirty="0"/>
              <a:t> indexes are what is used if you want to speed up full text searches.</a:t>
            </a:r>
            <a:endParaRPr lang="en-IN" dirty="0"/>
          </a:p>
        </p:txBody>
      </p:sp>
      <p:sp>
        <p:nvSpPr>
          <p:cNvPr id="3" name="Title 2">
            <a:extLst>
              <a:ext uri="{FF2B5EF4-FFF2-40B4-BE49-F238E27FC236}">
                <a16:creationId xmlns:a16="http://schemas.microsoft.com/office/drawing/2014/main" id="{13793BEA-438F-4619-A21E-367910B0D231}"/>
              </a:ext>
            </a:extLst>
          </p:cNvPr>
          <p:cNvSpPr>
            <a:spLocks noGrp="1"/>
          </p:cNvSpPr>
          <p:nvPr>
            <p:ph type="title"/>
          </p:nvPr>
        </p:nvSpPr>
        <p:spPr/>
        <p:txBody>
          <a:bodyPr/>
          <a:lstStyle/>
          <a:p>
            <a:r>
              <a:rPr lang="en-US" dirty="0" err="1"/>
              <a:t>GiST</a:t>
            </a:r>
            <a:r>
              <a:rPr lang="en-US" dirty="0"/>
              <a:t> index (Generalized Search Tree index) </a:t>
            </a:r>
            <a:endParaRPr lang="en-IN" dirty="0"/>
          </a:p>
        </p:txBody>
      </p:sp>
    </p:spTree>
    <p:extLst>
      <p:ext uri="{BB962C8B-B14F-4D97-AF65-F5344CB8AC3E}">
        <p14:creationId xmlns:p14="http://schemas.microsoft.com/office/powerpoint/2010/main" val="307870680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793BEA-438F-4619-A21E-367910B0D231}"/>
              </a:ext>
            </a:extLst>
          </p:cNvPr>
          <p:cNvSpPr>
            <a:spLocks noGrp="1"/>
          </p:cNvSpPr>
          <p:nvPr>
            <p:ph type="title"/>
          </p:nvPr>
        </p:nvSpPr>
        <p:spPr/>
        <p:txBody>
          <a:bodyPr/>
          <a:lstStyle/>
          <a:p>
            <a:r>
              <a:rPr lang="en-US" dirty="0" err="1"/>
              <a:t>GiST</a:t>
            </a:r>
            <a:r>
              <a:rPr lang="en-US" dirty="0"/>
              <a:t> index (Generalized Search Tree index) </a:t>
            </a:r>
            <a:endParaRPr lang="en-IN" dirty="0"/>
          </a:p>
        </p:txBody>
      </p:sp>
      <p:pic>
        <p:nvPicPr>
          <p:cNvPr id="7" name="Picture 6">
            <a:extLst>
              <a:ext uri="{FF2B5EF4-FFF2-40B4-BE49-F238E27FC236}">
                <a16:creationId xmlns:a16="http://schemas.microsoft.com/office/drawing/2014/main" id="{D9DC5814-4001-4433-B1EB-130E2E2FB1FE}"/>
              </a:ext>
            </a:extLst>
          </p:cNvPr>
          <p:cNvPicPr>
            <a:picLocks noChangeAspect="1"/>
          </p:cNvPicPr>
          <p:nvPr/>
        </p:nvPicPr>
        <p:blipFill rotWithShape="1">
          <a:blip r:embed="rId2"/>
          <a:srcRect l="17423" t="22921" r="36185" b="17148"/>
          <a:stretch/>
        </p:blipFill>
        <p:spPr>
          <a:xfrm>
            <a:off x="918674" y="1225485"/>
            <a:ext cx="7306652" cy="5309500"/>
          </a:xfrm>
          <a:prstGeom prst="rect">
            <a:avLst/>
          </a:prstGeom>
        </p:spPr>
      </p:pic>
    </p:spTree>
    <p:extLst>
      <p:ext uri="{BB962C8B-B14F-4D97-AF65-F5344CB8AC3E}">
        <p14:creationId xmlns:p14="http://schemas.microsoft.com/office/powerpoint/2010/main" val="189476507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793BEA-438F-4619-A21E-367910B0D231}"/>
              </a:ext>
            </a:extLst>
          </p:cNvPr>
          <p:cNvSpPr>
            <a:spLocks noGrp="1"/>
          </p:cNvSpPr>
          <p:nvPr>
            <p:ph type="title"/>
          </p:nvPr>
        </p:nvSpPr>
        <p:spPr/>
        <p:txBody>
          <a:bodyPr/>
          <a:lstStyle/>
          <a:p>
            <a:r>
              <a:rPr lang="en-US" dirty="0" err="1"/>
              <a:t>GiST</a:t>
            </a:r>
            <a:r>
              <a:rPr lang="en-US" dirty="0"/>
              <a:t> index (Generalized Search Tree index) </a:t>
            </a:r>
            <a:endParaRPr lang="en-IN" dirty="0"/>
          </a:p>
        </p:txBody>
      </p:sp>
      <p:pic>
        <p:nvPicPr>
          <p:cNvPr id="7" name="Picture 6">
            <a:extLst>
              <a:ext uri="{FF2B5EF4-FFF2-40B4-BE49-F238E27FC236}">
                <a16:creationId xmlns:a16="http://schemas.microsoft.com/office/drawing/2014/main" id="{D9DC5814-4001-4433-B1EB-130E2E2FB1FE}"/>
              </a:ext>
            </a:extLst>
          </p:cNvPr>
          <p:cNvPicPr>
            <a:picLocks noChangeAspect="1"/>
          </p:cNvPicPr>
          <p:nvPr/>
        </p:nvPicPr>
        <p:blipFill rotWithShape="1">
          <a:blip r:embed="rId2"/>
          <a:srcRect l="17423" t="22921" r="36185" b="17148"/>
          <a:stretch/>
        </p:blipFill>
        <p:spPr>
          <a:xfrm>
            <a:off x="918674" y="1225485"/>
            <a:ext cx="7306652" cy="5309500"/>
          </a:xfrm>
          <a:prstGeom prst="rect">
            <a:avLst/>
          </a:prstGeom>
        </p:spPr>
      </p:pic>
    </p:spTree>
    <p:extLst>
      <p:ext uri="{BB962C8B-B14F-4D97-AF65-F5344CB8AC3E}">
        <p14:creationId xmlns:p14="http://schemas.microsoft.com/office/powerpoint/2010/main" val="951364434"/>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7C442D-62DE-4C9B-9DF6-6AAE19F7802B}"/>
              </a:ext>
            </a:extLst>
          </p:cNvPr>
          <p:cNvSpPr>
            <a:spLocks noGrp="1"/>
          </p:cNvSpPr>
          <p:nvPr>
            <p:ph sz="quarter" idx="12"/>
          </p:nvPr>
        </p:nvSpPr>
        <p:spPr/>
        <p:txBody>
          <a:bodyPr/>
          <a:lstStyle/>
          <a:p>
            <a:r>
              <a:rPr lang="en-US" dirty="0"/>
              <a:t>SP-</a:t>
            </a:r>
            <a:r>
              <a:rPr lang="en-US" dirty="0" err="1"/>
              <a:t>GiST</a:t>
            </a:r>
            <a:r>
              <a:rPr lang="en-US" dirty="0"/>
              <a:t> stands for “space-partitioned </a:t>
            </a:r>
            <a:r>
              <a:rPr lang="en-US" dirty="0" err="1"/>
              <a:t>GiST</a:t>
            </a:r>
            <a:r>
              <a:rPr lang="en-US" dirty="0"/>
              <a:t>.” </a:t>
            </a:r>
          </a:p>
          <a:p>
            <a:r>
              <a:rPr lang="en-US" dirty="0"/>
              <a:t>This index type supports non-balanced data structures such as quadtrees, k-d trees, and radix trees.</a:t>
            </a:r>
            <a:endParaRPr lang="en-IN" dirty="0"/>
          </a:p>
        </p:txBody>
      </p:sp>
      <p:sp>
        <p:nvSpPr>
          <p:cNvPr id="3" name="Title 2">
            <a:extLst>
              <a:ext uri="{FF2B5EF4-FFF2-40B4-BE49-F238E27FC236}">
                <a16:creationId xmlns:a16="http://schemas.microsoft.com/office/drawing/2014/main" id="{50BD13D2-71AF-48B8-AFBE-BF530E9F68CD}"/>
              </a:ext>
            </a:extLst>
          </p:cNvPr>
          <p:cNvSpPr>
            <a:spLocks noGrp="1"/>
          </p:cNvSpPr>
          <p:nvPr>
            <p:ph type="title"/>
          </p:nvPr>
        </p:nvSpPr>
        <p:spPr/>
        <p:txBody>
          <a:bodyPr/>
          <a:lstStyle/>
          <a:p>
            <a:r>
              <a:rPr lang="en-IN" dirty="0"/>
              <a:t>SP-</a:t>
            </a:r>
            <a:r>
              <a:rPr lang="en-IN" dirty="0" err="1"/>
              <a:t>GiST</a:t>
            </a:r>
            <a:r>
              <a:rPr lang="en-IN" dirty="0"/>
              <a:t> (Space-Partitioned </a:t>
            </a:r>
            <a:r>
              <a:rPr lang="en-IN" dirty="0" err="1"/>
              <a:t>GiST</a:t>
            </a:r>
            <a:r>
              <a:rPr lang="en-IN" dirty="0"/>
              <a:t>)</a:t>
            </a:r>
            <a:br>
              <a:rPr lang="en-IN" dirty="0"/>
            </a:br>
            <a:endParaRPr lang="en-IN" dirty="0"/>
          </a:p>
        </p:txBody>
      </p:sp>
    </p:spTree>
    <p:extLst>
      <p:ext uri="{BB962C8B-B14F-4D97-AF65-F5344CB8AC3E}">
        <p14:creationId xmlns:p14="http://schemas.microsoft.com/office/powerpoint/2010/main" val="392440138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7C442D-62DE-4C9B-9DF6-6AAE19F7802B}"/>
              </a:ext>
            </a:extLst>
          </p:cNvPr>
          <p:cNvSpPr>
            <a:spLocks noGrp="1"/>
          </p:cNvSpPr>
          <p:nvPr>
            <p:ph sz="quarter" idx="12"/>
          </p:nvPr>
        </p:nvSpPr>
        <p:spPr/>
        <p:txBody>
          <a:bodyPr/>
          <a:lstStyle/>
          <a:p>
            <a:r>
              <a:rPr lang="en-US" dirty="0"/>
              <a:t>GIN stands for “Generalized Inverted Index.” This are the “Inverted Indexes” that get used for multiple component values such as arrays.</a:t>
            </a:r>
          </a:p>
          <a:p>
            <a:r>
              <a:rPr lang="en-US" dirty="0"/>
              <a:t>The standard distribution of PostgreSQL includes a GIN operator class for arrays, which supports indexed queries using these operators: &lt;@, @&gt;, =, and &amp;&amp;.</a:t>
            </a:r>
            <a:endParaRPr lang="en-IN" dirty="0"/>
          </a:p>
        </p:txBody>
      </p:sp>
      <p:sp>
        <p:nvSpPr>
          <p:cNvPr id="3" name="Title 2">
            <a:extLst>
              <a:ext uri="{FF2B5EF4-FFF2-40B4-BE49-F238E27FC236}">
                <a16:creationId xmlns:a16="http://schemas.microsoft.com/office/drawing/2014/main" id="{50BD13D2-71AF-48B8-AFBE-BF530E9F68CD}"/>
              </a:ext>
            </a:extLst>
          </p:cNvPr>
          <p:cNvSpPr>
            <a:spLocks noGrp="1"/>
          </p:cNvSpPr>
          <p:nvPr>
            <p:ph type="title"/>
          </p:nvPr>
        </p:nvSpPr>
        <p:spPr/>
        <p:txBody>
          <a:bodyPr/>
          <a:lstStyle/>
          <a:p>
            <a:r>
              <a:rPr lang="en-IN" dirty="0"/>
              <a:t>GIN (Generalized Inverted Index)</a:t>
            </a:r>
          </a:p>
        </p:txBody>
      </p:sp>
    </p:spTree>
    <p:extLst>
      <p:ext uri="{BB962C8B-B14F-4D97-AF65-F5344CB8AC3E}">
        <p14:creationId xmlns:p14="http://schemas.microsoft.com/office/powerpoint/2010/main" val="3156270186"/>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3558B0-C657-45C4-A050-A0A37EC7304A}"/>
              </a:ext>
            </a:extLst>
          </p:cNvPr>
          <p:cNvSpPr>
            <a:spLocks noGrp="1"/>
          </p:cNvSpPr>
          <p:nvPr>
            <p:ph sz="quarter" idx="12"/>
          </p:nvPr>
        </p:nvSpPr>
        <p:spPr>
          <a:xfrm>
            <a:off x="457201" y="1381124"/>
            <a:ext cx="8228012" cy="5066809"/>
          </a:xfrm>
        </p:spPr>
        <p:txBody>
          <a:bodyPr>
            <a:normAutofit fontScale="85000" lnSpcReduction="20000"/>
          </a:bodyPr>
          <a:lstStyle/>
          <a:p>
            <a:r>
              <a:rPr lang="en-US" dirty="0"/>
              <a:t>BRIN stands for “Block Range index.” This featured index type was introduced with Postgres v 9.5.</a:t>
            </a:r>
          </a:p>
          <a:p>
            <a:r>
              <a:rPr lang="en-US" dirty="0"/>
              <a:t>“Because a BRIN index is very small, scanning the index adds little overhead compared to a sequential scan, but may avoid scanning large parts of the table that are known not to contain matching tuples.”</a:t>
            </a:r>
          </a:p>
          <a:p>
            <a:r>
              <a:rPr lang="en-US" dirty="0"/>
              <a:t>“The size of the block range is determined at index creation time by the </a:t>
            </a:r>
            <a:r>
              <a:rPr lang="en-US" dirty="0" err="1"/>
              <a:t>pages_per_range</a:t>
            </a:r>
            <a:r>
              <a:rPr lang="en-US" dirty="0"/>
              <a:t> storage parameter.</a:t>
            </a:r>
          </a:p>
          <a:p>
            <a:r>
              <a:rPr lang="en-US" dirty="0"/>
              <a:t> The number of index entries will be equal to the size of the relation in pages divided by the selected value for </a:t>
            </a:r>
            <a:r>
              <a:rPr lang="en-US" dirty="0" err="1"/>
              <a:t>pages_per_range</a:t>
            </a:r>
            <a:r>
              <a:rPr lang="en-US" dirty="0"/>
              <a:t>. </a:t>
            </a:r>
          </a:p>
          <a:p>
            <a:r>
              <a:rPr lang="en-US" dirty="0"/>
              <a:t>Therefore, the smaller the number, the larger the index becomes (because of the need to store more index entries), but at the same time the summary data stored can be more precise and more data blocks can be skipped during an index scan.”</a:t>
            </a:r>
            <a:endParaRPr lang="en-IN" dirty="0"/>
          </a:p>
        </p:txBody>
      </p:sp>
      <p:sp>
        <p:nvSpPr>
          <p:cNvPr id="3" name="Title 2">
            <a:extLst>
              <a:ext uri="{FF2B5EF4-FFF2-40B4-BE49-F238E27FC236}">
                <a16:creationId xmlns:a16="http://schemas.microsoft.com/office/drawing/2014/main" id="{FDE0BD38-3E25-4A44-A60F-4F45872EDD93}"/>
              </a:ext>
            </a:extLst>
          </p:cNvPr>
          <p:cNvSpPr>
            <a:spLocks noGrp="1"/>
          </p:cNvSpPr>
          <p:nvPr>
            <p:ph type="title"/>
          </p:nvPr>
        </p:nvSpPr>
        <p:spPr/>
        <p:txBody>
          <a:bodyPr/>
          <a:lstStyle/>
          <a:p>
            <a:r>
              <a:rPr lang="en-IN" dirty="0"/>
              <a:t>BRIN (Block Range index)</a:t>
            </a:r>
          </a:p>
        </p:txBody>
      </p:sp>
    </p:spTree>
    <p:extLst>
      <p:ext uri="{BB962C8B-B14F-4D97-AF65-F5344CB8AC3E}">
        <p14:creationId xmlns:p14="http://schemas.microsoft.com/office/powerpoint/2010/main" val="2383169741"/>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3558B0-C657-45C4-A050-A0A37EC7304A}"/>
              </a:ext>
            </a:extLst>
          </p:cNvPr>
          <p:cNvSpPr>
            <a:spLocks noGrp="1"/>
          </p:cNvSpPr>
          <p:nvPr>
            <p:ph sz="quarter" idx="12"/>
          </p:nvPr>
        </p:nvSpPr>
        <p:spPr>
          <a:xfrm>
            <a:off x="457201" y="1381124"/>
            <a:ext cx="8228012" cy="5066809"/>
          </a:xfrm>
        </p:spPr>
        <p:txBody>
          <a:bodyPr>
            <a:normAutofit/>
          </a:bodyPr>
          <a:lstStyle/>
          <a:p>
            <a:r>
              <a:rPr lang="en-US" dirty="0"/>
              <a:t>In a BRIN index, PostgreSQL reads your selected column's maximum and minimum values for each 8k-size page of stored data, and then stores that information (page number and minimum and maximum values of column) into the BRIN index.</a:t>
            </a:r>
            <a:endParaRPr lang="en-IN" dirty="0"/>
          </a:p>
        </p:txBody>
      </p:sp>
      <p:sp>
        <p:nvSpPr>
          <p:cNvPr id="3" name="Title 2">
            <a:extLst>
              <a:ext uri="{FF2B5EF4-FFF2-40B4-BE49-F238E27FC236}">
                <a16:creationId xmlns:a16="http://schemas.microsoft.com/office/drawing/2014/main" id="{FDE0BD38-3E25-4A44-A60F-4F45872EDD93}"/>
              </a:ext>
            </a:extLst>
          </p:cNvPr>
          <p:cNvSpPr>
            <a:spLocks noGrp="1"/>
          </p:cNvSpPr>
          <p:nvPr>
            <p:ph type="title"/>
          </p:nvPr>
        </p:nvSpPr>
        <p:spPr/>
        <p:txBody>
          <a:bodyPr/>
          <a:lstStyle/>
          <a:p>
            <a:r>
              <a:rPr lang="en-IN" dirty="0"/>
              <a:t>BRIN (Block Range index)</a:t>
            </a:r>
          </a:p>
        </p:txBody>
      </p:sp>
    </p:spTree>
    <p:extLst>
      <p:ext uri="{BB962C8B-B14F-4D97-AF65-F5344CB8AC3E}">
        <p14:creationId xmlns:p14="http://schemas.microsoft.com/office/powerpoint/2010/main" val="16086667"/>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3558B0-C657-45C4-A050-A0A37EC7304A}"/>
              </a:ext>
            </a:extLst>
          </p:cNvPr>
          <p:cNvSpPr>
            <a:spLocks noGrp="1"/>
          </p:cNvSpPr>
          <p:nvPr>
            <p:ph sz="quarter" idx="12"/>
          </p:nvPr>
        </p:nvSpPr>
        <p:spPr>
          <a:xfrm>
            <a:off x="457201" y="1381124"/>
            <a:ext cx="8228012" cy="5066809"/>
          </a:xfrm>
        </p:spPr>
        <p:txBody>
          <a:bodyPr>
            <a:normAutofit fontScale="77500" lnSpcReduction="20000"/>
          </a:bodyPr>
          <a:lstStyle/>
          <a:p>
            <a:r>
              <a:rPr lang="en-US" dirty="0"/>
              <a:t>B-tree indexes have entries for each row in your table, duplicating the data in the indexed columns. </a:t>
            </a:r>
          </a:p>
          <a:p>
            <a:r>
              <a:rPr lang="en-US" dirty="0"/>
              <a:t>This permits super-fast index-only scans, but can be wasteful of disk space. </a:t>
            </a:r>
          </a:p>
          <a:p>
            <a:r>
              <a:rPr lang="en-US" dirty="0"/>
              <a:t>A B-tree index also stores the data in sorted order, which permits very fast lookups of single rows.</a:t>
            </a:r>
          </a:p>
          <a:p>
            <a:r>
              <a:rPr lang="en-US" dirty="0"/>
              <a:t>It also stores the full location of each row in the table, which can require a lot of work when running queries that return many rows.</a:t>
            </a:r>
          </a:p>
          <a:p>
            <a:r>
              <a:rPr lang="en-US" dirty="0"/>
              <a:t>However, a BRIN index contains only the minimum and maximum values contained in a group of database pages. </a:t>
            </a:r>
          </a:p>
          <a:p>
            <a:r>
              <a:rPr lang="en-US" dirty="0"/>
              <a:t>Therefore, the reason for using the BRIN index is that this is a very straightforward way to optimize for speed, and the BRIN index only takes up very little space compared to a B-tree index. </a:t>
            </a:r>
          </a:p>
          <a:p>
            <a:r>
              <a:rPr lang="en-US" dirty="0"/>
              <a:t>BRIN is designed for handling very large tables in which certain columns have some natural correlation with their physical location within the table.</a:t>
            </a:r>
            <a:endParaRPr lang="en-IN" dirty="0"/>
          </a:p>
        </p:txBody>
      </p:sp>
      <p:sp>
        <p:nvSpPr>
          <p:cNvPr id="3" name="Title 2">
            <a:extLst>
              <a:ext uri="{FF2B5EF4-FFF2-40B4-BE49-F238E27FC236}">
                <a16:creationId xmlns:a16="http://schemas.microsoft.com/office/drawing/2014/main" id="{FDE0BD38-3E25-4A44-A60F-4F45872EDD93}"/>
              </a:ext>
            </a:extLst>
          </p:cNvPr>
          <p:cNvSpPr>
            <a:spLocks noGrp="1"/>
          </p:cNvSpPr>
          <p:nvPr>
            <p:ph type="title"/>
          </p:nvPr>
        </p:nvSpPr>
        <p:spPr/>
        <p:txBody>
          <a:bodyPr/>
          <a:lstStyle/>
          <a:p>
            <a:r>
              <a:rPr lang="en-IN" dirty="0"/>
              <a:t>BRIN (Block Range index)</a:t>
            </a:r>
          </a:p>
        </p:txBody>
      </p:sp>
    </p:spTree>
    <p:extLst>
      <p:ext uri="{BB962C8B-B14F-4D97-AF65-F5344CB8AC3E}">
        <p14:creationId xmlns:p14="http://schemas.microsoft.com/office/powerpoint/2010/main" val="2240529360"/>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3558B0-C657-45C4-A050-A0A37EC7304A}"/>
              </a:ext>
            </a:extLst>
          </p:cNvPr>
          <p:cNvSpPr>
            <a:spLocks noGrp="1"/>
          </p:cNvSpPr>
          <p:nvPr>
            <p:ph sz="quarter" idx="12"/>
          </p:nvPr>
        </p:nvSpPr>
        <p:spPr>
          <a:xfrm>
            <a:off x="457201" y="1381124"/>
            <a:ext cx="8228012" cy="5066809"/>
          </a:xfrm>
        </p:spPr>
        <p:txBody>
          <a:bodyPr>
            <a:normAutofit/>
          </a:bodyPr>
          <a:lstStyle/>
          <a:p>
            <a:r>
              <a:rPr lang="en-US" dirty="0"/>
              <a:t>A good example of where you could use a BRIN index is for data you would consider immutable. </a:t>
            </a:r>
          </a:p>
          <a:p>
            <a:r>
              <a:rPr lang="en-US" dirty="0"/>
              <a:t>For the example that follows, the BRIN index is 72kb in size, while the B-tree index is 676mb in size. </a:t>
            </a:r>
          </a:p>
          <a:p>
            <a:r>
              <a:rPr lang="en-US" dirty="0"/>
              <a:t>Yet the performance is pretty much identical for selects.</a:t>
            </a:r>
          </a:p>
          <a:p>
            <a:endParaRPr lang="en-US" dirty="0"/>
          </a:p>
          <a:p>
            <a:r>
              <a:rPr lang="en-US" dirty="0"/>
              <a:t> </a:t>
            </a:r>
            <a:endParaRPr lang="en-IN" dirty="0"/>
          </a:p>
        </p:txBody>
      </p:sp>
      <p:sp>
        <p:nvSpPr>
          <p:cNvPr id="3" name="Title 2">
            <a:extLst>
              <a:ext uri="{FF2B5EF4-FFF2-40B4-BE49-F238E27FC236}">
                <a16:creationId xmlns:a16="http://schemas.microsoft.com/office/drawing/2014/main" id="{FDE0BD38-3E25-4A44-A60F-4F45872EDD93}"/>
              </a:ext>
            </a:extLst>
          </p:cNvPr>
          <p:cNvSpPr>
            <a:spLocks noGrp="1"/>
          </p:cNvSpPr>
          <p:nvPr>
            <p:ph type="title"/>
          </p:nvPr>
        </p:nvSpPr>
        <p:spPr/>
        <p:txBody>
          <a:bodyPr/>
          <a:lstStyle/>
          <a:p>
            <a:r>
              <a:rPr lang="en-IN" dirty="0"/>
              <a:t>BRIN (Block Range index)</a:t>
            </a:r>
          </a:p>
        </p:txBody>
      </p:sp>
    </p:spTree>
    <p:extLst>
      <p:ext uri="{BB962C8B-B14F-4D97-AF65-F5344CB8AC3E}">
        <p14:creationId xmlns:p14="http://schemas.microsoft.com/office/powerpoint/2010/main" val="3752940787"/>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DE0BD38-3E25-4A44-A60F-4F45872EDD93}"/>
              </a:ext>
            </a:extLst>
          </p:cNvPr>
          <p:cNvSpPr>
            <a:spLocks noGrp="1"/>
          </p:cNvSpPr>
          <p:nvPr>
            <p:ph type="title"/>
          </p:nvPr>
        </p:nvSpPr>
        <p:spPr/>
        <p:txBody>
          <a:bodyPr/>
          <a:lstStyle/>
          <a:p>
            <a:r>
              <a:rPr lang="en-IN" dirty="0"/>
              <a:t>BRIN (Block Range index)</a:t>
            </a:r>
          </a:p>
        </p:txBody>
      </p:sp>
      <p:pic>
        <p:nvPicPr>
          <p:cNvPr id="7" name="Picture 6">
            <a:extLst>
              <a:ext uri="{FF2B5EF4-FFF2-40B4-BE49-F238E27FC236}">
                <a16:creationId xmlns:a16="http://schemas.microsoft.com/office/drawing/2014/main" id="{6482254C-6162-4F1B-A9B4-E986FF25A0DC}"/>
              </a:ext>
            </a:extLst>
          </p:cNvPr>
          <p:cNvPicPr>
            <a:picLocks noChangeAspect="1"/>
          </p:cNvPicPr>
          <p:nvPr/>
        </p:nvPicPr>
        <p:blipFill rotWithShape="1">
          <a:blip r:embed="rId2"/>
          <a:srcRect l="21134" t="18706" r="38557" b="5234"/>
          <a:stretch/>
        </p:blipFill>
        <p:spPr>
          <a:xfrm>
            <a:off x="367645" y="1329179"/>
            <a:ext cx="8389855" cy="5476938"/>
          </a:xfrm>
          <a:prstGeom prst="rect">
            <a:avLst/>
          </a:prstGeom>
        </p:spPr>
      </p:pic>
    </p:spTree>
    <p:extLst>
      <p:ext uri="{BB962C8B-B14F-4D97-AF65-F5344CB8AC3E}">
        <p14:creationId xmlns:p14="http://schemas.microsoft.com/office/powerpoint/2010/main" val="1676104117"/>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F742703-039F-4F07-B699-FDBAE092D6CF}"/>
              </a:ext>
            </a:extLst>
          </p:cNvPr>
          <p:cNvSpPr>
            <a:spLocks noGrp="1"/>
          </p:cNvSpPr>
          <p:nvPr>
            <p:ph sz="quarter" idx="12"/>
          </p:nvPr>
        </p:nvSpPr>
        <p:spPr/>
        <p:txBody>
          <a:bodyPr/>
          <a:lstStyle/>
          <a:p>
            <a:r>
              <a:rPr lang="en-US" dirty="0"/>
              <a:t>The partial index is useful in case you have commonly used WHERE conditions which use constant values as follows:</a:t>
            </a:r>
          </a:p>
          <a:p>
            <a:endParaRPr lang="en-US" dirty="0"/>
          </a:p>
          <a:p>
            <a:pPr marL="225425" lvl="1" indent="0">
              <a:buNone/>
            </a:pPr>
            <a:r>
              <a:rPr lang="en-US" dirty="0"/>
              <a:t>SELECT * </a:t>
            </a:r>
          </a:p>
          <a:p>
            <a:pPr marL="225425" lvl="1" indent="0">
              <a:buNone/>
            </a:pPr>
            <a:r>
              <a:rPr lang="en-US" dirty="0"/>
              <a:t>FROM </a:t>
            </a:r>
            <a:r>
              <a:rPr lang="en-US" dirty="0" err="1"/>
              <a:t>table_name</a:t>
            </a:r>
            <a:endParaRPr lang="en-US" dirty="0"/>
          </a:p>
          <a:p>
            <a:pPr marL="225425" lvl="1" indent="0">
              <a:buNone/>
            </a:pPr>
            <a:r>
              <a:rPr lang="en-US" dirty="0"/>
              <a:t>WHERE </a:t>
            </a:r>
            <a:r>
              <a:rPr lang="en-US" dirty="0" err="1"/>
              <a:t>column_name</a:t>
            </a:r>
            <a:r>
              <a:rPr lang="en-US" dirty="0"/>
              <a:t> = </a:t>
            </a:r>
            <a:r>
              <a:rPr lang="en-US" dirty="0" err="1"/>
              <a:t>constant_value</a:t>
            </a:r>
            <a:r>
              <a:rPr lang="en-US" dirty="0"/>
              <a:t>;</a:t>
            </a:r>
            <a:endParaRPr lang="en-IN" dirty="0"/>
          </a:p>
        </p:txBody>
      </p:sp>
      <p:sp>
        <p:nvSpPr>
          <p:cNvPr id="3" name="Title 2">
            <a:extLst>
              <a:ext uri="{FF2B5EF4-FFF2-40B4-BE49-F238E27FC236}">
                <a16:creationId xmlns:a16="http://schemas.microsoft.com/office/drawing/2014/main" id="{99CAF7A0-67AB-4B6D-B89B-5D07590944C2}"/>
              </a:ext>
            </a:extLst>
          </p:cNvPr>
          <p:cNvSpPr>
            <a:spLocks noGrp="1"/>
          </p:cNvSpPr>
          <p:nvPr>
            <p:ph type="title"/>
          </p:nvPr>
        </p:nvSpPr>
        <p:spPr/>
        <p:txBody>
          <a:bodyPr/>
          <a:lstStyle/>
          <a:p>
            <a:r>
              <a:rPr lang="en-IN" dirty="0"/>
              <a:t>Partial Index</a:t>
            </a:r>
          </a:p>
        </p:txBody>
      </p:sp>
    </p:spTree>
    <p:extLst>
      <p:ext uri="{BB962C8B-B14F-4D97-AF65-F5344CB8AC3E}">
        <p14:creationId xmlns:p14="http://schemas.microsoft.com/office/powerpoint/2010/main" val="1430157890"/>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F742703-039F-4F07-B699-FDBAE092D6CF}"/>
              </a:ext>
            </a:extLst>
          </p:cNvPr>
          <p:cNvSpPr>
            <a:spLocks noGrp="1"/>
          </p:cNvSpPr>
          <p:nvPr>
            <p:ph sz="quarter" idx="12"/>
          </p:nvPr>
        </p:nvSpPr>
        <p:spPr/>
        <p:txBody>
          <a:bodyPr>
            <a:normAutofit fontScale="92500" lnSpcReduction="20000"/>
          </a:bodyPr>
          <a:lstStyle/>
          <a:p>
            <a:r>
              <a:rPr lang="en-US" dirty="0"/>
              <a:t>You can optimize this query by creating an index for the active column as follows:</a:t>
            </a:r>
          </a:p>
          <a:p>
            <a:r>
              <a:rPr lang="en-US" dirty="0"/>
              <a:t>CREATE INDEX </a:t>
            </a:r>
            <a:r>
              <a:rPr lang="en-US" dirty="0" err="1"/>
              <a:t>idx_customer_active</a:t>
            </a:r>
            <a:endParaRPr lang="en-US" dirty="0"/>
          </a:p>
          <a:p>
            <a:r>
              <a:rPr lang="en-US" dirty="0"/>
              <a:t>ON customer(active);</a:t>
            </a:r>
          </a:p>
          <a:p>
            <a:r>
              <a:rPr lang="en-US" dirty="0"/>
              <a:t>This index fulfills its purpose, however, it includes many rows that are never searched, namely all the active customers.</a:t>
            </a:r>
          </a:p>
          <a:p>
            <a:r>
              <a:rPr lang="en-US" dirty="0"/>
              <a:t>To define an index that includes only inactive customers, you use the following statement:</a:t>
            </a:r>
          </a:p>
          <a:p>
            <a:r>
              <a:rPr lang="en-US" b="1" dirty="0">
                <a:solidFill>
                  <a:srgbClr val="FF0000"/>
                </a:solidFill>
              </a:rPr>
              <a:t>CREATE INDEX </a:t>
            </a:r>
            <a:r>
              <a:rPr lang="en-US" b="1" dirty="0" err="1">
                <a:solidFill>
                  <a:srgbClr val="FF0000"/>
                </a:solidFill>
              </a:rPr>
              <a:t>idx_customer_inactive</a:t>
            </a:r>
            <a:endParaRPr lang="en-US" b="1" dirty="0">
              <a:solidFill>
                <a:srgbClr val="FF0000"/>
              </a:solidFill>
            </a:endParaRPr>
          </a:p>
          <a:p>
            <a:r>
              <a:rPr lang="en-US" b="1" dirty="0">
                <a:solidFill>
                  <a:srgbClr val="FF0000"/>
                </a:solidFill>
              </a:rPr>
              <a:t>ON customer(active)</a:t>
            </a:r>
          </a:p>
          <a:p>
            <a:r>
              <a:rPr lang="en-US" b="1" dirty="0">
                <a:solidFill>
                  <a:srgbClr val="FF0000"/>
                </a:solidFill>
              </a:rPr>
              <a:t>WHERE active = 0;</a:t>
            </a:r>
            <a:endParaRPr lang="en-IN" b="1" dirty="0">
              <a:solidFill>
                <a:srgbClr val="FF0000"/>
              </a:solidFill>
            </a:endParaRPr>
          </a:p>
        </p:txBody>
      </p:sp>
      <p:sp>
        <p:nvSpPr>
          <p:cNvPr id="3" name="Title 2">
            <a:extLst>
              <a:ext uri="{FF2B5EF4-FFF2-40B4-BE49-F238E27FC236}">
                <a16:creationId xmlns:a16="http://schemas.microsoft.com/office/drawing/2014/main" id="{99CAF7A0-67AB-4B6D-B89B-5D07590944C2}"/>
              </a:ext>
            </a:extLst>
          </p:cNvPr>
          <p:cNvSpPr>
            <a:spLocks noGrp="1"/>
          </p:cNvSpPr>
          <p:nvPr>
            <p:ph type="title"/>
          </p:nvPr>
        </p:nvSpPr>
        <p:spPr/>
        <p:txBody>
          <a:bodyPr/>
          <a:lstStyle/>
          <a:p>
            <a:r>
              <a:rPr lang="en-IN" dirty="0"/>
              <a:t>Partial Index</a:t>
            </a:r>
          </a:p>
        </p:txBody>
      </p:sp>
    </p:spTree>
    <p:extLst>
      <p:ext uri="{BB962C8B-B14F-4D97-AF65-F5344CB8AC3E}">
        <p14:creationId xmlns:p14="http://schemas.microsoft.com/office/powerpoint/2010/main" val="2929770140"/>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9A786-A615-E7AD-44F0-92C6BBEAFB7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2E5E05B-EF27-FC66-A866-8DB5A3E85ED1}"/>
              </a:ext>
            </a:extLst>
          </p:cNvPr>
          <p:cNvSpPr>
            <a:spLocks noGrp="1"/>
          </p:cNvSpPr>
          <p:nvPr>
            <p:ph type="title"/>
          </p:nvPr>
        </p:nvSpPr>
        <p:spPr/>
        <p:txBody>
          <a:bodyPr/>
          <a:lstStyle/>
          <a:p>
            <a:r>
              <a:rPr lang="en-IN" dirty="0"/>
              <a:t>Built-In Functions- String</a:t>
            </a:r>
          </a:p>
        </p:txBody>
      </p:sp>
      <p:graphicFrame>
        <p:nvGraphicFramePr>
          <p:cNvPr id="4" name="Table 3">
            <a:extLst>
              <a:ext uri="{FF2B5EF4-FFF2-40B4-BE49-F238E27FC236}">
                <a16:creationId xmlns:a16="http://schemas.microsoft.com/office/drawing/2014/main" id="{77609DA4-6174-272C-B69C-9756AD56649A}"/>
              </a:ext>
            </a:extLst>
          </p:cNvPr>
          <p:cNvGraphicFramePr>
            <a:graphicFrameLocks noGrp="1"/>
          </p:cNvGraphicFramePr>
          <p:nvPr/>
        </p:nvGraphicFramePr>
        <p:xfrm>
          <a:off x="461035" y="1292652"/>
          <a:ext cx="8384580" cy="5191440"/>
        </p:xfrm>
        <a:graphic>
          <a:graphicData uri="http://schemas.openxmlformats.org/drawingml/2006/table">
            <a:tbl>
              <a:tblPr>
                <a:tableStyleId>{3C2FFA5D-87B4-456A-9821-1D502468CF0F}</a:tableStyleId>
              </a:tblPr>
              <a:tblGrid>
                <a:gridCol w="2794860">
                  <a:extLst>
                    <a:ext uri="{9D8B030D-6E8A-4147-A177-3AD203B41FA5}">
                      <a16:colId xmlns:a16="http://schemas.microsoft.com/office/drawing/2014/main" val="4049519623"/>
                    </a:ext>
                  </a:extLst>
                </a:gridCol>
                <a:gridCol w="2794860">
                  <a:extLst>
                    <a:ext uri="{9D8B030D-6E8A-4147-A177-3AD203B41FA5}">
                      <a16:colId xmlns:a16="http://schemas.microsoft.com/office/drawing/2014/main" val="1780744380"/>
                    </a:ext>
                  </a:extLst>
                </a:gridCol>
                <a:gridCol w="2794860">
                  <a:extLst>
                    <a:ext uri="{9D8B030D-6E8A-4147-A177-3AD203B41FA5}">
                      <a16:colId xmlns:a16="http://schemas.microsoft.com/office/drawing/2014/main" val="1637543116"/>
                    </a:ext>
                  </a:extLst>
                </a:gridCol>
              </a:tblGrid>
              <a:tr h="139838">
                <a:tc>
                  <a:txBody>
                    <a:bodyPr/>
                    <a:lstStyle/>
                    <a:p>
                      <a:pPr>
                        <a:buNone/>
                      </a:pPr>
                      <a:r>
                        <a:rPr lang="en-IN" sz="2000"/>
                        <a:t>Function</a:t>
                      </a:r>
                    </a:p>
                  </a:txBody>
                  <a:tcPr marL="34960" marR="34960" marT="17480" marB="17480" anchor="ctr"/>
                </a:tc>
                <a:tc>
                  <a:txBody>
                    <a:bodyPr/>
                    <a:lstStyle/>
                    <a:p>
                      <a:pPr>
                        <a:buNone/>
                      </a:pPr>
                      <a:r>
                        <a:rPr lang="en-IN" sz="2000"/>
                        <a:t>Description</a:t>
                      </a:r>
                    </a:p>
                  </a:txBody>
                  <a:tcPr marL="34960" marR="34960" marT="17480" marB="17480" anchor="ctr"/>
                </a:tc>
                <a:tc>
                  <a:txBody>
                    <a:bodyPr/>
                    <a:lstStyle/>
                    <a:p>
                      <a:pPr>
                        <a:buNone/>
                      </a:pPr>
                      <a:r>
                        <a:rPr lang="en-IN" sz="2000"/>
                        <a:t>Example</a:t>
                      </a:r>
                    </a:p>
                  </a:txBody>
                  <a:tcPr marL="34960" marR="34960" marT="17480" marB="17480" anchor="ctr"/>
                </a:tc>
                <a:extLst>
                  <a:ext uri="{0D108BD9-81ED-4DB2-BD59-A6C34878D82A}">
                    <a16:rowId xmlns:a16="http://schemas.microsoft.com/office/drawing/2014/main" val="2026426651"/>
                  </a:ext>
                </a:extLst>
              </a:tr>
              <a:tr h="244717">
                <a:tc>
                  <a:txBody>
                    <a:bodyPr/>
                    <a:lstStyle/>
                    <a:p>
                      <a:pPr>
                        <a:buNone/>
                      </a:pPr>
                      <a:r>
                        <a:rPr lang="en-IN" sz="2000"/>
                        <a:t>LENGTH(string)</a:t>
                      </a:r>
                    </a:p>
                  </a:txBody>
                  <a:tcPr marL="34960" marR="34960" marT="17480" marB="17480" anchor="ctr"/>
                </a:tc>
                <a:tc>
                  <a:txBody>
                    <a:bodyPr/>
                    <a:lstStyle/>
                    <a:p>
                      <a:pPr>
                        <a:buNone/>
                      </a:pPr>
                      <a:r>
                        <a:rPr lang="en-US" sz="2000"/>
                        <a:t>Returns the number of characters</a:t>
                      </a:r>
                    </a:p>
                  </a:txBody>
                  <a:tcPr marL="34960" marR="34960" marT="17480" marB="17480" anchor="ctr"/>
                </a:tc>
                <a:tc>
                  <a:txBody>
                    <a:bodyPr/>
                    <a:lstStyle/>
                    <a:p>
                      <a:pPr>
                        <a:buNone/>
                      </a:pPr>
                      <a:r>
                        <a:rPr lang="en-IN" sz="2000"/>
                        <a:t>LENGTH('hello') → 5</a:t>
                      </a:r>
                    </a:p>
                  </a:txBody>
                  <a:tcPr marL="34960" marR="34960" marT="17480" marB="17480" anchor="ctr"/>
                </a:tc>
                <a:extLst>
                  <a:ext uri="{0D108BD9-81ED-4DB2-BD59-A6C34878D82A}">
                    <a16:rowId xmlns:a16="http://schemas.microsoft.com/office/drawing/2014/main" val="2958167234"/>
                  </a:ext>
                </a:extLst>
              </a:tr>
              <a:tr h="244717">
                <a:tc>
                  <a:txBody>
                    <a:bodyPr/>
                    <a:lstStyle/>
                    <a:p>
                      <a:pPr>
                        <a:buNone/>
                      </a:pPr>
                      <a:r>
                        <a:rPr lang="en-IN" sz="2000"/>
                        <a:t>LOWER(string)</a:t>
                      </a:r>
                    </a:p>
                  </a:txBody>
                  <a:tcPr marL="34960" marR="34960" marT="17480" marB="17480" anchor="ctr"/>
                </a:tc>
                <a:tc>
                  <a:txBody>
                    <a:bodyPr/>
                    <a:lstStyle/>
                    <a:p>
                      <a:pPr>
                        <a:buNone/>
                      </a:pPr>
                      <a:r>
                        <a:rPr lang="en-IN" sz="2000"/>
                        <a:t>Converts to lowercase</a:t>
                      </a:r>
                    </a:p>
                  </a:txBody>
                  <a:tcPr marL="34960" marR="34960" marT="17480" marB="17480" anchor="ctr"/>
                </a:tc>
                <a:tc>
                  <a:txBody>
                    <a:bodyPr/>
                    <a:lstStyle/>
                    <a:p>
                      <a:pPr>
                        <a:buNone/>
                      </a:pPr>
                      <a:r>
                        <a:rPr lang="en-IN" sz="2000"/>
                        <a:t>LOWER('HELLO') → 'hello'</a:t>
                      </a:r>
                    </a:p>
                  </a:txBody>
                  <a:tcPr marL="34960" marR="34960" marT="17480" marB="17480" anchor="ctr"/>
                </a:tc>
                <a:extLst>
                  <a:ext uri="{0D108BD9-81ED-4DB2-BD59-A6C34878D82A}">
                    <a16:rowId xmlns:a16="http://schemas.microsoft.com/office/drawing/2014/main" val="3605226045"/>
                  </a:ext>
                </a:extLst>
              </a:tr>
              <a:tr h="244717">
                <a:tc>
                  <a:txBody>
                    <a:bodyPr/>
                    <a:lstStyle/>
                    <a:p>
                      <a:pPr>
                        <a:buNone/>
                      </a:pPr>
                      <a:r>
                        <a:rPr lang="en-IN" sz="2000" dirty="0"/>
                        <a:t>UPPER(string)</a:t>
                      </a:r>
                    </a:p>
                  </a:txBody>
                  <a:tcPr marL="34960" marR="34960" marT="17480" marB="17480" anchor="ctr"/>
                </a:tc>
                <a:tc>
                  <a:txBody>
                    <a:bodyPr/>
                    <a:lstStyle/>
                    <a:p>
                      <a:pPr>
                        <a:buNone/>
                      </a:pPr>
                      <a:r>
                        <a:rPr lang="en-IN" sz="2000"/>
                        <a:t>Converts to uppercase</a:t>
                      </a:r>
                    </a:p>
                  </a:txBody>
                  <a:tcPr marL="34960" marR="34960" marT="17480" marB="17480" anchor="ctr"/>
                </a:tc>
                <a:tc>
                  <a:txBody>
                    <a:bodyPr/>
                    <a:lstStyle/>
                    <a:p>
                      <a:pPr>
                        <a:buNone/>
                      </a:pPr>
                      <a:r>
                        <a:rPr lang="en-IN" sz="2000"/>
                        <a:t>UPPER('hello') → 'HELLO'</a:t>
                      </a:r>
                    </a:p>
                  </a:txBody>
                  <a:tcPr marL="34960" marR="34960" marT="17480" marB="17480" anchor="ctr"/>
                </a:tc>
                <a:extLst>
                  <a:ext uri="{0D108BD9-81ED-4DB2-BD59-A6C34878D82A}">
                    <a16:rowId xmlns:a16="http://schemas.microsoft.com/office/drawing/2014/main" val="520141526"/>
                  </a:ext>
                </a:extLst>
              </a:tr>
              <a:tr h="244717">
                <a:tc>
                  <a:txBody>
                    <a:bodyPr/>
                    <a:lstStyle/>
                    <a:p>
                      <a:pPr>
                        <a:buNone/>
                      </a:pPr>
                      <a:r>
                        <a:rPr lang="en-IN" sz="2000"/>
                        <a:t>INITCAP(string)</a:t>
                      </a:r>
                    </a:p>
                  </a:txBody>
                  <a:tcPr marL="34960" marR="34960" marT="17480" marB="17480" anchor="ctr"/>
                </a:tc>
                <a:tc>
                  <a:txBody>
                    <a:bodyPr/>
                    <a:lstStyle/>
                    <a:p>
                      <a:pPr>
                        <a:buNone/>
                      </a:pPr>
                      <a:r>
                        <a:rPr lang="en-US" sz="2000"/>
                        <a:t>Capitalizes first letter of each word</a:t>
                      </a:r>
                    </a:p>
                  </a:txBody>
                  <a:tcPr marL="34960" marR="34960" marT="17480" marB="17480" anchor="ctr"/>
                </a:tc>
                <a:tc>
                  <a:txBody>
                    <a:bodyPr/>
                    <a:lstStyle/>
                    <a:p>
                      <a:pPr>
                        <a:buNone/>
                      </a:pPr>
                      <a:r>
                        <a:rPr lang="en-US" sz="2000"/>
                        <a:t>INITCAP('hello world') → 'Hello World'</a:t>
                      </a:r>
                    </a:p>
                  </a:txBody>
                  <a:tcPr marL="34960" marR="34960" marT="17480" marB="17480" anchor="ctr"/>
                </a:tc>
                <a:extLst>
                  <a:ext uri="{0D108BD9-81ED-4DB2-BD59-A6C34878D82A}">
                    <a16:rowId xmlns:a16="http://schemas.microsoft.com/office/drawing/2014/main" val="3661334605"/>
                  </a:ext>
                </a:extLst>
              </a:tr>
              <a:tr h="139838">
                <a:tc>
                  <a:txBody>
                    <a:bodyPr/>
                    <a:lstStyle/>
                    <a:p>
                      <a:pPr>
                        <a:buNone/>
                      </a:pPr>
                      <a:r>
                        <a:rPr lang="en-IN" sz="2000"/>
                        <a:t>`TRIM([LEADING</a:t>
                      </a:r>
                    </a:p>
                  </a:txBody>
                  <a:tcPr marL="34960" marR="34960" marT="17480" marB="17480" anchor="ctr"/>
                </a:tc>
                <a:tc>
                  <a:txBody>
                    <a:bodyPr/>
                    <a:lstStyle/>
                    <a:p>
                      <a:pPr>
                        <a:buNone/>
                      </a:pPr>
                      <a:r>
                        <a:rPr lang="en-IN" sz="2000"/>
                        <a:t>TRAILING</a:t>
                      </a:r>
                    </a:p>
                  </a:txBody>
                  <a:tcPr marL="34960" marR="34960" marT="17480" marB="17480" anchor="ctr"/>
                </a:tc>
                <a:tc>
                  <a:txBody>
                    <a:bodyPr/>
                    <a:lstStyle/>
                    <a:p>
                      <a:pPr>
                        <a:buNone/>
                      </a:pPr>
                      <a:r>
                        <a:rPr lang="en-IN" sz="2000"/>
                        <a:t>BOTH] 'x' FROM str)`</a:t>
                      </a:r>
                    </a:p>
                  </a:txBody>
                  <a:tcPr marL="34960" marR="34960" marT="17480" marB="17480" anchor="ctr"/>
                </a:tc>
                <a:extLst>
                  <a:ext uri="{0D108BD9-81ED-4DB2-BD59-A6C34878D82A}">
                    <a16:rowId xmlns:a16="http://schemas.microsoft.com/office/drawing/2014/main" val="3777203181"/>
                  </a:ext>
                </a:extLst>
              </a:tr>
              <a:tr h="349595">
                <a:tc>
                  <a:txBody>
                    <a:bodyPr/>
                    <a:lstStyle/>
                    <a:p>
                      <a:pPr>
                        <a:buNone/>
                      </a:pPr>
                      <a:r>
                        <a:rPr lang="en-IN" sz="2000"/>
                        <a:t>BTRIM(str, chars)</a:t>
                      </a:r>
                    </a:p>
                  </a:txBody>
                  <a:tcPr marL="34960" marR="34960" marT="17480" marB="17480" anchor="ctr"/>
                </a:tc>
                <a:tc>
                  <a:txBody>
                    <a:bodyPr/>
                    <a:lstStyle/>
                    <a:p>
                      <a:pPr>
                        <a:buNone/>
                      </a:pPr>
                      <a:r>
                        <a:rPr lang="en-US" sz="2000"/>
                        <a:t>Trims specified characters from both ends</a:t>
                      </a:r>
                    </a:p>
                  </a:txBody>
                  <a:tcPr marL="34960" marR="34960" marT="17480" marB="17480" anchor="ctr"/>
                </a:tc>
                <a:tc>
                  <a:txBody>
                    <a:bodyPr/>
                    <a:lstStyle/>
                    <a:p>
                      <a:pPr>
                        <a:buNone/>
                      </a:pPr>
                      <a:r>
                        <a:rPr lang="en-IN" sz="2000"/>
                        <a:t>BTRIM('xyHelloxy', 'xy') → 'Hello'</a:t>
                      </a:r>
                    </a:p>
                  </a:txBody>
                  <a:tcPr marL="34960" marR="34960" marT="17480" marB="17480" anchor="ctr"/>
                </a:tc>
                <a:extLst>
                  <a:ext uri="{0D108BD9-81ED-4DB2-BD59-A6C34878D82A}">
                    <a16:rowId xmlns:a16="http://schemas.microsoft.com/office/drawing/2014/main" val="3570462407"/>
                  </a:ext>
                </a:extLst>
              </a:tr>
              <a:tr h="244717">
                <a:tc>
                  <a:txBody>
                    <a:bodyPr/>
                    <a:lstStyle/>
                    <a:p>
                      <a:pPr>
                        <a:buNone/>
                      </a:pPr>
                      <a:r>
                        <a:rPr lang="en-IN" sz="2000"/>
                        <a:t>CONCAT(str1, str2, ...)</a:t>
                      </a:r>
                    </a:p>
                  </a:txBody>
                  <a:tcPr marL="34960" marR="34960" marT="17480" marB="17480" anchor="ctr"/>
                </a:tc>
                <a:tc>
                  <a:txBody>
                    <a:bodyPr/>
                    <a:lstStyle/>
                    <a:p>
                      <a:pPr>
                        <a:buNone/>
                      </a:pPr>
                      <a:r>
                        <a:rPr lang="en-IN" sz="2000"/>
                        <a:t>Concatenates strings</a:t>
                      </a:r>
                    </a:p>
                  </a:txBody>
                  <a:tcPr marL="34960" marR="34960" marT="17480" marB="17480" anchor="ctr"/>
                </a:tc>
                <a:tc>
                  <a:txBody>
                    <a:bodyPr/>
                    <a:lstStyle/>
                    <a:p>
                      <a:pPr>
                        <a:buNone/>
                      </a:pPr>
                      <a:r>
                        <a:rPr lang="en-US" sz="2000"/>
                        <a:t>CONCAT('Hello', ' ', 'World') → 'Hello World'</a:t>
                      </a:r>
                    </a:p>
                  </a:txBody>
                  <a:tcPr marL="34960" marR="34960" marT="17480" marB="17480" anchor="ctr"/>
                </a:tc>
                <a:extLst>
                  <a:ext uri="{0D108BD9-81ED-4DB2-BD59-A6C34878D82A}">
                    <a16:rowId xmlns:a16="http://schemas.microsoft.com/office/drawing/2014/main" val="1318812309"/>
                  </a:ext>
                </a:extLst>
              </a:tr>
              <a:tr h="139838">
                <a:tc>
                  <a:txBody>
                    <a:bodyPr/>
                    <a:lstStyle/>
                    <a:p>
                      <a:pPr>
                        <a:buNone/>
                      </a:pPr>
                      <a:r>
                        <a:rPr lang="en-IN" sz="2000"/>
                        <a:t>`</a:t>
                      </a:r>
                    </a:p>
                  </a:txBody>
                  <a:tcPr marL="34960" marR="34960" marT="17480" marB="17480" anchor="ctr"/>
                </a:tc>
                <a:tc>
                  <a:txBody>
                    <a:bodyPr/>
                    <a:lstStyle/>
                    <a:p>
                      <a:pPr>
                        <a:buNone/>
                      </a:pPr>
                      <a:endParaRPr lang="en-IN" sz="2000"/>
                    </a:p>
                  </a:txBody>
                  <a:tcPr marL="34960" marR="34960" marT="17480" marB="17480" anchor="ctr"/>
                </a:tc>
                <a:tc>
                  <a:txBody>
                    <a:bodyPr/>
                    <a:lstStyle/>
                    <a:p>
                      <a:pPr>
                        <a:buNone/>
                      </a:pPr>
                      <a:r>
                        <a:rPr lang="en-IN" sz="2000" dirty="0"/>
                        <a:t>`</a:t>
                      </a:r>
                    </a:p>
                  </a:txBody>
                  <a:tcPr marL="34960" marR="34960" marT="17480" marB="17480" anchor="ctr"/>
                </a:tc>
                <a:extLst>
                  <a:ext uri="{0D108BD9-81ED-4DB2-BD59-A6C34878D82A}">
                    <a16:rowId xmlns:a16="http://schemas.microsoft.com/office/drawing/2014/main" val="2215871046"/>
                  </a:ext>
                </a:extLst>
              </a:tr>
            </a:tbl>
          </a:graphicData>
        </a:graphic>
      </p:graphicFrame>
    </p:spTree>
    <p:extLst>
      <p:ext uri="{BB962C8B-B14F-4D97-AF65-F5344CB8AC3E}">
        <p14:creationId xmlns:p14="http://schemas.microsoft.com/office/powerpoint/2010/main" val="732876100"/>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D96DBA1-C298-DDC1-D5C1-A8AA1B4DFFCD}"/>
              </a:ext>
            </a:extLst>
          </p:cNvPr>
          <p:cNvSpPr>
            <a:spLocks noGrp="1"/>
          </p:cNvSpPr>
          <p:nvPr>
            <p:ph type="title"/>
          </p:nvPr>
        </p:nvSpPr>
        <p:spPr/>
        <p:txBody>
          <a:bodyPr/>
          <a:lstStyle/>
          <a:p>
            <a:r>
              <a:rPr lang="en-IN" dirty="0"/>
              <a:t>Built-In Functions- String</a:t>
            </a:r>
          </a:p>
        </p:txBody>
      </p:sp>
      <p:graphicFrame>
        <p:nvGraphicFramePr>
          <p:cNvPr id="4" name="Table 3">
            <a:extLst>
              <a:ext uri="{FF2B5EF4-FFF2-40B4-BE49-F238E27FC236}">
                <a16:creationId xmlns:a16="http://schemas.microsoft.com/office/drawing/2014/main" id="{EC2B6680-94C3-37E1-8143-7A4C380917B3}"/>
              </a:ext>
            </a:extLst>
          </p:cNvPr>
          <p:cNvGraphicFramePr>
            <a:graphicFrameLocks noGrp="1"/>
          </p:cNvGraphicFramePr>
          <p:nvPr/>
        </p:nvGraphicFramePr>
        <p:xfrm>
          <a:off x="461036" y="1292652"/>
          <a:ext cx="8384580" cy="5461280"/>
        </p:xfrm>
        <a:graphic>
          <a:graphicData uri="http://schemas.openxmlformats.org/drawingml/2006/table">
            <a:tbl>
              <a:tblPr>
                <a:tableStyleId>{3C2FFA5D-87B4-456A-9821-1D502468CF0F}</a:tableStyleId>
              </a:tblPr>
              <a:tblGrid>
                <a:gridCol w="2794860">
                  <a:extLst>
                    <a:ext uri="{9D8B030D-6E8A-4147-A177-3AD203B41FA5}">
                      <a16:colId xmlns:a16="http://schemas.microsoft.com/office/drawing/2014/main" val="4049519623"/>
                    </a:ext>
                  </a:extLst>
                </a:gridCol>
                <a:gridCol w="2794860">
                  <a:extLst>
                    <a:ext uri="{9D8B030D-6E8A-4147-A177-3AD203B41FA5}">
                      <a16:colId xmlns:a16="http://schemas.microsoft.com/office/drawing/2014/main" val="1780744380"/>
                    </a:ext>
                  </a:extLst>
                </a:gridCol>
                <a:gridCol w="2794860">
                  <a:extLst>
                    <a:ext uri="{9D8B030D-6E8A-4147-A177-3AD203B41FA5}">
                      <a16:colId xmlns:a16="http://schemas.microsoft.com/office/drawing/2014/main" val="1637543116"/>
                    </a:ext>
                  </a:extLst>
                </a:gridCol>
              </a:tblGrid>
              <a:tr h="139838">
                <a:tc>
                  <a:txBody>
                    <a:bodyPr/>
                    <a:lstStyle/>
                    <a:p>
                      <a:pPr>
                        <a:buNone/>
                      </a:pPr>
                      <a:r>
                        <a:rPr lang="en-IN" sz="2000"/>
                        <a:t>Function</a:t>
                      </a:r>
                    </a:p>
                  </a:txBody>
                  <a:tcPr marL="34960" marR="34960" marT="17480" marB="17480" anchor="ctr"/>
                </a:tc>
                <a:tc>
                  <a:txBody>
                    <a:bodyPr/>
                    <a:lstStyle/>
                    <a:p>
                      <a:pPr>
                        <a:buNone/>
                      </a:pPr>
                      <a:r>
                        <a:rPr lang="en-IN" sz="2000"/>
                        <a:t>Description</a:t>
                      </a:r>
                    </a:p>
                  </a:txBody>
                  <a:tcPr marL="34960" marR="34960" marT="17480" marB="17480" anchor="ctr"/>
                </a:tc>
                <a:tc>
                  <a:txBody>
                    <a:bodyPr/>
                    <a:lstStyle/>
                    <a:p>
                      <a:pPr>
                        <a:buNone/>
                      </a:pPr>
                      <a:r>
                        <a:rPr lang="en-IN" sz="2000"/>
                        <a:t>Example</a:t>
                      </a:r>
                    </a:p>
                  </a:txBody>
                  <a:tcPr marL="34960" marR="34960" marT="17480" marB="17480" anchor="ctr"/>
                </a:tc>
                <a:extLst>
                  <a:ext uri="{0D108BD9-81ED-4DB2-BD59-A6C34878D82A}">
                    <a16:rowId xmlns:a16="http://schemas.microsoft.com/office/drawing/2014/main" val="2026426651"/>
                  </a:ext>
                </a:extLst>
              </a:tr>
              <a:tr h="244717">
                <a:tc>
                  <a:txBody>
                    <a:bodyPr/>
                    <a:lstStyle/>
                    <a:p>
                      <a:pPr>
                        <a:buNone/>
                      </a:pPr>
                      <a:r>
                        <a:rPr lang="en-US" sz="2000"/>
                        <a:t>SUBSTRING(str FROM x FOR y)</a:t>
                      </a:r>
                    </a:p>
                  </a:txBody>
                  <a:tcPr marL="34960" marR="34960" marT="17480" marB="17480" anchor="ctr"/>
                </a:tc>
                <a:tc>
                  <a:txBody>
                    <a:bodyPr/>
                    <a:lstStyle/>
                    <a:p>
                      <a:pPr>
                        <a:buNone/>
                      </a:pPr>
                      <a:r>
                        <a:rPr lang="en-IN" sz="2000"/>
                        <a:t>Extracts substring</a:t>
                      </a:r>
                    </a:p>
                  </a:txBody>
                  <a:tcPr marL="34960" marR="34960" marT="17480" marB="17480" anchor="ctr"/>
                </a:tc>
                <a:tc>
                  <a:txBody>
                    <a:bodyPr/>
                    <a:lstStyle/>
                    <a:p>
                      <a:pPr>
                        <a:buNone/>
                      </a:pPr>
                      <a:r>
                        <a:rPr lang="en-US" sz="2000" dirty="0"/>
                        <a:t>SUBSTRING('</a:t>
                      </a:r>
                      <a:r>
                        <a:rPr lang="en-US" sz="2000" dirty="0" err="1"/>
                        <a:t>abcdef</a:t>
                      </a:r>
                      <a:r>
                        <a:rPr lang="en-US" sz="2000" dirty="0"/>
                        <a:t>' FROM 2 FOR 3) → '</a:t>
                      </a:r>
                      <a:r>
                        <a:rPr lang="en-US" sz="2000" dirty="0" err="1"/>
                        <a:t>bcd</a:t>
                      </a:r>
                      <a:r>
                        <a:rPr lang="en-US" sz="2000" dirty="0"/>
                        <a:t>'</a:t>
                      </a:r>
                    </a:p>
                  </a:txBody>
                  <a:tcPr marL="34960" marR="34960" marT="17480" marB="17480" anchor="ctr"/>
                </a:tc>
                <a:extLst>
                  <a:ext uri="{0D108BD9-81ED-4DB2-BD59-A6C34878D82A}">
                    <a16:rowId xmlns:a16="http://schemas.microsoft.com/office/drawing/2014/main" val="2934258054"/>
                  </a:ext>
                </a:extLst>
              </a:tr>
              <a:tr h="139838">
                <a:tc>
                  <a:txBody>
                    <a:bodyPr/>
                    <a:lstStyle/>
                    <a:p>
                      <a:pPr>
                        <a:buNone/>
                      </a:pPr>
                      <a:r>
                        <a:rPr lang="en-IN" sz="2000"/>
                        <a:t>LEFT(str, n)</a:t>
                      </a:r>
                    </a:p>
                  </a:txBody>
                  <a:tcPr marL="34960" marR="34960" marT="17480" marB="17480" anchor="ctr"/>
                </a:tc>
                <a:tc>
                  <a:txBody>
                    <a:bodyPr/>
                    <a:lstStyle/>
                    <a:p>
                      <a:pPr>
                        <a:buNone/>
                      </a:pPr>
                      <a:r>
                        <a:rPr lang="en-IN" sz="2000"/>
                        <a:t>Leftmost n characters</a:t>
                      </a:r>
                    </a:p>
                  </a:txBody>
                  <a:tcPr marL="34960" marR="34960" marT="17480" marB="17480" anchor="ctr"/>
                </a:tc>
                <a:tc>
                  <a:txBody>
                    <a:bodyPr/>
                    <a:lstStyle/>
                    <a:p>
                      <a:pPr>
                        <a:buNone/>
                      </a:pPr>
                      <a:r>
                        <a:rPr lang="en-IN" sz="2000"/>
                        <a:t>LEFT('abcdef', 3) → 'abc'</a:t>
                      </a:r>
                    </a:p>
                  </a:txBody>
                  <a:tcPr marL="34960" marR="34960" marT="17480" marB="17480" anchor="ctr"/>
                </a:tc>
                <a:extLst>
                  <a:ext uri="{0D108BD9-81ED-4DB2-BD59-A6C34878D82A}">
                    <a16:rowId xmlns:a16="http://schemas.microsoft.com/office/drawing/2014/main" val="3780278090"/>
                  </a:ext>
                </a:extLst>
              </a:tr>
              <a:tr h="244717">
                <a:tc>
                  <a:txBody>
                    <a:bodyPr/>
                    <a:lstStyle/>
                    <a:p>
                      <a:pPr>
                        <a:buNone/>
                      </a:pPr>
                      <a:r>
                        <a:rPr lang="en-IN" sz="2000"/>
                        <a:t>RIGHT(str, n)</a:t>
                      </a:r>
                    </a:p>
                  </a:txBody>
                  <a:tcPr marL="34960" marR="34960" marT="17480" marB="17480" anchor="ctr"/>
                </a:tc>
                <a:tc>
                  <a:txBody>
                    <a:bodyPr/>
                    <a:lstStyle/>
                    <a:p>
                      <a:pPr>
                        <a:buNone/>
                      </a:pPr>
                      <a:r>
                        <a:rPr lang="en-IN" sz="2000"/>
                        <a:t>Rightmost n characters</a:t>
                      </a:r>
                    </a:p>
                  </a:txBody>
                  <a:tcPr marL="34960" marR="34960" marT="17480" marB="17480" anchor="ctr"/>
                </a:tc>
                <a:tc>
                  <a:txBody>
                    <a:bodyPr/>
                    <a:lstStyle/>
                    <a:p>
                      <a:pPr>
                        <a:buNone/>
                      </a:pPr>
                      <a:r>
                        <a:rPr lang="en-IN" sz="2000"/>
                        <a:t>RIGHT('abcdef', 3) → 'def'</a:t>
                      </a:r>
                    </a:p>
                  </a:txBody>
                  <a:tcPr marL="34960" marR="34960" marT="17480" marB="17480" anchor="ctr"/>
                </a:tc>
                <a:extLst>
                  <a:ext uri="{0D108BD9-81ED-4DB2-BD59-A6C34878D82A}">
                    <a16:rowId xmlns:a16="http://schemas.microsoft.com/office/drawing/2014/main" val="2858371611"/>
                  </a:ext>
                </a:extLst>
              </a:tr>
              <a:tr h="244717">
                <a:tc>
                  <a:txBody>
                    <a:bodyPr/>
                    <a:lstStyle/>
                    <a:p>
                      <a:pPr>
                        <a:buNone/>
                      </a:pPr>
                      <a:r>
                        <a:rPr lang="en-IN" sz="2000"/>
                        <a:t>REPLACE(str, from, to)</a:t>
                      </a:r>
                    </a:p>
                  </a:txBody>
                  <a:tcPr marL="34960" marR="34960" marT="17480" marB="17480" anchor="ctr"/>
                </a:tc>
                <a:tc>
                  <a:txBody>
                    <a:bodyPr/>
                    <a:lstStyle/>
                    <a:p>
                      <a:pPr>
                        <a:buNone/>
                      </a:pPr>
                      <a:r>
                        <a:rPr lang="en-IN" sz="2000"/>
                        <a:t>Replace substring</a:t>
                      </a:r>
                    </a:p>
                  </a:txBody>
                  <a:tcPr marL="34960" marR="34960" marT="17480" marB="17480" anchor="ctr"/>
                </a:tc>
                <a:tc>
                  <a:txBody>
                    <a:bodyPr/>
                    <a:lstStyle/>
                    <a:p>
                      <a:pPr>
                        <a:buNone/>
                      </a:pPr>
                      <a:r>
                        <a:rPr lang="en-IN" sz="2000"/>
                        <a:t>REPLACE('hello', 'l', 'x') → 'hexxo'</a:t>
                      </a:r>
                    </a:p>
                  </a:txBody>
                  <a:tcPr marL="34960" marR="34960" marT="17480" marB="17480" anchor="ctr"/>
                </a:tc>
                <a:extLst>
                  <a:ext uri="{0D108BD9-81ED-4DB2-BD59-A6C34878D82A}">
                    <a16:rowId xmlns:a16="http://schemas.microsoft.com/office/drawing/2014/main" val="3617807508"/>
                  </a:ext>
                </a:extLst>
              </a:tr>
              <a:tr h="244717">
                <a:tc>
                  <a:txBody>
                    <a:bodyPr/>
                    <a:lstStyle/>
                    <a:p>
                      <a:pPr>
                        <a:buNone/>
                      </a:pPr>
                      <a:r>
                        <a:rPr lang="en-IN" sz="2000"/>
                        <a:t>POSITION(substr IN str)</a:t>
                      </a:r>
                    </a:p>
                  </a:txBody>
                  <a:tcPr marL="34960" marR="34960" marT="17480" marB="17480" anchor="ctr"/>
                </a:tc>
                <a:tc>
                  <a:txBody>
                    <a:bodyPr/>
                    <a:lstStyle/>
                    <a:p>
                      <a:pPr>
                        <a:buNone/>
                      </a:pPr>
                      <a:r>
                        <a:rPr lang="en-IN" sz="2000"/>
                        <a:t>Position of substring</a:t>
                      </a:r>
                    </a:p>
                  </a:txBody>
                  <a:tcPr marL="34960" marR="34960" marT="17480" marB="17480" anchor="ctr"/>
                </a:tc>
                <a:tc>
                  <a:txBody>
                    <a:bodyPr/>
                    <a:lstStyle/>
                    <a:p>
                      <a:pPr>
                        <a:buNone/>
                      </a:pPr>
                      <a:r>
                        <a:rPr lang="it-IT" sz="2000"/>
                        <a:t>POSITION('e' IN 'hello') → 2</a:t>
                      </a:r>
                    </a:p>
                  </a:txBody>
                  <a:tcPr marL="34960" marR="34960" marT="17480" marB="17480" anchor="ctr"/>
                </a:tc>
                <a:extLst>
                  <a:ext uri="{0D108BD9-81ED-4DB2-BD59-A6C34878D82A}">
                    <a16:rowId xmlns:a16="http://schemas.microsoft.com/office/drawing/2014/main" val="1358094565"/>
                  </a:ext>
                </a:extLst>
              </a:tr>
              <a:tr h="139838">
                <a:tc>
                  <a:txBody>
                    <a:bodyPr/>
                    <a:lstStyle/>
                    <a:p>
                      <a:pPr>
                        <a:buNone/>
                      </a:pPr>
                      <a:r>
                        <a:rPr lang="en-IN" sz="2000"/>
                        <a:t>STRPOS(str, substr)</a:t>
                      </a:r>
                    </a:p>
                  </a:txBody>
                  <a:tcPr marL="34960" marR="34960" marT="17480" marB="17480" anchor="ctr"/>
                </a:tc>
                <a:tc>
                  <a:txBody>
                    <a:bodyPr/>
                    <a:lstStyle/>
                    <a:p>
                      <a:pPr>
                        <a:buNone/>
                      </a:pPr>
                      <a:r>
                        <a:rPr lang="en-IN" sz="2000"/>
                        <a:t>Alias for POSITION</a:t>
                      </a:r>
                    </a:p>
                  </a:txBody>
                  <a:tcPr marL="34960" marR="34960" marT="17480" marB="17480" anchor="ctr"/>
                </a:tc>
                <a:tc>
                  <a:txBody>
                    <a:bodyPr/>
                    <a:lstStyle/>
                    <a:p>
                      <a:pPr>
                        <a:buNone/>
                      </a:pPr>
                      <a:r>
                        <a:rPr lang="en-IN" sz="2000"/>
                        <a:t>STRPOS('hello', 'e') → 2</a:t>
                      </a:r>
                    </a:p>
                  </a:txBody>
                  <a:tcPr marL="34960" marR="34960" marT="17480" marB="17480" anchor="ctr"/>
                </a:tc>
                <a:extLst>
                  <a:ext uri="{0D108BD9-81ED-4DB2-BD59-A6C34878D82A}">
                    <a16:rowId xmlns:a16="http://schemas.microsoft.com/office/drawing/2014/main" val="3055001623"/>
                  </a:ext>
                </a:extLst>
              </a:tr>
              <a:tr h="349595">
                <a:tc>
                  <a:txBody>
                    <a:bodyPr/>
                    <a:lstStyle/>
                    <a:p>
                      <a:pPr>
                        <a:buNone/>
                      </a:pPr>
                      <a:r>
                        <a:rPr lang="en-US" sz="2000"/>
                        <a:t>OVERLAY(str PLACING str2 FROM pos FOR len)</a:t>
                      </a:r>
                    </a:p>
                  </a:txBody>
                  <a:tcPr marL="34960" marR="34960" marT="17480" marB="17480" anchor="ctr"/>
                </a:tc>
                <a:tc>
                  <a:txBody>
                    <a:bodyPr/>
                    <a:lstStyle/>
                    <a:p>
                      <a:pPr>
                        <a:buNone/>
                      </a:pPr>
                      <a:r>
                        <a:rPr lang="en-IN" sz="2000"/>
                        <a:t>Replaces part of string</a:t>
                      </a:r>
                    </a:p>
                  </a:txBody>
                  <a:tcPr marL="34960" marR="34960" marT="17480" marB="17480" anchor="ctr"/>
                </a:tc>
                <a:tc>
                  <a:txBody>
                    <a:bodyPr/>
                    <a:lstStyle/>
                    <a:p>
                      <a:pPr>
                        <a:buNone/>
                      </a:pPr>
                      <a:r>
                        <a:rPr lang="en-IN" sz="2000" dirty="0"/>
                        <a:t>OVERLAY('</a:t>
                      </a:r>
                      <a:r>
                        <a:rPr lang="en-IN" sz="2000" dirty="0" err="1"/>
                        <a:t>abcdef</a:t>
                      </a:r>
                      <a:r>
                        <a:rPr lang="en-IN" sz="2000" dirty="0"/>
                        <a:t>' PLACING '</a:t>
                      </a:r>
                      <a:r>
                        <a:rPr lang="en-IN" sz="2000" dirty="0" err="1"/>
                        <a:t>xyz</a:t>
                      </a:r>
                      <a:r>
                        <a:rPr lang="en-IN" sz="2000" dirty="0"/>
                        <a:t>' FROM 2 FOR 3) → '</a:t>
                      </a:r>
                      <a:r>
                        <a:rPr lang="en-IN" sz="2000" dirty="0" err="1"/>
                        <a:t>axyzef</a:t>
                      </a:r>
                      <a:r>
                        <a:rPr lang="en-IN" sz="2000" dirty="0"/>
                        <a:t>'</a:t>
                      </a:r>
                    </a:p>
                  </a:txBody>
                  <a:tcPr marL="34960" marR="34960" marT="17480" marB="17480" anchor="ctr"/>
                </a:tc>
                <a:extLst>
                  <a:ext uri="{0D108BD9-81ED-4DB2-BD59-A6C34878D82A}">
                    <a16:rowId xmlns:a16="http://schemas.microsoft.com/office/drawing/2014/main" val="2796816504"/>
                  </a:ext>
                </a:extLst>
              </a:tr>
            </a:tbl>
          </a:graphicData>
        </a:graphic>
      </p:graphicFrame>
    </p:spTree>
    <p:extLst>
      <p:ext uri="{BB962C8B-B14F-4D97-AF65-F5344CB8AC3E}">
        <p14:creationId xmlns:p14="http://schemas.microsoft.com/office/powerpoint/2010/main" val="537121684"/>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A546C-5F28-0DAA-BFCC-ED716AB4C5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E7014FC-CCEE-94CF-452C-2D6A7D9A7940}"/>
              </a:ext>
            </a:extLst>
          </p:cNvPr>
          <p:cNvSpPr>
            <a:spLocks noGrp="1"/>
          </p:cNvSpPr>
          <p:nvPr>
            <p:ph type="title"/>
          </p:nvPr>
        </p:nvSpPr>
        <p:spPr/>
        <p:txBody>
          <a:bodyPr/>
          <a:lstStyle/>
          <a:p>
            <a:r>
              <a:rPr lang="en-IN" dirty="0"/>
              <a:t>Built-In Functions- String</a:t>
            </a:r>
          </a:p>
        </p:txBody>
      </p:sp>
      <p:graphicFrame>
        <p:nvGraphicFramePr>
          <p:cNvPr id="4" name="Table 3">
            <a:extLst>
              <a:ext uri="{FF2B5EF4-FFF2-40B4-BE49-F238E27FC236}">
                <a16:creationId xmlns:a16="http://schemas.microsoft.com/office/drawing/2014/main" id="{A2C404F3-14FC-9BB3-6047-3560EA3A5B71}"/>
              </a:ext>
            </a:extLst>
          </p:cNvPr>
          <p:cNvGraphicFramePr>
            <a:graphicFrameLocks noGrp="1"/>
          </p:cNvGraphicFramePr>
          <p:nvPr/>
        </p:nvGraphicFramePr>
        <p:xfrm>
          <a:off x="461035" y="1619911"/>
          <a:ext cx="8384580" cy="3257760"/>
        </p:xfrm>
        <a:graphic>
          <a:graphicData uri="http://schemas.openxmlformats.org/drawingml/2006/table">
            <a:tbl>
              <a:tblPr>
                <a:tableStyleId>{3C2FFA5D-87B4-456A-9821-1D502468CF0F}</a:tableStyleId>
              </a:tblPr>
              <a:tblGrid>
                <a:gridCol w="2794860">
                  <a:extLst>
                    <a:ext uri="{9D8B030D-6E8A-4147-A177-3AD203B41FA5}">
                      <a16:colId xmlns:a16="http://schemas.microsoft.com/office/drawing/2014/main" val="4049519623"/>
                    </a:ext>
                  </a:extLst>
                </a:gridCol>
                <a:gridCol w="2500011">
                  <a:extLst>
                    <a:ext uri="{9D8B030D-6E8A-4147-A177-3AD203B41FA5}">
                      <a16:colId xmlns:a16="http://schemas.microsoft.com/office/drawing/2014/main" val="1780744380"/>
                    </a:ext>
                  </a:extLst>
                </a:gridCol>
                <a:gridCol w="3089709">
                  <a:extLst>
                    <a:ext uri="{9D8B030D-6E8A-4147-A177-3AD203B41FA5}">
                      <a16:colId xmlns:a16="http://schemas.microsoft.com/office/drawing/2014/main" val="1637543116"/>
                    </a:ext>
                  </a:extLst>
                </a:gridCol>
              </a:tblGrid>
              <a:tr h="139838">
                <a:tc>
                  <a:txBody>
                    <a:bodyPr/>
                    <a:lstStyle/>
                    <a:p>
                      <a:pPr>
                        <a:buNone/>
                      </a:pPr>
                      <a:r>
                        <a:rPr lang="en-IN" sz="2000"/>
                        <a:t>Function</a:t>
                      </a:r>
                    </a:p>
                  </a:txBody>
                  <a:tcPr marL="34960" marR="34960" marT="17480" marB="17480" anchor="ctr"/>
                </a:tc>
                <a:tc>
                  <a:txBody>
                    <a:bodyPr/>
                    <a:lstStyle/>
                    <a:p>
                      <a:pPr>
                        <a:buNone/>
                      </a:pPr>
                      <a:r>
                        <a:rPr lang="en-IN" sz="2000"/>
                        <a:t>Description</a:t>
                      </a:r>
                    </a:p>
                  </a:txBody>
                  <a:tcPr marL="34960" marR="34960" marT="17480" marB="17480" anchor="ctr"/>
                </a:tc>
                <a:tc>
                  <a:txBody>
                    <a:bodyPr/>
                    <a:lstStyle/>
                    <a:p>
                      <a:pPr>
                        <a:buNone/>
                      </a:pPr>
                      <a:r>
                        <a:rPr lang="en-IN" sz="2000"/>
                        <a:t>Example</a:t>
                      </a:r>
                    </a:p>
                  </a:txBody>
                  <a:tcPr marL="34960" marR="34960" marT="17480" marB="17480" anchor="ctr"/>
                </a:tc>
                <a:extLst>
                  <a:ext uri="{0D108BD9-81ED-4DB2-BD59-A6C34878D82A}">
                    <a16:rowId xmlns:a16="http://schemas.microsoft.com/office/drawing/2014/main" val="2026426651"/>
                  </a:ext>
                </a:extLst>
              </a:tr>
              <a:tr h="139838">
                <a:tc>
                  <a:txBody>
                    <a:bodyPr/>
                    <a:lstStyle/>
                    <a:p>
                      <a:pPr>
                        <a:buNone/>
                      </a:pPr>
                      <a:r>
                        <a:rPr lang="en-IN" sz="2000" dirty="0"/>
                        <a:t>REVERSE(str)</a:t>
                      </a:r>
                    </a:p>
                  </a:txBody>
                  <a:tcPr marL="34960" marR="34960" marT="17480" marB="17480" anchor="ctr"/>
                </a:tc>
                <a:tc>
                  <a:txBody>
                    <a:bodyPr/>
                    <a:lstStyle/>
                    <a:p>
                      <a:pPr>
                        <a:buNone/>
                      </a:pPr>
                      <a:r>
                        <a:rPr lang="en-IN" sz="2000"/>
                        <a:t>Reverses a string</a:t>
                      </a:r>
                    </a:p>
                  </a:txBody>
                  <a:tcPr marL="34960" marR="34960" marT="17480" marB="17480" anchor="ctr"/>
                </a:tc>
                <a:tc>
                  <a:txBody>
                    <a:bodyPr/>
                    <a:lstStyle/>
                    <a:p>
                      <a:pPr>
                        <a:buNone/>
                      </a:pPr>
                      <a:r>
                        <a:rPr lang="en-IN" sz="2000" dirty="0"/>
                        <a:t>REVERSE('</a:t>
                      </a:r>
                      <a:r>
                        <a:rPr lang="en-IN" sz="2000" dirty="0" err="1"/>
                        <a:t>abc</a:t>
                      </a:r>
                      <a:r>
                        <a:rPr lang="en-IN" sz="2000" dirty="0"/>
                        <a:t>') → 'cba'</a:t>
                      </a:r>
                    </a:p>
                  </a:txBody>
                  <a:tcPr marL="34960" marR="34960" marT="17480" marB="17480" anchor="ctr"/>
                </a:tc>
                <a:extLst>
                  <a:ext uri="{0D108BD9-81ED-4DB2-BD59-A6C34878D82A}">
                    <a16:rowId xmlns:a16="http://schemas.microsoft.com/office/drawing/2014/main" val="3842317957"/>
                  </a:ext>
                </a:extLst>
              </a:tr>
              <a:tr h="244717">
                <a:tc>
                  <a:txBody>
                    <a:bodyPr/>
                    <a:lstStyle/>
                    <a:p>
                      <a:pPr>
                        <a:buNone/>
                      </a:pPr>
                      <a:r>
                        <a:rPr lang="en-IN" sz="2000" dirty="0"/>
                        <a:t>LPAD(str, </a:t>
                      </a:r>
                      <a:r>
                        <a:rPr lang="en-IN" sz="2000" dirty="0" err="1"/>
                        <a:t>len</a:t>
                      </a:r>
                      <a:r>
                        <a:rPr lang="en-IN" sz="2000" dirty="0"/>
                        <a:t>, </a:t>
                      </a:r>
                      <a:r>
                        <a:rPr lang="en-IN" sz="2000" dirty="0" err="1"/>
                        <a:t>padstr</a:t>
                      </a:r>
                      <a:r>
                        <a:rPr lang="en-IN" sz="2000" dirty="0"/>
                        <a:t>)</a:t>
                      </a:r>
                    </a:p>
                  </a:txBody>
                  <a:tcPr marL="34960" marR="34960" marT="17480" marB="17480" anchor="ctr"/>
                </a:tc>
                <a:tc>
                  <a:txBody>
                    <a:bodyPr/>
                    <a:lstStyle/>
                    <a:p>
                      <a:pPr>
                        <a:buNone/>
                      </a:pPr>
                      <a:r>
                        <a:rPr lang="en-IN" sz="2000" dirty="0"/>
                        <a:t>Pads left side</a:t>
                      </a:r>
                    </a:p>
                  </a:txBody>
                  <a:tcPr marL="34960" marR="34960" marT="17480" marB="17480" anchor="ctr"/>
                </a:tc>
                <a:tc>
                  <a:txBody>
                    <a:bodyPr/>
                    <a:lstStyle/>
                    <a:p>
                      <a:pPr>
                        <a:buNone/>
                      </a:pPr>
                      <a:r>
                        <a:rPr lang="en-IN" sz="2000"/>
                        <a:t>LPAD('123', 5, '0') → '00123'</a:t>
                      </a:r>
                    </a:p>
                  </a:txBody>
                  <a:tcPr marL="34960" marR="34960" marT="17480" marB="17480" anchor="ctr"/>
                </a:tc>
                <a:extLst>
                  <a:ext uri="{0D108BD9-81ED-4DB2-BD59-A6C34878D82A}">
                    <a16:rowId xmlns:a16="http://schemas.microsoft.com/office/drawing/2014/main" val="1664369666"/>
                  </a:ext>
                </a:extLst>
              </a:tr>
              <a:tr h="244717">
                <a:tc>
                  <a:txBody>
                    <a:bodyPr/>
                    <a:lstStyle/>
                    <a:p>
                      <a:pPr>
                        <a:buNone/>
                      </a:pPr>
                      <a:r>
                        <a:rPr lang="en-IN" sz="2000"/>
                        <a:t>RPAD(str, len, padstr)</a:t>
                      </a:r>
                    </a:p>
                  </a:txBody>
                  <a:tcPr marL="34960" marR="34960" marT="17480" marB="17480" anchor="ctr"/>
                </a:tc>
                <a:tc>
                  <a:txBody>
                    <a:bodyPr/>
                    <a:lstStyle/>
                    <a:p>
                      <a:pPr>
                        <a:buNone/>
                      </a:pPr>
                      <a:r>
                        <a:rPr lang="en-IN" sz="2000" dirty="0"/>
                        <a:t>Pads right side</a:t>
                      </a:r>
                    </a:p>
                  </a:txBody>
                  <a:tcPr marL="34960" marR="34960" marT="17480" marB="17480" anchor="ctr"/>
                </a:tc>
                <a:tc>
                  <a:txBody>
                    <a:bodyPr/>
                    <a:lstStyle/>
                    <a:p>
                      <a:pPr>
                        <a:buNone/>
                      </a:pPr>
                      <a:r>
                        <a:rPr lang="en-IN" sz="2000" dirty="0"/>
                        <a:t>RPAD('123', 5, '0') → '12300'</a:t>
                      </a:r>
                    </a:p>
                  </a:txBody>
                  <a:tcPr marL="34960" marR="34960" marT="17480" marB="17480" anchor="ctr"/>
                </a:tc>
                <a:extLst>
                  <a:ext uri="{0D108BD9-81ED-4DB2-BD59-A6C34878D82A}">
                    <a16:rowId xmlns:a16="http://schemas.microsoft.com/office/drawing/2014/main" val="3683398341"/>
                  </a:ext>
                </a:extLst>
              </a:tr>
              <a:tr h="349595">
                <a:tc>
                  <a:txBody>
                    <a:bodyPr/>
                    <a:lstStyle/>
                    <a:p>
                      <a:pPr>
                        <a:buNone/>
                      </a:pPr>
                      <a:r>
                        <a:rPr lang="en-IN" sz="2000"/>
                        <a:t>REGEXP_REPLACE(str, pattern, replacement)</a:t>
                      </a:r>
                    </a:p>
                  </a:txBody>
                  <a:tcPr marL="34960" marR="34960" marT="17480" marB="17480" anchor="ctr"/>
                </a:tc>
                <a:tc>
                  <a:txBody>
                    <a:bodyPr/>
                    <a:lstStyle/>
                    <a:p>
                      <a:pPr>
                        <a:buNone/>
                      </a:pPr>
                      <a:r>
                        <a:rPr lang="en-IN" sz="2000"/>
                        <a:t>Regex-based replacement</a:t>
                      </a:r>
                    </a:p>
                  </a:txBody>
                  <a:tcPr marL="34960" marR="34960" marT="17480" marB="17480" anchor="ctr"/>
                </a:tc>
                <a:tc>
                  <a:txBody>
                    <a:bodyPr/>
                    <a:lstStyle/>
                    <a:p>
                      <a:pPr>
                        <a:buNone/>
                      </a:pPr>
                      <a:r>
                        <a:rPr lang="en-IN" sz="2000" dirty="0"/>
                        <a:t>REGEXP_REPLACE('abc123', '[0-9]', '', 'g') → '</a:t>
                      </a:r>
                      <a:r>
                        <a:rPr lang="en-IN" sz="2000" dirty="0" err="1"/>
                        <a:t>abc</a:t>
                      </a:r>
                      <a:r>
                        <a:rPr lang="en-IN" sz="2000" dirty="0"/>
                        <a:t>'</a:t>
                      </a:r>
                    </a:p>
                  </a:txBody>
                  <a:tcPr marL="34960" marR="34960" marT="17480" marB="17480" anchor="ctr"/>
                </a:tc>
                <a:extLst>
                  <a:ext uri="{0D108BD9-81ED-4DB2-BD59-A6C34878D82A}">
                    <a16:rowId xmlns:a16="http://schemas.microsoft.com/office/drawing/2014/main" val="1883160268"/>
                  </a:ext>
                </a:extLst>
              </a:tr>
              <a:tr h="244717">
                <a:tc>
                  <a:txBody>
                    <a:bodyPr/>
                    <a:lstStyle/>
                    <a:p>
                      <a:pPr>
                        <a:buNone/>
                      </a:pPr>
                      <a:r>
                        <a:rPr lang="en-IN" sz="2000"/>
                        <a:t>REGEXP_MATCHES(str, pattern)</a:t>
                      </a:r>
                    </a:p>
                  </a:txBody>
                  <a:tcPr marL="34960" marR="34960" marT="17480" marB="17480" anchor="ctr"/>
                </a:tc>
                <a:tc>
                  <a:txBody>
                    <a:bodyPr/>
                    <a:lstStyle/>
                    <a:p>
                      <a:pPr>
                        <a:buNone/>
                      </a:pPr>
                      <a:r>
                        <a:rPr lang="en-IN" sz="2000"/>
                        <a:t>Returns regex match array</a:t>
                      </a:r>
                    </a:p>
                  </a:txBody>
                  <a:tcPr marL="34960" marR="34960" marT="17480" marB="17480" anchor="ctr"/>
                </a:tc>
                <a:tc>
                  <a:txBody>
                    <a:bodyPr/>
                    <a:lstStyle/>
                    <a:p>
                      <a:pPr>
                        <a:buNone/>
                      </a:pPr>
                      <a:r>
                        <a:rPr lang="en-US" sz="2000" dirty="0"/>
                        <a:t>REGEXP_MATCHES('abc123', '[a-z]+') → {</a:t>
                      </a:r>
                      <a:r>
                        <a:rPr lang="en-US" sz="2000" dirty="0" err="1"/>
                        <a:t>abc</a:t>
                      </a:r>
                      <a:r>
                        <a:rPr lang="en-US" sz="2000" dirty="0"/>
                        <a:t>}</a:t>
                      </a:r>
                    </a:p>
                  </a:txBody>
                  <a:tcPr marL="34960" marR="34960" marT="17480" marB="17480" anchor="ctr"/>
                </a:tc>
                <a:extLst>
                  <a:ext uri="{0D108BD9-81ED-4DB2-BD59-A6C34878D82A}">
                    <a16:rowId xmlns:a16="http://schemas.microsoft.com/office/drawing/2014/main" val="3351615572"/>
                  </a:ext>
                </a:extLst>
              </a:tr>
            </a:tbl>
          </a:graphicData>
        </a:graphic>
      </p:graphicFrame>
      <p:sp>
        <p:nvSpPr>
          <p:cNvPr id="5" name="TextBox 4">
            <a:extLst>
              <a:ext uri="{FF2B5EF4-FFF2-40B4-BE49-F238E27FC236}">
                <a16:creationId xmlns:a16="http://schemas.microsoft.com/office/drawing/2014/main" id="{89F89204-6A33-F2CB-7A10-25C16CDBD003}"/>
              </a:ext>
            </a:extLst>
          </p:cNvPr>
          <p:cNvSpPr txBox="1"/>
          <p:nvPr/>
        </p:nvSpPr>
        <p:spPr>
          <a:xfrm>
            <a:off x="470660" y="5238089"/>
            <a:ext cx="8384580" cy="646331"/>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spAutoFit/>
          </a:bodyPr>
          <a:lstStyle/>
          <a:p>
            <a:r>
              <a:rPr lang="en-IN" dirty="0"/>
              <a:t>SELECT   LENGTH('PostgreSQL’),   LOWER('HELLO’),   SUBSTRING('</a:t>
            </a:r>
            <a:r>
              <a:rPr lang="en-IN" dirty="0" err="1"/>
              <a:t>abcdef</a:t>
            </a:r>
            <a:r>
              <a:rPr lang="en-IN" dirty="0"/>
              <a:t>' FROM 2 FOR 3),   REPLACE('banana', 'a', 'x’),   LPAD('42', 5, '0');</a:t>
            </a:r>
          </a:p>
        </p:txBody>
      </p:sp>
    </p:spTree>
    <p:extLst>
      <p:ext uri="{BB962C8B-B14F-4D97-AF65-F5344CB8AC3E}">
        <p14:creationId xmlns:p14="http://schemas.microsoft.com/office/powerpoint/2010/main" val="3135590992"/>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96F2D-6EEA-D599-76DF-94FE9503A2F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A895893-A988-E2EF-C3B1-F0B193BBB072}"/>
              </a:ext>
            </a:extLst>
          </p:cNvPr>
          <p:cNvSpPr>
            <a:spLocks noGrp="1"/>
          </p:cNvSpPr>
          <p:nvPr>
            <p:ph type="title"/>
          </p:nvPr>
        </p:nvSpPr>
        <p:spPr/>
        <p:txBody>
          <a:bodyPr/>
          <a:lstStyle/>
          <a:p>
            <a:r>
              <a:rPr lang="en-IN" dirty="0"/>
              <a:t>Built in Date Functions</a:t>
            </a:r>
          </a:p>
        </p:txBody>
      </p:sp>
      <p:graphicFrame>
        <p:nvGraphicFramePr>
          <p:cNvPr id="4" name="Table 3">
            <a:extLst>
              <a:ext uri="{FF2B5EF4-FFF2-40B4-BE49-F238E27FC236}">
                <a16:creationId xmlns:a16="http://schemas.microsoft.com/office/drawing/2014/main" id="{E22C4352-C80F-8E8F-F509-A4E0BBC3B918}"/>
              </a:ext>
            </a:extLst>
          </p:cNvPr>
          <p:cNvGraphicFramePr>
            <a:graphicFrameLocks noGrp="1"/>
          </p:cNvGraphicFramePr>
          <p:nvPr/>
        </p:nvGraphicFramePr>
        <p:xfrm>
          <a:off x="461035" y="1381125"/>
          <a:ext cx="8403831" cy="4952298"/>
        </p:xfrm>
        <a:graphic>
          <a:graphicData uri="http://schemas.openxmlformats.org/drawingml/2006/table">
            <a:tbl>
              <a:tblPr>
                <a:tableStyleId>{3C2FFA5D-87B4-456A-9821-1D502468CF0F}</a:tableStyleId>
              </a:tblPr>
              <a:tblGrid>
                <a:gridCol w="2801277">
                  <a:extLst>
                    <a:ext uri="{9D8B030D-6E8A-4147-A177-3AD203B41FA5}">
                      <a16:colId xmlns:a16="http://schemas.microsoft.com/office/drawing/2014/main" val="243418756"/>
                    </a:ext>
                  </a:extLst>
                </a:gridCol>
                <a:gridCol w="2801277">
                  <a:extLst>
                    <a:ext uri="{9D8B030D-6E8A-4147-A177-3AD203B41FA5}">
                      <a16:colId xmlns:a16="http://schemas.microsoft.com/office/drawing/2014/main" val="2706424630"/>
                    </a:ext>
                  </a:extLst>
                </a:gridCol>
                <a:gridCol w="2801277">
                  <a:extLst>
                    <a:ext uri="{9D8B030D-6E8A-4147-A177-3AD203B41FA5}">
                      <a16:colId xmlns:a16="http://schemas.microsoft.com/office/drawing/2014/main" val="3266366786"/>
                    </a:ext>
                  </a:extLst>
                </a:gridCol>
              </a:tblGrid>
              <a:tr h="301270">
                <a:tc>
                  <a:txBody>
                    <a:bodyPr/>
                    <a:lstStyle/>
                    <a:p>
                      <a:pPr>
                        <a:buNone/>
                      </a:pPr>
                      <a:r>
                        <a:rPr lang="en-IN" sz="1400"/>
                        <a:t>Function</a:t>
                      </a:r>
                    </a:p>
                  </a:txBody>
                  <a:tcPr marL="36828" marR="36828" marT="18414" marB="18414" anchor="ctr"/>
                </a:tc>
                <a:tc>
                  <a:txBody>
                    <a:bodyPr/>
                    <a:lstStyle/>
                    <a:p>
                      <a:pPr>
                        <a:buNone/>
                      </a:pPr>
                      <a:r>
                        <a:rPr lang="en-IN" sz="1400"/>
                        <a:t>Description</a:t>
                      </a:r>
                    </a:p>
                  </a:txBody>
                  <a:tcPr marL="36828" marR="36828" marT="18414" marB="18414" anchor="ctr"/>
                </a:tc>
                <a:tc>
                  <a:txBody>
                    <a:bodyPr/>
                    <a:lstStyle/>
                    <a:p>
                      <a:pPr>
                        <a:buNone/>
                      </a:pPr>
                      <a:r>
                        <a:rPr lang="en-IN" sz="1400"/>
                        <a:t>Example</a:t>
                      </a:r>
                    </a:p>
                  </a:txBody>
                  <a:tcPr marL="36828" marR="36828" marT="18414" marB="18414" anchor="ctr"/>
                </a:tc>
                <a:extLst>
                  <a:ext uri="{0D108BD9-81ED-4DB2-BD59-A6C34878D82A}">
                    <a16:rowId xmlns:a16="http://schemas.microsoft.com/office/drawing/2014/main" val="2921577744"/>
                  </a:ext>
                </a:extLst>
              </a:tr>
              <a:tr h="325469">
                <a:tc>
                  <a:txBody>
                    <a:bodyPr/>
                    <a:lstStyle/>
                    <a:p>
                      <a:pPr>
                        <a:buNone/>
                      </a:pPr>
                      <a:r>
                        <a:rPr lang="en-IN" sz="1400"/>
                        <a:t>CURRENT_DATE</a:t>
                      </a:r>
                    </a:p>
                  </a:txBody>
                  <a:tcPr marL="36828" marR="36828" marT="18414" marB="18414" anchor="ctr"/>
                </a:tc>
                <a:tc>
                  <a:txBody>
                    <a:bodyPr/>
                    <a:lstStyle/>
                    <a:p>
                      <a:pPr>
                        <a:buNone/>
                      </a:pPr>
                      <a:r>
                        <a:rPr lang="en-IN" sz="1400"/>
                        <a:t>Returns today’s date</a:t>
                      </a:r>
                    </a:p>
                  </a:txBody>
                  <a:tcPr marL="36828" marR="36828" marT="18414" marB="18414" anchor="ctr"/>
                </a:tc>
                <a:tc>
                  <a:txBody>
                    <a:bodyPr/>
                    <a:lstStyle/>
                    <a:p>
                      <a:pPr>
                        <a:buNone/>
                      </a:pPr>
                      <a:r>
                        <a:rPr lang="en-IN" sz="1400"/>
                        <a:t>SELECT CURRENT_DATE;</a:t>
                      </a:r>
                    </a:p>
                  </a:txBody>
                  <a:tcPr marL="36828" marR="36828" marT="18414" marB="18414" anchor="ctr"/>
                </a:tc>
                <a:extLst>
                  <a:ext uri="{0D108BD9-81ED-4DB2-BD59-A6C34878D82A}">
                    <a16:rowId xmlns:a16="http://schemas.microsoft.com/office/drawing/2014/main" val="2159361184"/>
                  </a:ext>
                </a:extLst>
              </a:tr>
              <a:tr h="325469">
                <a:tc>
                  <a:txBody>
                    <a:bodyPr/>
                    <a:lstStyle/>
                    <a:p>
                      <a:pPr>
                        <a:buNone/>
                      </a:pPr>
                      <a:r>
                        <a:rPr lang="en-IN" sz="1400"/>
                        <a:t>CURRENT_TIME</a:t>
                      </a:r>
                    </a:p>
                  </a:txBody>
                  <a:tcPr marL="36828" marR="36828" marT="18414" marB="18414" anchor="ctr"/>
                </a:tc>
                <a:tc>
                  <a:txBody>
                    <a:bodyPr/>
                    <a:lstStyle/>
                    <a:p>
                      <a:pPr>
                        <a:buNone/>
                      </a:pPr>
                      <a:r>
                        <a:rPr lang="en-IN" sz="1400"/>
                        <a:t>Returns current time</a:t>
                      </a:r>
                    </a:p>
                  </a:txBody>
                  <a:tcPr marL="36828" marR="36828" marT="18414" marB="18414" anchor="ctr"/>
                </a:tc>
                <a:tc>
                  <a:txBody>
                    <a:bodyPr/>
                    <a:lstStyle/>
                    <a:p>
                      <a:pPr>
                        <a:buNone/>
                      </a:pPr>
                      <a:r>
                        <a:rPr lang="en-IN" sz="1400"/>
                        <a:t>SELECT CURRENT_TIME;</a:t>
                      </a:r>
                    </a:p>
                  </a:txBody>
                  <a:tcPr marL="36828" marR="36828" marT="18414" marB="18414" anchor="ctr"/>
                </a:tc>
                <a:extLst>
                  <a:ext uri="{0D108BD9-81ED-4DB2-BD59-A6C34878D82A}">
                    <a16:rowId xmlns:a16="http://schemas.microsoft.com/office/drawing/2014/main" val="854944034"/>
                  </a:ext>
                </a:extLst>
              </a:tr>
              <a:tr h="558192">
                <a:tc>
                  <a:txBody>
                    <a:bodyPr/>
                    <a:lstStyle/>
                    <a:p>
                      <a:pPr>
                        <a:buNone/>
                      </a:pPr>
                      <a:r>
                        <a:rPr lang="en-IN" sz="1400"/>
                        <a:t>CURRENT_TIMESTAMP or NOW()</a:t>
                      </a:r>
                    </a:p>
                  </a:txBody>
                  <a:tcPr marL="36828" marR="36828" marT="18414" marB="18414" anchor="ctr"/>
                </a:tc>
                <a:tc>
                  <a:txBody>
                    <a:bodyPr/>
                    <a:lstStyle/>
                    <a:p>
                      <a:pPr>
                        <a:buNone/>
                      </a:pPr>
                      <a:r>
                        <a:rPr lang="en-US" sz="1400"/>
                        <a:t>Returns current date and time</a:t>
                      </a:r>
                    </a:p>
                  </a:txBody>
                  <a:tcPr marL="36828" marR="36828" marT="18414" marB="18414" anchor="ctr"/>
                </a:tc>
                <a:tc>
                  <a:txBody>
                    <a:bodyPr/>
                    <a:lstStyle/>
                    <a:p>
                      <a:pPr>
                        <a:buNone/>
                      </a:pPr>
                      <a:r>
                        <a:rPr lang="en-IN" sz="1400"/>
                        <a:t>SELECT NOW();</a:t>
                      </a:r>
                    </a:p>
                  </a:txBody>
                  <a:tcPr marL="36828" marR="36828" marT="18414" marB="18414" anchor="ctr"/>
                </a:tc>
                <a:extLst>
                  <a:ext uri="{0D108BD9-81ED-4DB2-BD59-A6C34878D82A}">
                    <a16:rowId xmlns:a16="http://schemas.microsoft.com/office/drawing/2014/main" val="1086399700"/>
                  </a:ext>
                </a:extLst>
              </a:tr>
              <a:tr h="558192">
                <a:tc>
                  <a:txBody>
                    <a:bodyPr/>
                    <a:lstStyle/>
                    <a:p>
                      <a:pPr>
                        <a:buNone/>
                      </a:pPr>
                      <a:r>
                        <a:rPr lang="en-IN" sz="1400"/>
                        <a:t>AGE(timestamp)</a:t>
                      </a:r>
                    </a:p>
                  </a:txBody>
                  <a:tcPr marL="36828" marR="36828" marT="18414" marB="18414" anchor="ctr"/>
                </a:tc>
                <a:tc>
                  <a:txBody>
                    <a:bodyPr/>
                    <a:lstStyle/>
                    <a:p>
                      <a:pPr>
                        <a:buNone/>
                      </a:pPr>
                      <a:r>
                        <a:rPr lang="en-US" sz="1400"/>
                        <a:t>Interval between now and given timestamp</a:t>
                      </a:r>
                    </a:p>
                  </a:txBody>
                  <a:tcPr marL="36828" marR="36828" marT="18414" marB="18414" anchor="ctr"/>
                </a:tc>
                <a:tc>
                  <a:txBody>
                    <a:bodyPr/>
                    <a:lstStyle/>
                    <a:p>
                      <a:pPr>
                        <a:buNone/>
                      </a:pPr>
                      <a:r>
                        <a:rPr lang="en-IN" sz="1400"/>
                        <a:t>AGE('2000-01-01')</a:t>
                      </a:r>
                    </a:p>
                  </a:txBody>
                  <a:tcPr marL="36828" marR="36828" marT="18414" marB="18414" anchor="ctr"/>
                </a:tc>
                <a:extLst>
                  <a:ext uri="{0D108BD9-81ED-4DB2-BD59-A6C34878D82A}">
                    <a16:rowId xmlns:a16="http://schemas.microsoft.com/office/drawing/2014/main" val="3543285005"/>
                  </a:ext>
                </a:extLst>
              </a:tr>
              <a:tr h="325469">
                <a:tc>
                  <a:txBody>
                    <a:bodyPr/>
                    <a:lstStyle/>
                    <a:p>
                      <a:pPr>
                        <a:buNone/>
                      </a:pPr>
                      <a:r>
                        <a:rPr lang="en-IN" sz="1400"/>
                        <a:t>AGE(timestamp1, timestamp2)</a:t>
                      </a:r>
                    </a:p>
                  </a:txBody>
                  <a:tcPr marL="36828" marR="36828" marT="18414" marB="18414" anchor="ctr"/>
                </a:tc>
                <a:tc>
                  <a:txBody>
                    <a:bodyPr/>
                    <a:lstStyle/>
                    <a:p>
                      <a:pPr>
                        <a:buNone/>
                      </a:pPr>
                      <a:r>
                        <a:rPr lang="en-IN" sz="1400"/>
                        <a:t>Interval between two timestamps</a:t>
                      </a:r>
                    </a:p>
                  </a:txBody>
                  <a:tcPr marL="36828" marR="36828" marT="18414" marB="18414" anchor="ctr"/>
                </a:tc>
                <a:tc>
                  <a:txBody>
                    <a:bodyPr/>
                    <a:lstStyle/>
                    <a:p>
                      <a:pPr>
                        <a:buNone/>
                      </a:pPr>
                      <a:r>
                        <a:rPr lang="en-IN" sz="1400"/>
                        <a:t>AGE('2025-01-01', '2000-01-01')</a:t>
                      </a:r>
                    </a:p>
                  </a:txBody>
                  <a:tcPr marL="36828" marR="36828" marT="18414" marB="18414" anchor="ctr"/>
                </a:tc>
                <a:extLst>
                  <a:ext uri="{0D108BD9-81ED-4DB2-BD59-A6C34878D82A}">
                    <a16:rowId xmlns:a16="http://schemas.microsoft.com/office/drawing/2014/main" val="1878338057"/>
                  </a:ext>
                </a:extLst>
              </a:tr>
              <a:tr h="558192">
                <a:tc>
                  <a:txBody>
                    <a:bodyPr/>
                    <a:lstStyle/>
                    <a:p>
                      <a:pPr>
                        <a:buNone/>
                      </a:pPr>
                      <a:r>
                        <a:rPr lang="en-IN" sz="1400" dirty="0"/>
                        <a:t>DATE_PART(field, source)</a:t>
                      </a:r>
                    </a:p>
                  </a:txBody>
                  <a:tcPr marL="36828" marR="36828" marT="18414" marB="18414" anchor="ctr"/>
                </a:tc>
                <a:tc>
                  <a:txBody>
                    <a:bodyPr/>
                    <a:lstStyle/>
                    <a:p>
                      <a:pPr>
                        <a:buNone/>
                      </a:pPr>
                      <a:r>
                        <a:rPr lang="en-US" sz="1400"/>
                        <a:t>Extract part of a date (year, month, etc.)</a:t>
                      </a:r>
                    </a:p>
                  </a:txBody>
                  <a:tcPr marL="36828" marR="36828" marT="18414" marB="18414" anchor="ctr"/>
                </a:tc>
                <a:tc>
                  <a:txBody>
                    <a:bodyPr/>
                    <a:lstStyle/>
                    <a:p>
                      <a:pPr>
                        <a:buNone/>
                      </a:pPr>
                      <a:r>
                        <a:rPr lang="en-IN" sz="1400"/>
                        <a:t>DATE_PART('year', NOW())</a:t>
                      </a:r>
                    </a:p>
                  </a:txBody>
                  <a:tcPr marL="36828" marR="36828" marT="18414" marB="18414" anchor="ctr"/>
                </a:tc>
                <a:extLst>
                  <a:ext uri="{0D108BD9-81ED-4DB2-BD59-A6C34878D82A}">
                    <a16:rowId xmlns:a16="http://schemas.microsoft.com/office/drawing/2014/main" val="1994752694"/>
                  </a:ext>
                </a:extLst>
              </a:tr>
              <a:tr h="325469">
                <a:tc>
                  <a:txBody>
                    <a:bodyPr/>
                    <a:lstStyle/>
                    <a:p>
                      <a:pPr>
                        <a:buNone/>
                      </a:pPr>
                      <a:r>
                        <a:rPr lang="en-IN" sz="1400"/>
                        <a:t>EXTRACT(field FROM source)</a:t>
                      </a:r>
                    </a:p>
                  </a:txBody>
                  <a:tcPr marL="36828" marR="36828" marT="18414" marB="18414" anchor="ctr"/>
                </a:tc>
                <a:tc>
                  <a:txBody>
                    <a:bodyPr/>
                    <a:lstStyle/>
                    <a:p>
                      <a:pPr>
                        <a:buNone/>
                      </a:pPr>
                      <a:r>
                        <a:rPr lang="en-IN" sz="1400"/>
                        <a:t>Same as DATE_PART</a:t>
                      </a:r>
                    </a:p>
                  </a:txBody>
                  <a:tcPr marL="36828" marR="36828" marT="18414" marB="18414" anchor="ctr"/>
                </a:tc>
                <a:tc>
                  <a:txBody>
                    <a:bodyPr/>
                    <a:lstStyle/>
                    <a:p>
                      <a:pPr>
                        <a:buNone/>
                      </a:pPr>
                      <a:r>
                        <a:rPr lang="en-IN" sz="1400"/>
                        <a:t>EXTRACT(DAY FROM NOW())</a:t>
                      </a:r>
                    </a:p>
                  </a:txBody>
                  <a:tcPr marL="36828" marR="36828" marT="18414" marB="18414" anchor="ctr"/>
                </a:tc>
                <a:extLst>
                  <a:ext uri="{0D108BD9-81ED-4DB2-BD59-A6C34878D82A}">
                    <a16:rowId xmlns:a16="http://schemas.microsoft.com/office/drawing/2014/main" val="2537121831"/>
                  </a:ext>
                </a:extLst>
              </a:tr>
              <a:tr h="558192">
                <a:tc>
                  <a:txBody>
                    <a:bodyPr/>
                    <a:lstStyle/>
                    <a:p>
                      <a:pPr>
                        <a:buNone/>
                      </a:pPr>
                      <a:r>
                        <a:rPr lang="en-IN" sz="1400"/>
                        <a:t>DATE_TRUNC(field, source)</a:t>
                      </a:r>
                    </a:p>
                  </a:txBody>
                  <a:tcPr marL="36828" marR="36828" marT="18414" marB="18414" anchor="ctr"/>
                </a:tc>
                <a:tc>
                  <a:txBody>
                    <a:bodyPr/>
                    <a:lstStyle/>
                    <a:p>
                      <a:pPr>
                        <a:buNone/>
                      </a:pPr>
                      <a:r>
                        <a:rPr lang="en-US" sz="1400"/>
                        <a:t>Truncates date/time to a unit</a:t>
                      </a:r>
                    </a:p>
                  </a:txBody>
                  <a:tcPr marL="36828" marR="36828" marT="18414" marB="18414" anchor="ctr"/>
                </a:tc>
                <a:tc>
                  <a:txBody>
                    <a:bodyPr/>
                    <a:lstStyle/>
                    <a:p>
                      <a:pPr>
                        <a:buNone/>
                      </a:pPr>
                      <a:r>
                        <a:rPr lang="en-US" sz="1400"/>
                        <a:t>DATE_TRUNC('month', NOW()) → 2025-07-01 00:00:00</a:t>
                      </a:r>
                    </a:p>
                  </a:txBody>
                  <a:tcPr marL="36828" marR="36828" marT="18414" marB="18414" anchor="ctr"/>
                </a:tc>
                <a:extLst>
                  <a:ext uri="{0D108BD9-81ED-4DB2-BD59-A6C34878D82A}">
                    <a16:rowId xmlns:a16="http://schemas.microsoft.com/office/drawing/2014/main" val="1097360181"/>
                  </a:ext>
                </a:extLst>
              </a:tr>
              <a:tr h="558192">
                <a:tc>
                  <a:txBody>
                    <a:bodyPr/>
                    <a:lstStyle/>
                    <a:p>
                      <a:pPr>
                        <a:buNone/>
                      </a:pPr>
                      <a:r>
                        <a:rPr lang="en-IN" sz="1400"/>
                        <a:t>TO_CHAR(timestamp, format)</a:t>
                      </a:r>
                    </a:p>
                  </a:txBody>
                  <a:tcPr marL="36828" marR="36828" marT="18414" marB="18414" anchor="ctr"/>
                </a:tc>
                <a:tc>
                  <a:txBody>
                    <a:bodyPr/>
                    <a:lstStyle/>
                    <a:p>
                      <a:pPr>
                        <a:buNone/>
                      </a:pPr>
                      <a:r>
                        <a:rPr lang="en-IN" sz="1400"/>
                        <a:t>Format a timestamp</a:t>
                      </a:r>
                    </a:p>
                  </a:txBody>
                  <a:tcPr marL="36828" marR="36828" marT="18414" marB="18414" anchor="ctr"/>
                </a:tc>
                <a:tc>
                  <a:txBody>
                    <a:bodyPr/>
                    <a:lstStyle/>
                    <a:p>
                      <a:pPr>
                        <a:buNone/>
                      </a:pPr>
                      <a:r>
                        <a:rPr lang="en-IN" sz="1400"/>
                        <a:t>TO_CHAR(NOW(), 'YYYY-MM-DD')</a:t>
                      </a:r>
                    </a:p>
                  </a:txBody>
                  <a:tcPr marL="36828" marR="36828" marT="18414" marB="18414" anchor="ctr"/>
                </a:tc>
                <a:extLst>
                  <a:ext uri="{0D108BD9-81ED-4DB2-BD59-A6C34878D82A}">
                    <a16:rowId xmlns:a16="http://schemas.microsoft.com/office/drawing/2014/main" val="3544173427"/>
                  </a:ext>
                </a:extLst>
              </a:tr>
              <a:tr h="558192">
                <a:tc>
                  <a:txBody>
                    <a:bodyPr/>
                    <a:lstStyle/>
                    <a:p>
                      <a:pPr>
                        <a:buNone/>
                      </a:pPr>
                      <a:r>
                        <a:rPr lang="en-IN" sz="1400"/>
                        <a:t>TO_DATE(text, format)</a:t>
                      </a:r>
                    </a:p>
                  </a:txBody>
                  <a:tcPr marL="36828" marR="36828" marT="18414" marB="18414" anchor="ctr"/>
                </a:tc>
                <a:tc>
                  <a:txBody>
                    <a:bodyPr/>
                    <a:lstStyle/>
                    <a:p>
                      <a:pPr>
                        <a:buNone/>
                      </a:pPr>
                      <a:r>
                        <a:rPr lang="en-IN" sz="1400"/>
                        <a:t>Convert string to date</a:t>
                      </a:r>
                    </a:p>
                  </a:txBody>
                  <a:tcPr marL="36828" marR="36828" marT="18414" marB="18414" anchor="ctr"/>
                </a:tc>
                <a:tc>
                  <a:txBody>
                    <a:bodyPr/>
                    <a:lstStyle/>
                    <a:p>
                      <a:pPr>
                        <a:buNone/>
                      </a:pPr>
                      <a:r>
                        <a:rPr lang="en-IN" sz="1400" dirty="0"/>
                        <a:t>TO_DATE('2025-07-20', 'YYYY-MM-DD')</a:t>
                      </a:r>
                    </a:p>
                  </a:txBody>
                  <a:tcPr marL="36828" marR="36828" marT="18414" marB="18414" anchor="ctr"/>
                </a:tc>
                <a:extLst>
                  <a:ext uri="{0D108BD9-81ED-4DB2-BD59-A6C34878D82A}">
                    <a16:rowId xmlns:a16="http://schemas.microsoft.com/office/drawing/2014/main" val="455051766"/>
                  </a:ext>
                </a:extLst>
              </a:tr>
            </a:tbl>
          </a:graphicData>
        </a:graphic>
      </p:graphicFrame>
    </p:spTree>
    <p:extLst>
      <p:ext uri="{BB962C8B-B14F-4D97-AF65-F5344CB8AC3E}">
        <p14:creationId xmlns:p14="http://schemas.microsoft.com/office/powerpoint/2010/main" val="2047316542"/>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FE3D28A-4340-E1C2-539F-9C08C14DE3DE}"/>
              </a:ext>
            </a:extLst>
          </p:cNvPr>
          <p:cNvSpPr>
            <a:spLocks noGrp="1"/>
          </p:cNvSpPr>
          <p:nvPr>
            <p:ph type="title"/>
          </p:nvPr>
        </p:nvSpPr>
        <p:spPr/>
        <p:txBody>
          <a:bodyPr/>
          <a:lstStyle/>
          <a:p>
            <a:r>
              <a:rPr lang="en-IN" dirty="0"/>
              <a:t>Built in Date Functions</a:t>
            </a:r>
          </a:p>
        </p:txBody>
      </p:sp>
      <p:graphicFrame>
        <p:nvGraphicFramePr>
          <p:cNvPr id="4" name="Table 3">
            <a:extLst>
              <a:ext uri="{FF2B5EF4-FFF2-40B4-BE49-F238E27FC236}">
                <a16:creationId xmlns:a16="http://schemas.microsoft.com/office/drawing/2014/main" id="{5B7C3425-E60A-4AF2-DC93-B31D3505D226}"/>
              </a:ext>
            </a:extLst>
          </p:cNvPr>
          <p:cNvGraphicFramePr>
            <a:graphicFrameLocks noGrp="1"/>
          </p:cNvGraphicFramePr>
          <p:nvPr/>
        </p:nvGraphicFramePr>
        <p:xfrm>
          <a:off x="586164" y="1312680"/>
          <a:ext cx="8403831" cy="3915396"/>
        </p:xfrm>
        <a:graphic>
          <a:graphicData uri="http://schemas.openxmlformats.org/drawingml/2006/table">
            <a:tbl>
              <a:tblPr>
                <a:tableStyleId>{3C2FFA5D-87B4-456A-9821-1D502468CF0F}</a:tableStyleId>
              </a:tblPr>
              <a:tblGrid>
                <a:gridCol w="2801277">
                  <a:extLst>
                    <a:ext uri="{9D8B030D-6E8A-4147-A177-3AD203B41FA5}">
                      <a16:colId xmlns:a16="http://schemas.microsoft.com/office/drawing/2014/main" val="243418756"/>
                    </a:ext>
                  </a:extLst>
                </a:gridCol>
                <a:gridCol w="2801277">
                  <a:extLst>
                    <a:ext uri="{9D8B030D-6E8A-4147-A177-3AD203B41FA5}">
                      <a16:colId xmlns:a16="http://schemas.microsoft.com/office/drawing/2014/main" val="2706424630"/>
                    </a:ext>
                  </a:extLst>
                </a:gridCol>
                <a:gridCol w="2801277">
                  <a:extLst>
                    <a:ext uri="{9D8B030D-6E8A-4147-A177-3AD203B41FA5}">
                      <a16:colId xmlns:a16="http://schemas.microsoft.com/office/drawing/2014/main" val="3266366786"/>
                    </a:ext>
                  </a:extLst>
                </a:gridCol>
              </a:tblGrid>
              <a:tr h="154448">
                <a:tc>
                  <a:txBody>
                    <a:bodyPr/>
                    <a:lstStyle/>
                    <a:p>
                      <a:pPr>
                        <a:buNone/>
                      </a:pPr>
                      <a:r>
                        <a:rPr lang="en-IN" sz="1600"/>
                        <a:t>Function</a:t>
                      </a:r>
                    </a:p>
                  </a:txBody>
                  <a:tcPr marL="36828" marR="36828" marT="18414" marB="18414" anchor="ctr"/>
                </a:tc>
                <a:tc>
                  <a:txBody>
                    <a:bodyPr/>
                    <a:lstStyle/>
                    <a:p>
                      <a:pPr>
                        <a:buNone/>
                      </a:pPr>
                      <a:r>
                        <a:rPr lang="en-IN" sz="1600"/>
                        <a:t>Description</a:t>
                      </a:r>
                    </a:p>
                  </a:txBody>
                  <a:tcPr marL="36828" marR="36828" marT="18414" marB="18414" anchor="ctr"/>
                </a:tc>
                <a:tc>
                  <a:txBody>
                    <a:bodyPr/>
                    <a:lstStyle/>
                    <a:p>
                      <a:pPr>
                        <a:buNone/>
                      </a:pPr>
                      <a:r>
                        <a:rPr lang="en-IN" sz="1600"/>
                        <a:t>Example</a:t>
                      </a:r>
                    </a:p>
                  </a:txBody>
                  <a:tcPr marL="36828" marR="36828" marT="18414" marB="18414" anchor="ctr"/>
                </a:tc>
                <a:extLst>
                  <a:ext uri="{0D108BD9-81ED-4DB2-BD59-A6C34878D82A}">
                    <a16:rowId xmlns:a16="http://schemas.microsoft.com/office/drawing/2014/main" val="2921577744"/>
                  </a:ext>
                </a:extLst>
              </a:tr>
              <a:tr h="386121">
                <a:tc>
                  <a:txBody>
                    <a:bodyPr/>
                    <a:lstStyle/>
                    <a:p>
                      <a:pPr>
                        <a:buNone/>
                      </a:pPr>
                      <a:r>
                        <a:rPr lang="en-IN" sz="1600"/>
                        <a:t>TO_TIMESTAMP(text, format)</a:t>
                      </a:r>
                    </a:p>
                  </a:txBody>
                  <a:tcPr marL="36828" marR="36828" marT="18414" marB="18414" anchor="ctr"/>
                </a:tc>
                <a:tc>
                  <a:txBody>
                    <a:bodyPr/>
                    <a:lstStyle/>
                    <a:p>
                      <a:pPr>
                        <a:buNone/>
                      </a:pPr>
                      <a:r>
                        <a:rPr lang="en-IN" sz="1600"/>
                        <a:t>Convert string to timestamp</a:t>
                      </a:r>
                    </a:p>
                  </a:txBody>
                  <a:tcPr marL="36828" marR="36828" marT="18414" marB="18414" anchor="ctr"/>
                </a:tc>
                <a:tc>
                  <a:txBody>
                    <a:bodyPr/>
                    <a:lstStyle/>
                    <a:p>
                      <a:pPr>
                        <a:buNone/>
                      </a:pPr>
                      <a:r>
                        <a:rPr lang="en-US" sz="1600" dirty="0"/>
                        <a:t>TO_TIMESTAMP('2025-07-20 15:00', 'YYYY-MM-DD HH24:MI')</a:t>
                      </a:r>
                    </a:p>
                  </a:txBody>
                  <a:tcPr marL="36828" marR="36828" marT="18414" marB="18414" anchor="ctr"/>
                </a:tc>
                <a:extLst>
                  <a:ext uri="{0D108BD9-81ED-4DB2-BD59-A6C34878D82A}">
                    <a16:rowId xmlns:a16="http://schemas.microsoft.com/office/drawing/2014/main" val="3125661458"/>
                  </a:ext>
                </a:extLst>
              </a:tr>
              <a:tr h="270284">
                <a:tc>
                  <a:txBody>
                    <a:bodyPr/>
                    <a:lstStyle/>
                    <a:p>
                      <a:pPr>
                        <a:buNone/>
                      </a:pPr>
                      <a:r>
                        <a:rPr lang="en-IN" sz="1600"/>
                        <a:t>CLOCK_TIMESTAMP()</a:t>
                      </a:r>
                    </a:p>
                  </a:txBody>
                  <a:tcPr marL="36828" marR="36828" marT="18414" marB="18414" anchor="ctr"/>
                </a:tc>
                <a:tc>
                  <a:txBody>
                    <a:bodyPr/>
                    <a:lstStyle/>
                    <a:p>
                      <a:pPr>
                        <a:buNone/>
                      </a:pPr>
                      <a:r>
                        <a:rPr lang="en-US" sz="1600"/>
                        <a:t>Returns actual current time (not cached)</a:t>
                      </a:r>
                    </a:p>
                  </a:txBody>
                  <a:tcPr marL="36828" marR="36828" marT="18414" marB="18414" anchor="ctr"/>
                </a:tc>
                <a:tc>
                  <a:txBody>
                    <a:bodyPr/>
                    <a:lstStyle/>
                    <a:p>
                      <a:pPr>
                        <a:buNone/>
                      </a:pPr>
                      <a:r>
                        <a:rPr lang="en-IN" sz="1600"/>
                        <a:t>SELECT CLOCK_TIMESTAMP();</a:t>
                      </a:r>
                    </a:p>
                  </a:txBody>
                  <a:tcPr marL="36828" marR="36828" marT="18414" marB="18414" anchor="ctr"/>
                </a:tc>
                <a:extLst>
                  <a:ext uri="{0D108BD9-81ED-4DB2-BD59-A6C34878D82A}">
                    <a16:rowId xmlns:a16="http://schemas.microsoft.com/office/drawing/2014/main" val="2815368937"/>
                  </a:ext>
                </a:extLst>
              </a:tr>
              <a:tr h="386121">
                <a:tc>
                  <a:txBody>
                    <a:bodyPr/>
                    <a:lstStyle/>
                    <a:p>
                      <a:pPr>
                        <a:buNone/>
                      </a:pPr>
                      <a:r>
                        <a:rPr lang="en-IN" sz="1600"/>
                        <a:t>STATEMENT_TIMESTAMP()</a:t>
                      </a:r>
                    </a:p>
                  </a:txBody>
                  <a:tcPr marL="36828" marR="36828" marT="18414" marB="18414" anchor="ctr"/>
                </a:tc>
                <a:tc>
                  <a:txBody>
                    <a:bodyPr/>
                    <a:lstStyle/>
                    <a:p>
                      <a:pPr>
                        <a:buNone/>
                      </a:pPr>
                      <a:r>
                        <a:rPr lang="en-US" sz="1600"/>
                        <a:t>Timestamp when current statement started</a:t>
                      </a:r>
                    </a:p>
                  </a:txBody>
                  <a:tcPr marL="36828" marR="36828" marT="18414" marB="18414" anchor="ctr"/>
                </a:tc>
                <a:tc>
                  <a:txBody>
                    <a:bodyPr/>
                    <a:lstStyle/>
                    <a:p>
                      <a:pPr>
                        <a:buNone/>
                      </a:pPr>
                      <a:r>
                        <a:rPr lang="en-IN" sz="1600"/>
                        <a:t>SELECT STATEMENT_TIMESTAMP();</a:t>
                      </a:r>
                    </a:p>
                  </a:txBody>
                  <a:tcPr marL="36828" marR="36828" marT="18414" marB="18414" anchor="ctr"/>
                </a:tc>
                <a:extLst>
                  <a:ext uri="{0D108BD9-81ED-4DB2-BD59-A6C34878D82A}">
                    <a16:rowId xmlns:a16="http://schemas.microsoft.com/office/drawing/2014/main" val="878152714"/>
                  </a:ext>
                </a:extLst>
              </a:tr>
              <a:tr h="386121">
                <a:tc>
                  <a:txBody>
                    <a:bodyPr/>
                    <a:lstStyle/>
                    <a:p>
                      <a:pPr>
                        <a:buNone/>
                      </a:pPr>
                      <a:r>
                        <a:rPr lang="en-IN" sz="1600"/>
                        <a:t>TRANSACTION_TIMESTAMP()</a:t>
                      </a:r>
                    </a:p>
                  </a:txBody>
                  <a:tcPr marL="36828" marR="36828" marT="18414" marB="18414" anchor="ctr"/>
                </a:tc>
                <a:tc>
                  <a:txBody>
                    <a:bodyPr/>
                    <a:lstStyle/>
                    <a:p>
                      <a:pPr>
                        <a:buNone/>
                      </a:pPr>
                      <a:r>
                        <a:rPr lang="en-IN" sz="1600"/>
                        <a:t>Timestamp when transaction started</a:t>
                      </a:r>
                    </a:p>
                  </a:txBody>
                  <a:tcPr marL="36828" marR="36828" marT="18414" marB="18414" anchor="ctr"/>
                </a:tc>
                <a:tc>
                  <a:txBody>
                    <a:bodyPr/>
                    <a:lstStyle/>
                    <a:p>
                      <a:pPr>
                        <a:buNone/>
                      </a:pPr>
                      <a:r>
                        <a:rPr lang="en-IN" sz="1600"/>
                        <a:t>SELECT TRANSACTION_TIMESTAMP();</a:t>
                      </a:r>
                    </a:p>
                  </a:txBody>
                  <a:tcPr marL="36828" marR="36828" marT="18414" marB="18414" anchor="ctr"/>
                </a:tc>
                <a:extLst>
                  <a:ext uri="{0D108BD9-81ED-4DB2-BD59-A6C34878D82A}">
                    <a16:rowId xmlns:a16="http://schemas.microsoft.com/office/drawing/2014/main" val="1318205370"/>
                  </a:ext>
                </a:extLst>
              </a:tr>
              <a:tr h="270284">
                <a:tc>
                  <a:txBody>
                    <a:bodyPr/>
                    <a:lstStyle/>
                    <a:p>
                      <a:pPr>
                        <a:buNone/>
                      </a:pPr>
                      <a:r>
                        <a:rPr lang="en-IN" sz="1600"/>
                        <a:t>JUSTIFY_DAYS(interval)</a:t>
                      </a:r>
                    </a:p>
                  </a:txBody>
                  <a:tcPr marL="36828" marR="36828" marT="18414" marB="18414" anchor="ctr"/>
                </a:tc>
                <a:tc>
                  <a:txBody>
                    <a:bodyPr/>
                    <a:lstStyle/>
                    <a:p>
                      <a:pPr>
                        <a:buNone/>
                      </a:pPr>
                      <a:r>
                        <a:rPr lang="en-US" sz="1600"/>
                        <a:t>Converts excess days into months</a:t>
                      </a:r>
                    </a:p>
                  </a:txBody>
                  <a:tcPr marL="36828" marR="36828" marT="18414" marB="18414" anchor="ctr"/>
                </a:tc>
                <a:tc>
                  <a:txBody>
                    <a:bodyPr/>
                    <a:lstStyle/>
                    <a:p>
                      <a:pPr>
                        <a:buNone/>
                      </a:pPr>
                      <a:r>
                        <a:rPr lang="en-US" sz="1600"/>
                        <a:t>JUSTIFY_DAYS(INTERVAL '90 days')</a:t>
                      </a:r>
                    </a:p>
                  </a:txBody>
                  <a:tcPr marL="36828" marR="36828" marT="18414" marB="18414" anchor="ctr"/>
                </a:tc>
                <a:extLst>
                  <a:ext uri="{0D108BD9-81ED-4DB2-BD59-A6C34878D82A}">
                    <a16:rowId xmlns:a16="http://schemas.microsoft.com/office/drawing/2014/main" val="3969620990"/>
                  </a:ext>
                </a:extLst>
              </a:tr>
              <a:tr h="386121">
                <a:tc>
                  <a:txBody>
                    <a:bodyPr/>
                    <a:lstStyle/>
                    <a:p>
                      <a:pPr>
                        <a:buNone/>
                      </a:pPr>
                      <a:r>
                        <a:rPr lang="en-IN" sz="1600"/>
                        <a:t>JUSTIFY_INTERVAL(interval)</a:t>
                      </a:r>
                    </a:p>
                  </a:txBody>
                  <a:tcPr marL="36828" marR="36828" marT="18414" marB="18414" anchor="ctr"/>
                </a:tc>
                <a:tc>
                  <a:txBody>
                    <a:bodyPr/>
                    <a:lstStyle/>
                    <a:p>
                      <a:pPr>
                        <a:buNone/>
                      </a:pPr>
                      <a:r>
                        <a:rPr lang="en-IN" sz="1600"/>
                        <a:t>Normalizes months and days</a:t>
                      </a:r>
                    </a:p>
                  </a:txBody>
                  <a:tcPr marL="36828" marR="36828" marT="18414" marB="18414" anchor="ctr"/>
                </a:tc>
                <a:tc>
                  <a:txBody>
                    <a:bodyPr/>
                    <a:lstStyle/>
                    <a:p>
                      <a:pPr>
                        <a:buNone/>
                      </a:pPr>
                      <a:r>
                        <a:rPr lang="en-US" sz="1600" dirty="0"/>
                        <a:t>JUSTIFY_INTERVAL(INTERVAL '1 year 25 months')</a:t>
                      </a:r>
                    </a:p>
                  </a:txBody>
                  <a:tcPr marL="36828" marR="36828" marT="18414" marB="18414" anchor="ctr"/>
                </a:tc>
                <a:extLst>
                  <a:ext uri="{0D108BD9-81ED-4DB2-BD59-A6C34878D82A}">
                    <a16:rowId xmlns:a16="http://schemas.microsoft.com/office/drawing/2014/main" val="2289226446"/>
                  </a:ext>
                </a:extLst>
              </a:tr>
            </a:tbl>
          </a:graphicData>
        </a:graphic>
      </p:graphicFrame>
      <p:sp>
        <p:nvSpPr>
          <p:cNvPr id="6" name="TextBox 5">
            <a:extLst>
              <a:ext uri="{FF2B5EF4-FFF2-40B4-BE49-F238E27FC236}">
                <a16:creationId xmlns:a16="http://schemas.microsoft.com/office/drawing/2014/main" id="{6161DFD5-ACC1-4B49-834D-34A702596F3A}"/>
              </a:ext>
            </a:extLst>
          </p:cNvPr>
          <p:cNvSpPr txBox="1"/>
          <p:nvPr/>
        </p:nvSpPr>
        <p:spPr>
          <a:xfrm>
            <a:off x="1021568" y="5380672"/>
            <a:ext cx="7084193" cy="1477328"/>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spAutoFit/>
          </a:bodyPr>
          <a:lstStyle/>
          <a:p>
            <a:r>
              <a:rPr lang="en-US" dirty="0"/>
              <a:t>-- Add 7 days to today</a:t>
            </a:r>
          </a:p>
          <a:p>
            <a:r>
              <a:rPr lang="en-US" dirty="0"/>
              <a:t>SELECT CURRENT_DATE + INTERVAL '7 days';</a:t>
            </a:r>
          </a:p>
          <a:p>
            <a:endParaRPr lang="en-US" dirty="0"/>
          </a:p>
          <a:p>
            <a:r>
              <a:rPr lang="en-US" dirty="0"/>
              <a:t>-- Subtract 1 month</a:t>
            </a:r>
          </a:p>
          <a:p>
            <a:r>
              <a:rPr lang="en-US" dirty="0"/>
              <a:t>SELECT CURRENT_DATE - INTERVAL '1 month';</a:t>
            </a:r>
          </a:p>
        </p:txBody>
      </p:sp>
    </p:spTree>
    <p:extLst>
      <p:ext uri="{BB962C8B-B14F-4D97-AF65-F5344CB8AC3E}">
        <p14:creationId xmlns:p14="http://schemas.microsoft.com/office/powerpoint/2010/main" val="3895617727"/>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65A3D40-1A60-2BE4-5451-0851BC0F00F5}"/>
              </a:ext>
            </a:extLst>
          </p:cNvPr>
          <p:cNvSpPr>
            <a:spLocks noGrp="1"/>
          </p:cNvSpPr>
          <p:nvPr>
            <p:ph sz="quarter" idx="12"/>
          </p:nvPr>
        </p:nvSpPr>
        <p:spPr/>
        <p:txBody>
          <a:bodyPr/>
          <a:lstStyle/>
          <a:p>
            <a:r>
              <a:rPr lang="en-US" dirty="0"/>
              <a:t>SELECT</a:t>
            </a:r>
          </a:p>
          <a:p>
            <a:r>
              <a:rPr lang="en-US" dirty="0"/>
              <a:t>  EXTRACT(YEAR FROM CURRENT_DATE) AS year,</a:t>
            </a:r>
          </a:p>
          <a:p>
            <a:r>
              <a:rPr lang="en-US" dirty="0"/>
              <a:t>  EXTRACT(MONTH FROM CURRENT_DATE) AS month,</a:t>
            </a:r>
          </a:p>
          <a:p>
            <a:r>
              <a:rPr lang="en-US" dirty="0"/>
              <a:t>  EXTRACT(DAY FROM CURRENT_DATE) AS day;</a:t>
            </a:r>
          </a:p>
          <a:p>
            <a:endParaRPr lang="en-IN" dirty="0"/>
          </a:p>
        </p:txBody>
      </p:sp>
      <p:sp>
        <p:nvSpPr>
          <p:cNvPr id="3" name="Title 2">
            <a:extLst>
              <a:ext uri="{FF2B5EF4-FFF2-40B4-BE49-F238E27FC236}">
                <a16:creationId xmlns:a16="http://schemas.microsoft.com/office/drawing/2014/main" id="{0FEAC8F0-7A6B-B0F0-8712-7EA9DC1471F8}"/>
              </a:ext>
            </a:extLst>
          </p:cNvPr>
          <p:cNvSpPr>
            <a:spLocks noGrp="1"/>
          </p:cNvSpPr>
          <p:nvPr>
            <p:ph type="title"/>
          </p:nvPr>
        </p:nvSpPr>
        <p:spPr/>
        <p:txBody>
          <a:bodyPr/>
          <a:lstStyle/>
          <a:p>
            <a:r>
              <a:rPr lang="en-IN" dirty="0"/>
              <a:t>Date Functions</a:t>
            </a:r>
          </a:p>
        </p:txBody>
      </p:sp>
    </p:spTree>
    <p:extLst>
      <p:ext uri="{BB962C8B-B14F-4D97-AF65-F5344CB8AC3E}">
        <p14:creationId xmlns:p14="http://schemas.microsoft.com/office/powerpoint/2010/main" val="1218691979"/>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7E0E7-0C4E-68B7-7DA0-7434903EB1C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B948325-CA36-652F-DC5A-D84338345354}"/>
              </a:ext>
            </a:extLst>
          </p:cNvPr>
          <p:cNvSpPr>
            <a:spLocks noGrp="1"/>
          </p:cNvSpPr>
          <p:nvPr>
            <p:ph sz="quarter" idx="12"/>
          </p:nvPr>
        </p:nvSpPr>
        <p:spPr/>
        <p:txBody>
          <a:bodyPr/>
          <a:lstStyle/>
          <a:p>
            <a:r>
              <a:rPr lang="en-US" dirty="0"/>
              <a:t>SELECT '2025-01-01'::date &lt; '2025-12-31'::date;  </a:t>
            </a:r>
          </a:p>
          <a:p>
            <a:r>
              <a:rPr lang="en-US" dirty="0"/>
              <a:t>-- returns true</a:t>
            </a:r>
          </a:p>
          <a:p>
            <a:r>
              <a:rPr lang="en-US" dirty="0"/>
              <a:t>SELECT TO_CHAR(NOW(), 'YYYY-MM-DD HH24:MI:SS');</a:t>
            </a:r>
          </a:p>
          <a:p>
            <a:r>
              <a:rPr lang="en-US" dirty="0"/>
              <a:t>-- Output: '2025-07-20 18:34:12'</a:t>
            </a:r>
          </a:p>
          <a:p>
            <a:endParaRPr lang="en-IN" dirty="0"/>
          </a:p>
        </p:txBody>
      </p:sp>
      <p:sp>
        <p:nvSpPr>
          <p:cNvPr id="3" name="Title 2">
            <a:extLst>
              <a:ext uri="{FF2B5EF4-FFF2-40B4-BE49-F238E27FC236}">
                <a16:creationId xmlns:a16="http://schemas.microsoft.com/office/drawing/2014/main" id="{EDAD9D3A-9815-7584-0655-99C151FE69E6}"/>
              </a:ext>
            </a:extLst>
          </p:cNvPr>
          <p:cNvSpPr>
            <a:spLocks noGrp="1"/>
          </p:cNvSpPr>
          <p:nvPr>
            <p:ph type="title"/>
          </p:nvPr>
        </p:nvSpPr>
        <p:spPr/>
        <p:txBody>
          <a:bodyPr/>
          <a:lstStyle/>
          <a:p>
            <a:r>
              <a:rPr lang="en-IN" dirty="0"/>
              <a:t>Date Functions</a:t>
            </a:r>
          </a:p>
        </p:txBody>
      </p:sp>
    </p:spTree>
    <p:extLst>
      <p:ext uri="{BB962C8B-B14F-4D97-AF65-F5344CB8AC3E}">
        <p14:creationId xmlns:p14="http://schemas.microsoft.com/office/powerpoint/2010/main" val="442728417"/>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973BECB-6565-CD5C-8E5D-60DE7DC6B7EA}"/>
              </a:ext>
            </a:extLst>
          </p:cNvPr>
          <p:cNvSpPr>
            <a:spLocks noGrp="1"/>
          </p:cNvSpPr>
          <p:nvPr>
            <p:ph type="title"/>
          </p:nvPr>
        </p:nvSpPr>
        <p:spPr/>
        <p:txBody>
          <a:bodyPr/>
          <a:lstStyle/>
          <a:p>
            <a:r>
              <a:rPr lang="en-US" dirty="0"/>
              <a:t>Built-in Functions - JSON/JSONB Functions in PostgreSQL</a:t>
            </a:r>
            <a:endParaRPr lang="en-IN" dirty="0"/>
          </a:p>
        </p:txBody>
      </p:sp>
      <p:graphicFrame>
        <p:nvGraphicFramePr>
          <p:cNvPr id="4" name="Table 3">
            <a:extLst>
              <a:ext uri="{FF2B5EF4-FFF2-40B4-BE49-F238E27FC236}">
                <a16:creationId xmlns:a16="http://schemas.microsoft.com/office/drawing/2014/main" id="{7FD958EF-121C-5445-FEEA-3A403BBB6DA9}"/>
              </a:ext>
            </a:extLst>
          </p:cNvPr>
          <p:cNvGraphicFramePr>
            <a:graphicFrameLocks noGrp="1"/>
          </p:cNvGraphicFramePr>
          <p:nvPr/>
        </p:nvGraphicFramePr>
        <p:xfrm>
          <a:off x="375385" y="2214787"/>
          <a:ext cx="8406081" cy="1828800"/>
        </p:xfrm>
        <a:graphic>
          <a:graphicData uri="http://schemas.openxmlformats.org/drawingml/2006/table">
            <a:tbl>
              <a:tblPr>
                <a:tableStyleId>{3C2FFA5D-87B4-456A-9821-1D502468CF0F}</a:tableStyleId>
              </a:tblPr>
              <a:tblGrid>
                <a:gridCol w="2415941">
                  <a:extLst>
                    <a:ext uri="{9D8B030D-6E8A-4147-A177-3AD203B41FA5}">
                      <a16:colId xmlns:a16="http://schemas.microsoft.com/office/drawing/2014/main" val="893546133"/>
                    </a:ext>
                  </a:extLst>
                </a:gridCol>
                <a:gridCol w="3188113">
                  <a:extLst>
                    <a:ext uri="{9D8B030D-6E8A-4147-A177-3AD203B41FA5}">
                      <a16:colId xmlns:a16="http://schemas.microsoft.com/office/drawing/2014/main" val="3595962222"/>
                    </a:ext>
                  </a:extLst>
                </a:gridCol>
                <a:gridCol w="2802027">
                  <a:extLst>
                    <a:ext uri="{9D8B030D-6E8A-4147-A177-3AD203B41FA5}">
                      <a16:colId xmlns:a16="http://schemas.microsoft.com/office/drawing/2014/main" val="2091733143"/>
                    </a:ext>
                  </a:extLst>
                </a:gridCol>
              </a:tblGrid>
              <a:tr h="0">
                <a:tc>
                  <a:txBody>
                    <a:bodyPr/>
                    <a:lstStyle/>
                    <a:p>
                      <a:pPr>
                        <a:buNone/>
                      </a:pPr>
                      <a:r>
                        <a:rPr lang="en-IN"/>
                        <a:t>Feature</a:t>
                      </a:r>
                    </a:p>
                  </a:txBody>
                  <a:tcPr anchor="ctr"/>
                </a:tc>
                <a:tc>
                  <a:txBody>
                    <a:bodyPr/>
                    <a:lstStyle/>
                    <a:p>
                      <a:pPr>
                        <a:buNone/>
                      </a:pPr>
                      <a:r>
                        <a:rPr lang="en-IN"/>
                        <a:t>JSON</a:t>
                      </a:r>
                    </a:p>
                  </a:txBody>
                  <a:tcPr anchor="ctr"/>
                </a:tc>
                <a:tc>
                  <a:txBody>
                    <a:bodyPr/>
                    <a:lstStyle/>
                    <a:p>
                      <a:pPr>
                        <a:buNone/>
                      </a:pPr>
                      <a:r>
                        <a:rPr lang="en-IN"/>
                        <a:t>JSONB</a:t>
                      </a:r>
                    </a:p>
                  </a:txBody>
                  <a:tcPr anchor="ctr"/>
                </a:tc>
                <a:extLst>
                  <a:ext uri="{0D108BD9-81ED-4DB2-BD59-A6C34878D82A}">
                    <a16:rowId xmlns:a16="http://schemas.microsoft.com/office/drawing/2014/main" val="933547057"/>
                  </a:ext>
                </a:extLst>
              </a:tr>
              <a:tr h="0">
                <a:tc>
                  <a:txBody>
                    <a:bodyPr/>
                    <a:lstStyle/>
                    <a:p>
                      <a:pPr>
                        <a:buNone/>
                      </a:pPr>
                      <a:r>
                        <a:rPr lang="en-IN"/>
                        <a:t>Storage</a:t>
                      </a:r>
                    </a:p>
                  </a:txBody>
                  <a:tcPr anchor="ctr"/>
                </a:tc>
                <a:tc>
                  <a:txBody>
                    <a:bodyPr/>
                    <a:lstStyle/>
                    <a:p>
                      <a:pPr>
                        <a:buNone/>
                      </a:pPr>
                      <a:r>
                        <a:rPr lang="en-IN"/>
                        <a:t>As text</a:t>
                      </a:r>
                    </a:p>
                  </a:txBody>
                  <a:tcPr anchor="ctr"/>
                </a:tc>
                <a:tc>
                  <a:txBody>
                    <a:bodyPr/>
                    <a:lstStyle/>
                    <a:p>
                      <a:pPr>
                        <a:buNone/>
                      </a:pPr>
                      <a:r>
                        <a:rPr lang="en-IN"/>
                        <a:t>Binary format</a:t>
                      </a:r>
                    </a:p>
                  </a:txBody>
                  <a:tcPr anchor="ctr"/>
                </a:tc>
                <a:extLst>
                  <a:ext uri="{0D108BD9-81ED-4DB2-BD59-A6C34878D82A}">
                    <a16:rowId xmlns:a16="http://schemas.microsoft.com/office/drawing/2014/main" val="4278209542"/>
                  </a:ext>
                </a:extLst>
              </a:tr>
              <a:tr h="0">
                <a:tc>
                  <a:txBody>
                    <a:bodyPr/>
                    <a:lstStyle/>
                    <a:p>
                      <a:pPr>
                        <a:buNone/>
                      </a:pPr>
                      <a:r>
                        <a:rPr lang="en-IN"/>
                        <a:t>Speed</a:t>
                      </a:r>
                    </a:p>
                  </a:txBody>
                  <a:tcPr anchor="ctr"/>
                </a:tc>
                <a:tc>
                  <a:txBody>
                    <a:bodyPr/>
                    <a:lstStyle/>
                    <a:p>
                      <a:pPr>
                        <a:buNone/>
                      </a:pPr>
                      <a:r>
                        <a:rPr lang="en-IN"/>
                        <a:t>Slower to query</a:t>
                      </a:r>
                    </a:p>
                  </a:txBody>
                  <a:tcPr anchor="ctr"/>
                </a:tc>
                <a:tc>
                  <a:txBody>
                    <a:bodyPr/>
                    <a:lstStyle/>
                    <a:p>
                      <a:pPr>
                        <a:buNone/>
                      </a:pPr>
                      <a:r>
                        <a:rPr lang="en-IN"/>
                        <a:t>Faster and indexed</a:t>
                      </a:r>
                    </a:p>
                  </a:txBody>
                  <a:tcPr anchor="ctr"/>
                </a:tc>
                <a:extLst>
                  <a:ext uri="{0D108BD9-81ED-4DB2-BD59-A6C34878D82A}">
                    <a16:rowId xmlns:a16="http://schemas.microsoft.com/office/drawing/2014/main" val="4218469769"/>
                  </a:ext>
                </a:extLst>
              </a:tr>
              <a:tr h="0">
                <a:tc>
                  <a:txBody>
                    <a:bodyPr/>
                    <a:lstStyle/>
                    <a:p>
                      <a:pPr>
                        <a:buNone/>
                      </a:pPr>
                      <a:r>
                        <a:rPr lang="en-IN"/>
                        <a:t>Ordering</a:t>
                      </a:r>
                    </a:p>
                  </a:txBody>
                  <a:tcPr anchor="ctr"/>
                </a:tc>
                <a:tc>
                  <a:txBody>
                    <a:bodyPr/>
                    <a:lstStyle/>
                    <a:p>
                      <a:pPr>
                        <a:buNone/>
                      </a:pPr>
                      <a:r>
                        <a:rPr lang="en-IN"/>
                        <a:t>Preserved</a:t>
                      </a:r>
                    </a:p>
                  </a:txBody>
                  <a:tcPr anchor="ctr"/>
                </a:tc>
                <a:tc>
                  <a:txBody>
                    <a:bodyPr/>
                    <a:lstStyle/>
                    <a:p>
                      <a:pPr>
                        <a:buNone/>
                      </a:pPr>
                      <a:r>
                        <a:rPr lang="en-IN"/>
                        <a:t>Not preserved</a:t>
                      </a:r>
                    </a:p>
                  </a:txBody>
                  <a:tcPr anchor="ctr"/>
                </a:tc>
                <a:extLst>
                  <a:ext uri="{0D108BD9-81ED-4DB2-BD59-A6C34878D82A}">
                    <a16:rowId xmlns:a16="http://schemas.microsoft.com/office/drawing/2014/main" val="3824507204"/>
                  </a:ext>
                </a:extLst>
              </a:tr>
              <a:tr h="0">
                <a:tc>
                  <a:txBody>
                    <a:bodyPr/>
                    <a:lstStyle/>
                    <a:p>
                      <a:pPr>
                        <a:buNone/>
                      </a:pPr>
                      <a:r>
                        <a:rPr lang="en-IN"/>
                        <a:t>Duplicate Keys</a:t>
                      </a:r>
                    </a:p>
                  </a:txBody>
                  <a:tcPr anchor="ctr"/>
                </a:tc>
                <a:tc>
                  <a:txBody>
                    <a:bodyPr/>
                    <a:lstStyle/>
                    <a:p>
                      <a:pPr>
                        <a:buNone/>
                      </a:pPr>
                      <a:r>
                        <a:rPr lang="en-IN"/>
                        <a:t>Allowed</a:t>
                      </a:r>
                    </a:p>
                  </a:txBody>
                  <a:tcPr anchor="ctr"/>
                </a:tc>
                <a:tc>
                  <a:txBody>
                    <a:bodyPr/>
                    <a:lstStyle/>
                    <a:p>
                      <a:pPr>
                        <a:buNone/>
                      </a:pPr>
                      <a:r>
                        <a:rPr lang="en-IN" dirty="0"/>
                        <a:t>Deduplicated (last wins)</a:t>
                      </a:r>
                    </a:p>
                  </a:txBody>
                  <a:tcPr anchor="ctr"/>
                </a:tc>
                <a:extLst>
                  <a:ext uri="{0D108BD9-81ED-4DB2-BD59-A6C34878D82A}">
                    <a16:rowId xmlns:a16="http://schemas.microsoft.com/office/drawing/2014/main" val="1423515389"/>
                  </a:ext>
                </a:extLst>
              </a:tr>
            </a:tbl>
          </a:graphicData>
        </a:graphic>
      </p:graphicFrame>
    </p:spTree>
    <p:extLst>
      <p:ext uri="{BB962C8B-B14F-4D97-AF65-F5344CB8AC3E}">
        <p14:creationId xmlns:p14="http://schemas.microsoft.com/office/powerpoint/2010/main" val="1580107886"/>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4A74B-CA55-0ECC-74F8-E4D4CF34D09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A3DBA76-1418-E51F-D385-A90105A0563F}"/>
              </a:ext>
            </a:extLst>
          </p:cNvPr>
          <p:cNvSpPr>
            <a:spLocks noGrp="1"/>
          </p:cNvSpPr>
          <p:nvPr>
            <p:ph type="title"/>
          </p:nvPr>
        </p:nvSpPr>
        <p:spPr/>
        <p:txBody>
          <a:bodyPr/>
          <a:lstStyle/>
          <a:p>
            <a:r>
              <a:rPr lang="en-US" dirty="0"/>
              <a:t>Built-in Functions - JSON/JSONB Functions in PostgreSQL</a:t>
            </a:r>
            <a:endParaRPr lang="en-IN" dirty="0"/>
          </a:p>
        </p:txBody>
      </p:sp>
      <p:sp>
        <p:nvSpPr>
          <p:cNvPr id="5" name="TextBox 4">
            <a:extLst>
              <a:ext uri="{FF2B5EF4-FFF2-40B4-BE49-F238E27FC236}">
                <a16:creationId xmlns:a16="http://schemas.microsoft.com/office/drawing/2014/main" id="{A3892DEE-D42D-5694-EF39-4E4157C16344}"/>
              </a:ext>
            </a:extLst>
          </p:cNvPr>
          <p:cNvSpPr txBox="1"/>
          <p:nvPr/>
        </p:nvSpPr>
        <p:spPr>
          <a:xfrm>
            <a:off x="895149" y="2007092"/>
            <a:ext cx="6256421" cy="1477328"/>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spAutoFit/>
          </a:bodyPr>
          <a:lstStyle/>
          <a:p>
            <a:r>
              <a:rPr lang="en-US" dirty="0"/>
              <a:t>CREATE TABLE employees (</a:t>
            </a:r>
          </a:p>
          <a:p>
            <a:r>
              <a:rPr lang="en-US" dirty="0"/>
              <a:t>    id SERIAL PRIMARY KEY,</a:t>
            </a:r>
          </a:p>
          <a:p>
            <a:r>
              <a:rPr lang="en-US" dirty="0"/>
              <a:t>    name TEXT,</a:t>
            </a:r>
          </a:p>
          <a:p>
            <a:r>
              <a:rPr lang="en-US" dirty="0"/>
              <a:t>    data JSONB  -- store nested info</a:t>
            </a:r>
          </a:p>
          <a:p>
            <a:r>
              <a:rPr lang="en-US" dirty="0"/>
              <a:t>);</a:t>
            </a:r>
          </a:p>
        </p:txBody>
      </p:sp>
      <p:sp>
        <p:nvSpPr>
          <p:cNvPr id="7" name="TextBox 6">
            <a:extLst>
              <a:ext uri="{FF2B5EF4-FFF2-40B4-BE49-F238E27FC236}">
                <a16:creationId xmlns:a16="http://schemas.microsoft.com/office/drawing/2014/main" id="{58EF0523-5FE5-423D-B182-1F726F9D1B63}"/>
              </a:ext>
            </a:extLst>
          </p:cNvPr>
          <p:cNvSpPr txBox="1"/>
          <p:nvPr/>
        </p:nvSpPr>
        <p:spPr>
          <a:xfrm>
            <a:off x="895148" y="3863278"/>
            <a:ext cx="7623210" cy="9233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spAutoFit/>
          </a:bodyPr>
          <a:lstStyle/>
          <a:p>
            <a:r>
              <a:rPr lang="en-IN" dirty="0"/>
              <a:t>INSERT INTO employees (name, data) VALUES</a:t>
            </a:r>
          </a:p>
          <a:p>
            <a:r>
              <a:rPr lang="en-IN" dirty="0"/>
              <a:t>('Alice', '{"age": 30, "skills": ["SQL", "Python"]}'),</a:t>
            </a:r>
          </a:p>
          <a:p>
            <a:r>
              <a:rPr lang="en-IN" dirty="0"/>
              <a:t>('Bob', '{"age": 25, "skills": ["Java", "React"]}');</a:t>
            </a:r>
          </a:p>
        </p:txBody>
      </p:sp>
    </p:spTree>
    <p:extLst>
      <p:ext uri="{BB962C8B-B14F-4D97-AF65-F5344CB8AC3E}">
        <p14:creationId xmlns:p14="http://schemas.microsoft.com/office/powerpoint/2010/main" val="263269136"/>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2EE1A-D7C4-47A2-2F2D-ADED74062A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113D514-F410-5076-D7B1-B2E4797262D2}"/>
              </a:ext>
            </a:extLst>
          </p:cNvPr>
          <p:cNvSpPr>
            <a:spLocks noGrp="1"/>
          </p:cNvSpPr>
          <p:nvPr>
            <p:ph type="title"/>
          </p:nvPr>
        </p:nvSpPr>
        <p:spPr/>
        <p:txBody>
          <a:bodyPr/>
          <a:lstStyle/>
          <a:p>
            <a:r>
              <a:rPr lang="en-US" dirty="0"/>
              <a:t>Built-in Functions - JSON/JSONB Functions in PostgreSQL</a:t>
            </a:r>
            <a:endParaRPr lang="en-IN" dirty="0"/>
          </a:p>
        </p:txBody>
      </p:sp>
      <p:graphicFrame>
        <p:nvGraphicFramePr>
          <p:cNvPr id="2" name="Table 1">
            <a:extLst>
              <a:ext uri="{FF2B5EF4-FFF2-40B4-BE49-F238E27FC236}">
                <a16:creationId xmlns:a16="http://schemas.microsoft.com/office/drawing/2014/main" id="{F0B6503E-6432-56E6-8EDC-28D9139D45A9}"/>
              </a:ext>
            </a:extLst>
          </p:cNvPr>
          <p:cNvGraphicFramePr>
            <a:graphicFrameLocks noGrp="1"/>
          </p:cNvGraphicFramePr>
          <p:nvPr/>
        </p:nvGraphicFramePr>
        <p:xfrm>
          <a:off x="558266" y="1581638"/>
          <a:ext cx="8398683" cy="4856845"/>
        </p:xfrm>
        <a:graphic>
          <a:graphicData uri="http://schemas.openxmlformats.org/drawingml/2006/table">
            <a:tbl>
              <a:tblPr>
                <a:tableStyleId>{3C2FFA5D-87B4-456A-9821-1D502468CF0F}</a:tableStyleId>
              </a:tblPr>
              <a:tblGrid>
                <a:gridCol w="2799561">
                  <a:extLst>
                    <a:ext uri="{9D8B030D-6E8A-4147-A177-3AD203B41FA5}">
                      <a16:colId xmlns:a16="http://schemas.microsoft.com/office/drawing/2014/main" val="2503502870"/>
                    </a:ext>
                  </a:extLst>
                </a:gridCol>
                <a:gridCol w="2799561">
                  <a:extLst>
                    <a:ext uri="{9D8B030D-6E8A-4147-A177-3AD203B41FA5}">
                      <a16:colId xmlns:a16="http://schemas.microsoft.com/office/drawing/2014/main" val="3046074420"/>
                    </a:ext>
                  </a:extLst>
                </a:gridCol>
                <a:gridCol w="2799561">
                  <a:extLst>
                    <a:ext uri="{9D8B030D-6E8A-4147-A177-3AD203B41FA5}">
                      <a16:colId xmlns:a16="http://schemas.microsoft.com/office/drawing/2014/main" val="254510884"/>
                    </a:ext>
                  </a:extLst>
                </a:gridCol>
              </a:tblGrid>
              <a:tr h="279676">
                <a:tc>
                  <a:txBody>
                    <a:bodyPr/>
                    <a:lstStyle/>
                    <a:p>
                      <a:pPr>
                        <a:buNone/>
                      </a:pPr>
                      <a:r>
                        <a:rPr lang="en-IN" sz="1400"/>
                        <a:t>Operator / Function</a:t>
                      </a:r>
                    </a:p>
                  </a:txBody>
                  <a:tcPr marL="69919" marR="69919" marT="34960" marB="34960" anchor="ctr"/>
                </a:tc>
                <a:tc>
                  <a:txBody>
                    <a:bodyPr/>
                    <a:lstStyle/>
                    <a:p>
                      <a:pPr>
                        <a:buNone/>
                      </a:pPr>
                      <a:r>
                        <a:rPr lang="en-IN" sz="1400"/>
                        <a:t>Description</a:t>
                      </a:r>
                    </a:p>
                  </a:txBody>
                  <a:tcPr marL="69919" marR="69919" marT="34960" marB="34960" anchor="ctr"/>
                </a:tc>
                <a:tc>
                  <a:txBody>
                    <a:bodyPr/>
                    <a:lstStyle/>
                    <a:p>
                      <a:pPr>
                        <a:buNone/>
                      </a:pPr>
                      <a:r>
                        <a:rPr lang="en-IN" sz="1400"/>
                        <a:t>Example</a:t>
                      </a:r>
                    </a:p>
                  </a:txBody>
                  <a:tcPr marL="69919" marR="69919" marT="34960" marB="34960" anchor="ctr"/>
                </a:tc>
                <a:extLst>
                  <a:ext uri="{0D108BD9-81ED-4DB2-BD59-A6C34878D82A}">
                    <a16:rowId xmlns:a16="http://schemas.microsoft.com/office/drawing/2014/main" val="1270515755"/>
                  </a:ext>
                </a:extLst>
              </a:tr>
              <a:tr h="489433">
                <a:tc>
                  <a:txBody>
                    <a:bodyPr/>
                    <a:lstStyle/>
                    <a:p>
                      <a:pPr>
                        <a:buNone/>
                      </a:pPr>
                      <a:r>
                        <a:rPr lang="en-IN" sz="1400"/>
                        <a:t>-&gt;</a:t>
                      </a:r>
                    </a:p>
                  </a:txBody>
                  <a:tcPr marL="69919" marR="69919" marT="34960" marB="34960" anchor="ctr"/>
                </a:tc>
                <a:tc>
                  <a:txBody>
                    <a:bodyPr/>
                    <a:lstStyle/>
                    <a:p>
                      <a:pPr>
                        <a:buNone/>
                      </a:pPr>
                      <a:r>
                        <a:rPr lang="en-US" sz="1400"/>
                        <a:t>Get JSON object field by key (returns JSON)</a:t>
                      </a:r>
                    </a:p>
                  </a:txBody>
                  <a:tcPr marL="69919" marR="69919" marT="34960" marB="34960" anchor="ctr"/>
                </a:tc>
                <a:tc>
                  <a:txBody>
                    <a:bodyPr/>
                    <a:lstStyle/>
                    <a:p>
                      <a:pPr>
                        <a:buNone/>
                      </a:pPr>
                      <a:r>
                        <a:rPr lang="en-IN" sz="1400"/>
                        <a:t>data -&gt; 'age'</a:t>
                      </a:r>
                    </a:p>
                  </a:txBody>
                  <a:tcPr marL="69919" marR="69919" marT="34960" marB="34960" anchor="ctr"/>
                </a:tc>
                <a:extLst>
                  <a:ext uri="{0D108BD9-81ED-4DB2-BD59-A6C34878D82A}">
                    <a16:rowId xmlns:a16="http://schemas.microsoft.com/office/drawing/2014/main" val="294395233"/>
                  </a:ext>
                </a:extLst>
              </a:tr>
              <a:tr h="489433">
                <a:tc>
                  <a:txBody>
                    <a:bodyPr/>
                    <a:lstStyle/>
                    <a:p>
                      <a:pPr>
                        <a:buNone/>
                      </a:pPr>
                      <a:r>
                        <a:rPr lang="en-IN" sz="1400"/>
                        <a:t>-&gt;&gt;</a:t>
                      </a:r>
                    </a:p>
                  </a:txBody>
                  <a:tcPr marL="69919" marR="69919" marT="34960" marB="34960" anchor="ctr"/>
                </a:tc>
                <a:tc>
                  <a:txBody>
                    <a:bodyPr/>
                    <a:lstStyle/>
                    <a:p>
                      <a:pPr>
                        <a:buNone/>
                      </a:pPr>
                      <a:r>
                        <a:rPr lang="en-US" sz="1400"/>
                        <a:t>Get JSON object field as text</a:t>
                      </a:r>
                    </a:p>
                  </a:txBody>
                  <a:tcPr marL="69919" marR="69919" marT="34960" marB="34960" anchor="ctr"/>
                </a:tc>
                <a:tc>
                  <a:txBody>
                    <a:bodyPr/>
                    <a:lstStyle/>
                    <a:p>
                      <a:pPr>
                        <a:buNone/>
                      </a:pPr>
                      <a:r>
                        <a:rPr lang="en-IN" sz="1400"/>
                        <a:t>data -&gt;&gt; 'age'</a:t>
                      </a:r>
                    </a:p>
                  </a:txBody>
                  <a:tcPr marL="69919" marR="69919" marT="34960" marB="34960" anchor="ctr"/>
                </a:tc>
                <a:extLst>
                  <a:ext uri="{0D108BD9-81ED-4DB2-BD59-A6C34878D82A}">
                    <a16:rowId xmlns:a16="http://schemas.microsoft.com/office/drawing/2014/main" val="419568274"/>
                  </a:ext>
                </a:extLst>
              </a:tr>
              <a:tr h="279676">
                <a:tc>
                  <a:txBody>
                    <a:bodyPr/>
                    <a:lstStyle/>
                    <a:p>
                      <a:pPr>
                        <a:buNone/>
                      </a:pPr>
                      <a:r>
                        <a:rPr lang="en-IN" sz="1400"/>
                        <a:t>#&gt;</a:t>
                      </a:r>
                    </a:p>
                  </a:txBody>
                  <a:tcPr marL="69919" marR="69919" marT="34960" marB="34960" anchor="ctr"/>
                </a:tc>
                <a:tc>
                  <a:txBody>
                    <a:bodyPr/>
                    <a:lstStyle/>
                    <a:p>
                      <a:pPr>
                        <a:buNone/>
                      </a:pPr>
                      <a:r>
                        <a:rPr lang="en-IN" sz="1400"/>
                        <a:t>Get nested JSON object</a:t>
                      </a:r>
                    </a:p>
                  </a:txBody>
                  <a:tcPr marL="69919" marR="69919" marT="34960" marB="34960" anchor="ctr"/>
                </a:tc>
                <a:tc>
                  <a:txBody>
                    <a:bodyPr/>
                    <a:lstStyle/>
                    <a:p>
                      <a:pPr>
                        <a:buNone/>
                      </a:pPr>
                      <a:r>
                        <a:rPr lang="en-IN" sz="1400"/>
                        <a:t>data #&gt; '{skills,0}'</a:t>
                      </a:r>
                    </a:p>
                  </a:txBody>
                  <a:tcPr marL="69919" marR="69919" marT="34960" marB="34960" anchor="ctr"/>
                </a:tc>
                <a:extLst>
                  <a:ext uri="{0D108BD9-81ED-4DB2-BD59-A6C34878D82A}">
                    <a16:rowId xmlns:a16="http://schemas.microsoft.com/office/drawing/2014/main" val="172042323"/>
                  </a:ext>
                </a:extLst>
              </a:tr>
              <a:tr h="279676">
                <a:tc>
                  <a:txBody>
                    <a:bodyPr/>
                    <a:lstStyle/>
                    <a:p>
                      <a:pPr>
                        <a:buNone/>
                      </a:pPr>
                      <a:r>
                        <a:rPr lang="en-IN" sz="1400"/>
                        <a:t>#&gt;&gt;</a:t>
                      </a:r>
                    </a:p>
                  </a:txBody>
                  <a:tcPr marL="69919" marR="69919" marT="34960" marB="34960" anchor="ctr"/>
                </a:tc>
                <a:tc>
                  <a:txBody>
                    <a:bodyPr/>
                    <a:lstStyle/>
                    <a:p>
                      <a:pPr>
                        <a:buNone/>
                      </a:pPr>
                      <a:r>
                        <a:rPr lang="en-US" sz="1400"/>
                        <a:t>Get nested JSON as text</a:t>
                      </a:r>
                    </a:p>
                  </a:txBody>
                  <a:tcPr marL="69919" marR="69919" marT="34960" marB="34960" anchor="ctr"/>
                </a:tc>
                <a:tc>
                  <a:txBody>
                    <a:bodyPr/>
                    <a:lstStyle/>
                    <a:p>
                      <a:pPr>
                        <a:buNone/>
                      </a:pPr>
                      <a:r>
                        <a:rPr lang="en-IN" sz="1400"/>
                        <a:t>data #&gt;&gt; '{skills,0}'</a:t>
                      </a:r>
                    </a:p>
                  </a:txBody>
                  <a:tcPr marL="69919" marR="69919" marT="34960" marB="34960" anchor="ctr"/>
                </a:tc>
                <a:extLst>
                  <a:ext uri="{0D108BD9-81ED-4DB2-BD59-A6C34878D82A}">
                    <a16:rowId xmlns:a16="http://schemas.microsoft.com/office/drawing/2014/main" val="3333860715"/>
                  </a:ext>
                </a:extLst>
              </a:tr>
              <a:tr h="489433">
                <a:tc>
                  <a:txBody>
                    <a:bodyPr/>
                    <a:lstStyle/>
                    <a:p>
                      <a:pPr>
                        <a:buNone/>
                      </a:pPr>
                      <a:r>
                        <a:rPr lang="en-IN" sz="1400"/>
                        <a:t>@&gt;</a:t>
                      </a:r>
                    </a:p>
                  </a:txBody>
                  <a:tcPr marL="69919" marR="69919" marT="34960" marB="34960" anchor="ctr"/>
                </a:tc>
                <a:tc>
                  <a:txBody>
                    <a:bodyPr/>
                    <a:lstStyle/>
                    <a:p>
                      <a:pPr>
                        <a:buNone/>
                      </a:pPr>
                      <a:r>
                        <a:rPr lang="en-US" sz="1400"/>
                        <a:t>Does JSONB contain the specified key/value?</a:t>
                      </a:r>
                    </a:p>
                  </a:txBody>
                  <a:tcPr marL="69919" marR="69919" marT="34960" marB="34960" anchor="ctr"/>
                </a:tc>
                <a:tc>
                  <a:txBody>
                    <a:bodyPr/>
                    <a:lstStyle/>
                    <a:p>
                      <a:pPr>
                        <a:buNone/>
                      </a:pPr>
                      <a:r>
                        <a:rPr lang="en-IN" sz="1400"/>
                        <a:t>data @&gt; '{"age": 30}'</a:t>
                      </a:r>
                    </a:p>
                  </a:txBody>
                  <a:tcPr marL="69919" marR="69919" marT="34960" marB="34960" anchor="ctr"/>
                </a:tc>
                <a:extLst>
                  <a:ext uri="{0D108BD9-81ED-4DB2-BD59-A6C34878D82A}">
                    <a16:rowId xmlns:a16="http://schemas.microsoft.com/office/drawing/2014/main" val="3058236416"/>
                  </a:ext>
                </a:extLst>
              </a:tr>
              <a:tr h="489433">
                <a:tc>
                  <a:txBody>
                    <a:bodyPr/>
                    <a:lstStyle/>
                    <a:p>
                      <a:pPr>
                        <a:buNone/>
                      </a:pPr>
                      <a:r>
                        <a:rPr lang="en-IN" sz="1400"/>
                        <a:t>&lt;@</a:t>
                      </a:r>
                    </a:p>
                  </a:txBody>
                  <a:tcPr marL="69919" marR="69919" marT="34960" marB="34960" anchor="ctr"/>
                </a:tc>
                <a:tc>
                  <a:txBody>
                    <a:bodyPr/>
                    <a:lstStyle/>
                    <a:p>
                      <a:pPr>
                        <a:buNone/>
                      </a:pPr>
                      <a:r>
                        <a:rPr lang="en-US" sz="1400"/>
                        <a:t>Is JSONB contained in another?</a:t>
                      </a:r>
                    </a:p>
                  </a:txBody>
                  <a:tcPr marL="69919" marR="69919" marT="34960" marB="34960" anchor="ctr"/>
                </a:tc>
                <a:tc>
                  <a:txBody>
                    <a:bodyPr/>
                    <a:lstStyle/>
                    <a:p>
                      <a:pPr>
                        <a:buNone/>
                      </a:pPr>
                      <a:r>
                        <a:rPr lang="en-IN" sz="1400"/>
                        <a:t>'{ "age": 30 }' &lt;@ data</a:t>
                      </a:r>
                    </a:p>
                  </a:txBody>
                  <a:tcPr marL="69919" marR="69919" marT="34960" marB="34960" anchor="ctr"/>
                </a:tc>
                <a:extLst>
                  <a:ext uri="{0D108BD9-81ED-4DB2-BD59-A6C34878D82A}">
                    <a16:rowId xmlns:a16="http://schemas.microsoft.com/office/drawing/2014/main" val="3257992957"/>
                  </a:ext>
                </a:extLst>
              </a:tr>
              <a:tr h="279676">
                <a:tc>
                  <a:txBody>
                    <a:bodyPr/>
                    <a:lstStyle/>
                    <a:p>
                      <a:pPr>
                        <a:buNone/>
                      </a:pPr>
                      <a:r>
                        <a:rPr lang="en-IN" sz="1400"/>
                        <a:t>?</a:t>
                      </a:r>
                    </a:p>
                  </a:txBody>
                  <a:tcPr marL="69919" marR="69919" marT="34960" marB="34960" anchor="ctr"/>
                </a:tc>
                <a:tc>
                  <a:txBody>
                    <a:bodyPr/>
                    <a:lstStyle/>
                    <a:p>
                      <a:pPr>
                        <a:buNone/>
                      </a:pPr>
                      <a:r>
                        <a:rPr lang="en-IN" sz="1400"/>
                        <a:t>Does key exist?</a:t>
                      </a:r>
                    </a:p>
                  </a:txBody>
                  <a:tcPr marL="69919" marR="69919" marT="34960" marB="34960" anchor="ctr"/>
                </a:tc>
                <a:tc>
                  <a:txBody>
                    <a:bodyPr/>
                    <a:lstStyle/>
                    <a:p>
                      <a:pPr>
                        <a:buNone/>
                      </a:pPr>
                      <a:r>
                        <a:rPr lang="en-IN" sz="1400"/>
                        <a:t>data ? 'age'</a:t>
                      </a:r>
                    </a:p>
                  </a:txBody>
                  <a:tcPr marL="69919" marR="69919" marT="34960" marB="34960" anchor="ctr"/>
                </a:tc>
                <a:extLst>
                  <a:ext uri="{0D108BD9-81ED-4DB2-BD59-A6C34878D82A}">
                    <a16:rowId xmlns:a16="http://schemas.microsoft.com/office/drawing/2014/main" val="2031068927"/>
                  </a:ext>
                </a:extLst>
              </a:tr>
              <a:tr h="279676">
                <a:tc>
                  <a:txBody>
                    <a:bodyPr/>
                    <a:lstStyle/>
                    <a:p>
                      <a:pPr>
                        <a:buNone/>
                      </a:pPr>
                      <a:r>
                        <a:rPr lang="en-IN" sz="1400"/>
                        <a:t>`?</a:t>
                      </a:r>
                    </a:p>
                  </a:txBody>
                  <a:tcPr marL="69919" marR="69919" marT="34960" marB="34960" anchor="ctr"/>
                </a:tc>
                <a:tc>
                  <a:txBody>
                    <a:bodyPr/>
                    <a:lstStyle/>
                    <a:p>
                      <a:pPr>
                        <a:buNone/>
                      </a:pPr>
                      <a:r>
                        <a:rPr lang="en-IN" sz="1400"/>
                        <a:t>`</a:t>
                      </a:r>
                    </a:p>
                  </a:txBody>
                  <a:tcPr marL="69919" marR="69919" marT="34960" marB="34960" anchor="ctr"/>
                </a:tc>
                <a:tc>
                  <a:txBody>
                    <a:bodyPr/>
                    <a:lstStyle/>
                    <a:p>
                      <a:pPr>
                        <a:buNone/>
                      </a:pPr>
                      <a:r>
                        <a:rPr lang="en-US" sz="1400"/>
                        <a:t>Any of the keys exist?</a:t>
                      </a:r>
                    </a:p>
                  </a:txBody>
                  <a:tcPr marL="69919" marR="69919" marT="34960" marB="34960" anchor="ctr"/>
                </a:tc>
                <a:extLst>
                  <a:ext uri="{0D108BD9-81ED-4DB2-BD59-A6C34878D82A}">
                    <a16:rowId xmlns:a16="http://schemas.microsoft.com/office/drawing/2014/main" val="3310444408"/>
                  </a:ext>
                </a:extLst>
              </a:tr>
              <a:tr h="489433">
                <a:tc>
                  <a:txBody>
                    <a:bodyPr/>
                    <a:lstStyle/>
                    <a:p>
                      <a:pPr>
                        <a:buNone/>
                      </a:pPr>
                      <a:r>
                        <a:rPr lang="en-IN" sz="1400"/>
                        <a:t>?&amp;</a:t>
                      </a:r>
                    </a:p>
                  </a:txBody>
                  <a:tcPr marL="69919" marR="69919" marT="34960" marB="34960" anchor="ctr"/>
                </a:tc>
                <a:tc>
                  <a:txBody>
                    <a:bodyPr/>
                    <a:lstStyle/>
                    <a:p>
                      <a:pPr>
                        <a:buNone/>
                      </a:pPr>
                      <a:r>
                        <a:rPr lang="en-IN" sz="1400"/>
                        <a:t>All keys exist?</a:t>
                      </a:r>
                    </a:p>
                  </a:txBody>
                  <a:tcPr marL="69919" marR="69919" marT="34960" marB="34960" anchor="ctr"/>
                </a:tc>
                <a:tc>
                  <a:txBody>
                    <a:bodyPr/>
                    <a:lstStyle/>
                    <a:p>
                      <a:pPr>
                        <a:buNone/>
                      </a:pPr>
                      <a:r>
                        <a:rPr lang="en-IN" sz="1400"/>
                        <a:t>data ?&amp; array['age', 'skills']</a:t>
                      </a:r>
                    </a:p>
                  </a:txBody>
                  <a:tcPr marL="69919" marR="69919" marT="34960" marB="34960" anchor="ctr"/>
                </a:tc>
                <a:extLst>
                  <a:ext uri="{0D108BD9-81ED-4DB2-BD59-A6C34878D82A}">
                    <a16:rowId xmlns:a16="http://schemas.microsoft.com/office/drawing/2014/main" val="2745631165"/>
                  </a:ext>
                </a:extLst>
              </a:tr>
              <a:tr h="489433">
                <a:tc>
                  <a:txBody>
                    <a:bodyPr/>
                    <a:lstStyle/>
                    <a:p>
                      <a:pPr>
                        <a:buNone/>
                      </a:pPr>
                      <a:r>
                        <a:rPr lang="en-IN" sz="1400"/>
                        <a:t>jsonb_array_elements()</a:t>
                      </a:r>
                    </a:p>
                  </a:txBody>
                  <a:tcPr marL="69919" marR="69919" marT="34960" marB="34960" anchor="ctr"/>
                </a:tc>
                <a:tc>
                  <a:txBody>
                    <a:bodyPr/>
                    <a:lstStyle/>
                    <a:p>
                      <a:pPr>
                        <a:buNone/>
                      </a:pPr>
                      <a:r>
                        <a:rPr lang="en-US" sz="1400"/>
                        <a:t>Expands JSON array to rows</a:t>
                      </a:r>
                    </a:p>
                  </a:txBody>
                  <a:tcPr marL="69919" marR="69919" marT="34960" marB="34960" anchor="ctr"/>
                </a:tc>
                <a:tc>
                  <a:txBody>
                    <a:bodyPr/>
                    <a:lstStyle/>
                    <a:p>
                      <a:pPr>
                        <a:buNone/>
                      </a:pPr>
                      <a:r>
                        <a:rPr lang="en-IN" sz="1400"/>
                        <a:t>see below</a:t>
                      </a:r>
                    </a:p>
                  </a:txBody>
                  <a:tcPr marL="69919" marR="69919" marT="34960" marB="34960" anchor="ctr"/>
                </a:tc>
                <a:extLst>
                  <a:ext uri="{0D108BD9-81ED-4DB2-BD59-A6C34878D82A}">
                    <a16:rowId xmlns:a16="http://schemas.microsoft.com/office/drawing/2014/main" val="2280699240"/>
                  </a:ext>
                </a:extLst>
              </a:tr>
              <a:tr h="489433">
                <a:tc>
                  <a:txBody>
                    <a:bodyPr/>
                    <a:lstStyle/>
                    <a:p>
                      <a:pPr>
                        <a:buNone/>
                      </a:pPr>
                      <a:r>
                        <a:rPr lang="en-IN" sz="1400"/>
                        <a:t>jsonb_each_text()</a:t>
                      </a:r>
                    </a:p>
                  </a:txBody>
                  <a:tcPr marL="69919" marR="69919" marT="34960" marB="34960" anchor="ctr"/>
                </a:tc>
                <a:tc>
                  <a:txBody>
                    <a:bodyPr/>
                    <a:lstStyle/>
                    <a:p>
                      <a:pPr>
                        <a:buNone/>
                      </a:pPr>
                      <a:r>
                        <a:rPr lang="en-US" sz="1400"/>
                        <a:t>Extracts key-value pairs as text</a:t>
                      </a:r>
                    </a:p>
                  </a:txBody>
                  <a:tcPr marL="69919" marR="69919" marT="34960" marB="34960" anchor="ctr"/>
                </a:tc>
                <a:tc>
                  <a:txBody>
                    <a:bodyPr/>
                    <a:lstStyle/>
                    <a:p>
                      <a:pPr>
                        <a:buNone/>
                      </a:pPr>
                      <a:r>
                        <a:rPr lang="en-IN" sz="1400" dirty="0"/>
                        <a:t>see below</a:t>
                      </a:r>
                    </a:p>
                  </a:txBody>
                  <a:tcPr marL="69919" marR="69919" marT="34960" marB="34960" anchor="ctr"/>
                </a:tc>
                <a:extLst>
                  <a:ext uri="{0D108BD9-81ED-4DB2-BD59-A6C34878D82A}">
                    <a16:rowId xmlns:a16="http://schemas.microsoft.com/office/drawing/2014/main" val="577594958"/>
                  </a:ext>
                </a:extLst>
              </a:tr>
            </a:tbl>
          </a:graphicData>
        </a:graphic>
      </p:graphicFrame>
    </p:spTree>
    <p:extLst>
      <p:ext uri="{BB962C8B-B14F-4D97-AF65-F5344CB8AC3E}">
        <p14:creationId xmlns:p14="http://schemas.microsoft.com/office/powerpoint/2010/main" val="1617786942"/>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E6414-0F70-8F0C-4723-7BB2CC664A8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4FACE17-050B-6E5D-2158-4EDB80F5B23D}"/>
              </a:ext>
            </a:extLst>
          </p:cNvPr>
          <p:cNvSpPr>
            <a:spLocks noGrp="1"/>
          </p:cNvSpPr>
          <p:nvPr>
            <p:ph type="title"/>
          </p:nvPr>
        </p:nvSpPr>
        <p:spPr/>
        <p:txBody>
          <a:bodyPr/>
          <a:lstStyle/>
          <a:p>
            <a:r>
              <a:rPr lang="en-US" dirty="0"/>
              <a:t>Built-in Functions - JSON/JSONB Functions in PostgreSQL</a:t>
            </a:r>
            <a:endParaRPr lang="en-IN" dirty="0"/>
          </a:p>
        </p:txBody>
      </p:sp>
      <p:sp>
        <p:nvSpPr>
          <p:cNvPr id="5" name="TextBox 4">
            <a:extLst>
              <a:ext uri="{FF2B5EF4-FFF2-40B4-BE49-F238E27FC236}">
                <a16:creationId xmlns:a16="http://schemas.microsoft.com/office/drawing/2014/main" id="{658F2B65-38E2-94B4-A753-7A8E2BC05250}"/>
              </a:ext>
            </a:extLst>
          </p:cNvPr>
          <p:cNvSpPr txBox="1"/>
          <p:nvPr/>
        </p:nvSpPr>
        <p:spPr>
          <a:xfrm>
            <a:off x="798897" y="1645201"/>
            <a:ext cx="7055317" cy="36933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spAutoFit/>
          </a:bodyPr>
          <a:lstStyle/>
          <a:p>
            <a:r>
              <a:rPr lang="en-US" dirty="0"/>
              <a:t>SELECT name, (data -&gt;&gt; 'age')::int AS age FROM employees;</a:t>
            </a:r>
          </a:p>
        </p:txBody>
      </p:sp>
      <p:sp>
        <p:nvSpPr>
          <p:cNvPr id="7" name="TextBox 6">
            <a:extLst>
              <a:ext uri="{FF2B5EF4-FFF2-40B4-BE49-F238E27FC236}">
                <a16:creationId xmlns:a16="http://schemas.microsoft.com/office/drawing/2014/main" id="{59BB634E-6005-B329-D488-7135252F5C45}"/>
              </a:ext>
            </a:extLst>
          </p:cNvPr>
          <p:cNvSpPr txBox="1"/>
          <p:nvPr/>
        </p:nvSpPr>
        <p:spPr>
          <a:xfrm>
            <a:off x="875898" y="2380893"/>
            <a:ext cx="6776185" cy="36933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spAutoFit/>
          </a:bodyPr>
          <a:lstStyle/>
          <a:p>
            <a:r>
              <a:rPr lang="en-US" dirty="0"/>
              <a:t>SELECT * FROM employees WHERE data @&gt; '{"age": 30}';</a:t>
            </a:r>
          </a:p>
        </p:txBody>
      </p:sp>
      <p:sp>
        <p:nvSpPr>
          <p:cNvPr id="9" name="TextBox 8">
            <a:extLst>
              <a:ext uri="{FF2B5EF4-FFF2-40B4-BE49-F238E27FC236}">
                <a16:creationId xmlns:a16="http://schemas.microsoft.com/office/drawing/2014/main" id="{6203163E-0885-3EF8-A1DA-1F7B801D43A3}"/>
              </a:ext>
            </a:extLst>
          </p:cNvPr>
          <p:cNvSpPr txBox="1"/>
          <p:nvPr/>
        </p:nvSpPr>
        <p:spPr>
          <a:xfrm>
            <a:off x="798897" y="3118000"/>
            <a:ext cx="7055316" cy="646331"/>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spAutoFit/>
          </a:bodyPr>
          <a:lstStyle/>
          <a:p>
            <a:r>
              <a:rPr lang="en-US" dirty="0"/>
              <a:t>SELECT name, </a:t>
            </a:r>
            <a:r>
              <a:rPr lang="en-US" dirty="0" err="1"/>
              <a:t>jsonb_array_elements_text</a:t>
            </a:r>
            <a:r>
              <a:rPr lang="en-US" dirty="0"/>
              <a:t>(data-&gt;'skills') AS skill</a:t>
            </a:r>
          </a:p>
          <a:p>
            <a:r>
              <a:rPr lang="en-US" dirty="0"/>
              <a:t>FROM employees;</a:t>
            </a:r>
          </a:p>
        </p:txBody>
      </p:sp>
      <p:sp>
        <p:nvSpPr>
          <p:cNvPr id="11" name="TextBox 10">
            <a:extLst>
              <a:ext uri="{FF2B5EF4-FFF2-40B4-BE49-F238E27FC236}">
                <a16:creationId xmlns:a16="http://schemas.microsoft.com/office/drawing/2014/main" id="{858476B0-C1E4-8BA0-DEA9-59ADDDAA40A1}"/>
              </a:ext>
            </a:extLst>
          </p:cNvPr>
          <p:cNvSpPr txBox="1"/>
          <p:nvPr/>
        </p:nvSpPr>
        <p:spPr>
          <a:xfrm>
            <a:off x="875897" y="4221467"/>
            <a:ext cx="6978316" cy="646331"/>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spAutoFit/>
          </a:bodyPr>
          <a:lstStyle/>
          <a:p>
            <a:r>
              <a:rPr lang="en-US" dirty="0"/>
              <a:t>SELECT name, key, value</a:t>
            </a:r>
          </a:p>
          <a:p>
            <a:r>
              <a:rPr lang="en-US" dirty="0"/>
              <a:t>FROM employees, </a:t>
            </a:r>
            <a:r>
              <a:rPr lang="en-US" dirty="0" err="1"/>
              <a:t>jsonb_each_text</a:t>
            </a:r>
            <a:r>
              <a:rPr lang="en-US" dirty="0"/>
              <a:t>(data);</a:t>
            </a:r>
          </a:p>
        </p:txBody>
      </p:sp>
      <p:sp>
        <p:nvSpPr>
          <p:cNvPr id="13" name="TextBox 12">
            <a:extLst>
              <a:ext uri="{FF2B5EF4-FFF2-40B4-BE49-F238E27FC236}">
                <a16:creationId xmlns:a16="http://schemas.microsoft.com/office/drawing/2014/main" id="{B9744E88-B6D9-3187-E90A-C828E87F56F3}"/>
              </a:ext>
            </a:extLst>
          </p:cNvPr>
          <p:cNvSpPr txBox="1"/>
          <p:nvPr/>
        </p:nvSpPr>
        <p:spPr>
          <a:xfrm>
            <a:off x="875897" y="5408679"/>
            <a:ext cx="7132322" cy="646331"/>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spAutoFit/>
          </a:bodyPr>
          <a:lstStyle/>
          <a:p>
            <a:r>
              <a:rPr lang="en-US" dirty="0"/>
              <a:t>CREATE INDEX </a:t>
            </a:r>
            <a:r>
              <a:rPr lang="en-US" dirty="0" err="1"/>
              <a:t>idx_employee_data</a:t>
            </a:r>
            <a:r>
              <a:rPr lang="en-US" dirty="0"/>
              <a:t> ON employees USING GIN (data);</a:t>
            </a:r>
          </a:p>
        </p:txBody>
      </p:sp>
    </p:spTree>
    <p:extLst>
      <p:ext uri="{BB962C8B-B14F-4D97-AF65-F5344CB8AC3E}">
        <p14:creationId xmlns:p14="http://schemas.microsoft.com/office/powerpoint/2010/main" val="3596947504"/>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C3DD8C-5EA3-4622-947C-F791F86E52DE}"/>
              </a:ext>
            </a:extLst>
          </p:cNvPr>
          <p:cNvSpPr>
            <a:spLocks noGrp="1"/>
          </p:cNvSpPr>
          <p:nvPr>
            <p:ph sz="quarter" idx="12"/>
          </p:nvPr>
        </p:nvSpPr>
        <p:spPr/>
        <p:txBody>
          <a:bodyPr>
            <a:normAutofit/>
          </a:bodyPr>
          <a:lstStyle/>
          <a:p>
            <a:r>
              <a:rPr lang="en-US" dirty="0"/>
              <a:t>import and export data using CSV files in PostgreSQL</a:t>
            </a:r>
          </a:p>
          <a:p>
            <a:endParaRPr lang="en-US" dirty="0"/>
          </a:p>
          <a:p>
            <a:r>
              <a:rPr lang="en-US" dirty="0"/>
              <a:t>1. Creating a .csv file</a:t>
            </a:r>
          </a:p>
          <a:p>
            <a:r>
              <a:rPr lang="en-US" dirty="0"/>
              <a:t>2. Creating the table structure</a:t>
            </a:r>
          </a:p>
          <a:p>
            <a:r>
              <a:rPr lang="en-US" dirty="0"/>
              <a:t>3. Importing from a </a:t>
            </a:r>
            <a:r>
              <a:rPr lang="en-US" dirty="0" err="1"/>
              <a:t>psql</a:t>
            </a:r>
            <a:r>
              <a:rPr lang="en-US" dirty="0"/>
              <a:t> prompt</a:t>
            </a:r>
          </a:p>
          <a:p>
            <a:r>
              <a:rPr lang="en-US" dirty="0"/>
              <a:t>4. Importing from a shell prompt</a:t>
            </a:r>
          </a:p>
          <a:p>
            <a:r>
              <a:rPr lang="en-US" dirty="0"/>
              <a:t>5. Exporting data to a .csv file</a:t>
            </a:r>
            <a:endParaRPr lang="en-IN" dirty="0"/>
          </a:p>
        </p:txBody>
      </p:sp>
      <p:sp>
        <p:nvSpPr>
          <p:cNvPr id="3" name="Title 2">
            <a:extLst>
              <a:ext uri="{FF2B5EF4-FFF2-40B4-BE49-F238E27FC236}">
                <a16:creationId xmlns:a16="http://schemas.microsoft.com/office/drawing/2014/main" id="{00881111-5BB9-4B6A-95DA-2BE59E11207F}"/>
              </a:ext>
            </a:extLst>
          </p:cNvPr>
          <p:cNvSpPr>
            <a:spLocks noGrp="1"/>
          </p:cNvSpPr>
          <p:nvPr>
            <p:ph type="title"/>
          </p:nvPr>
        </p:nvSpPr>
        <p:spPr/>
        <p:txBody>
          <a:bodyPr/>
          <a:lstStyle/>
          <a:p>
            <a:r>
              <a:rPr lang="en-US" dirty="0"/>
              <a:t>Moving Data the Copy command</a:t>
            </a:r>
            <a:endParaRPr lang="en-IN" dirty="0"/>
          </a:p>
        </p:txBody>
      </p:sp>
    </p:spTree>
    <p:extLst>
      <p:ext uri="{BB962C8B-B14F-4D97-AF65-F5344CB8AC3E}">
        <p14:creationId xmlns:p14="http://schemas.microsoft.com/office/powerpoint/2010/main" val="3395051762"/>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C3DD8C-5EA3-4622-947C-F791F86E52DE}"/>
              </a:ext>
            </a:extLst>
          </p:cNvPr>
          <p:cNvSpPr>
            <a:spLocks noGrp="1"/>
          </p:cNvSpPr>
          <p:nvPr>
            <p:ph sz="quarter" idx="12"/>
          </p:nvPr>
        </p:nvSpPr>
        <p:spPr/>
        <p:txBody>
          <a:bodyPr>
            <a:normAutofit lnSpcReduction="10000"/>
          </a:bodyPr>
          <a:lstStyle/>
          <a:p>
            <a:r>
              <a:rPr lang="en-US" dirty="0"/>
              <a:t>Creating a .csv file</a:t>
            </a:r>
          </a:p>
          <a:p>
            <a:r>
              <a:rPr lang="en-US" dirty="0"/>
              <a:t>The first step is to create a .csv file. You can use any existing file, or you can use the data below that comprises a basic .csv file:</a:t>
            </a:r>
          </a:p>
          <a:p>
            <a:endParaRPr lang="en-US" dirty="0"/>
          </a:p>
          <a:p>
            <a:r>
              <a:rPr lang="en-US" dirty="0" err="1"/>
              <a:t>Capital_City,State,Abbreviation,Zip_Code</a:t>
            </a:r>
            <a:endParaRPr lang="en-US" dirty="0"/>
          </a:p>
          <a:p>
            <a:r>
              <a:rPr lang="en-US" dirty="0"/>
              <a:t>Montgomery,Alabama,AL,36104</a:t>
            </a:r>
          </a:p>
          <a:p>
            <a:r>
              <a:rPr lang="en-US" dirty="0"/>
              <a:t>Juneau,Alaska,AK,99801</a:t>
            </a:r>
          </a:p>
          <a:p>
            <a:r>
              <a:rPr lang="en-US" dirty="0"/>
              <a:t>Phoenix,Arizona,AZ,85001</a:t>
            </a:r>
          </a:p>
          <a:p>
            <a:r>
              <a:rPr lang="en-US" dirty="0"/>
              <a:t>Little Rock,Arkansas,AR,72201</a:t>
            </a:r>
            <a:endParaRPr lang="en-IN" dirty="0"/>
          </a:p>
        </p:txBody>
      </p:sp>
      <p:sp>
        <p:nvSpPr>
          <p:cNvPr id="3" name="Title 2">
            <a:extLst>
              <a:ext uri="{FF2B5EF4-FFF2-40B4-BE49-F238E27FC236}">
                <a16:creationId xmlns:a16="http://schemas.microsoft.com/office/drawing/2014/main" id="{00881111-5BB9-4B6A-95DA-2BE59E11207F}"/>
              </a:ext>
            </a:extLst>
          </p:cNvPr>
          <p:cNvSpPr>
            <a:spLocks noGrp="1"/>
          </p:cNvSpPr>
          <p:nvPr>
            <p:ph type="title"/>
          </p:nvPr>
        </p:nvSpPr>
        <p:spPr/>
        <p:txBody>
          <a:bodyPr/>
          <a:lstStyle/>
          <a:p>
            <a:r>
              <a:rPr lang="en-US" dirty="0"/>
              <a:t>Moving Data the Copy command</a:t>
            </a:r>
            <a:endParaRPr lang="en-IN" dirty="0"/>
          </a:p>
        </p:txBody>
      </p:sp>
    </p:spTree>
    <p:extLst>
      <p:ext uri="{BB962C8B-B14F-4D97-AF65-F5344CB8AC3E}">
        <p14:creationId xmlns:p14="http://schemas.microsoft.com/office/powerpoint/2010/main" val="14375117"/>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C3DD8C-5EA3-4622-947C-F791F86E52DE}"/>
              </a:ext>
            </a:extLst>
          </p:cNvPr>
          <p:cNvSpPr>
            <a:spLocks noGrp="1"/>
          </p:cNvSpPr>
          <p:nvPr>
            <p:ph sz="quarter" idx="12"/>
          </p:nvPr>
        </p:nvSpPr>
        <p:spPr/>
        <p:txBody>
          <a:bodyPr>
            <a:normAutofit fontScale="92500" lnSpcReduction="20000"/>
          </a:bodyPr>
          <a:lstStyle/>
          <a:p>
            <a:r>
              <a:rPr lang="en-US" dirty="0"/>
              <a:t>CREATE TABLE </a:t>
            </a:r>
            <a:r>
              <a:rPr lang="en-US" dirty="0" err="1"/>
              <a:t>usa</a:t>
            </a:r>
            <a:r>
              <a:rPr lang="en-US" dirty="0"/>
              <a:t> </a:t>
            </a:r>
          </a:p>
          <a:p>
            <a:endParaRPr lang="en-US" dirty="0"/>
          </a:p>
          <a:p>
            <a:r>
              <a:rPr lang="en-US" dirty="0"/>
              <a:t>(</a:t>
            </a:r>
            <a:r>
              <a:rPr lang="en-US" dirty="0" err="1"/>
              <a:t>Capital_city</a:t>
            </a:r>
            <a:r>
              <a:rPr lang="en-US" dirty="0"/>
              <a:t> varchar, </a:t>
            </a:r>
          </a:p>
          <a:p>
            <a:endParaRPr lang="en-US" dirty="0"/>
          </a:p>
          <a:p>
            <a:r>
              <a:rPr lang="en-US" dirty="0"/>
              <a:t>State varchar, </a:t>
            </a:r>
          </a:p>
          <a:p>
            <a:endParaRPr lang="en-US" dirty="0"/>
          </a:p>
          <a:p>
            <a:r>
              <a:rPr lang="en-US" dirty="0"/>
              <a:t>Abbreviation varchar(2), </a:t>
            </a:r>
          </a:p>
          <a:p>
            <a:endParaRPr lang="en-US" dirty="0"/>
          </a:p>
          <a:p>
            <a:r>
              <a:rPr lang="en-US" dirty="0" err="1"/>
              <a:t>zip_code</a:t>
            </a:r>
            <a:r>
              <a:rPr lang="en-US" dirty="0"/>
              <a:t> numeric(5)</a:t>
            </a:r>
          </a:p>
          <a:p>
            <a:endParaRPr lang="en-US" dirty="0"/>
          </a:p>
          <a:p>
            <a:r>
              <a:rPr lang="en-US" dirty="0"/>
              <a:t>);</a:t>
            </a:r>
            <a:endParaRPr lang="en-IN" dirty="0"/>
          </a:p>
        </p:txBody>
      </p:sp>
      <p:sp>
        <p:nvSpPr>
          <p:cNvPr id="3" name="Title 2">
            <a:extLst>
              <a:ext uri="{FF2B5EF4-FFF2-40B4-BE49-F238E27FC236}">
                <a16:creationId xmlns:a16="http://schemas.microsoft.com/office/drawing/2014/main" id="{00881111-5BB9-4B6A-95DA-2BE59E11207F}"/>
              </a:ext>
            </a:extLst>
          </p:cNvPr>
          <p:cNvSpPr>
            <a:spLocks noGrp="1"/>
          </p:cNvSpPr>
          <p:nvPr>
            <p:ph type="title"/>
          </p:nvPr>
        </p:nvSpPr>
        <p:spPr/>
        <p:txBody>
          <a:bodyPr/>
          <a:lstStyle/>
          <a:p>
            <a:r>
              <a:rPr lang="en-US" dirty="0"/>
              <a:t>Moving Data the Copy command</a:t>
            </a:r>
            <a:endParaRPr lang="en-IN" dirty="0"/>
          </a:p>
        </p:txBody>
      </p:sp>
    </p:spTree>
    <p:extLst>
      <p:ext uri="{BB962C8B-B14F-4D97-AF65-F5344CB8AC3E}">
        <p14:creationId xmlns:p14="http://schemas.microsoft.com/office/powerpoint/2010/main" val="1518206433"/>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99405C-8AF3-4B74-8499-8FF604A6DA53}"/>
              </a:ext>
            </a:extLst>
          </p:cNvPr>
          <p:cNvSpPr>
            <a:spLocks noGrp="1"/>
          </p:cNvSpPr>
          <p:nvPr>
            <p:ph sz="quarter" idx="12"/>
          </p:nvPr>
        </p:nvSpPr>
        <p:spPr/>
        <p:txBody>
          <a:bodyPr>
            <a:normAutofit lnSpcReduction="10000"/>
          </a:bodyPr>
          <a:lstStyle/>
          <a:p>
            <a:r>
              <a:rPr lang="en-US" dirty="0"/>
              <a:t>\COPY &lt;table name&gt; FROM 'location + </a:t>
            </a:r>
            <a:r>
              <a:rPr lang="en-US" dirty="0" err="1"/>
              <a:t>file_name</a:t>
            </a:r>
            <a:r>
              <a:rPr lang="en-US" dirty="0"/>
              <a:t>' DELIMITER ',' CSV HEADER;</a:t>
            </a:r>
          </a:p>
          <a:p>
            <a:r>
              <a:rPr lang="en-US" dirty="0"/>
              <a:t>To understand the execution steps, let’s look at each item in this command:</a:t>
            </a:r>
          </a:p>
          <a:p>
            <a:r>
              <a:rPr lang="en-US" dirty="0"/>
              <a:t>\COPY: This is the command to copy the record to / from the .csv file.</a:t>
            </a:r>
          </a:p>
          <a:p>
            <a:r>
              <a:rPr lang="en-US" dirty="0"/>
              <a:t>&lt;table name&gt;: Provides the table name where you want to import the data.</a:t>
            </a:r>
          </a:p>
          <a:p>
            <a:r>
              <a:rPr lang="en-US" dirty="0"/>
              <a:t>FROM: Specifies that we are going to import from a file (we will also be using TO in order to export it to a file at a later stage).</a:t>
            </a:r>
            <a:endParaRPr lang="en-IN" dirty="0"/>
          </a:p>
        </p:txBody>
      </p:sp>
      <p:sp>
        <p:nvSpPr>
          <p:cNvPr id="3" name="Title 2">
            <a:extLst>
              <a:ext uri="{FF2B5EF4-FFF2-40B4-BE49-F238E27FC236}">
                <a16:creationId xmlns:a16="http://schemas.microsoft.com/office/drawing/2014/main" id="{56B75121-4DA2-4E5B-9043-ED60B275445F}"/>
              </a:ext>
            </a:extLst>
          </p:cNvPr>
          <p:cNvSpPr>
            <a:spLocks noGrp="1"/>
          </p:cNvSpPr>
          <p:nvPr>
            <p:ph type="title"/>
          </p:nvPr>
        </p:nvSpPr>
        <p:spPr/>
        <p:txBody>
          <a:bodyPr/>
          <a:lstStyle/>
          <a:p>
            <a:r>
              <a:rPr lang="en-US" dirty="0"/>
              <a:t>Importing from a </a:t>
            </a:r>
            <a:r>
              <a:rPr lang="en-US" dirty="0" err="1"/>
              <a:t>psql</a:t>
            </a:r>
            <a:r>
              <a:rPr lang="en-US" dirty="0"/>
              <a:t> prompt</a:t>
            </a:r>
            <a:endParaRPr lang="en-IN" dirty="0"/>
          </a:p>
        </p:txBody>
      </p:sp>
    </p:spTree>
    <p:extLst>
      <p:ext uri="{BB962C8B-B14F-4D97-AF65-F5344CB8AC3E}">
        <p14:creationId xmlns:p14="http://schemas.microsoft.com/office/powerpoint/2010/main" val="614681718"/>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99405C-8AF3-4B74-8499-8FF604A6DA53}"/>
              </a:ext>
            </a:extLst>
          </p:cNvPr>
          <p:cNvSpPr>
            <a:spLocks noGrp="1"/>
          </p:cNvSpPr>
          <p:nvPr>
            <p:ph sz="quarter" idx="12"/>
          </p:nvPr>
        </p:nvSpPr>
        <p:spPr/>
        <p:txBody>
          <a:bodyPr>
            <a:normAutofit/>
          </a:bodyPr>
          <a:lstStyle/>
          <a:p>
            <a:r>
              <a:rPr lang="en-US" dirty="0"/>
              <a:t>'location + </a:t>
            </a:r>
            <a:r>
              <a:rPr lang="en-US" dirty="0" err="1"/>
              <a:t>file_name</a:t>
            </a:r>
            <a:r>
              <a:rPr lang="en-US" dirty="0"/>
              <a:t>': An absolute path to the file (make sure you have read access to the file).</a:t>
            </a:r>
          </a:p>
          <a:p>
            <a:r>
              <a:rPr lang="en-US" dirty="0"/>
              <a:t>DELIMITER ',': Specifies the delimiter, which in our case is a comma: ‘,’. </a:t>
            </a:r>
          </a:p>
          <a:p>
            <a:r>
              <a:rPr lang="en-US" dirty="0"/>
              <a:t>CSV Specifies the file type from which we are going to import.</a:t>
            </a:r>
          </a:p>
          <a:p>
            <a:r>
              <a:rPr lang="en-US" dirty="0"/>
              <a:t>HEADER Signifies that we have a header row in our .csv file and while importing we should ignore the first row (similarly, while exporting we can use this to specify whether we want to include or exclude the header file).</a:t>
            </a:r>
            <a:endParaRPr lang="en-IN" dirty="0"/>
          </a:p>
        </p:txBody>
      </p:sp>
      <p:sp>
        <p:nvSpPr>
          <p:cNvPr id="3" name="Title 2">
            <a:extLst>
              <a:ext uri="{FF2B5EF4-FFF2-40B4-BE49-F238E27FC236}">
                <a16:creationId xmlns:a16="http://schemas.microsoft.com/office/drawing/2014/main" id="{56B75121-4DA2-4E5B-9043-ED60B275445F}"/>
              </a:ext>
            </a:extLst>
          </p:cNvPr>
          <p:cNvSpPr>
            <a:spLocks noGrp="1"/>
          </p:cNvSpPr>
          <p:nvPr>
            <p:ph type="title"/>
          </p:nvPr>
        </p:nvSpPr>
        <p:spPr/>
        <p:txBody>
          <a:bodyPr/>
          <a:lstStyle/>
          <a:p>
            <a:r>
              <a:rPr lang="en-US" dirty="0"/>
              <a:t>Importing from a </a:t>
            </a:r>
            <a:r>
              <a:rPr lang="en-US" dirty="0" err="1"/>
              <a:t>psql</a:t>
            </a:r>
            <a:r>
              <a:rPr lang="en-US" dirty="0"/>
              <a:t> prompt</a:t>
            </a:r>
            <a:endParaRPr lang="en-IN" dirty="0"/>
          </a:p>
        </p:txBody>
      </p:sp>
    </p:spTree>
    <p:extLst>
      <p:ext uri="{BB962C8B-B14F-4D97-AF65-F5344CB8AC3E}">
        <p14:creationId xmlns:p14="http://schemas.microsoft.com/office/powerpoint/2010/main" val="1383325982"/>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6B75121-4DA2-4E5B-9043-ED60B275445F}"/>
              </a:ext>
            </a:extLst>
          </p:cNvPr>
          <p:cNvSpPr>
            <a:spLocks noGrp="1"/>
          </p:cNvSpPr>
          <p:nvPr>
            <p:ph type="title"/>
          </p:nvPr>
        </p:nvSpPr>
        <p:spPr/>
        <p:txBody>
          <a:bodyPr/>
          <a:lstStyle/>
          <a:p>
            <a:r>
              <a:rPr lang="en-US" dirty="0"/>
              <a:t>Importing from a </a:t>
            </a:r>
            <a:r>
              <a:rPr lang="en-US" dirty="0" err="1"/>
              <a:t>psql</a:t>
            </a:r>
            <a:r>
              <a:rPr lang="en-US" dirty="0"/>
              <a:t> prompt</a:t>
            </a:r>
            <a:endParaRPr lang="en-IN" dirty="0"/>
          </a:p>
        </p:txBody>
      </p:sp>
      <p:pic>
        <p:nvPicPr>
          <p:cNvPr id="7" name="Picture 6">
            <a:extLst>
              <a:ext uri="{FF2B5EF4-FFF2-40B4-BE49-F238E27FC236}">
                <a16:creationId xmlns:a16="http://schemas.microsoft.com/office/drawing/2014/main" id="{4B3C2055-A846-4CC0-86E2-F944E289F9D3}"/>
              </a:ext>
            </a:extLst>
          </p:cNvPr>
          <p:cNvPicPr>
            <a:picLocks noChangeAspect="1"/>
          </p:cNvPicPr>
          <p:nvPr/>
        </p:nvPicPr>
        <p:blipFill rotWithShape="1">
          <a:blip r:embed="rId2"/>
          <a:srcRect b="74127"/>
          <a:stretch/>
        </p:blipFill>
        <p:spPr>
          <a:xfrm>
            <a:off x="94268" y="1544378"/>
            <a:ext cx="9144000" cy="1330797"/>
          </a:xfrm>
          <a:prstGeom prst="rect">
            <a:avLst/>
          </a:prstGeom>
        </p:spPr>
      </p:pic>
    </p:spTree>
    <p:extLst>
      <p:ext uri="{BB962C8B-B14F-4D97-AF65-F5344CB8AC3E}">
        <p14:creationId xmlns:p14="http://schemas.microsoft.com/office/powerpoint/2010/main" val="1519275762"/>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28222DE-4562-4A14-A98F-388D372C881A}"/>
              </a:ext>
            </a:extLst>
          </p:cNvPr>
          <p:cNvSpPr>
            <a:spLocks noGrp="1"/>
          </p:cNvSpPr>
          <p:nvPr>
            <p:ph type="title"/>
          </p:nvPr>
        </p:nvSpPr>
        <p:spPr/>
        <p:txBody>
          <a:bodyPr/>
          <a:lstStyle/>
          <a:p>
            <a:r>
              <a:rPr lang="en-US" dirty="0"/>
              <a:t>Exporting data to a .csv file</a:t>
            </a:r>
            <a:endParaRPr lang="en-IN" dirty="0"/>
          </a:p>
        </p:txBody>
      </p:sp>
      <p:pic>
        <p:nvPicPr>
          <p:cNvPr id="5" name="Picture 4">
            <a:extLst>
              <a:ext uri="{FF2B5EF4-FFF2-40B4-BE49-F238E27FC236}">
                <a16:creationId xmlns:a16="http://schemas.microsoft.com/office/drawing/2014/main" id="{AE14F678-6BBD-40FC-8A09-430D24B3E10B}"/>
              </a:ext>
            </a:extLst>
          </p:cNvPr>
          <p:cNvPicPr>
            <a:picLocks noChangeAspect="1"/>
          </p:cNvPicPr>
          <p:nvPr/>
        </p:nvPicPr>
        <p:blipFill rotWithShape="1">
          <a:blip r:embed="rId2"/>
          <a:srcRect b="67915"/>
          <a:stretch/>
        </p:blipFill>
        <p:spPr>
          <a:xfrm>
            <a:off x="0" y="1451139"/>
            <a:ext cx="9144000" cy="1650280"/>
          </a:xfrm>
          <a:prstGeom prst="rect">
            <a:avLst/>
          </a:prstGeom>
        </p:spPr>
      </p:pic>
    </p:spTree>
    <p:extLst>
      <p:ext uri="{BB962C8B-B14F-4D97-AF65-F5344CB8AC3E}">
        <p14:creationId xmlns:p14="http://schemas.microsoft.com/office/powerpoint/2010/main" val="2248990501"/>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48C85A-1899-4AFA-AE69-A110616A04BC}"/>
              </a:ext>
            </a:extLst>
          </p:cNvPr>
          <p:cNvSpPr>
            <a:spLocks noGrp="1"/>
          </p:cNvSpPr>
          <p:nvPr>
            <p:ph sz="quarter" idx="12"/>
          </p:nvPr>
        </p:nvSpPr>
        <p:spPr/>
        <p:txBody>
          <a:bodyPr/>
          <a:lstStyle/>
          <a:p>
            <a:r>
              <a:rPr lang="en-US" dirty="0"/>
              <a:t>The PostgreSQL System Catalog is a schema with tables and views that contain metadata about all the other objects inside the database and more. </a:t>
            </a:r>
          </a:p>
          <a:p>
            <a:r>
              <a:rPr lang="en-US" dirty="0"/>
              <a:t>With it, we can discover when various operations happen, how tables or indexes are accessed, and even whether or not the database system is reading information from memory or needing to fetch data from disk.</a:t>
            </a:r>
          </a:p>
        </p:txBody>
      </p:sp>
      <p:sp>
        <p:nvSpPr>
          <p:cNvPr id="3" name="Title 2">
            <a:extLst>
              <a:ext uri="{FF2B5EF4-FFF2-40B4-BE49-F238E27FC236}">
                <a16:creationId xmlns:a16="http://schemas.microsoft.com/office/drawing/2014/main" id="{7B537262-4392-4587-B7C5-C009CA9B31F3}"/>
              </a:ext>
            </a:extLst>
          </p:cNvPr>
          <p:cNvSpPr>
            <a:spLocks noGrp="1"/>
          </p:cNvSpPr>
          <p:nvPr>
            <p:ph type="title"/>
          </p:nvPr>
        </p:nvSpPr>
        <p:spPr/>
        <p:txBody>
          <a:bodyPr/>
          <a:lstStyle/>
          <a:p>
            <a:r>
              <a:rPr lang="en-US" dirty="0"/>
              <a:t>Understanding And Reading the PostgreSQL System Catalog (Meta Data)</a:t>
            </a:r>
            <a:endParaRPr lang="en-IN" dirty="0"/>
          </a:p>
        </p:txBody>
      </p:sp>
    </p:spTree>
    <p:extLst>
      <p:ext uri="{BB962C8B-B14F-4D97-AF65-F5344CB8AC3E}">
        <p14:creationId xmlns:p14="http://schemas.microsoft.com/office/powerpoint/2010/main" val="2669219509"/>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48C85A-1899-4AFA-AE69-A110616A04BC}"/>
              </a:ext>
            </a:extLst>
          </p:cNvPr>
          <p:cNvSpPr>
            <a:spLocks noGrp="1"/>
          </p:cNvSpPr>
          <p:nvPr>
            <p:ph sz="quarter" idx="12"/>
          </p:nvPr>
        </p:nvSpPr>
        <p:spPr/>
        <p:txBody>
          <a:bodyPr/>
          <a:lstStyle/>
          <a:p>
            <a:r>
              <a:rPr lang="en-US" dirty="0"/>
              <a:t>PostgreSQL stores the metadata information about the database and cluster in the schema ‘</a:t>
            </a:r>
            <a:r>
              <a:rPr lang="en-US" dirty="0" err="1"/>
              <a:t>pg_catalog</a:t>
            </a:r>
            <a:r>
              <a:rPr lang="en-US" dirty="0"/>
              <a:t>’.</a:t>
            </a:r>
          </a:p>
          <a:p>
            <a:r>
              <a:rPr lang="en-US" dirty="0"/>
              <a:t>This information is partially used by PostgreSQL itself to keep track of things itself, but it also is presented so external people / processes can understand the inside of the databases too.</a:t>
            </a:r>
          </a:p>
        </p:txBody>
      </p:sp>
      <p:sp>
        <p:nvSpPr>
          <p:cNvPr id="3" name="Title 2">
            <a:extLst>
              <a:ext uri="{FF2B5EF4-FFF2-40B4-BE49-F238E27FC236}">
                <a16:creationId xmlns:a16="http://schemas.microsoft.com/office/drawing/2014/main" id="{7B537262-4392-4587-B7C5-C009CA9B31F3}"/>
              </a:ext>
            </a:extLst>
          </p:cNvPr>
          <p:cNvSpPr>
            <a:spLocks noGrp="1"/>
          </p:cNvSpPr>
          <p:nvPr>
            <p:ph type="title"/>
          </p:nvPr>
        </p:nvSpPr>
        <p:spPr/>
        <p:txBody>
          <a:bodyPr/>
          <a:lstStyle/>
          <a:p>
            <a:r>
              <a:rPr lang="en-US" dirty="0"/>
              <a:t>Understanding And Reading the PostgreSQL System Catalog (Meta Data)</a:t>
            </a:r>
            <a:endParaRPr lang="en-IN" dirty="0"/>
          </a:p>
        </p:txBody>
      </p:sp>
    </p:spTree>
    <p:extLst>
      <p:ext uri="{BB962C8B-B14F-4D97-AF65-F5344CB8AC3E}">
        <p14:creationId xmlns:p14="http://schemas.microsoft.com/office/powerpoint/2010/main" val="2784390172"/>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48C85A-1899-4AFA-AE69-A110616A04BC}"/>
              </a:ext>
            </a:extLst>
          </p:cNvPr>
          <p:cNvSpPr>
            <a:spLocks noGrp="1"/>
          </p:cNvSpPr>
          <p:nvPr>
            <p:ph sz="quarter" idx="12"/>
          </p:nvPr>
        </p:nvSpPr>
        <p:spPr/>
        <p:txBody>
          <a:bodyPr/>
          <a:lstStyle/>
          <a:p>
            <a:r>
              <a:rPr lang="en-US" dirty="0"/>
              <a:t>Database Information</a:t>
            </a:r>
          </a:p>
          <a:p>
            <a:r>
              <a:rPr lang="en-US" dirty="0"/>
              <a:t>General database info is stored in </a:t>
            </a:r>
            <a:r>
              <a:rPr lang="en-US" dirty="0" err="1"/>
              <a:t>pg_database</a:t>
            </a:r>
            <a:r>
              <a:rPr lang="en-US" dirty="0"/>
              <a:t> and statistics are stored in </a:t>
            </a:r>
            <a:r>
              <a:rPr lang="en-US" dirty="0" err="1"/>
              <a:t>pg_stat_database</a:t>
            </a:r>
            <a:r>
              <a:rPr lang="en-US" dirty="0"/>
              <a:t>.</a:t>
            </a:r>
          </a:p>
          <a:p>
            <a:r>
              <a:rPr lang="en-US" dirty="0"/>
              <a:t>SELECT </a:t>
            </a:r>
            <a:r>
              <a:rPr lang="en-US" dirty="0" err="1"/>
              <a:t>oid</a:t>
            </a:r>
            <a:r>
              <a:rPr lang="en-US" dirty="0"/>
              <a:t>,* FROM </a:t>
            </a:r>
            <a:r>
              <a:rPr lang="en-US" dirty="0" err="1"/>
              <a:t>pg_database</a:t>
            </a:r>
            <a:r>
              <a:rPr lang="en-US" dirty="0"/>
              <a:t> WHERE </a:t>
            </a:r>
            <a:r>
              <a:rPr lang="en-US" dirty="0" err="1"/>
              <a:t>datname</a:t>
            </a:r>
            <a:r>
              <a:rPr lang="en-US" dirty="0"/>
              <a:t> = '</a:t>
            </a:r>
            <a:r>
              <a:rPr lang="en-US" dirty="0" err="1"/>
              <a:t>accountdb</a:t>
            </a:r>
            <a:r>
              <a:rPr lang="en-US" dirty="0"/>
              <a:t>’;</a:t>
            </a:r>
          </a:p>
          <a:p>
            <a:r>
              <a:rPr lang="en-US" dirty="0"/>
              <a:t>SELECT * FROM </a:t>
            </a:r>
            <a:r>
              <a:rPr lang="en-US" dirty="0" err="1"/>
              <a:t>pg_stat_database</a:t>
            </a:r>
            <a:r>
              <a:rPr lang="en-US" dirty="0"/>
              <a:t> WHERE </a:t>
            </a:r>
            <a:r>
              <a:rPr lang="en-US" dirty="0" err="1"/>
              <a:t>datname</a:t>
            </a:r>
            <a:r>
              <a:rPr lang="en-US" dirty="0"/>
              <a:t> = ‘</a:t>
            </a:r>
            <a:r>
              <a:rPr lang="en-US" dirty="0" err="1"/>
              <a:t>accountdb</a:t>
            </a:r>
            <a:r>
              <a:rPr lang="en-US" dirty="0"/>
              <a:t>';</a:t>
            </a:r>
          </a:p>
          <a:p>
            <a:endParaRPr lang="en-US" dirty="0"/>
          </a:p>
        </p:txBody>
      </p:sp>
      <p:sp>
        <p:nvSpPr>
          <p:cNvPr id="3" name="Title 2">
            <a:extLst>
              <a:ext uri="{FF2B5EF4-FFF2-40B4-BE49-F238E27FC236}">
                <a16:creationId xmlns:a16="http://schemas.microsoft.com/office/drawing/2014/main" id="{7B537262-4392-4587-B7C5-C009CA9B31F3}"/>
              </a:ext>
            </a:extLst>
          </p:cNvPr>
          <p:cNvSpPr>
            <a:spLocks noGrp="1"/>
          </p:cNvSpPr>
          <p:nvPr>
            <p:ph type="title"/>
          </p:nvPr>
        </p:nvSpPr>
        <p:spPr/>
        <p:txBody>
          <a:bodyPr/>
          <a:lstStyle/>
          <a:p>
            <a:r>
              <a:rPr lang="en-US" dirty="0"/>
              <a:t>Understanding And Reading the PostgreSQL System Catalog (Meta Data)</a:t>
            </a:r>
            <a:endParaRPr lang="en-IN" dirty="0"/>
          </a:p>
        </p:txBody>
      </p:sp>
    </p:spTree>
    <p:extLst>
      <p:ext uri="{BB962C8B-B14F-4D97-AF65-F5344CB8AC3E}">
        <p14:creationId xmlns:p14="http://schemas.microsoft.com/office/powerpoint/2010/main" val="4086794433"/>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48C85A-1899-4AFA-AE69-A110616A04BC}"/>
              </a:ext>
            </a:extLst>
          </p:cNvPr>
          <p:cNvSpPr>
            <a:spLocks noGrp="1"/>
          </p:cNvSpPr>
          <p:nvPr>
            <p:ph sz="quarter" idx="12"/>
          </p:nvPr>
        </p:nvSpPr>
        <p:spPr/>
        <p:txBody>
          <a:bodyPr/>
          <a:lstStyle/>
          <a:p>
            <a:r>
              <a:rPr lang="en-US" dirty="0"/>
              <a:t>Database Activity and Locks</a:t>
            </a:r>
          </a:p>
          <a:p>
            <a:r>
              <a:rPr lang="en-US" dirty="0"/>
              <a:t>There are two views that show current user activity, </a:t>
            </a:r>
            <a:r>
              <a:rPr lang="en-US" dirty="0" err="1"/>
              <a:t>pg_stat_activity</a:t>
            </a:r>
            <a:r>
              <a:rPr lang="en-US" dirty="0"/>
              <a:t> and </a:t>
            </a:r>
            <a:r>
              <a:rPr lang="en-US" dirty="0" err="1"/>
              <a:t>pg_locks</a:t>
            </a:r>
            <a:r>
              <a:rPr lang="en-US" dirty="0"/>
              <a:t>. </a:t>
            </a:r>
          </a:p>
          <a:p>
            <a:r>
              <a:rPr lang="en-US" dirty="0"/>
              <a:t>When queried, these show information about current connections to the databases, and what kind of locks they have on what relations.</a:t>
            </a:r>
          </a:p>
          <a:p>
            <a:r>
              <a:rPr lang="en-US" dirty="0"/>
              <a:t>SELECT * FROM </a:t>
            </a:r>
            <a:r>
              <a:rPr lang="en-US" dirty="0" err="1"/>
              <a:t>pg_stat_activity</a:t>
            </a:r>
            <a:r>
              <a:rPr lang="en-US" dirty="0"/>
              <a:t>; </a:t>
            </a:r>
          </a:p>
          <a:p>
            <a:r>
              <a:rPr lang="en-US" dirty="0"/>
              <a:t>SELECT * FROM </a:t>
            </a:r>
            <a:r>
              <a:rPr lang="en-US" dirty="0" err="1"/>
              <a:t>pg_locks</a:t>
            </a:r>
            <a:r>
              <a:rPr lang="en-US" dirty="0"/>
              <a:t>;</a:t>
            </a:r>
          </a:p>
          <a:p>
            <a:endParaRPr lang="en-US" dirty="0"/>
          </a:p>
        </p:txBody>
      </p:sp>
      <p:sp>
        <p:nvSpPr>
          <p:cNvPr id="3" name="Title 2">
            <a:extLst>
              <a:ext uri="{FF2B5EF4-FFF2-40B4-BE49-F238E27FC236}">
                <a16:creationId xmlns:a16="http://schemas.microsoft.com/office/drawing/2014/main" id="{7B537262-4392-4587-B7C5-C009CA9B31F3}"/>
              </a:ext>
            </a:extLst>
          </p:cNvPr>
          <p:cNvSpPr>
            <a:spLocks noGrp="1"/>
          </p:cNvSpPr>
          <p:nvPr>
            <p:ph type="title"/>
          </p:nvPr>
        </p:nvSpPr>
        <p:spPr/>
        <p:txBody>
          <a:bodyPr/>
          <a:lstStyle/>
          <a:p>
            <a:r>
              <a:rPr lang="en-US" dirty="0"/>
              <a:t>Understanding And Reading the PostgreSQL System Catalog (Meta Data)</a:t>
            </a:r>
            <a:endParaRPr lang="en-IN" dirty="0"/>
          </a:p>
        </p:txBody>
      </p:sp>
    </p:spTree>
    <p:extLst>
      <p:ext uri="{BB962C8B-B14F-4D97-AF65-F5344CB8AC3E}">
        <p14:creationId xmlns:p14="http://schemas.microsoft.com/office/powerpoint/2010/main" val="1700368231"/>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48C85A-1899-4AFA-AE69-A110616A04BC}"/>
              </a:ext>
            </a:extLst>
          </p:cNvPr>
          <p:cNvSpPr>
            <a:spLocks noGrp="1"/>
          </p:cNvSpPr>
          <p:nvPr>
            <p:ph sz="quarter" idx="12"/>
          </p:nvPr>
        </p:nvSpPr>
        <p:spPr/>
        <p:txBody>
          <a:bodyPr/>
          <a:lstStyle/>
          <a:p>
            <a:r>
              <a:rPr lang="en-US" dirty="0"/>
              <a:t>SELECT * FROM </a:t>
            </a:r>
            <a:r>
              <a:rPr lang="en-US" dirty="0" err="1"/>
              <a:t>pg_stat_user_tables</a:t>
            </a:r>
            <a:r>
              <a:rPr lang="en-US" dirty="0"/>
              <a:t> WHERE </a:t>
            </a:r>
            <a:r>
              <a:rPr lang="en-US" dirty="0" err="1"/>
              <a:t>schemaname</a:t>
            </a:r>
            <a:r>
              <a:rPr lang="en-US" dirty="0"/>
              <a:t> = 'public' AND </a:t>
            </a:r>
            <a:r>
              <a:rPr lang="en-US" dirty="0" err="1"/>
              <a:t>relname</a:t>
            </a:r>
            <a:r>
              <a:rPr lang="en-US" dirty="0"/>
              <a:t> = 'history’;</a:t>
            </a:r>
          </a:p>
          <a:p>
            <a:endParaRPr lang="en-US" dirty="0"/>
          </a:p>
          <a:p>
            <a:endParaRPr lang="en-US" dirty="0"/>
          </a:p>
        </p:txBody>
      </p:sp>
      <p:sp>
        <p:nvSpPr>
          <p:cNvPr id="3" name="Title 2">
            <a:extLst>
              <a:ext uri="{FF2B5EF4-FFF2-40B4-BE49-F238E27FC236}">
                <a16:creationId xmlns:a16="http://schemas.microsoft.com/office/drawing/2014/main" id="{7B537262-4392-4587-B7C5-C009CA9B31F3}"/>
              </a:ext>
            </a:extLst>
          </p:cNvPr>
          <p:cNvSpPr>
            <a:spLocks noGrp="1"/>
          </p:cNvSpPr>
          <p:nvPr>
            <p:ph type="title"/>
          </p:nvPr>
        </p:nvSpPr>
        <p:spPr/>
        <p:txBody>
          <a:bodyPr/>
          <a:lstStyle/>
          <a:p>
            <a:r>
              <a:rPr lang="en-US" dirty="0"/>
              <a:t>Understanding And Reading the PostgreSQL System Catalog (Meta Data)</a:t>
            </a:r>
            <a:endParaRPr lang="en-IN" dirty="0"/>
          </a:p>
        </p:txBody>
      </p:sp>
    </p:spTree>
    <p:extLst>
      <p:ext uri="{BB962C8B-B14F-4D97-AF65-F5344CB8AC3E}">
        <p14:creationId xmlns:p14="http://schemas.microsoft.com/office/powerpoint/2010/main" val="98121121"/>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48C85A-1899-4AFA-AE69-A110616A04BC}"/>
              </a:ext>
            </a:extLst>
          </p:cNvPr>
          <p:cNvSpPr>
            <a:spLocks noGrp="1"/>
          </p:cNvSpPr>
          <p:nvPr>
            <p:ph sz="quarter" idx="12"/>
          </p:nvPr>
        </p:nvSpPr>
        <p:spPr/>
        <p:txBody>
          <a:bodyPr>
            <a:normAutofit fontScale="92500" lnSpcReduction="10000"/>
          </a:bodyPr>
          <a:lstStyle/>
          <a:p>
            <a:r>
              <a:rPr lang="en-US" dirty="0"/>
              <a:t>Table Vacuum Activity</a:t>
            </a:r>
          </a:p>
          <a:p>
            <a:r>
              <a:rPr lang="en-US" dirty="0"/>
              <a:t>Table maintenance is done through either VACUUM or AUTOVACUUM, and statistics are gathered through ANALYZE or AUTOANALYZE. </a:t>
            </a:r>
          </a:p>
          <a:p>
            <a:r>
              <a:rPr lang="en-US" dirty="0"/>
              <a:t>The next four columns contain the dates for when each of these operations were last run: ‘</a:t>
            </a:r>
            <a:r>
              <a:rPr lang="en-US" dirty="0" err="1"/>
              <a:t>last_vacuum</a:t>
            </a:r>
            <a:r>
              <a:rPr lang="en-US" dirty="0"/>
              <a:t>’, ‘</a:t>
            </a:r>
            <a:r>
              <a:rPr lang="en-US" dirty="0" err="1"/>
              <a:t>last_autovacuum</a:t>
            </a:r>
            <a:r>
              <a:rPr lang="en-US" dirty="0"/>
              <a:t>’, ‘</a:t>
            </a:r>
            <a:r>
              <a:rPr lang="en-US" dirty="0" err="1"/>
              <a:t>last_analyze</a:t>
            </a:r>
            <a:r>
              <a:rPr lang="en-US" dirty="0"/>
              <a:t>’, ‘</a:t>
            </a:r>
            <a:r>
              <a:rPr lang="en-US" dirty="0" err="1"/>
              <a:t>last_autoanalyze</a:t>
            </a:r>
            <a:r>
              <a:rPr lang="en-US" dirty="0"/>
              <a:t>’.</a:t>
            </a:r>
          </a:p>
          <a:p>
            <a:r>
              <a:rPr lang="en-US" dirty="0"/>
              <a:t>We also have four more convenient columns that simply count how many times the previous actions occur. </a:t>
            </a:r>
          </a:p>
          <a:p>
            <a:r>
              <a:rPr lang="en-US" dirty="0"/>
              <a:t>Using these, we can see which tables get the most activity: ‘</a:t>
            </a:r>
            <a:r>
              <a:rPr lang="en-US" dirty="0" err="1"/>
              <a:t>vacuum_count</a:t>
            </a:r>
            <a:r>
              <a:rPr lang="en-US" dirty="0"/>
              <a:t>’, ‘</a:t>
            </a:r>
            <a:r>
              <a:rPr lang="en-US" dirty="0" err="1"/>
              <a:t>autovacuum_count</a:t>
            </a:r>
            <a:r>
              <a:rPr lang="en-US" dirty="0"/>
              <a:t>’, ‘</a:t>
            </a:r>
            <a:r>
              <a:rPr lang="en-US" dirty="0" err="1"/>
              <a:t>analyze_count</a:t>
            </a:r>
            <a:r>
              <a:rPr lang="en-US" dirty="0"/>
              <a:t>’, and ‘</a:t>
            </a:r>
            <a:r>
              <a:rPr lang="en-US" dirty="0" err="1"/>
              <a:t>autoanalyze_count</a:t>
            </a:r>
            <a:r>
              <a:rPr lang="en-US" dirty="0"/>
              <a:t>’.</a:t>
            </a:r>
          </a:p>
        </p:txBody>
      </p:sp>
      <p:sp>
        <p:nvSpPr>
          <p:cNvPr id="3" name="Title 2">
            <a:extLst>
              <a:ext uri="{FF2B5EF4-FFF2-40B4-BE49-F238E27FC236}">
                <a16:creationId xmlns:a16="http://schemas.microsoft.com/office/drawing/2014/main" id="{7B537262-4392-4587-B7C5-C009CA9B31F3}"/>
              </a:ext>
            </a:extLst>
          </p:cNvPr>
          <p:cNvSpPr>
            <a:spLocks noGrp="1"/>
          </p:cNvSpPr>
          <p:nvPr>
            <p:ph type="title"/>
          </p:nvPr>
        </p:nvSpPr>
        <p:spPr/>
        <p:txBody>
          <a:bodyPr/>
          <a:lstStyle/>
          <a:p>
            <a:r>
              <a:rPr lang="en-US" dirty="0"/>
              <a:t>Understanding And Reading the PostgreSQL System Catalog (Meta Data)</a:t>
            </a:r>
            <a:endParaRPr lang="en-IN" dirty="0"/>
          </a:p>
        </p:txBody>
      </p:sp>
    </p:spTree>
    <p:extLst>
      <p:ext uri="{BB962C8B-B14F-4D97-AF65-F5344CB8AC3E}">
        <p14:creationId xmlns:p14="http://schemas.microsoft.com/office/powerpoint/2010/main" val="2666549270"/>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48C85A-1899-4AFA-AE69-A110616A04BC}"/>
              </a:ext>
            </a:extLst>
          </p:cNvPr>
          <p:cNvSpPr>
            <a:spLocks noGrp="1"/>
          </p:cNvSpPr>
          <p:nvPr>
            <p:ph sz="quarter" idx="12"/>
          </p:nvPr>
        </p:nvSpPr>
        <p:spPr/>
        <p:txBody>
          <a:bodyPr>
            <a:normAutofit/>
          </a:bodyPr>
          <a:lstStyle/>
          <a:p>
            <a:r>
              <a:rPr lang="en-US" dirty="0"/>
              <a:t>SELECT * FROM </a:t>
            </a:r>
            <a:r>
              <a:rPr lang="en-US" dirty="0" err="1"/>
              <a:t>pg_statio_user_tables</a:t>
            </a:r>
            <a:r>
              <a:rPr lang="en-US" dirty="0"/>
              <a:t> WHERE </a:t>
            </a:r>
            <a:r>
              <a:rPr lang="en-US" dirty="0" err="1"/>
              <a:t>schemaname</a:t>
            </a:r>
            <a:r>
              <a:rPr lang="en-US" dirty="0"/>
              <a:t> = 'public' AND </a:t>
            </a:r>
            <a:r>
              <a:rPr lang="en-US" dirty="0" err="1"/>
              <a:t>relname</a:t>
            </a:r>
            <a:r>
              <a:rPr lang="en-US" dirty="0"/>
              <a:t> = history;</a:t>
            </a:r>
          </a:p>
          <a:p>
            <a:r>
              <a:rPr lang="en-US" dirty="0"/>
              <a:t>Index Meta data</a:t>
            </a:r>
          </a:p>
          <a:p>
            <a:r>
              <a:rPr lang="en-US" dirty="0"/>
              <a:t>SELECT * FROM </a:t>
            </a:r>
            <a:r>
              <a:rPr lang="en-US" dirty="0" err="1"/>
              <a:t>pg_stat_user_indexes</a:t>
            </a:r>
            <a:r>
              <a:rPr lang="en-US" dirty="0"/>
              <a:t> WHERE </a:t>
            </a:r>
            <a:r>
              <a:rPr lang="en-US" dirty="0" err="1"/>
              <a:t>indexrelname</a:t>
            </a:r>
            <a:r>
              <a:rPr lang="en-US" dirty="0"/>
              <a:t> = '</a:t>
            </a:r>
            <a:r>
              <a:rPr lang="en-US" dirty="0" err="1"/>
              <a:t>history_pkey</a:t>
            </a:r>
            <a:r>
              <a:rPr lang="en-US" dirty="0"/>
              <a:t>’;</a:t>
            </a:r>
          </a:p>
          <a:p>
            <a:endParaRPr lang="en-US" dirty="0"/>
          </a:p>
        </p:txBody>
      </p:sp>
      <p:sp>
        <p:nvSpPr>
          <p:cNvPr id="3" name="Title 2">
            <a:extLst>
              <a:ext uri="{FF2B5EF4-FFF2-40B4-BE49-F238E27FC236}">
                <a16:creationId xmlns:a16="http://schemas.microsoft.com/office/drawing/2014/main" id="{7B537262-4392-4587-B7C5-C009CA9B31F3}"/>
              </a:ext>
            </a:extLst>
          </p:cNvPr>
          <p:cNvSpPr>
            <a:spLocks noGrp="1"/>
          </p:cNvSpPr>
          <p:nvPr>
            <p:ph type="title"/>
          </p:nvPr>
        </p:nvSpPr>
        <p:spPr/>
        <p:txBody>
          <a:bodyPr/>
          <a:lstStyle/>
          <a:p>
            <a:r>
              <a:rPr lang="en-US" dirty="0"/>
              <a:t>Understanding And Reading the PostgreSQL System Catalog (Meta Data)</a:t>
            </a:r>
            <a:endParaRPr lang="en-IN" dirty="0"/>
          </a:p>
        </p:txBody>
      </p:sp>
    </p:spTree>
    <p:extLst>
      <p:ext uri="{BB962C8B-B14F-4D97-AF65-F5344CB8AC3E}">
        <p14:creationId xmlns:p14="http://schemas.microsoft.com/office/powerpoint/2010/main" val="1723511324"/>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E40C7E-2904-437C-9468-75D9FCAAFF2A}"/>
              </a:ext>
            </a:extLst>
          </p:cNvPr>
          <p:cNvSpPr>
            <a:spLocks noGrp="1"/>
          </p:cNvSpPr>
          <p:nvPr>
            <p:ph sz="quarter" idx="12"/>
          </p:nvPr>
        </p:nvSpPr>
        <p:spPr/>
        <p:txBody>
          <a:bodyPr>
            <a:normAutofit/>
          </a:bodyPr>
          <a:lstStyle/>
          <a:p>
            <a:r>
              <a:rPr lang="en-US" dirty="0"/>
              <a:t>1. Benefits of partitioning</a:t>
            </a:r>
          </a:p>
          <a:p>
            <a:r>
              <a:rPr lang="en-US" dirty="0"/>
              <a:t>2. When to use partitioning</a:t>
            </a:r>
          </a:p>
          <a:p>
            <a:r>
              <a:rPr lang="en-US" dirty="0"/>
              <a:t>3. How to use partitioning</a:t>
            </a:r>
          </a:p>
          <a:p>
            <a:pPr lvl="1"/>
            <a:r>
              <a:rPr lang="en-US" dirty="0"/>
              <a:t>a. List partition</a:t>
            </a:r>
          </a:p>
          <a:p>
            <a:pPr lvl="1"/>
            <a:r>
              <a:rPr lang="en-US" dirty="0"/>
              <a:t>b. Range partition</a:t>
            </a:r>
          </a:p>
          <a:p>
            <a:pPr lvl="1"/>
            <a:r>
              <a:rPr lang="en-US" dirty="0"/>
              <a:t>c. Hash partition</a:t>
            </a:r>
          </a:p>
          <a:p>
            <a:pPr lvl="1"/>
            <a:r>
              <a:rPr lang="en-US" dirty="0"/>
              <a:t>d. Multilevel partition</a:t>
            </a:r>
          </a:p>
          <a:p>
            <a:r>
              <a:rPr lang="en-US" dirty="0"/>
              <a:t>4. Limitations</a:t>
            </a:r>
            <a:endParaRPr lang="en-IN" dirty="0"/>
          </a:p>
        </p:txBody>
      </p:sp>
      <p:sp>
        <p:nvSpPr>
          <p:cNvPr id="3" name="Title 2">
            <a:extLst>
              <a:ext uri="{FF2B5EF4-FFF2-40B4-BE49-F238E27FC236}">
                <a16:creationId xmlns:a16="http://schemas.microsoft.com/office/drawing/2014/main" id="{1B060138-07BD-4422-9157-4B3242D9118B}"/>
              </a:ext>
            </a:extLst>
          </p:cNvPr>
          <p:cNvSpPr>
            <a:spLocks noGrp="1"/>
          </p:cNvSpPr>
          <p:nvPr>
            <p:ph type="title"/>
          </p:nvPr>
        </p:nvSpPr>
        <p:spPr/>
        <p:txBody>
          <a:bodyPr/>
          <a:lstStyle/>
          <a:p>
            <a:r>
              <a:rPr lang="en-US" dirty="0"/>
              <a:t>How to use table partitioning to scale PostgreSQL</a:t>
            </a:r>
            <a:endParaRPr lang="en-IN" dirty="0"/>
          </a:p>
        </p:txBody>
      </p:sp>
    </p:spTree>
    <p:extLst>
      <p:ext uri="{BB962C8B-B14F-4D97-AF65-F5344CB8AC3E}">
        <p14:creationId xmlns:p14="http://schemas.microsoft.com/office/powerpoint/2010/main" val="3113662141"/>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393734-AA6B-4CBD-864B-3CEB82A453E9}"/>
              </a:ext>
            </a:extLst>
          </p:cNvPr>
          <p:cNvSpPr>
            <a:spLocks noGrp="1"/>
          </p:cNvSpPr>
          <p:nvPr>
            <p:ph sz="quarter" idx="12"/>
          </p:nvPr>
        </p:nvSpPr>
        <p:spPr>
          <a:xfrm>
            <a:off x="457201" y="1381124"/>
            <a:ext cx="8228012" cy="4972541"/>
          </a:xfrm>
        </p:spPr>
        <p:txBody>
          <a:bodyPr>
            <a:normAutofit fontScale="85000" lnSpcReduction="10000"/>
          </a:bodyPr>
          <a:lstStyle/>
          <a:p>
            <a:r>
              <a:rPr lang="en-US" dirty="0"/>
              <a:t>With huge data being stored in databases, performance and scaling are two main factors that are affected. </a:t>
            </a:r>
          </a:p>
          <a:p>
            <a:r>
              <a:rPr lang="en-US" dirty="0"/>
              <a:t>As table size increases with data load, more data scanning, swapping pages to memory, and other table operation costs also increase. </a:t>
            </a:r>
          </a:p>
          <a:p>
            <a:r>
              <a:rPr lang="en-US" dirty="0"/>
              <a:t>Partitioning may be a good solution, as It can help divide a large table into smaller tables and thus reduce table scans and memory swap problems, which ultimately increases performance.</a:t>
            </a:r>
          </a:p>
          <a:p>
            <a:r>
              <a:rPr lang="en-US" dirty="0"/>
              <a:t>Partitioning helps to scale PostgreSQL by splitting large logical tables into smaller physical tables that can be stored on different storage media based on uses. </a:t>
            </a:r>
          </a:p>
          <a:p>
            <a:r>
              <a:rPr lang="en-US" dirty="0"/>
              <a:t>Users can take better advantage of scaling by using declarative partitioning along with foreign tables using </a:t>
            </a:r>
            <a:r>
              <a:rPr lang="en-US" dirty="0" err="1"/>
              <a:t>postgres_fdw</a:t>
            </a:r>
            <a:r>
              <a:rPr lang="en-US" dirty="0"/>
              <a:t>. </a:t>
            </a:r>
            <a:endParaRPr lang="en-IN" dirty="0"/>
          </a:p>
        </p:txBody>
      </p:sp>
      <p:sp>
        <p:nvSpPr>
          <p:cNvPr id="3" name="Title 2">
            <a:extLst>
              <a:ext uri="{FF2B5EF4-FFF2-40B4-BE49-F238E27FC236}">
                <a16:creationId xmlns:a16="http://schemas.microsoft.com/office/drawing/2014/main" id="{5D6A7D95-FFC6-42C8-BE4D-E057D0966BCE}"/>
              </a:ext>
            </a:extLst>
          </p:cNvPr>
          <p:cNvSpPr>
            <a:spLocks noGrp="1"/>
          </p:cNvSpPr>
          <p:nvPr>
            <p:ph type="title"/>
          </p:nvPr>
        </p:nvSpPr>
        <p:spPr/>
        <p:txBody>
          <a:bodyPr/>
          <a:lstStyle/>
          <a:p>
            <a:r>
              <a:rPr lang="en-IN" dirty="0"/>
              <a:t>Partitioning</a:t>
            </a:r>
          </a:p>
        </p:txBody>
      </p:sp>
    </p:spTree>
    <p:extLst>
      <p:ext uri="{BB962C8B-B14F-4D97-AF65-F5344CB8AC3E}">
        <p14:creationId xmlns:p14="http://schemas.microsoft.com/office/powerpoint/2010/main" val="2909486970"/>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393734-AA6B-4CBD-864B-3CEB82A453E9}"/>
              </a:ext>
            </a:extLst>
          </p:cNvPr>
          <p:cNvSpPr>
            <a:spLocks noGrp="1"/>
          </p:cNvSpPr>
          <p:nvPr>
            <p:ph sz="quarter" idx="12"/>
          </p:nvPr>
        </p:nvSpPr>
        <p:spPr>
          <a:xfrm>
            <a:off x="457201" y="1381124"/>
            <a:ext cx="8228012" cy="5142224"/>
          </a:xfrm>
        </p:spPr>
        <p:txBody>
          <a:bodyPr>
            <a:normAutofit fontScale="85000" lnSpcReduction="20000"/>
          </a:bodyPr>
          <a:lstStyle/>
          <a:p>
            <a:r>
              <a:rPr lang="en-US" dirty="0"/>
              <a:t>PostgreSQL declarative partitioning is highly flexible and provides good control to users. </a:t>
            </a:r>
          </a:p>
          <a:p>
            <a:r>
              <a:rPr lang="en-US" dirty="0"/>
              <a:t>Users can create any level of partitioning based on need and can modify, use constraints, triggers, and indexes on each partition separately as well as on all partitions together.</a:t>
            </a:r>
          </a:p>
          <a:p>
            <a:r>
              <a:rPr lang="en-US" dirty="0"/>
              <a:t>Query performance can be increased significantly compared to selecting from a single large table.</a:t>
            </a:r>
          </a:p>
          <a:p>
            <a:r>
              <a:rPr lang="en-US" dirty="0"/>
              <a:t>Partition-wise-join and partition-wise-aggregate features increase complex query computation performance as well.</a:t>
            </a:r>
          </a:p>
          <a:p>
            <a:r>
              <a:rPr lang="en-US" dirty="0"/>
              <a:t>Bulk loads and data deletion can be much faster, as based on user requirements these operations can be performed on individual partitions.</a:t>
            </a:r>
          </a:p>
          <a:p>
            <a:r>
              <a:rPr lang="en-US" dirty="0"/>
              <a:t>Each partition can contain data based on its frequency of use and so can be stored on media that may be cheaper or slower for low-use data.</a:t>
            </a:r>
          </a:p>
          <a:p>
            <a:endParaRPr lang="en-IN" dirty="0"/>
          </a:p>
        </p:txBody>
      </p:sp>
      <p:sp>
        <p:nvSpPr>
          <p:cNvPr id="3" name="Title 2">
            <a:extLst>
              <a:ext uri="{FF2B5EF4-FFF2-40B4-BE49-F238E27FC236}">
                <a16:creationId xmlns:a16="http://schemas.microsoft.com/office/drawing/2014/main" id="{5D6A7D95-FFC6-42C8-BE4D-E057D0966BCE}"/>
              </a:ext>
            </a:extLst>
          </p:cNvPr>
          <p:cNvSpPr>
            <a:spLocks noGrp="1"/>
          </p:cNvSpPr>
          <p:nvPr>
            <p:ph type="title"/>
          </p:nvPr>
        </p:nvSpPr>
        <p:spPr/>
        <p:txBody>
          <a:bodyPr/>
          <a:lstStyle/>
          <a:p>
            <a:r>
              <a:rPr lang="en-IN" dirty="0"/>
              <a:t>Benefits of Partitioning</a:t>
            </a:r>
          </a:p>
        </p:txBody>
      </p:sp>
    </p:spTree>
    <p:extLst>
      <p:ext uri="{BB962C8B-B14F-4D97-AF65-F5344CB8AC3E}">
        <p14:creationId xmlns:p14="http://schemas.microsoft.com/office/powerpoint/2010/main" val="2306140995"/>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196B379-2FB8-4E2F-9B5D-E1CF786E6E66}"/>
              </a:ext>
            </a:extLst>
          </p:cNvPr>
          <p:cNvSpPr>
            <a:spLocks noGrp="1"/>
          </p:cNvSpPr>
          <p:nvPr>
            <p:ph sz="quarter" idx="12"/>
          </p:nvPr>
        </p:nvSpPr>
        <p:spPr>
          <a:xfrm>
            <a:off x="457201" y="1381124"/>
            <a:ext cx="8228012" cy="5179931"/>
          </a:xfrm>
        </p:spPr>
        <p:txBody>
          <a:bodyPr>
            <a:normAutofit lnSpcReduction="10000"/>
          </a:bodyPr>
          <a:lstStyle/>
          <a:p>
            <a:r>
              <a:rPr lang="en-US" dirty="0"/>
              <a:t>Most benefits of partitioning can be enjoyed when a single table is not able to provide them. </a:t>
            </a:r>
          </a:p>
          <a:p>
            <a:r>
              <a:rPr lang="en-US" dirty="0"/>
              <a:t>So we can say that if a lot of data is going to be written on a single table at some point, users need partitioning. </a:t>
            </a:r>
          </a:p>
          <a:p>
            <a:r>
              <a:rPr lang="en-US" dirty="0"/>
              <a:t>Apart from data, there may be other factors users should consider, like update frequency of the data, use of data over a time period, how small a range data can be divided, etc. </a:t>
            </a:r>
          </a:p>
          <a:p>
            <a:r>
              <a:rPr lang="en-US" dirty="0"/>
              <a:t>With good planning and taking all factors into consideration, table partitioning can give a great performance boost and scale your PostgreSQL to larger datasets.</a:t>
            </a:r>
            <a:endParaRPr lang="en-IN" dirty="0"/>
          </a:p>
        </p:txBody>
      </p:sp>
      <p:sp>
        <p:nvSpPr>
          <p:cNvPr id="3" name="Title 2">
            <a:extLst>
              <a:ext uri="{FF2B5EF4-FFF2-40B4-BE49-F238E27FC236}">
                <a16:creationId xmlns:a16="http://schemas.microsoft.com/office/drawing/2014/main" id="{C8E7712D-FF2D-426A-9C4B-6C3D36821DA6}"/>
              </a:ext>
            </a:extLst>
          </p:cNvPr>
          <p:cNvSpPr>
            <a:spLocks noGrp="1"/>
          </p:cNvSpPr>
          <p:nvPr>
            <p:ph type="title"/>
          </p:nvPr>
        </p:nvSpPr>
        <p:spPr/>
        <p:txBody>
          <a:bodyPr/>
          <a:lstStyle/>
          <a:p>
            <a:r>
              <a:rPr lang="en-IN" dirty="0"/>
              <a:t>When to use partitioning </a:t>
            </a:r>
          </a:p>
        </p:txBody>
      </p:sp>
    </p:spTree>
    <p:extLst>
      <p:ext uri="{BB962C8B-B14F-4D97-AF65-F5344CB8AC3E}">
        <p14:creationId xmlns:p14="http://schemas.microsoft.com/office/powerpoint/2010/main" val="3026574969"/>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196B379-2FB8-4E2F-9B5D-E1CF786E6E66}"/>
              </a:ext>
            </a:extLst>
          </p:cNvPr>
          <p:cNvSpPr>
            <a:spLocks noGrp="1"/>
          </p:cNvSpPr>
          <p:nvPr>
            <p:ph sz="quarter" idx="12"/>
          </p:nvPr>
        </p:nvSpPr>
        <p:spPr>
          <a:xfrm>
            <a:off x="457201" y="1381124"/>
            <a:ext cx="8228012" cy="5179931"/>
          </a:xfrm>
        </p:spPr>
        <p:txBody>
          <a:bodyPr>
            <a:normAutofit/>
          </a:bodyPr>
          <a:lstStyle/>
          <a:p>
            <a:r>
              <a:rPr lang="en-US" dirty="0"/>
              <a:t>As of PostgreSQL12 release List, Range, Hash and combinations of these partition methods at different levels are supported. </a:t>
            </a:r>
          </a:p>
        </p:txBody>
      </p:sp>
      <p:sp>
        <p:nvSpPr>
          <p:cNvPr id="3" name="Title 2">
            <a:extLst>
              <a:ext uri="{FF2B5EF4-FFF2-40B4-BE49-F238E27FC236}">
                <a16:creationId xmlns:a16="http://schemas.microsoft.com/office/drawing/2014/main" id="{C8E7712D-FF2D-426A-9C4B-6C3D36821DA6}"/>
              </a:ext>
            </a:extLst>
          </p:cNvPr>
          <p:cNvSpPr>
            <a:spLocks noGrp="1"/>
          </p:cNvSpPr>
          <p:nvPr>
            <p:ph type="title"/>
          </p:nvPr>
        </p:nvSpPr>
        <p:spPr/>
        <p:txBody>
          <a:bodyPr/>
          <a:lstStyle/>
          <a:p>
            <a:r>
              <a:rPr lang="en-IN" dirty="0"/>
              <a:t>How to use partitioning </a:t>
            </a:r>
          </a:p>
        </p:txBody>
      </p:sp>
    </p:spTree>
    <p:extLst>
      <p:ext uri="{BB962C8B-B14F-4D97-AF65-F5344CB8AC3E}">
        <p14:creationId xmlns:p14="http://schemas.microsoft.com/office/powerpoint/2010/main" val="950712226"/>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E12108-C482-40B9-B55A-34D631E505A1}"/>
              </a:ext>
            </a:extLst>
          </p:cNvPr>
          <p:cNvSpPr>
            <a:spLocks noGrp="1"/>
          </p:cNvSpPr>
          <p:nvPr>
            <p:ph sz="quarter" idx="12"/>
          </p:nvPr>
        </p:nvSpPr>
        <p:spPr/>
        <p:txBody>
          <a:bodyPr>
            <a:normAutofit fontScale="92500" lnSpcReduction="10000"/>
          </a:bodyPr>
          <a:lstStyle/>
          <a:p>
            <a:r>
              <a:rPr lang="en-US" dirty="0"/>
              <a:t>A list partition is created with predefined values to hold in a partitioned table. </a:t>
            </a:r>
          </a:p>
          <a:p>
            <a:r>
              <a:rPr lang="en-US" dirty="0"/>
              <a:t>A default partition (optional) holds all those values that are not part of any specified partition.</a:t>
            </a:r>
          </a:p>
          <a:p>
            <a:r>
              <a:rPr lang="en-US" dirty="0"/>
              <a:t> CREATE TABLE customers (id INTEGER, status TEXT, </a:t>
            </a:r>
            <a:r>
              <a:rPr lang="en-US" dirty="0" err="1"/>
              <a:t>arr</a:t>
            </a:r>
            <a:r>
              <a:rPr lang="en-US" dirty="0"/>
              <a:t> NUMERIC) PARTITION BY LIST(status);</a:t>
            </a:r>
          </a:p>
          <a:p>
            <a:r>
              <a:rPr lang="en-US" dirty="0"/>
              <a:t>CREATE TABLE </a:t>
            </a:r>
            <a:r>
              <a:rPr lang="en-US" dirty="0" err="1"/>
              <a:t>cust_active</a:t>
            </a:r>
            <a:r>
              <a:rPr lang="en-US" dirty="0"/>
              <a:t> PARTITION OF customers FOR VALUES IN ('ACTIVE’);</a:t>
            </a:r>
          </a:p>
          <a:p>
            <a:r>
              <a:rPr lang="en-US" dirty="0"/>
              <a:t>CREATE TABLE </a:t>
            </a:r>
            <a:r>
              <a:rPr lang="en-US" dirty="0" err="1"/>
              <a:t>cust_archived</a:t>
            </a:r>
            <a:r>
              <a:rPr lang="en-US" dirty="0"/>
              <a:t> PARTITION OF customers FOR VALUES IN ('EXPIRED’); </a:t>
            </a:r>
          </a:p>
          <a:p>
            <a:r>
              <a:rPr lang="en-US" dirty="0"/>
              <a:t>CREATE TABLE </a:t>
            </a:r>
            <a:r>
              <a:rPr lang="en-US" dirty="0" err="1"/>
              <a:t>cust_others</a:t>
            </a:r>
            <a:r>
              <a:rPr lang="en-US" dirty="0"/>
              <a:t> PARTITION OF customers DEFAULT;</a:t>
            </a:r>
          </a:p>
          <a:p>
            <a:endParaRPr lang="en-US" dirty="0"/>
          </a:p>
          <a:p>
            <a:endParaRPr lang="en-IN" dirty="0"/>
          </a:p>
        </p:txBody>
      </p:sp>
      <p:sp>
        <p:nvSpPr>
          <p:cNvPr id="3" name="Title 2">
            <a:extLst>
              <a:ext uri="{FF2B5EF4-FFF2-40B4-BE49-F238E27FC236}">
                <a16:creationId xmlns:a16="http://schemas.microsoft.com/office/drawing/2014/main" id="{68A1061D-4270-4540-A894-FECAA61013DF}"/>
              </a:ext>
            </a:extLst>
          </p:cNvPr>
          <p:cNvSpPr>
            <a:spLocks noGrp="1"/>
          </p:cNvSpPr>
          <p:nvPr>
            <p:ph type="title"/>
          </p:nvPr>
        </p:nvSpPr>
        <p:spPr/>
        <p:txBody>
          <a:bodyPr/>
          <a:lstStyle/>
          <a:p>
            <a:r>
              <a:rPr lang="en-IN" dirty="0"/>
              <a:t>LIST PARTITION </a:t>
            </a:r>
          </a:p>
        </p:txBody>
      </p:sp>
    </p:spTree>
    <p:extLst>
      <p:ext uri="{BB962C8B-B14F-4D97-AF65-F5344CB8AC3E}">
        <p14:creationId xmlns:p14="http://schemas.microsoft.com/office/powerpoint/2010/main" val="2716067755"/>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D47908-B767-49CC-8488-14FC9F2229EB}"/>
              </a:ext>
            </a:extLst>
          </p:cNvPr>
          <p:cNvSpPr>
            <a:spLocks noGrp="1"/>
          </p:cNvSpPr>
          <p:nvPr>
            <p:ph sz="quarter" idx="12"/>
          </p:nvPr>
        </p:nvSpPr>
        <p:spPr/>
        <p:txBody>
          <a:bodyPr/>
          <a:lstStyle/>
          <a:p>
            <a:r>
              <a:rPr lang="en-US" dirty="0"/>
              <a:t>A range partition is created to hold values within a range provided on the partition key. </a:t>
            </a:r>
          </a:p>
          <a:p>
            <a:r>
              <a:rPr lang="en-US" dirty="0"/>
              <a:t>Both minimum and maximum values of the range need to be specified, where minimum value is inclusive and maximum value is exclusive.</a:t>
            </a:r>
          </a:p>
          <a:p>
            <a:r>
              <a:rPr lang="en-US" dirty="0"/>
              <a:t>CREATE TABLE customers (id INTEGER, status TEXT, </a:t>
            </a:r>
            <a:r>
              <a:rPr lang="en-US" dirty="0" err="1"/>
              <a:t>arr</a:t>
            </a:r>
            <a:r>
              <a:rPr lang="en-US" dirty="0"/>
              <a:t> NUMERIC) PARTITION BY RANGE(</a:t>
            </a:r>
            <a:r>
              <a:rPr lang="en-US" dirty="0" err="1"/>
              <a:t>arr</a:t>
            </a:r>
            <a:r>
              <a:rPr lang="en-US" dirty="0"/>
              <a:t>);</a:t>
            </a:r>
          </a:p>
          <a:p>
            <a:r>
              <a:rPr lang="en-US" dirty="0"/>
              <a:t> CREATE TABLE </a:t>
            </a:r>
            <a:r>
              <a:rPr lang="en-US" dirty="0" err="1"/>
              <a:t>cust_arr_small</a:t>
            </a:r>
            <a:r>
              <a:rPr lang="en-US" dirty="0"/>
              <a:t> PARTITION OF customers FOR VALUES FROM (MINVALUE) TO (25);</a:t>
            </a:r>
            <a:endParaRPr lang="en-IN" dirty="0"/>
          </a:p>
        </p:txBody>
      </p:sp>
      <p:sp>
        <p:nvSpPr>
          <p:cNvPr id="3" name="Title 2">
            <a:extLst>
              <a:ext uri="{FF2B5EF4-FFF2-40B4-BE49-F238E27FC236}">
                <a16:creationId xmlns:a16="http://schemas.microsoft.com/office/drawing/2014/main" id="{4E4E6AD7-6722-4993-9AE2-5A512CF67A38}"/>
              </a:ext>
            </a:extLst>
          </p:cNvPr>
          <p:cNvSpPr>
            <a:spLocks noGrp="1"/>
          </p:cNvSpPr>
          <p:nvPr>
            <p:ph type="title"/>
          </p:nvPr>
        </p:nvSpPr>
        <p:spPr/>
        <p:txBody>
          <a:bodyPr/>
          <a:lstStyle/>
          <a:p>
            <a:r>
              <a:rPr lang="en-IN" dirty="0"/>
              <a:t>RANGE PARTITION </a:t>
            </a:r>
          </a:p>
        </p:txBody>
      </p:sp>
    </p:spTree>
    <p:extLst>
      <p:ext uri="{BB962C8B-B14F-4D97-AF65-F5344CB8AC3E}">
        <p14:creationId xmlns:p14="http://schemas.microsoft.com/office/powerpoint/2010/main" val="3415416400"/>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D47908-B767-49CC-8488-14FC9F2229EB}"/>
              </a:ext>
            </a:extLst>
          </p:cNvPr>
          <p:cNvSpPr>
            <a:spLocks noGrp="1"/>
          </p:cNvSpPr>
          <p:nvPr>
            <p:ph sz="quarter" idx="12"/>
          </p:nvPr>
        </p:nvSpPr>
        <p:spPr/>
        <p:txBody>
          <a:bodyPr/>
          <a:lstStyle/>
          <a:p>
            <a:r>
              <a:rPr lang="en-US" dirty="0"/>
              <a:t>CREATE TABLE </a:t>
            </a:r>
            <a:r>
              <a:rPr lang="en-US" dirty="0" err="1"/>
              <a:t>cust_arr_medium</a:t>
            </a:r>
            <a:r>
              <a:rPr lang="en-US" dirty="0"/>
              <a:t> PARTITION OF customers FOR VALUES FROM (25) TO (75);</a:t>
            </a:r>
          </a:p>
          <a:p>
            <a:r>
              <a:rPr lang="en-US" dirty="0"/>
              <a:t>CREATE TABLE </a:t>
            </a:r>
            <a:r>
              <a:rPr lang="en-US" dirty="0" err="1"/>
              <a:t>cust_arr_large</a:t>
            </a:r>
            <a:r>
              <a:rPr lang="en-US" dirty="0"/>
              <a:t> PARTITION OF customers FOR VALUES FROM (75) TO (MAXVALUE);</a:t>
            </a:r>
          </a:p>
          <a:p>
            <a:endParaRPr lang="en-IN" dirty="0"/>
          </a:p>
        </p:txBody>
      </p:sp>
      <p:sp>
        <p:nvSpPr>
          <p:cNvPr id="3" name="Title 2">
            <a:extLst>
              <a:ext uri="{FF2B5EF4-FFF2-40B4-BE49-F238E27FC236}">
                <a16:creationId xmlns:a16="http://schemas.microsoft.com/office/drawing/2014/main" id="{4E4E6AD7-6722-4993-9AE2-5A512CF67A38}"/>
              </a:ext>
            </a:extLst>
          </p:cNvPr>
          <p:cNvSpPr>
            <a:spLocks noGrp="1"/>
          </p:cNvSpPr>
          <p:nvPr>
            <p:ph type="title"/>
          </p:nvPr>
        </p:nvSpPr>
        <p:spPr/>
        <p:txBody>
          <a:bodyPr/>
          <a:lstStyle/>
          <a:p>
            <a:r>
              <a:rPr lang="en-IN" dirty="0"/>
              <a:t>RANGE PARTITION </a:t>
            </a:r>
          </a:p>
        </p:txBody>
      </p:sp>
    </p:spTree>
    <p:extLst>
      <p:ext uri="{BB962C8B-B14F-4D97-AF65-F5344CB8AC3E}">
        <p14:creationId xmlns:p14="http://schemas.microsoft.com/office/powerpoint/2010/main" val="556407858"/>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DAA60A3-A9CD-421D-B3F3-8A56AD1D3C18}"/>
              </a:ext>
            </a:extLst>
          </p:cNvPr>
          <p:cNvSpPr>
            <a:spLocks noGrp="1"/>
          </p:cNvSpPr>
          <p:nvPr>
            <p:ph sz="quarter" idx="12"/>
          </p:nvPr>
        </p:nvSpPr>
        <p:spPr/>
        <p:txBody>
          <a:bodyPr/>
          <a:lstStyle/>
          <a:p>
            <a:r>
              <a:rPr lang="en-US" dirty="0"/>
              <a:t>A hash partition is created by using modulus and remainder for each partition, where rows are inserted by generating a hash value using these modulus and remainders. </a:t>
            </a:r>
          </a:p>
          <a:p>
            <a:r>
              <a:rPr lang="en-US" dirty="0"/>
              <a:t>CREATE TABLE customers (id INTEGER, status TEXT, </a:t>
            </a:r>
            <a:r>
              <a:rPr lang="en-US" dirty="0" err="1"/>
              <a:t>arr</a:t>
            </a:r>
            <a:r>
              <a:rPr lang="en-US" dirty="0"/>
              <a:t> NUMERIC) PARTITION BY HASH(id);</a:t>
            </a:r>
          </a:p>
          <a:p>
            <a:r>
              <a:rPr lang="en-US" dirty="0"/>
              <a:t> CREATE TABLE cust_part1 PARTITION OF customers FOR VALUES WITH (modulus 3, remainder 0);</a:t>
            </a:r>
            <a:endParaRPr lang="en-IN" dirty="0"/>
          </a:p>
        </p:txBody>
      </p:sp>
      <p:sp>
        <p:nvSpPr>
          <p:cNvPr id="3" name="Title 2">
            <a:extLst>
              <a:ext uri="{FF2B5EF4-FFF2-40B4-BE49-F238E27FC236}">
                <a16:creationId xmlns:a16="http://schemas.microsoft.com/office/drawing/2014/main" id="{FB55BCA8-5B0D-43F0-B37A-7C73E5978DB6}"/>
              </a:ext>
            </a:extLst>
          </p:cNvPr>
          <p:cNvSpPr>
            <a:spLocks noGrp="1"/>
          </p:cNvSpPr>
          <p:nvPr>
            <p:ph type="title"/>
          </p:nvPr>
        </p:nvSpPr>
        <p:spPr/>
        <p:txBody>
          <a:bodyPr/>
          <a:lstStyle/>
          <a:p>
            <a:r>
              <a:rPr lang="en-IN" dirty="0"/>
              <a:t>HASH PARTITION </a:t>
            </a:r>
          </a:p>
        </p:txBody>
      </p:sp>
    </p:spTree>
    <p:extLst>
      <p:ext uri="{BB962C8B-B14F-4D97-AF65-F5344CB8AC3E}">
        <p14:creationId xmlns:p14="http://schemas.microsoft.com/office/powerpoint/2010/main" val="2677715189"/>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DAA60A3-A9CD-421D-B3F3-8A56AD1D3C18}"/>
              </a:ext>
            </a:extLst>
          </p:cNvPr>
          <p:cNvSpPr>
            <a:spLocks noGrp="1"/>
          </p:cNvSpPr>
          <p:nvPr>
            <p:ph sz="quarter" idx="12"/>
          </p:nvPr>
        </p:nvSpPr>
        <p:spPr/>
        <p:txBody>
          <a:bodyPr/>
          <a:lstStyle/>
          <a:p>
            <a:r>
              <a:rPr lang="en-US" dirty="0"/>
              <a:t> CREATE TABLE cust_part2 PARTITION OF customers FOR VALUES WITH (modulus 3, remainder 1);</a:t>
            </a:r>
          </a:p>
          <a:p>
            <a:r>
              <a:rPr lang="en-US" dirty="0"/>
              <a:t>CREATE TABLE cust_part3 PARTITION OF customers FOR VALUES WITH (modulus 3, remainder 2);</a:t>
            </a:r>
            <a:endParaRPr lang="en-IN" dirty="0"/>
          </a:p>
        </p:txBody>
      </p:sp>
      <p:sp>
        <p:nvSpPr>
          <p:cNvPr id="3" name="Title 2">
            <a:extLst>
              <a:ext uri="{FF2B5EF4-FFF2-40B4-BE49-F238E27FC236}">
                <a16:creationId xmlns:a16="http://schemas.microsoft.com/office/drawing/2014/main" id="{FB55BCA8-5B0D-43F0-B37A-7C73E5978DB6}"/>
              </a:ext>
            </a:extLst>
          </p:cNvPr>
          <p:cNvSpPr>
            <a:spLocks noGrp="1"/>
          </p:cNvSpPr>
          <p:nvPr>
            <p:ph type="title"/>
          </p:nvPr>
        </p:nvSpPr>
        <p:spPr/>
        <p:txBody>
          <a:bodyPr/>
          <a:lstStyle/>
          <a:p>
            <a:r>
              <a:rPr lang="en-IN" dirty="0"/>
              <a:t>HASH PARTITION </a:t>
            </a:r>
          </a:p>
        </p:txBody>
      </p:sp>
    </p:spTree>
    <p:extLst>
      <p:ext uri="{BB962C8B-B14F-4D97-AF65-F5344CB8AC3E}">
        <p14:creationId xmlns:p14="http://schemas.microsoft.com/office/powerpoint/2010/main" val="3567561763"/>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8787A1-7D32-4A41-B008-DA983BC0A04D}"/>
              </a:ext>
            </a:extLst>
          </p:cNvPr>
          <p:cNvSpPr>
            <a:spLocks noGrp="1"/>
          </p:cNvSpPr>
          <p:nvPr>
            <p:ph sz="quarter" idx="12"/>
          </p:nvPr>
        </p:nvSpPr>
        <p:spPr/>
        <p:txBody>
          <a:bodyPr/>
          <a:lstStyle/>
          <a:p>
            <a:r>
              <a:rPr lang="en-US" dirty="0"/>
              <a:t>PostgreSQL multilevel partitions can be created up to N levels. </a:t>
            </a:r>
          </a:p>
          <a:p>
            <a:r>
              <a:rPr lang="en-US" dirty="0"/>
              <a:t>Partition methods LIST-LIST, LIST-RANGE, LIST-HASH, RANGE-RANGE, RANGE-LIST, RANGE-HASH, HASH-HASH, HASH-LIST, and HASH-RANGE can be created in PostgreSQL declarative partitioning.</a:t>
            </a:r>
            <a:endParaRPr lang="en-IN" dirty="0"/>
          </a:p>
        </p:txBody>
      </p:sp>
      <p:sp>
        <p:nvSpPr>
          <p:cNvPr id="3" name="Title 2">
            <a:extLst>
              <a:ext uri="{FF2B5EF4-FFF2-40B4-BE49-F238E27FC236}">
                <a16:creationId xmlns:a16="http://schemas.microsoft.com/office/drawing/2014/main" id="{7E0C1312-81A1-45CA-A589-2DE97073E86D}"/>
              </a:ext>
            </a:extLst>
          </p:cNvPr>
          <p:cNvSpPr>
            <a:spLocks noGrp="1"/>
          </p:cNvSpPr>
          <p:nvPr>
            <p:ph type="title"/>
          </p:nvPr>
        </p:nvSpPr>
        <p:spPr/>
        <p:txBody>
          <a:bodyPr/>
          <a:lstStyle/>
          <a:p>
            <a:r>
              <a:rPr lang="en-IN" dirty="0"/>
              <a:t>MULTILEVEL PARTITION </a:t>
            </a:r>
          </a:p>
        </p:txBody>
      </p:sp>
    </p:spTree>
    <p:extLst>
      <p:ext uri="{BB962C8B-B14F-4D97-AF65-F5344CB8AC3E}">
        <p14:creationId xmlns:p14="http://schemas.microsoft.com/office/powerpoint/2010/main" val="7397159"/>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8787A1-7D32-4A41-B008-DA983BC0A04D}"/>
              </a:ext>
            </a:extLst>
          </p:cNvPr>
          <p:cNvSpPr>
            <a:spLocks noGrp="1"/>
          </p:cNvSpPr>
          <p:nvPr>
            <p:ph sz="quarter" idx="12"/>
          </p:nvPr>
        </p:nvSpPr>
        <p:spPr/>
        <p:txBody>
          <a:bodyPr/>
          <a:lstStyle/>
          <a:p>
            <a:r>
              <a:rPr lang="en-US" dirty="0"/>
              <a:t>CREATE TABLE customers (id INTEGER, status TEXT, </a:t>
            </a:r>
            <a:r>
              <a:rPr lang="en-US" dirty="0" err="1"/>
              <a:t>arr</a:t>
            </a:r>
            <a:r>
              <a:rPr lang="en-US" dirty="0"/>
              <a:t> NUMERIC) PARTITION BY LIST(status);</a:t>
            </a:r>
          </a:p>
          <a:p>
            <a:r>
              <a:rPr lang="en-US" dirty="0"/>
              <a:t> CREATE TABLE </a:t>
            </a:r>
            <a:r>
              <a:rPr lang="en-US" dirty="0" err="1"/>
              <a:t>cust_active</a:t>
            </a:r>
            <a:r>
              <a:rPr lang="en-US" dirty="0"/>
              <a:t> PARTITION OF customers FOR VALUES IN ('ACTIVE','RECURRING','REACTIVATED') PARTITION BY RANGE(</a:t>
            </a:r>
            <a:r>
              <a:rPr lang="en-US" dirty="0" err="1"/>
              <a:t>arr</a:t>
            </a:r>
            <a:r>
              <a:rPr lang="en-US" dirty="0"/>
              <a:t>);</a:t>
            </a:r>
          </a:p>
          <a:p>
            <a:r>
              <a:rPr lang="en-US" dirty="0"/>
              <a:t>CREATE TABLE </a:t>
            </a:r>
            <a:r>
              <a:rPr lang="en-US" dirty="0" err="1"/>
              <a:t>cust_arr_small</a:t>
            </a:r>
            <a:r>
              <a:rPr lang="en-US" dirty="0"/>
              <a:t> PARTITION OF </a:t>
            </a:r>
            <a:r>
              <a:rPr lang="en-US" dirty="0" err="1"/>
              <a:t>cust_active</a:t>
            </a:r>
            <a:r>
              <a:rPr lang="en-US" dirty="0"/>
              <a:t> FOR VALUES FROM (MINVALUE) TO (101) PARTITION BY HASH(id);</a:t>
            </a:r>
            <a:endParaRPr lang="en-IN" dirty="0"/>
          </a:p>
        </p:txBody>
      </p:sp>
      <p:sp>
        <p:nvSpPr>
          <p:cNvPr id="3" name="Title 2">
            <a:extLst>
              <a:ext uri="{FF2B5EF4-FFF2-40B4-BE49-F238E27FC236}">
                <a16:creationId xmlns:a16="http://schemas.microsoft.com/office/drawing/2014/main" id="{7E0C1312-81A1-45CA-A589-2DE97073E86D}"/>
              </a:ext>
            </a:extLst>
          </p:cNvPr>
          <p:cNvSpPr>
            <a:spLocks noGrp="1"/>
          </p:cNvSpPr>
          <p:nvPr>
            <p:ph type="title"/>
          </p:nvPr>
        </p:nvSpPr>
        <p:spPr/>
        <p:txBody>
          <a:bodyPr/>
          <a:lstStyle/>
          <a:p>
            <a:r>
              <a:rPr lang="en-IN" dirty="0"/>
              <a:t>MULTILEVEL PARTITION </a:t>
            </a:r>
          </a:p>
        </p:txBody>
      </p:sp>
    </p:spTree>
    <p:extLst>
      <p:ext uri="{BB962C8B-B14F-4D97-AF65-F5344CB8AC3E}">
        <p14:creationId xmlns:p14="http://schemas.microsoft.com/office/powerpoint/2010/main" val="483601274"/>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8787A1-7D32-4A41-B008-DA983BC0A04D}"/>
              </a:ext>
            </a:extLst>
          </p:cNvPr>
          <p:cNvSpPr>
            <a:spLocks noGrp="1"/>
          </p:cNvSpPr>
          <p:nvPr>
            <p:ph sz="quarter" idx="12"/>
          </p:nvPr>
        </p:nvSpPr>
        <p:spPr/>
        <p:txBody>
          <a:bodyPr/>
          <a:lstStyle/>
          <a:p>
            <a:r>
              <a:rPr lang="en-US" dirty="0"/>
              <a:t>CREATE TABLE </a:t>
            </a:r>
            <a:r>
              <a:rPr lang="en-US" dirty="0" err="1"/>
              <a:t>cust_arr_small</a:t>
            </a:r>
            <a:r>
              <a:rPr lang="en-US" dirty="0"/>
              <a:t> PARTITION OF </a:t>
            </a:r>
            <a:r>
              <a:rPr lang="en-US" dirty="0" err="1"/>
              <a:t>cust_active</a:t>
            </a:r>
            <a:r>
              <a:rPr lang="en-US" dirty="0"/>
              <a:t> FOR VALUES FROM (MINVALUE) TO (101) PARTITION BY HASH(id);</a:t>
            </a:r>
          </a:p>
          <a:p>
            <a:r>
              <a:rPr lang="en-US" dirty="0"/>
              <a:t>CREATE TABLE cust_part11 PARTITION OF </a:t>
            </a:r>
            <a:r>
              <a:rPr lang="en-US" dirty="0" err="1"/>
              <a:t>cust_arr_small</a:t>
            </a:r>
            <a:r>
              <a:rPr lang="en-US" dirty="0"/>
              <a:t> FOR VALUES WITH (modulus 2, remainder 0);</a:t>
            </a:r>
          </a:p>
          <a:p>
            <a:r>
              <a:rPr lang="en-US" dirty="0"/>
              <a:t>CREATE TABLE cust_part12 PARTITION OF </a:t>
            </a:r>
            <a:r>
              <a:rPr lang="en-US" dirty="0" err="1"/>
              <a:t>cust_arr_small</a:t>
            </a:r>
            <a:r>
              <a:rPr lang="en-US" dirty="0"/>
              <a:t> FOR VALUES WITH (modulus 2, remainder 1);</a:t>
            </a:r>
          </a:p>
          <a:p>
            <a:r>
              <a:rPr lang="en-US" dirty="0"/>
              <a:t>CREATE TABLE </a:t>
            </a:r>
            <a:r>
              <a:rPr lang="en-US" dirty="0" err="1"/>
              <a:t>cust_other</a:t>
            </a:r>
            <a:r>
              <a:rPr lang="en-US" dirty="0"/>
              <a:t> PARTITION OF customers DEFAULT PARTITION BY RANGE(</a:t>
            </a:r>
            <a:r>
              <a:rPr lang="en-US" dirty="0" err="1"/>
              <a:t>arr</a:t>
            </a:r>
            <a:r>
              <a:rPr lang="en-US" dirty="0"/>
              <a:t>);</a:t>
            </a:r>
          </a:p>
          <a:p>
            <a:endParaRPr lang="en-IN" dirty="0"/>
          </a:p>
        </p:txBody>
      </p:sp>
      <p:sp>
        <p:nvSpPr>
          <p:cNvPr id="3" name="Title 2">
            <a:extLst>
              <a:ext uri="{FF2B5EF4-FFF2-40B4-BE49-F238E27FC236}">
                <a16:creationId xmlns:a16="http://schemas.microsoft.com/office/drawing/2014/main" id="{7E0C1312-81A1-45CA-A589-2DE97073E86D}"/>
              </a:ext>
            </a:extLst>
          </p:cNvPr>
          <p:cNvSpPr>
            <a:spLocks noGrp="1"/>
          </p:cNvSpPr>
          <p:nvPr>
            <p:ph type="title"/>
          </p:nvPr>
        </p:nvSpPr>
        <p:spPr/>
        <p:txBody>
          <a:bodyPr/>
          <a:lstStyle/>
          <a:p>
            <a:r>
              <a:rPr lang="en-IN" dirty="0"/>
              <a:t>MULTILEVEL PARTITION </a:t>
            </a:r>
          </a:p>
        </p:txBody>
      </p:sp>
    </p:spTree>
    <p:extLst>
      <p:ext uri="{BB962C8B-B14F-4D97-AF65-F5344CB8AC3E}">
        <p14:creationId xmlns:p14="http://schemas.microsoft.com/office/powerpoint/2010/main" val="1963509158"/>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8787A1-7D32-4A41-B008-DA983BC0A04D}"/>
              </a:ext>
            </a:extLst>
          </p:cNvPr>
          <p:cNvSpPr>
            <a:spLocks noGrp="1"/>
          </p:cNvSpPr>
          <p:nvPr>
            <p:ph sz="quarter" idx="12"/>
          </p:nvPr>
        </p:nvSpPr>
        <p:spPr/>
        <p:txBody>
          <a:bodyPr>
            <a:normAutofit/>
          </a:bodyPr>
          <a:lstStyle/>
          <a:p>
            <a:r>
              <a:rPr lang="en-US" dirty="0"/>
              <a:t>CREATE TABLE </a:t>
            </a:r>
            <a:r>
              <a:rPr lang="en-US" dirty="0" err="1"/>
              <a:t>cust_arr_large</a:t>
            </a:r>
            <a:r>
              <a:rPr lang="en-US" dirty="0"/>
              <a:t> PARTITION OF </a:t>
            </a:r>
            <a:r>
              <a:rPr lang="en-US" dirty="0" err="1"/>
              <a:t>cust_other</a:t>
            </a:r>
            <a:r>
              <a:rPr lang="en-US" dirty="0"/>
              <a:t> FOR VALUES FROM (101) TO (MAXVALUE) PARTITION BY HASH(id);</a:t>
            </a:r>
          </a:p>
          <a:p>
            <a:r>
              <a:rPr lang="en-US" dirty="0"/>
              <a:t>CREATE TABLE cust_part21 PARTITION OF </a:t>
            </a:r>
            <a:r>
              <a:rPr lang="en-US" dirty="0" err="1"/>
              <a:t>cust_arr_large</a:t>
            </a:r>
            <a:r>
              <a:rPr lang="en-US" dirty="0"/>
              <a:t> FOR VALUES WITH (modulus 2, remainder 0);</a:t>
            </a:r>
          </a:p>
          <a:p>
            <a:r>
              <a:rPr lang="en-US" dirty="0" err="1"/>
              <a:t>postgres</a:t>
            </a:r>
            <a:r>
              <a:rPr lang="en-US" dirty="0"/>
              <a:t>=# CREATE TABLE cust_part22 PARTITION OF </a:t>
            </a:r>
            <a:r>
              <a:rPr lang="en-US" dirty="0" err="1"/>
              <a:t>cust_arr_large</a:t>
            </a:r>
            <a:r>
              <a:rPr lang="en-US" dirty="0"/>
              <a:t> FOR VALUES WITH (modulus 2, remainder 1);</a:t>
            </a:r>
          </a:p>
        </p:txBody>
      </p:sp>
      <p:sp>
        <p:nvSpPr>
          <p:cNvPr id="3" name="Title 2">
            <a:extLst>
              <a:ext uri="{FF2B5EF4-FFF2-40B4-BE49-F238E27FC236}">
                <a16:creationId xmlns:a16="http://schemas.microsoft.com/office/drawing/2014/main" id="{7E0C1312-81A1-45CA-A589-2DE97073E86D}"/>
              </a:ext>
            </a:extLst>
          </p:cNvPr>
          <p:cNvSpPr>
            <a:spLocks noGrp="1"/>
          </p:cNvSpPr>
          <p:nvPr>
            <p:ph type="title"/>
          </p:nvPr>
        </p:nvSpPr>
        <p:spPr/>
        <p:txBody>
          <a:bodyPr/>
          <a:lstStyle/>
          <a:p>
            <a:r>
              <a:rPr lang="en-IN" dirty="0"/>
              <a:t>MULTILEVEL PARTITION </a:t>
            </a:r>
          </a:p>
        </p:txBody>
      </p:sp>
    </p:spTree>
    <p:extLst>
      <p:ext uri="{BB962C8B-B14F-4D97-AF65-F5344CB8AC3E}">
        <p14:creationId xmlns:p14="http://schemas.microsoft.com/office/powerpoint/2010/main" val="2519294754"/>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39843EC-5432-4243-B954-5C699D9DF0BE}"/>
              </a:ext>
            </a:extLst>
          </p:cNvPr>
          <p:cNvSpPr>
            <a:spLocks noGrp="1"/>
          </p:cNvSpPr>
          <p:nvPr>
            <p:ph sz="quarter" idx="12"/>
          </p:nvPr>
        </p:nvSpPr>
        <p:spPr/>
        <p:txBody>
          <a:bodyPr/>
          <a:lstStyle/>
          <a:p>
            <a:r>
              <a:rPr lang="en-US" dirty="0"/>
              <a:t>PL/</a:t>
            </a:r>
            <a:r>
              <a:rPr lang="en-US" dirty="0" err="1"/>
              <a:t>pgSQL</a:t>
            </a:r>
            <a:r>
              <a:rPr lang="en-US" dirty="0"/>
              <a:t> procedural language adds many procedural elements e.g., control structures, loops, and complex computations to extend standard SQL. </a:t>
            </a:r>
          </a:p>
          <a:p>
            <a:r>
              <a:rPr lang="en-US" dirty="0"/>
              <a:t>It allows you to develop complex functions and stored procedures in PostgreSQL that may not be possible using plain SQL. </a:t>
            </a:r>
          </a:p>
          <a:p>
            <a:r>
              <a:rPr lang="en-US" dirty="0"/>
              <a:t>Since PostgreSQL 9.0, PL/</a:t>
            </a:r>
            <a:r>
              <a:rPr lang="en-US" dirty="0" err="1"/>
              <a:t>pgSQL</a:t>
            </a:r>
            <a:r>
              <a:rPr lang="en-US" dirty="0"/>
              <a:t> is installed by default.</a:t>
            </a:r>
          </a:p>
          <a:p>
            <a:endParaRPr lang="en-IN" dirty="0"/>
          </a:p>
        </p:txBody>
      </p:sp>
      <p:sp>
        <p:nvSpPr>
          <p:cNvPr id="3" name="Title 2">
            <a:extLst>
              <a:ext uri="{FF2B5EF4-FFF2-40B4-BE49-F238E27FC236}">
                <a16:creationId xmlns:a16="http://schemas.microsoft.com/office/drawing/2014/main" id="{79FE30E6-07FC-4865-A677-33294D546165}"/>
              </a:ext>
            </a:extLst>
          </p:cNvPr>
          <p:cNvSpPr>
            <a:spLocks noGrp="1"/>
          </p:cNvSpPr>
          <p:nvPr>
            <p:ph type="title"/>
          </p:nvPr>
        </p:nvSpPr>
        <p:spPr/>
        <p:txBody>
          <a:bodyPr/>
          <a:lstStyle/>
          <a:p>
            <a:r>
              <a:rPr lang="en-IN" dirty="0"/>
              <a:t>PL/PGSQL</a:t>
            </a:r>
          </a:p>
        </p:txBody>
      </p:sp>
    </p:spTree>
    <p:extLst>
      <p:ext uri="{BB962C8B-B14F-4D97-AF65-F5344CB8AC3E}">
        <p14:creationId xmlns:p14="http://schemas.microsoft.com/office/powerpoint/2010/main" val="3331228684"/>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39843EC-5432-4243-B954-5C699D9DF0BE}"/>
              </a:ext>
            </a:extLst>
          </p:cNvPr>
          <p:cNvSpPr>
            <a:spLocks noGrp="1"/>
          </p:cNvSpPr>
          <p:nvPr>
            <p:ph sz="quarter" idx="12"/>
          </p:nvPr>
        </p:nvSpPr>
        <p:spPr/>
        <p:txBody>
          <a:bodyPr>
            <a:normAutofit fontScale="92500"/>
          </a:bodyPr>
          <a:lstStyle/>
          <a:p>
            <a:r>
              <a:rPr lang="en-US" dirty="0"/>
              <a:t>PL/</a:t>
            </a:r>
            <a:r>
              <a:rPr lang="en-US" dirty="0" err="1"/>
              <a:t>pgSQL</a:t>
            </a:r>
            <a:r>
              <a:rPr lang="en-US" dirty="0"/>
              <a:t> procedural language is similar to the Oracle PL/SQL. The following are reasons to learn PL/</a:t>
            </a:r>
            <a:r>
              <a:rPr lang="en-US" dirty="0" err="1"/>
              <a:t>pgSQL</a:t>
            </a:r>
            <a:r>
              <a:rPr lang="en-US" dirty="0"/>
              <a:t>:</a:t>
            </a:r>
          </a:p>
          <a:p>
            <a:pPr lvl="1"/>
            <a:r>
              <a:rPr lang="en-US" dirty="0"/>
              <a:t>PL/</a:t>
            </a:r>
            <a:r>
              <a:rPr lang="en-US" dirty="0" err="1"/>
              <a:t>pgSQL</a:t>
            </a:r>
            <a:r>
              <a:rPr lang="en-US" dirty="0"/>
              <a:t> is easy to learn and simple to use.</a:t>
            </a:r>
          </a:p>
          <a:p>
            <a:pPr lvl="1"/>
            <a:r>
              <a:rPr lang="en-US" dirty="0"/>
              <a:t>PL/</a:t>
            </a:r>
            <a:r>
              <a:rPr lang="en-US" dirty="0" err="1"/>
              <a:t>pgSQL</a:t>
            </a:r>
            <a:r>
              <a:rPr lang="en-US" dirty="0"/>
              <a:t> comes with PostgreSQL by default. The user-defined functions and stored procedures developed in PL/</a:t>
            </a:r>
            <a:r>
              <a:rPr lang="en-US" dirty="0" err="1"/>
              <a:t>pgSQL</a:t>
            </a:r>
            <a:r>
              <a:rPr lang="en-US" dirty="0"/>
              <a:t> can be used like any built-in functions and stored procedures.</a:t>
            </a:r>
          </a:p>
          <a:p>
            <a:pPr lvl="1"/>
            <a:r>
              <a:rPr lang="en-US" dirty="0"/>
              <a:t>PL/</a:t>
            </a:r>
            <a:r>
              <a:rPr lang="en-US" dirty="0" err="1"/>
              <a:t>pgSQL</a:t>
            </a:r>
            <a:r>
              <a:rPr lang="en-US" dirty="0"/>
              <a:t> inherits all user-defined types, functions, and operators.</a:t>
            </a:r>
          </a:p>
          <a:p>
            <a:pPr lvl="1"/>
            <a:r>
              <a:rPr lang="en-US" dirty="0"/>
              <a:t>PL/</a:t>
            </a:r>
            <a:r>
              <a:rPr lang="en-US" dirty="0" err="1"/>
              <a:t>pgSQL</a:t>
            </a:r>
            <a:r>
              <a:rPr lang="en-US" dirty="0"/>
              <a:t> has many features that allow you to develop complex functions and stored procedures.</a:t>
            </a:r>
          </a:p>
          <a:p>
            <a:pPr lvl="1"/>
            <a:r>
              <a:rPr lang="en-US" dirty="0"/>
              <a:t>PL/</a:t>
            </a:r>
            <a:r>
              <a:rPr lang="en-US" dirty="0" err="1"/>
              <a:t>pgSQL</a:t>
            </a:r>
            <a:r>
              <a:rPr lang="en-US" dirty="0"/>
              <a:t> can be defined to be trusted by the PostgreSQL database server.</a:t>
            </a:r>
            <a:endParaRPr lang="en-IN" dirty="0"/>
          </a:p>
        </p:txBody>
      </p:sp>
      <p:sp>
        <p:nvSpPr>
          <p:cNvPr id="3" name="Title 2">
            <a:extLst>
              <a:ext uri="{FF2B5EF4-FFF2-40B4-BE49-F238E27FC236}">
                <a16:creationId xmlns:a16="http://schemas.microsoft.com/office/drawing/2014/main" id="{79FE30E6-07FC-4865-A677-33294D546165}"/>
              </a:ext>
            </a:extLst>
          </p:cNvPr>
          <p:cNvSpPr>
            <a:spLocks noGrp="1"/>
          </p:cNvSpPr>
          <p:nvPr>
            <p:ph type="title"/>
          </p:nvPr>
        </p:nvSpPr>
        <p:spPr/>
        <p:txBody>
          <a:bodyPr/>
          <a:lstStyle/>
          <a:p>
            <a:r>
              <a:rPr lang="en-IN" dirty="0"/>
              <a:t>PL/PGSQL</a:t>
            </a:r>
          </a:p>
        </p:txBody>
      </p:sp>
    </p:spTree>
    <p:extLst>
      <p:ext uri="{BB962C8B-B14F-4D97-AF65-F5344CB8AC3E}">
        <p14:creationId xmlns:p14="http://schemas.microsoft.com/office/powerpoint/2010/main" val="541084701"/>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39843EC-5432-4243-B954-5C699D9DF0BE}"/>
              </a:ext>
            </a:extLst>
          </p:cNvPr>
          <p:cNvSpPr>
            <a:spLocks noGrp="1"/>
          </p:cNvSpPr>
          <p:nvPr>
            <p:ph sz="quarter" idx="12"/>
          </p:nvPr>
        </p:nvSpPr>
        <p:spPr/>
        <p:txBody>
          <a:bodyPr>
            <a:normAutofit/>
          </a:bodyPr>
          <a:lstStyle/>
          <a:p>
            <a:r>
              <a:rPr lang="en-US" dirty="0"/>
              <a:t>PL/</a:t>
            </a:r>
            <a:r>
              <a:rPr lang="en-US" dirty="0" err="1"/>
              <a:t>pgSQL</a:t>
            </a:r>
            <a:r>
              <a:rPr lang="en-US" dirty="0"/>
              <a:t> is a procedural programming language for the PostgreSQL database system.</a:t>
            </a:r>
          </a:p>
          <a:p>
            <a:r>
              <a:rPr lang="en-US" dirty="0"/>
              <a:t>PL/</a:t>
            </a:r>
            <a:r>
              <a:rPr lang="en-US" dirty="0" err="1"/>
              <a:t>pgSQL</a:t>
            </a:r>
            <a:r>
              <a:rPr lang="en-US" dirty="0"/>
              <a:t> allows you to extend the functionality of the PostgreSQL database server by creating server objects with complex logic.</a:t>
            </a:r>
          </a:p>
          <a:p>
            <a:r>
              <a:rPr lang="en-US" dirty="0"/>
              <a:t>PL/</a:t>
            </a:r>
            <a:r>
              <a:rPr lang="en-US" dirty="0" err="1"/>
              <a:t>pgSQL</a:t>
            </a:r>
            <a:r>
              <a:rPr lang="en-US" dirty="0"/>
              <a:t> was designed to :</a:t>
            </a:r>
          </a:p>
          <a:p>
            <a:pPr lvl="1"/>
            <a:r>
              <a:rPr lang="en-US" dirty="0"/>
              <a:t>Create user-defined functions, stored procedures, and triggers.</a:t>
            </a:r>
          </a:p>
          <a:p>
            <a:pPr lvl="1"/>
            <a:r>
              <a:rPr lang="en-US" dirty="0"/>
              <a:t>Extend standard SQL by adding control structures such as if, case, and loop statements.</a:t>
            </a:r>
          </a:p>
          <a:p>
            <a:pPr lvl="1"/>
            <a:r>
              <a:rPr lang="en-US" dirty="0"/>
              <a:t>Inherit all user-defined functions, operators, and types.</a:t>
            </a:r>
            <a:endParaRPr lang="en-IN" dirty="0"/>
          </a:p>
        </p:txBody>
      </p:sp>
      <p:sp>
        <p:nvSpPr>
          <p:cNvPr id="3" name="Title 2">
            <a:extLst>
              <a:ext uri="{FF2B5EF4-FFF2-40B4-BE49-F238E27FC236}">
                <a16:creationId xmlns:a16="http://schemas.microsoft.com/office/drawing/2014/main" id="{79FE30E6-07FC-4865-A677-33294D546165}"/>
              </a:ext>
            </a:extLst>
          </p:cNvPr>
          <p:cNvSpPr>
            <a:spLocks noGrp="1"/>
          </p:cNvSpPr>
          <p:nvPr>
            <p:ph type="title"/>
          </p:nvPr>
        </p:nvSpPr>
        <p:spPr/>
        <p:txBody>
          <a:bodyPr/>
          <a:lstStyle/>
          <a:p>
            <a:r>
              <a:rPr lang="en-IN" dirty="0"/>
              <a:t>PL/PGSQL</a:t>
            </a:r>
          </a:p>
        </p:txBody>
      </p:sp>
    </p:spTree>
    <p:extLst>
      <p:ext uri="{BB962C8B-B14F-4D97-AF65-F5344CB8AC3E}">
        <p14:creationId xmlns:p14="http://schemas.microsoft.com/office/powerpoint/2010/main" val="1190586077"/>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759A7F-B2FA-4813-BED7-640B5E3146AE}"/>
              </a:ext>
            </a:extLst>
          </p:cNvPr>
          <p:cNvSpPr>
            <a:spLocks noGrp="1"/>
          </p:cNvSpPr>
          <p:nvPr>
            <p:ph sz="quarter" idx="12"/>
          </p:nvPr>
        </p:nvSpPr>
        <p:spPr/>
        <p:txBody>
          <a:bodyPr>
            <a:normAutofit/>
          </a:bodyPr>
          <a:lstStyle/>
          <a:p>
            <a:r>
              <a:rPr lang="en-US" dirty="0"/>
              <a:t>SQL is a query language that allows you to query data from the database easily. However, PostgreSQL only can execute SQL statements individually.</a:t>
            </a:r>
          </a:p>
          <a:p>
            <a:r>
              <a:rPr lang="en-US" dirty="0"/>
              <a:t>It means that you have multiple statements, you need to execute them one by one like this:</a:t>
            </a:r>
          </a:p>
          <a:p>
            <a:pPr lvl="1"/>
            <a:r>
              <a:rPr lang="en-US" dirty="0"/>
              <a:t>First, send a query to the PostgreSQL database server.</a:t>
            </a:r>
          </a:p>
          <a:p>
            <a:pPr lvl="1"/>
            <a:r>
              <a:rPr lang="en-US" dirty="0"/>
              <a:t>Next, wait for it to process.</a:t>
            </a:r>
          </a:p>
          <a:p>
            <a:pPr lvl="1"/>
            <a:r>
              <a:rPr lang="en-US" dirty="0"/>
              <a:t>Then, process the result set.</a:t>
            </a:r>
          </a:p>
          <a:p>
            <a:pPr lvl="1"/>
            <a:r>
              <a:rPr lang="en-US" dirty="0"/>
              <a:t>After that, do some calculations.</a:t>
            </a:r>
          </a:p>
          <a:p>
            <a:pPr lvl="1"/>
            <a:r>
              <a:rPr lang="en-US" dirty="0"/>
              <a:t>Finally, send another query to the PostgreSQL database server and repeat this process.</a:t>
            </a:r>
            <a:endParaRPr lang="en-IN" dirty="0"/>
          </a:p>
        </p:txBody>
      </p:sp>
      <p:sp>
        <p:nvSpPr>
          <p:cNvPr id="3" name="Title 2">
            <a:extLst>
              <a:ext uri="{FF2B5EF4-FFF2-40B4-BE49-F238E27FC236}">
                <a16:creationId xmlns:a16="http://schemas.microsoft.com/office/drawing/2014/main" id="{11170B09-4F1C-40B9-A695-44B77283B9D2}"/>
              </a:ext>
            </a:extLst>
          </p:cNvPr>
          <p:cNvSpPr>
            <a:spLocks noGrp="1"/>
          </p:cNvSpPr>
          <p:nvPr>
            <p:ph type="title"/>
          </p:nvPr>
        </p:nvSpPr>
        <p:spPr/>
        <p:txBody>
          <a:bodyPr/>
          <a:lstStyle/>
          <a:p>
            <a:r>
              <a:rPr lang="en-US" dirty="0"/>
              <a:t>Advantages of using PL/</a:t>
            </a:r>
            <a:r>
              <a:rPr lang="en-US" dirty="0" err="1"/>
              <a:t>pgSQL</a:t>
            </a:r>
            <a:endParaRPr lang="en-IN" dirty="0"/>
          </a:p>
        </p:txBody>
      </p:sp>
    </p:spTree>
    <p:extLst>
      <p:ext uri="{BB962C8B-B14F-4D97-AF65-F5344CB8AC3E}">
        <p14:creationId xmlns:p14="http://schemas.microsoft.com/office/powerpoint/2010/main" val="99674072"/>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759A7F-B2FA-4813-BED7-640B5E3146AE}"/>
              </a:ext>
            </a:extLst>
          </p:cNvPr>
          <p:cNvSpPr>
            <a:spLocks noGrp="1"/>
          </p:cNvSpPr>
          <p:nvPr>
            <p:ph sz="quarter" idx="12"/>
          </p:nvPr>
        </p:nvSpPr>
        <p:spPr/>
        <p:txBody>
          <a:bodyPr>
            <a:normAutofit lnSpcReduction="10000"/>
          </a:bodyPr>
          <a:lstStyle/>
          <a:p>
            <a:r>
              <a:rPr lang="en-US" dirty="0"/>
              <a:t>This process incurs the </a:t>
            </a:r>
            <a:r>
              <a:rPr lang="en-US" dirty="0" err="1"/>
              <a:t>interprocess</a:t>
            </a:r>
            <a:r>
              <a:rPr lang="en-US" dirty="0"/>
              <a:t> communication and network overheads.</a:t>
            </a:r>
          </a:p>
          <a:p>
            <a:r>
              <a:rPr lang="en-US" dirty="0"/>
              <a:t>To resolve this issue, PostgreSQL uses PL/</a:t>
            </a:r>
            <a:r>
              <a:rPr lang="en-US" dirty="0" err="1"/>
              <a:t>pgSQL</a:t>
            </a:r>
            <a:r>
              <a:rPr lang="en-US" dirty="0"/>
              <a:t>.</a:t>
            </a:r>
          </a:p>
          <a:p>
            <a:pPr lvl="1"/>
            <a:r>
              <a:rPr lang="en-US" dirty="0"/>
              <a:t>PL/</a:t>
            </a:r>
            <a:r>
              <a:rPr lang="en-US" dirty="0" err="1"/>
              <a:t>pgSQL</a:t>
            </a:r>
            <a:r>
              <a:rPr lang="en-US" dirty="0"/>
              <a:t> wraps multiple statements in an object and store it on the PostgreSQL database server.</a:t>
            </a:r>
          </a:p>
          <a:p>
            <a:pPr lvl="1"/>
            <a:r>
              <a:rPr lang="en-US" dirty="0"/>
              <a:t>So instead of sending multiple statements to the server one by one, you can send one statement to execute the object stored in the server. This allows you to:</a:t>
            </a:r>
          </a:p>
          <a:p>
            <a:pPr lvl="1"/>
            <a:r>
              <a:rPr lang="en-US" dirty="0"/>
              <a:t>Reduce the number of round trips between the application and the PostgreSQL database server.</a:t>
            </a:r>
          </a:p>
          <a:p>
            <a:pPr lvl="1"/>
            <a:r>
              <a:rPr lang="en-US" dirty="0"/>
              <a:t>Avoid transferring the immediate results between the application and the server.</a:t>
            </a:r>
            <a:endParaRPr lang="en-IN" dirty="0"/>
          </a:p>
        </p:txBody>
      </p:sp>
      <p:sp>
        <p:nvSpPr>
          <p:cNvPr id="3" name="Title 2">
            <a:extLst>
              <a:ext uri="{FF2B5EF4-FFF2-40B4-BE49-F238E27FC236}">
                <a16:creationId xmlns:a16="http://schemas.microsoft.com/office/drawing/2014/main" id="{11170B09-4F1C-40B9-A695-44B77283B9D2}"/>
              </a:ext>
            </a:extLst>
          </p:cNvPr>
          <p:cNvSpPr>
            <a:spLocks noGrp="1"/>
          </p:cNvSpPr>
          <p:nvPr>
            <p:ph type="title"/>
          </p:nvPr>
        </p:nvSpPr>
        <p:spPr/>
        <p:txBody>
          <a:bodyPr/>
          <a:lstStyle/>
          <a:p>
            <a:r>
              <a:rPr lang="en-US" dirty="0"/>
              <a:t>Advantages of using PL/</a:t>
            </a:r>
            <a:r>
              <a:rPr lang="en-US" dirty="0" err="1"/>
              <a:t>pgSQL</a:t>
            </a:r>
            <a:endParaRPr lang="en-IN" dirty="0"/>
          </a:p>
        </p:txBody>
      </p:sp>
    </p:spTree>
    <p:extLst>
      <p:ext uri="{BB962C8B-B14F-4D97-AF65-F5344CB8AC3E}">
        <p14:creationId xmlns:p14="http://schemas.microsoft.com/office/powerpoint/2010/main" val="3975140562"/>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759A7F-B2FA-4813-BED7-640B5E3146AE}"/>
              </a:ext>
            </a:extLst>
          </p:cNvPr>
          <p:cNvSpPr>
            <a:spLocks noGrp="1"/>
          </p:cNvSpPr>
          <p:nvPr>
            <p:ph sz="quarter" idx="12"/>
          </p:nvPr>
        </p:nvSpPr>
        <p:spPr/>
        <p:txBody>
          <a:bodyPr>
            <a:normAutofit/>
          </a:bodyPr>
          <a:lstStyle/>
          <a:p>
            <a:r>
              <a:rPr lang="en-US" dirty="0"/>
              <a:t>Besides the advantages of using PL/</a:t>
            </a:r>
            <a:r>
              <a:rPr lang="en-US" dirty="0" err="1"/>
              <a:t>pgSQL</a:t>
            </a:r>
            <a:r>
              <a:rPr lang="en-US" dirty="0"/>
              <a:t>, there are some caveats:</a:t>
            </a:r>
          </a:p>
          <a:p>
            <a:pPr lvl="1"/>
            <a:r>
              <a:rPr lang="en-US" dirty="0"/>
              <a:t>Slower in software development because PL/</a:t>
            </a:r>
            <a:r>
              <a:rPr lang="en-US" dirty="0" err="1"/>
              <a:t>pgSQL</a:t>
            </a:r>
            <a:r>
              <a:rPr lang="en-US" dirty="0"/>
              <a:t> requires specialized skills that many developers do not possess.</a:t>
            </a:r>
          </a:p>
          <a:p>
            <a:pPr lvl="1"/>
            <a:r>
              <a:rPr lang="en-US" dirty="0"/>
              <a:t>Difficult to manage versions and hard to debug.</a:t>
            </a:r>
          </a:p>
          <a:p>
            <a:pPr lvl="1"/>
            <a:r>
              <a:rPr lang="en-US" dirty="0"/>
              <a:t>May not be portable to other database management systems.</a:t>
            </a:r>
            <a:endParaRPr lang="en-IN" dirty="0"/>
          </a:p>
        </p:txBody>
      </p:sp>
      <p:sp>
        <p:nvSpPr>
          <p:cNvPr id="3" name="Title 2">
            <a:extLst>
              <a:ext uri="{FF2B5EF4-FFF2-40B4-BE49-F238E27FC236}">
                <a16:creationId xmlns:a16="http://schemas.microsoft.com/office/drawing/2014/main" id="{11170B09-4F1C-40B9-A695-44B77283B9D2}"/>
              </a:ext>
            </a:extLst>
          </p:cNvPr>
          <p:cNvSpPr>
            <a:spLocks noGrp="1"/>
          </p:cNvSpPr>
          <p:nvPr>
            <p:ph type="title"/>
          </p:nvPr>
        </p:nvSpPr>
        <p:spPr/>
        <p:txBody>
          <a:bodyPr/>
          <a:lstStyle/>
          <a:p>
            <a:r>
              <a:rPr lang="en-US" dirty="0"/>
              <a:t>PostgreSQL PL/</a:t>
            </a:r>
            <a:r>
              <a:rPr lang="en-US" dirty="0" err="1"/>
              <a:t>pgSQL</a:t>
            </a:r>
            <a:r>
              <a:rPr lang="en-US" dirty="0"/>
              <a:t> disadvantages</a:t>
            </a:r>
          </a:p>
        </p:txBody>
      </p:sp>
    </p:spTree>
    <p:extLst>
      <p:ext uri="{BB962C8B-B14F-4D97-AF65-F5344CB8AC3E}">
        <p14:creationId xmlns:p14="http://schemas.microsoft.com/office/powerpoint/2010/main" val="1522481142"/>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210F90-66E5-4A18-9B0A-603B3AB35B61}"/>
              </a:ext>
            </a:extLst>
          </p:cNvPr>
          <p:cNvSpPr>
            <a:spLocks noGrp="1"/>
          </p:cNvSpPr>
          <p:nvPr>
            <p:ph sz="quarter" idx="12"/>
          </p:nvPr>
        </p:nvSpPr>
        <p:spPr/>
        <p:txBody>
          <a:bodyPr/>
          <a:lstStyle/>
          <a:p>
            <a:r>
              <a:rPr lang="en-US" dirty="0"/>
              <a:t>In PostgreSQL, you use single quotes for a string constant like this:</a:t>
            </a:r>
          </a:p>
          <a:p>
            <a:pPr lvl="1"/>
            <a:r>
              <a:rPr lang="en-US" dirty="0"/>
              <a:t>select 'String constant’;</a:t>
            </a:r>
          </a:p>
          <a:p>
            <a:r>
              <a:rPr lang="en-US" dirty="0"/>
              <a:t>When a string constant contains a single quote ('), you need to escape it by doubling up the single quote. For example:</a:t>
            </a:r>
          </a:p>
          <a:p>
            <a:pPr lvl="1"/>
            <a:r>
              <a:rPr lang="en-US" dirty="0"/>
              <a:t>select '</a:t>
            </a:r>
            <a:r>
              <a:rPr lang="en-US" dirty="0" err="1"/>
              <a:t>I''m</a:t>
            </a:r>
            <a:r>
              <a:rPr lang="en-US" dirty="0"/>
              <a:t> also a string constant’;</a:t>
            </a:r>
          </a:p>
          <a:p>
            <a:pPr lvl="1"/>
            <a:endParaRPr lang="en-IN" dirty="0"/>
          </a:p>
        </p:txBody>
      </p:sp>
      <p:sp>
        <p:nvSpPr>
          <p:cNvPr id="3" name="Title 2">
            <a:extLst>
              <a:ext uri="{FF2B5EF4-FFF2-40B4-BE49-F238E27FC236}">
                <a16:creationId xmlns:a16="http://schemas.microsoft.com/office/drawing/2014/main" id="{5F488959-5957-41FF-8BC4-7810E9F429E5}"/>
              </a:ext>
            </a:extLst>
          </p:cNvPr>
          <p:cNvSpPr>
            <a:spLocks noGrp="1"/>
          </p:cNvSpPr>
          <p:nvPr>
            <p:ph type="title"/>
          </p:nvPr>
        </p:nvSpPr>
        <p:spPr/>
        <p:txBody>
          <a:bodyPr/>
          <a:lstStyle/>
          <a:p>
            <a:r>
              <a:rPr lang="en-IN" dirty="0"/>
              <a:t>Dollar-Quoted String Constants</a:t>
            </a:r>
          </a:p>
        </p:txBody>
      </p:sp>
    </p:spTree>
    <p:extLst>
      <p:ext uri="{BB962C8B-B14F-4D97-AF65-F5344CB8AC3E}">
        <p14:creationId xmlns:p14="http://schemas.microsoft.com/office/powerpoint/2010/main" val="3026454252"/>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210F90-66E5-4A18-9B0A-603B3AB35B61}"/>
              </a:ext>
            </a:extLst>
          </p:cNvPr>
          <p:cNvSpPr>
            <a:spLocks noGrp="1"/>
          </p:cNvSpPr>
          <p:nvPr>
            <p:ph sz="quarter" idx="12"/>
          </p:nvPr>
        </p:nvSpPr>
        <p:spPr/>
        <p:txBody>
          <a:bodyPr>
            <a:normAutofit/>
          </a:bodyPr>
          <a:lstStyle/>
          <a:p>
            <a:r>
              <a:rPr lang="en-US" dirty="0"/>
              <a:t>PostgreSQL version 8.0 introduced the dollar quoting feature to make string constants more readable.</a:t>
            </a:r>
          </a:p>
          <a:p>
            <a:r>
              <a:rPr lang="en-US" dirty="0"/>
              <a:t>The following shows the syntax of the dollar-quoted string constants:</a:t>
            </a:r>
          </a:p>
          <a:p>
            <a:pPr lvl="1"/>
            <a:r>
              <a:rPr lang="en-US" dirty="0"/>
              <a:t>$tag$&lt;</a:t>
            </a:r>
            <a:r>
              <a:rPr lang="en-US" dirty="0" err="1"/>
              <a:t>string_constant</a:t>
            </a:r>
            <a:r>
              <a:rPr lang="en-US" dirty="0"/>
              <a:t>&gt;$tag$</a:t>
            </a:r>
          </a:p>
          <a:p>
            <a:r>
              <a:rPr lang="en-US" dirty="0"/>
              <a:t>In this syntax, the tag is optional. It may contain zero or many characters.</a:t>
            </a:r>
          </a:p>
          <a:p>
            <a:pPr lvl="1"/>
            <a:r>
              <a:rPr lang="en-US" dirty="0"/>
              <a:t>Between the $tag$, you can place any string with single quotes (') and backslashes (\). </a:t>
            </a:r>
          </a:p>
          <a:p>
            <a:pPr lvl="1"/>
            <a:r>
              <a:rPr lang="en-US" dirty="0"/>
              <a:t>For example:</a:t>
            </a:r>
          </a:p>
          <a:p>
            <a:pPr lvl="2"/>
            <a:r>
              <a:rPr lang="en-US" dirty="0"/>
              <a:t>select $$I'm a string constant that contains a backslash \$$;</a:t>
            </a:r>
            <a:endParaRPr lang="en-IN" dirty="0"/>
          </a:p>
        </p:txBody>
      </p:sp>
      <p:sp>
        <p:nvSpPr>
          <p:cNvPr id="3" name="Title 2">
            <a:extLst>
              <a:ext uri="{FF2B5EF4-FFF2-40B4-BE49-F238E27FC236}">
                <a16:creationId xmlns:a16="http://schemas.microsoft.com/office/drawing/2014/main" id="{5F488959-5957-41FF-8BC4-7810E9F429E5}"/>
              </a:ext>
            </a:extLst>
          </p:cNvPr>
          <p:cNvSpPr>
            <a:spLocks noGrp="1"/>
          </p:cNvSpPr>
          <p:nvPr>
            <p:ph type="title"/>
          </p:nvPr>
        </p:nvSpPr>
        <p:spPr/>
        <p:txBody>
          <a:bodyPr/>
          <a:lstStyle/>
          <a:p>
            <a:r>
              <a:rPr lang="en-IN" dirty="0"/>
              <a:t>Dollar-Quoted String Constants</a:t>
            </a:r>
          </a:p>
        </p:txBody>
      </p:sp>
    </p:spTree>
    <p:extLst>
      <p:ext uri="{BB962C8B-B14F-4D97-AF65-F5344CB8AC3E}">
        <p14:creationId xmlns:p14="http://schemas.microsoft.com/office/powerpoint/2010/main" val="2511010770"/>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210F90-66E5-4A18-9B0A-603B3AB35B61}"/>
              </a:ext>
            </a:extLst>
          </p:cNvPr>
          <p:cNvSpPr>
            <a:spLocks noGrp="1"/>
          </p:cNvSpPr>
          <p:nvPr>
            <p:ph sz="quarter" idx="12"/>
          </p:nvPr>
        </p:nvSpPr>
        <p:spPr/>
        <p:txBody>
          <a:bodyPr>
            <a:normAutofit/>
          </a:bodyPr>
          <a:lstStyle/>
          <a:p>
            <a:r>
              <a:rPr lang="en-US" dirty="0"/>
              <a:t>In this example, we did not specify the tag between the two dollar signs($).</a:t>
            </a:r>
          </a:p>
          <a:p>
            <a:r>
              <a:rPr lang="en-US" dirty="0"/>
              <a:t>The following example uses the dollar-quoted string constant syntax with a tag:</a:t>
            </a:r>
          </a:p>
          <a:p>
            <a:pPr lvl="1"/>
            <a:r>
              <a:rPr lang="en-US" dirty="0"/>
              <a:t>SELECT $</a:t>
            </a:r>
            <a:r>
              <a:rPr lang="en-US" dirty="0" err="1"/>
              <a:t>message$I'm</a:t>
            </a:r>
            <a:r>
              <a:rPr lang="en-US" dirty="0"/>
              <a:t> a string constant that contains a backslash \$message$;</a:t>
            </a:r>
          </a:p>
          <a:p>
            <a:pPr lvl="1"/>
            <a:r>
              <a:rPr lang="en-US" dirty="0"/>
              <a:t>In this example, we used the string message as a tag between the two dollar signs ($ )</a:t>
            </a:r>
            <a:endParaRPr lang="en-IN" dirty="0"/>
          </a:p>
        </p:txBody>
      </p:sp>
      <p:sp>
        <p:nvSpPr>
          <p:cNvPr id="3" name="Title 2">
            <a:extLst>
              <a:ext uri="{FF2B5EF4-FFF2-40B4-BE49-F238E27FC236}">
                <a16:creationId xmlns:a16="http://schemas.microsoft.com/office/drawing/2014/main" id="{5F488959-5957-41FF-8BC4-7810E9F429E5}"/>
              </a:ext>
            </a:extLst>
          </p:cNvPr>
          <p:cNvSpPr>
            <a:spLocks noGrp="1"/>
          </p:cNvSpPr>
          <p:nvPr>
            <p:ph type="title"/>
          </p:nvPr>
        </p:nvSpPr>
        <p:spPr/>
        <p:txBody>
          <a:bodyPr/>
          <a:lstStyle/>
          <a:p>
            <a:r>
              <a:rPr lang="en-IN" dirty="0"/>
              <a:t>Dollar-Quoted String Constants</a:t>
            </a:r>
          </a:p>
        </p:txBody>
      </p:sp>
    </p:spTree>
    <p:extLst>
      <p:ext uri="{BB962C8B-B14F-4D97-AF65-F5344CB8AC3E}">
        <p14:creationId xmlns:p14="http://schemas.microsoft.com/office/powerpoint/2010/main" val="3647931859"/>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C585AA-9D34-434D-B17E-AB0E80A91654}"/>
              </a:ext>
            </a:extLst>
          </p:cNvPr>
          <p:cNvSpPr>
            <a:spLocks noGrp="1"/>
          </p:cNvSpPr>
          <p:nvPr>
            <p:ph sz="quarter" idx="12"/>
          </p:nvPr>
        </p:nvSpPr>
        <p:spPr/>
        <p:txBody>
          <a:bodyPr/>
          <a:lstStyle/>
          <a:p>
            <a:pPr marL="0" indent="0">
              <a:buNone/>
            </a:pPr>
            <a:r>
              <a:rPr lang="en-US" dirty="0"/>
              <a:t>do </a:t>
            </a:r>
          </a:p>
          <a:p>
            <a:pPr marL="0" indent="0">
              <a:buNone/>
            </a:pPr>
            <a:r>
              <a:rPr lang="en-US" dirty="0"/>
              <a:t>'declare</a:t>
            </a:r>
          </a:p>
          <a:p>
            <a:pPr marL="0" indent="0">
              <a:buNone/>
            </a:pPr>
            <a:r>
              <a:rPr lang="en-US" dirty="0"/>
              <a:t>   </a:t>
            </a:r>
            <a:r>
              <a:rPr lang="en-US" dirty="0" err="1"/>
              <a:t>film_count</a:t>
            </a:r>
            <a:r>
              <a:rPr lang="en-US" dirty="0"/>
              <a:t> integer;</a:t>
            </a:r>
          </a:p>
          <a:p>
            <a:pPr marL="0" indent="0">
              <a:buNone/>
            </a:pPr>
            <a:r>
              <a:rPr lang="en-US" dirty="0"/>
              <a:t>begin </a:t>
            </a:r>
          </a:p>
          <a:p>
            <a:pPr marL="0" indent="0">
              <a:buNone/>
            </a:pPr>
            <a:r>
              <a:rPr lang="en-US" dirty="0"/>
              <a:t>   select count(*) into </a:t>
            </a:r>
            <a:r>
              <a:rPr lang="en-US" dirty="0" err="1"/>
              <a:t>film_count</a:t>
            </a:r>
            <a:endParaRPr lang="en-US" dirty="0"/>
          </a:p>
          <a:p>
            <a:pPr marL="0" indent="0">
              <a:buNone/>
            </a:pPr>
            <a:r>
              <a:rPr lang="en-US" dirty="0"/>
              <a:t>   from film;</a:t>
            </a:r>
          </a:p>
          <a:p>
            <a:pPr marL="0" indent="0">
              <a:buNone/>
            </a:pPr>
            <a:r>
              <a:rPr lang="en-US" dirty="0"/>
              <a:t>   raise notice ''The number of films: %'', </a:t>
            </a:r>
            <a:r>
              <a:rPr lang="en-US" dirty="0" err="1"/>
              <a:t>film_count</a:t>
            </a:r>
            <a:r>
              <a:rPr lang="en-US" dirty="0"/>
              <a:t>;</a:t>
            </a:r>
          </a:p>
          <a:p>
            <a:pPr marL="0" indent="0">
              <a:buNone/>
            </a:pPr>
            <a:r>
              <a:rPr lang="en-US" dirty="0"/>
              <a:t>end;';</a:t>
            </a:r>
            <a:endParaRPr lang="en-IN" dirty="0"/>
          </a:p>
        </p:txBody>
      </p:sp>
      <p:sp>
        <p:nvSpPr>
          <p:cNvPr id="3" name="Title 2">
            <a:extLst>
              <a:ext uri="{FF2B5EF4-FFF2-40B4-BE49-F238E27FC236}">
                <a16:creationId xmlns:a16="http://schemas.microsoft.com/office/drawing/2014/main" id="{DA0E18CF-8E54-4FAB-AD4F-CAF950FE4900}"/>
              </a:ext>
            </a:extLst>
          </p:cNvPr>
          <p:cNvSpPr>
            <a:spLocks noGrp="1"/>
          </p:cNvSpPr>
          <p:nvPr>
            <p:ph type="title"/>
          </p:nvPr>
        </p:nvSpPr>
        <p:spPr/>
        <p:txBody>
          <a:bodyPr/>
          <a:lstStyle/>
          <a:p>
            <a:r>
              <a:rPr lang="en-US" dirty="0"/>
              <a:t>Using dollar-quoted string constant in anonymous blocks</a:t>
            </a:r>
            <a:endParaRPr lang="en-IN" dirty="0"/>
          </a:p>
        </p:txBody>
      </p:sp>
    </p:spTree>
    <p:extLst>
      <p:ext uri="{BB962C8B-B14F-4D97-AF65-F5344CB8AC3E}">
        <p14:creationId xmlns:p14="http://schemas.microsoft.com/office/powerpoint/2010/main" val="689920532"/>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C585AA-9D34-434D-B17E-AB0E80A91654}"/>
              </a:ext>
            </a:extLst>
          </p:cNvPr>
          <p:cNvSpPr>
            <a:spLocks noGrp="1"/>
          </p:cNvSpPr>
          <p:nvPr>
            <p:ph sz="quarter" idx="12"/>
          </p:nvPr>
        </p:nvSpPr>
        <p:spPr/>
        <p:txBody>
          <a:bodyPr>
            <a:normAutofit fontScale="85000" lnSpcReduction="20000"/>
          </a:bodyPr>
          <a:lstStyle/>
          <a:p>
            <a:pPr marL="0" indent="0">
              <a:buNone/>
            </a:pPr>
            <a:r>
              <a:rPr lang="en-US" dirty="0"/>
              <a:t>To avoid escaping every single quotes and backslashes, you can use the dollar-quoted string as follows</a:t>
            </a:r>
          </a:p>
          <a:p>
            <a:pPr marL="0" indent="0">
              <a:buNone/>
            </a:pPr>
            <a:r>
              <a:rPr lang="en-US" dirty="0"/>
              <a:t>do </a:t>
            </a:r>
          </a:p>
          <a:p>
            <a:pPr marL="0" indent="0">
              <a:buNone/>
            </a:pPr>
            <a:r>
              <a:rPr lang="en-US" dirty="0"/>
              <a:t>$$</a:t>
            </a:r>
          </a:p>
          <a:p>
            <a:pPr marL="0" indent="0">
              <a:buNone/>
            </a:pPr>
            <a:r>
              <a:rPr lang="en-US" dirty="0"/>
              <a:t>declare</a:t>
            </a:r>
          </a:p>
          <a:p>
            <a:pPr marL="0" indent="0">
              <a:buNone/>
            </a:pPr>
            <a:r>
              <a:rPr lang="en-US" dirty="0"/>
              <a:t>   </a:t>
            </a:r>
            <a:r>
              <a:rPr lang="en-US" dirty="0" err="1"/>
              <a:t>film_count</a:t>
            </a:r>
            <a:r>
              <a:rPr lang="en-US" dirty="0"/>
              <a:t> integer;</a:t>
            </a:r>
          </a:p>
          <a:p>
            <a:pPr marL="0" indent="0">
              <a:buNone/>
            </a:pPr>
            <a:r>
              <a:rPr lang="en-US" dirty="0"/>
              <a:t>begin </a:t>
            </a:r>
          </a:p>
          <a:p>
            <a:pPr marL="0" indent="0">
              <a:buNone/>
            </a:pPr>
            <a:r>
              <a:rPr lang="en-US" dirty="0"/>
              <a:t>   select count(*) into </a:t>
            </a:r>
            <a:r>
              <a:rPr lang="en-US" dirty="0" err="1"/>
              <a:t>film_count</a:t>
            </a:r>
            <a:endParaRPr lang="en-US" dirty="0"/>
          </a:p>
          <a:p>
            <a:pPr marL="0" indent="0">
              <a:buNone/>
            </a:pPr>
            <a:r>
              <a:rPr lang="en-US" dirty="0"/>
              <a:t>   from film;</a:t>
            </a:r>
          </a:p>
          <a:p>
            <a:pPr marL="0" indent="0">
              <a:buNone/>
            </a:pPr>
            <a:r>
              <a:rPr lang="en-US" dirty="0"/>
              <a:t>   raise notice 'The number of films: %', </a:t>
            </a:r>
            <a:r>
              <a:rPr lang="en-US" dirty="0" err="1"/>
              <a:t>film_count</a:t>
            </a:r>
            <a:r>
              <a:rPr lang="en-US" dirty="0"/>
              <a:t>;</a:t>
            </a:r>
          </a:p>
          <a:p>
            <a:pPr marL="0" indent="0">
              <a:buNone/>
            </a:pPr>
            <a:r>
              <a:rPr lang="en-US" dirty="0"/>
              <a:t>end;</a:t>
            </a:r>
          </a:p>
          <a:p>
            <a:pPr marL="0" indent="0">
              <a:buNone/>
            </a:pPr>
            <a:r>
              <a:rPr lang="en-US" dirty="0"/>
              <a:t>$$</a:t>
            </a:r>
            <a:endParaRPr lang="en-IN" dirty="0"/>
          </a:p>
        </p:txBody>
      </p:sp>
      <p:sp>
        <p:nvSpPr>
          <p:cNvPr id="3" name="Title 2">
            <a:extLst>
              <a:ext uri="{FF2B5EF4-FFF2-40B4-BE49-F238E27FC236}">
                <a16:creationId xmlns:a16="http://schemas.microsoft.com/office/drawing/2014/main" id="{DA0E18CF-8E54-4FAB-AD4F-CAF950FE4900}"/>
              </a:ext>
            </a:extLst>
          </p:cNvPr>
          <p:cNvSpPr>
            <a:spLocks noGrp="1"/>
          </p:cNvSpPr>
          <p:nvPr>
            <p:ph type="title"/>
          </p:nvPr>
        </p:nvSpPr>
        <p:spPr/>
        <p:txBody>
          <a:bodyPr/>
          <a:lstStyle/>
          <a:p>
            <a:r>
              <a:rPr lang="en-US" dirty="0"/>
              <a:t>Using dollar-quoted string constant in anonymous blocks</a:t>
            </a:r>
            <a:endParaRPr lang="en-IN" dirty="0"/>
          </a:p>
        </p:txBody>
      </p:sp>
    </p:spTree>
    <p:extLst>
      <p:ext uri="{BB962C8B-B14F-4D97-AF65-F5344CB8AC3E}">
        <p14:creationId xmlns:p14="http://schemas.microsoft.com/office/powerpoint/2010/main" val="1427979816"/>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A0E18CF-8E54-4FAB-AD4F-CAF950FE4900}"/>
              </a:ext>
            </a:extLst>
          </p:cNvPr>
          <p:cNvSpPr>
            <a:spLocks noGrp="1"/>
          </p:cNvSpPr>
          <p:nvPr>
            <p:ph type="title"/>
          </p:nvPr>
        </p:nvSpPr>
        <p:spPr/>
        <p:txBody>
          <a:bodyPr/>
          <a:lstStyle/>
          <a:p>
            <a:r>
              <a:rPr lang="en-US" dirty="0"/>
              <a:t>Using dollar-quoted string constant in anonymous blocks</a:t>
            </a:r>
            <a:endParaRPr lang="en-IN" dirty="0"/>
          </a:p>
        </p:txBody>
      </p:sp>
      <p:pic>
        <p:nvPicPr>
          <p:cNvPr id="7" name="Picture 6">
            <a:extLst>
              <a:ext uri="{FF2B5EF4-FFF2-40B4-BE49-F238E27FC236}">
                <a16:creationId xmlns:a16="http://schemas.microsoft.com/office/drawing/2014/main" id="{B2DBB0C5-9EC0-4663-8694-8FA3824B5EC9}"/>
              </a:ext>
            </a:extLst>
          </p:cNvPr>
          <p:cNvPicPr>
            <a:picLocks noChangeAspect="1"/>
          </p:cNvPicPr>
          <p:nvPr/>
        </p:nvPicPr>
        <p:blipFill rotWithShape="1">
          <a:blip r:embed="rId2"/>
          <a:srcRect l="24936" t="16688" r="1558" b="20998"/>
          <a:stretch/>
        </p:blipFill>
        <p:spPr>
          <a:xfrm>
            <a:off x="254522" y="1470580"/>
            <a:ext cx="8816779" cy="4204355"/>
          </a:xfrm>
          <a:prstGeom prst="rect">
            <a:avLst/>
          </a:prstGeom>
        </p:spPr>
      </p:pic>
    </p:spTree>
    <p:extLst>
      <p:ext uri="{BB962C8B-B14F-4D97-AF65-F5344CB8AC3E}">
        <p14:creationId xmlns:p14="http://schemas.microsoft.com/office/powerpoint/2010/main" val="1794572508"/>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E53B0FE-79D5-49EA-AA60-28D586359E18}"/>
              </a:ext>
            </a:extLst>
          </p:cNvPr>
          <p:cNvSpPr>
            <a:spLocks noGrp="1"/>
          </p:cNvSpPr>
          <p:nvPr>
            <p:ph sz="quarter" idx="12"/>
          </p:nvPr>
        </p:nvSpPr>
        <p:spPr/>
        <p:txBody>
          <a:bodyPr/>
          <a:lstStyle/>
          <a:p>
            <a:pPr marL="0" indent="0">
              <a:buNone/>
            </a:pPr>
            <a:r>
              <a:rPr lang="en-US" dirty="0"/>
              <a:t>create function </a:t>
            </a:r>
            <a:r>
              <a:rPr lang="en-US" dirty="0" err="1"/>
              <a:t>find_film_by_id</a:t>
            </a:r>
            <a:r>
              <a:rPr lang="en-US" dirty="0"/>
              <a:t>(</a:t>
            </a:r>
          </a:p>
          <a:p>
            <a:pPr marL="0" indent="0">
              <a:buNone/>
            </a:pPr>
            <a:r>
              <a:rPr lang="en-US" dirty="0"/>
              <a:t>   id int</a:t>
            </a:r>
          </a:p>
          <a:p>
            <a:pPr marL="0" indent="0">
              <a:buNone/>
            </a:pPr>
            <a:r>
              <a:rPr lang="en-US" dirty="0"/>
              <a:t>) returns film </a:t>
            </a:r>
          </a:p>
          <a:p>
            <a:pPr marL="0" indent="0">
              <a:buNone/>
            </a:pPr>
            <a:r>
              <a:rPr lang="en-US" dirty="0"/>
              <a:t>language </a:t>
            </a:r>
            <a:r>
              <a:rPr lang="en-US" dirty="0" err="1"/>
              <a:t>sql</a:t>
            </a:r>
            <a:endParaRPr lang="en-US" dirty="0"/>
          </a:p>
          <a:p>
            <a:pPr marL="0" indent="0">
              <a:buNone/>
            </a:pPr>
            <a:r>
              <a:rPr lang="en-US" dirty="0"/>
              <a:t>as </a:t>
            </a:r>
          </a:p>
          <a:p>
            <a:pPr marL="0" indent="0">
              <a:buNone/>
            </a:pPr>
            <a:r>
              <a:rPr lang="en-US" dirty="0"/>
              <a:t>$$</a:t>
            </a:r>
          </a:p>
          <a:p>
            <a:pPr marL="0" indent="0">
              <a:buNone/>
            </a:pPr>
            <a:r>
              <a:rPr lang="en-US" dirty="0"/>
              <a:t>  select * from film </a:t>
            </a:r>
          </a:p>
          <a:p>
            <a:pPr marL="0" indent="0">
              <a:buNone/>
            </a:pPr>
            <a:r>
              <a:rPr lang="en-US" dirty="0"/>
              <a:t>  where </a:t>
            </a:r>
            <a:r>
              <a:rPr lang="en-US" dirty="0" err="1"/>
              <a:t>film_id</a:t>
            </a:r>
            <a:r>
              <a:rPr lang="en-US" dirty="0"/>
              <a:t> = id;  </a:t>
            </a:r>
          </a:p>
          <a:p>
            <a:pPr marL="0" indent="0">
              <a:buNone/>
            </a:pPr>
            <a:r>
              <a:rPr lang="en-US" dirty="0"/>
              <a:t>$$;</a:t>
            </a:r>
            <a:endParaRPr lang="en-IN" dirty="0"/>
          </a:p>
        </p:txBody>
      </p:sp>
      <p:sp>
        <p:nvSpPr>
          <p:cNvPr id="3" name="Title 2">
            <a:extLst>
              <a:ext uri="{FF2B5EF4-FFF2-40B4-BE49-F238E27FC236}">
                <a16:creationId xmlns:a16="http://schemas.microsoft.com/office/drawing/2014/main" id="{C78F0376-26DA-4460-A2D6-32F37362E3F8}"/>
              </a:ext>
            </a:extLst>
          </p:cNvPr>
          <p:cNvSpPr>
            <a:spLocks noGrp="1"/>
          </p:cNvSpPr>
          <p:nvPr>
            <p:ph type="title"/>
          </p:nvPr>
        </p:nvSpPr>
        <p:spPr/>
        <p:txBody>
          <a:bodyPr/>
          <a:lstStyle/>
          <a:p>
            <a:r>
              <a:rPr lang="en-US" dirty="0"/>
              <a:t>Using dollar-quoted string constants in functions</a:t>
            </a:r>
            <a:endParaRPr lang="en-IN" dirty="0"/>
          </a:p>
        </p:txBody>
      </p:sp>
    </p:spTree>
    <p:extLst>
      <p:ext uri="{BB962C8B-B14F-4D97-AF65-F5344CB8AC3E}">
        <p14:creationId xmlns:p14="http://schemas.microsoft.com/office/powerpoint/2010/main" val="1865470366"/>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37DAEEC-5C54-4D1D-8477-D176C0F16EC3}"/>
              </a:ext>
            </a:extLst>
          </p:cNvPr>
          <p:cNvPicPr>
            <a:picLocks noChangeAspect="1"/>
          </p:cNvPicPr>
          <p:nvPr/>
        </p:nvPicPr>
        <p:blipFill rotWithShape="1">
          <a:blip r:embed="rId2"/>
          <a:srcRect b="68465"/>
          <a:stretch/>
        </p:blipFill>
        <p:spPr>
          <a:xfrm>
            <a:off x="0" y="1158908"/>
            <a:ext cx="9144000" cy="1876523"/>
          </a:xfrm>
          <a:prstGeom prst="rect">
            <a:avLst/>
          </a:prstGeom>
        </p:spPr>
      </p:pic>
      <p:sp>
        <p:nvSpPr>
          <p:cNvPr id="6" name="Title 5">
            <a:extLst>
              <a:ext uri="{FF2B5EF4-FFF2-40B4-BE49-F238E27FC236}">
                <a16:creationId xmlns:a16="http://schemas.microsoft.com/office/drawing/2014/main" id="{1DE02A32-2EDA-4054-9C88-612A0DE94B06}"/>
              </a:ext>
            </a:extLst>
          </p:cNvPr>
          <p:cNvSpPr>
            <a:spLocks noGrp="1"/>
          </p:cNvSpPr>
          <p:nvPr>
            <p:ph type="title"/>
          </p:nvPr>
        </p:nvSpPr>
        <p:spPr/>
        <p:txBody>
          <a:bodyPr/>
          <a:lstStyle/>
          <a:p>
            <a:r>
              <a:rPr lang="en-US" dirty="0"/>
              <a:t>Using dollar-quoted string constants in functions</a:t>
            </a:r>
            <a:endParaRPr lang="en-IN" dirty="0"/>
          </a:p>
        </p:txBody>
      </p:sp>
      <p:pic>
        <p:nvPicPr>
          <p:cNvPr id="8" name="Picture 7">
            <a:extLst>
              <a:ext uri="{FF2B5EF4-FFF2-40B4-BE49-F238E27FC236}">
                <a16:creationId xmlns:a16="http://schemas.microsoft.com/office/drawing/2014/main" id="{C64F3A4A-A3C7-493B-A0A7-7F6ADFCD6C7B}"/>
              </a:ext>
            </a:extLst>
          </p:cNvPr>
          <p:cNvPicPr>
            <a:picLocks noChangeAspect="1"/>
          </p:cNvPicPr>
          <p:nvPr/>
        </p:nvPicPr>
        <p:blipFill rotWithShape="1">
          <a:blip r:embed="rId3"/>
          <a:srcRect l="25053" t="19805" r="4123" b="28144"/>
          <a:stretch/>
        </p:blipFill>
        <p:spPr>
          <a:xfrm>
            <a:off x="0" y="3429000"/>
            <a:ext cx="9144000" cy="3141482"/>
          </a:xfrm>
          <a:prstGeom prst="rect">
            <a:avLst/>
          </a:prstGeom>
        </p:spPr>
      </p:pic>
    </p:spTree>
    <p:extLst>
      <p:ext uri="{BB962C8B-B14F-4D97-AF65-F5344CB8AC3E}">
        <p14:creationId xmlns:p14="http://schemas.microsoft.com/office/powerpoint/2010/main" val="590127352"/>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4FE576-132C-4640-B9FE-FAC9AA7FA0B9}"/>
              </a:ext>
            </a:extLst>
          </p:cNvPr>
          <p:cNvSpPr>
            <a:spLocks noGrp="1"/>
          </p:cNvSpPr>
          <p:nvPr>
            <p:ph sz="quarter" idx="12"/>
          </p:nvPr>
        </p:nvSpPr>
        <p:spPr/>
        <p:txBody>
          <a:bodyPr>
            <a:normAutofit lnSpcReduction="10000"/>
          </a:bodyPr>
          <a:lstStyle/>
          <a:p>
            <a:r>
              <a:rPr lang="en-US" dirty="0"/>
              <a:t>PL/</a:t>
            </a:r>
            <a:r>
              <a:rPr lang="en-US" dirty="0" err="1"/>
              <a:t>pgSQL</a:t>
            </a:r>
            <a:r>
              <a:rPr lang="en-US" dirty="0"/>
              <a:t> is a block-structured language, therefore, a PL/</a:t>
            </a:r>
            <a:r>
              <a:rPr lang="en-US" dirty="0" err="1"/>
              <a:t>pgSQL</a:t>
            </a:r>
            <a:r>
              <a:rPr lang="en-US" dirty="0"/>
              <a:t> function or stored procedure is organized into blocks.</a:t>
            </a:r>
          </a:p>
          <a:p>
            <a:pPr marL="0" indent="0">
              <a:buNone/>
            </a:pPr>
            <a:r>
              <a:rPr lang="en-US" dirty="0"/>
              <a:t>[ &lt;&lt;label&gt;&gt; ]</a:t>
            </a:r>
          </a:p>
          <a:p>
            <a:pPr marL="0" indent="0">
              <a:buNone/>
            </a:pPr>
            <a:r>
              <a:rPr lang="en-US" dirty="0"/>
              <a:t>[ declare</a:t>
            </a:r>
          </a:p>
          <a:p>
            <a:pPr marL="0" indent="0">
              <a:buNone/>
            </a:pPr>
            <a:r>
              <a:rPr lang="en-US" dirty="0"/>
              <a:t>    declarations ]</a:t>
            </a:r>
          </a:p>
          <a:p>
            <a:pPr marL="0" indent="0">
              <a:buNone/>
            </a:pPr>
            <a:r>
              <a:rPr lang="en-US" dirty="0"/>
              <a:t>begin</a:t>
            </a:r>
          </a:p>
          <a:p>
            <a:pPr marL="0" indent="0">
              <a:buNone/>
            </a:pPr>
            <a:r>
              <a:rPr lang="en-US" dirty="0"/>
              <a:t>    statements;</a:t>
            </a:r>
          </a:p>
          <a:p>
            <a:pPr marL="0" indent="0">
              <a:buNone/>
            </a:pPr>
            <a:r>
              <a:rPr lang="en-US" dirty="0"/>
              <a:t>	...</a:t>
            </a:r>
          </a:p>
          <a:p>
            <a:pPr marL="0" indent="0">
              <a:buNone/>
            </a:pPr>
            <a:r>
              <a:rPr lang="en-US" dirty="0"/>
              <a:t>end [ label ];</a:t>
            </a:r>
            <a:endParaRPr lang="en-IN" dirty="0"/>
          </a:p>
        </p:txBody>
      </p:sp>
      <p:sp>
        <p:nvSpPr>
          <p:cNvPr id="2" name="Title 1">
            <a:extLst>
              <a:ext uri="{FF2B5EF4-FFF2-40B4-BE49-F238E27FC236}">
                <a16:creationId xmlns:a16="http://schemas.microsoft.com/office/drawing/2014/main" id="{52DA6C9C-C60F-4939-A1F1-8C55CAC7D5D5}"/>
              </a:ext>
            </a:extLst>
          </p:cNvPr>
          <p:cNvSpPr>
            <a:spLocks noGrp="1"/>
          </p:cNvSpPr>
          <p:nvPr>
            <p:ph type="title"/>
          </p:nvPr>
        </p:nvSpPr>
        <p:spPr/>
        <p:txBody>
          <a:bodyPr/>
          <a:lstStyle/>
          <a:p>
            <a:r>
              <a:rPr lang="en-IN" dirty="0"/>
              <a:t>PL/</a:t>
            </a:r>
            <a:r>
              <a:rPr lang="en-IN" dirty="0" err="1"/>
              <a:t>pgSQL</a:t>
            </a:r>
            <a:r>
              <a:rPr lang="en-IN" dirty="0"/>
              <a:t> Block Structure</a:t>
            </a:r>
          </a:p>
        </p:txBody>
      </p:sp>
    </p:spTree>
    <p:extLst>
      <p:ext uri="{BB962C8B-B14F-4D97-AF65-F5344CB8AC3E}">
        <p14:creationId xmlns:p14="http://schemas.microsoft.com/office/powerpoint/2010/main" val="2448017163"/>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4FE576-132C-4640-B9FE-FAC9AA7FA0B9}"/>
              </a:ext>
            </a:extLst>
          </p:cNvPr>
          <p:cNvSpPr>
            <a:spLocks noGrp="1"/>
          </p:cNvSpPr>
          <p:nvPr>
            <p:ph sz="quarter" idx="12"/>
          </p:nvPr>
        </p:nvSpPr>
        <p:spPr/>
        <p:txBody>
          <a:bodyPr>
            <a:normAutofit lnSpcReduction="10000"/>
          </a:bodyPr>
          <a:lstStyle/>
          <a:p>
            <a:r>
              <a:rPr lang="en-US" dirty="0"/>
              <a:t>PL/</a:t>
            </a:r>
            <a:r>
              <a:rPr lang="en-US" dirty="0" err="1"/>
              <a:t>pgSQL</a:t>
            </a:r>
            <a:r>
              <a:rPr lang="en-US" dirty="0"/>
              <a:t> is a block-structured language, therefore, a PL/</a:t>
            </a:r>
            <a:r>
              <a:rPr lang="en-US" dirty="0" err="1"/>
              <a:t>pgSQL</a:t>
            </a:r>
            <a:r>
              <a:rPr lang="en-US" dirty="0"/>
              <a:t> function or stored procedure is organized into blocks.</a:t>
            </a:r>
          </a:p>
          <a:p>
            <a:pPr marL="0" indent="0">
              <a:buNone/>
            </a:pPr>
            <a:r>
              <a:rPr lang="en-US" dirty="0"/>
              <a:t>[ &lt;&lt;label&gt;&gt; ]</a:t>
            </a:r>
          </a:p>
          <a:p>
            <a:pPr marL="0" indent="0">
              <a:buNone/>
            </a:pPr>
            <a:r>
              <a:rPr lang="en-US" dirty="0"/>
              <a:t>[ declare</a:t>
            </a:r>
          </a:p>
          <a:p>
            <a:pPr marL="0" indent="0">
              <a:buNone/>
            </a:pPr>
            <a:r>
              <a:rPr lang="en-US" dirty="0"/>
              <a:t>    declarations ]</a:t>
            </a:r>
          </a:p>
          <a:p>
            <a:pPr marL="0" indent="0">
              <a:buNone/>
            </a:pPr>
            <a:r>
              <a:rPr lang="en-US" dirty="0"/>
              <a:t>begin</a:t>
            </a:r>
          </a:p>
          <a:p>
            <a:pPr marL="0" indent="0">
              <a:buNone/>
            </a:pPr>
            <a:r>
              <a:rPr lang="en-US" dirty="0"/>
              <a:t>    statements;</a:t>
            </a:r>
          </a:p>
          <a:p>
            <a:pPr marL="0" indent="0">
              <a:buNone/>
            </a:pPr>
            <a:r>
              <a:rPr lang="en-US" dirty="0"/>
              <a:t>	...</a:t>
            </a:r>
          </a:p>
          <a:p>
            <a:pPr marL="0" indent="0">
              <a:buNone/>
            </a:pPr>
            <a:r>
              <a:rPr lang="en-US" dirty="0"/>
              <a:t>end [ label ];</a:t>
            </a:r>
            <a:endParaRPr lang="en-IN" dirty="0"/>
          </a:p>
        </p:txBody>
      </p:sp>
      <p:sp>
        <p:nvSpPr>
          <p:cNvPr id="2" name="Title 1">
            <a:extLst>
              <a:ext uri="{FF2B5EF4-FFF2-40B4-BE49-F238E27FC236}">
                <a16:creationId xmlns:a16="http://schemas.microsoft.com/office/drawing/2014/main" id="{52DA6C9C-C60F-4939-A1F1-8C55CAC7D5D5}"/>
              </a:ext>
            </a:extLst>
          </p:cNvPr>
          <p:cNvSpPr>
            <a:spLocks noGrp="1"/>
          </p:cNvSpPr>
          <p:nvPr>
            <p:ph type="title"/>
          </p:nvPr>
        </p:nvSpPr>
        <p:spPr/>
        <p:txBody>
          <a:bodyPr/>
          <a:lstStyle/>
          <a:p>
            <a:r>
              <a:rPr lang="en-IN" dirty="0"/>
              <a:t>PL/</a:t>
            </a:r>
            <a:r>
              <a:rPr lang="en-IN" dirty="0" err="1"/>
              <a:t>pgSQL</a:t>
            </a:r>
            <a:r>
              <a:rPr lang="en-IN" dirty="0"/>
              <a:t> Block Structure</a:t>
            </a:r>
          </a:p>
        </p:txBody>
      </p:sp>
    </p:spTree>
    <p:extLst>
      <p:ext uri="{BB962C8B-B14F-4D97-AF65-F5344CB8AC3E}">
        <p14:creationId xmlns:p14="http://schemas.microsoft.com/office/powerpoint/2010/main" val="309203635"/>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4FE576-132C-4640-B9FE-FAC9AA7FA0B9}"/>
              </a:ext>
            </a:extLst>
          </p:cNvPr>
          <p:cNvSpPr>
            <a:spLocks noGrp="1"/>
          </p:cNvSpPr>
          <p:nvPr>
            <p:ph sz="quarter" idx="12"/>
          </p:nvPr>
        </p:nvSpPr>
        <p:spPr>
          <a:xfrm>
            <a:off x="457201" y="1381125"/>
            <a:ext cx="8228012" cy="5057382"/>
          </a:xfrm>
        </p:spPr>
        <p:txBody>
          <a:bodyPr>
            <a:normAutofit fontScale="77500" lnSpcReduction="20000"/>
          </a:bodyPr>
          <a:lstStyle/>
          <a:p>
            <a:r>
              <a:rPr lang="en-US" dirty="0"/>
              <a:t>Each block has two sections: declaration and body. </a:t>
            </a:r>
          </a:p>
          <a:p>
            <a:r>
              <a:rPr lang="en-US" dirty="0"/>
              <a:t>The declaration section is optional while the body section is required.</a:t>
            </a:r>
          </a:p>
          <a:p>
            <a:r>
              <a:rPr lang="en-US" dirty="0"/>
              <a:t>A block is ended with a semicolon (;) after the END keyword.</a:t>
            </a:r>
          </a:p>
          <a:p>
            <a:r>
              <a:rPr lang="en-US" dirty="0"/>
              <a:t>A block may have an optional label located at the beginning and at the end. </a:t>
            </a:r>
          </a:p>
          <a:p>
            <a:r>
              <a:rPr lang="en-US" dirty="0"/>
              <a:t>We use the block label when you want to specify it in the EXIT statement of the block body or when you want to qualify the names of variables declared in the block.</a:t>
            </a:r>
          </a:p>
          <a:p>
            <a:r>
              <a:rPr lang="en-US" dirty="0"/>
              <a:t>The declaration section is where you declare all variables used within the body section. </a:t>
            </a:r>
          </a:p>
          <a:p>
            <a:r>
              <a:rPr lang="en-US" dirty="0"/>
              <a:t>Each statement in the declaration section is terminated with a semicolon (;).</a:t>
            </a:r>
          </a:p>
          <a:p>
            <a:r>
              <a:rPr lang="en-US" dirty="0"/>
              <a:t>The body section is where you place the code. Each statement in the body section is also terminated with a semicolon (;).</a:t>
            </a:r>
            <a:endParaRPr lang="en-IN" dirty="0"/>
          </a:p>
        </p:txBody>
      </p:sp>
      <p:sp>
        <p:nvSpPr>
          <p:cNvPr id="2" name="Title 1">
            <a:extLst>
              <a:ext uri="{FF2B5EF4-FFF2-40B4-BE49-F238E27FC236}">
                <a16:creationId xmlns:a16="http://schemas.microsoft.com/office/drawing/2014/main" id="{52DA6C9C-C60F-4939-A1F1-8C55CAC7D5D5}"/>
              </a:ext>
            </a:extLst>
          </p:cNvPr>
          <p:cNvSpPr>
            <a:spLocks noGrp="1"/>
          </p:cNvSpPr>
          <p:nvPr>
            <p:ph type="title"/>
          </p:nvPr>
        </p:nvSpPr>
        <p:spPr/>
        <p:txBody>
          <a:bodyPr/>
          <a:lstStyle/>
          <a:p>
            <a:r>
              <a:rPr lang="en-IN" dirty="0"/>
              <a:t>PL/</a:t>
            </a:r>
            <a:r>
              <a:rPr lang="en-IN" dirty="0" err="1"/>
              <a:t>pgSQL</a:t>
            </a:r>
            <a:r>
              <a:rPr lang="en-IN" dirty="0"/>
              <a:t> Block Structure</a:t>
            </a:r>
          </a:p>
        </p:txBody>
      </p:sp>
    </p:spTree>
    <p:extLst>
      <p:ext uri="{BB962C8B-B14F-4D97-AF65-F5344CB8AC3E}">
        <p14:creationId xmlns:p14="http://schemas.microsoft.com/office/powerpoint/2010/main" val="1076767820"/>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A6C9C-C60F-4939-A1F1-8C55CAC7D5D5}"/>
              </a:ext>
            </a:extLst>
          </p:cNvPr>
          <p:cNvSpPr>
            <a:spLocks noGrp="1"/>
          </p:cNvSpPr>
          <p:nvPr>
            <p:ph type="title"/>
          </p:nvPr>
        </p:nvSpPr>
        <p:spPr/>
        <p:txBody>
          <a:bodyPr/>
          <a:lstStyle/>
          <a:p>
            <a:r>
              <a:rPr lang="en-IN" dirty="0"/>
              <a:t>PL/</a:t>
            </a:r>
            <a:r>
              <a:rPr lang="en-IN" dirty="0" err="1"/>
              <a:t>pgSQL</a:t>
            </a:r>
            <a:r>
              <a:rPr lang="en-IN" dirty="0"/>
              <a:t> Block Structure</a:t>
            </a:r>
          </a:p>
        </p:txBody>
      </p:sp>
      <p:sp>
        <p:nvSpPr>
          <p:cNvPr id="7" name="TextBox 6">
            <a:extLst>
              <a:ext uri="{FF2B5EF4-FFF2-40B4-BE49-F238E27FC236}">
                <a16:creationId xmlns:a16="http://schemas.microsoft.com/office/drawing/2014/main" id="{5552C412-FF89-4846-A32A-BEEFFA7D1E9D}"/>
              </a:ext>
            </a:extLst>
          </p:cNvPr>
          <p:cNvSpPr txBox="1"/>
          <p:nvPr/>
        </p:nvSpPr>
        <p:spPr>
          <a:xfrm>
            <a:off x="565607" y="1517714"/>
            <a:ext cx="8003357" cy="4524315"/>
          </a:xfrm>
          <a:prstGeom prst="rect">
            <a:avLst/>
          </a:prstGeom>
          <a:noFill/>
        </p:spPr>
        <p:txBody>
          <a:bodyPr wrap="square">
            <a:spAutoFit/>
          </a:bodyPr>
          <a:lstStyle/>
          <a:p>
            <a:r>
              <a:rPr lang="en-US" sz="2400" dirty="0"/>
              <a:t>do $$ </a:t>
            </a:r>
          </a:p>
          <a:p>
            <a:r>
              <a:rPr lang="en-US" sz="2400" dirty="0"/>
              <a:t>&lt;&lt;</a:t>
            </a:r>
            <a:r>
              <a:rPr lang="en-US" sz="2400" dirty="0" err="1"/>
              <a:t>first_block</a:t>
            </a:r>
            <a:r>
              <a:rPr lang="en-US" sz="2400" dirty="0"/>
              <a:t>&gt;&gt;</a:t>
            </a:r>
          </a:p>
          <a:p>
            <a:r>
              <a:rPr lang="en-US" sz="2400" dirty="0"/>
              <a:t>declare</a:t>
            </a:r>
          </a:p>
          <a:p>
            <a:r>
              <a:rPr lang="en-US" sz="2400" dirty="0"/>
              <a:t>  </a:t>
            </a:r>
            <a:r>
              <a:rPr lang="en-US" sz="2400" dirty="0" err="1"/>
              <a:t>film_count</a:t>
            </a:r>
            <a:r>
              <a:rPr lang="en-US" sz="2400" dirty="0"/>
              <a:t> integer := 0;</a:t>
            </a:r>
          </a:p>
          <a:p>
            <a:r>
              <a:rPr lang="en-US" sz="2400" dirty="0"/>
              <a:t>begin</a:t>
            </a:r>
          </a:p>
          <a:p>
            <a:r>
              <a:rPr lang="en-US" sz="2400" dirty="0"/>
              <a:t>   -- get the number of films</a:t>
            </a:r>
          </a:p>
          <a:p>
            <a:r>
              <a:rPr lang="en-US" sz="2400" dirty="0"/>
              <a:t>   select count(*) </a:t>
            </a:r>
          </a:p>
          <a:p>
            <a:r>
              <a:rPr lang="en-US" sz="2400" dirty="0"/>
              <a:t>   into </a:t>
            </a:r>
            <a:r>
              <a:rPr lang="en-US" sz="2400" dirty="0" err="1"/>
              <a:t>film_count</a:t>
            </a:r>
            <a:endParaRPr lang="en-US" sz="2400" dirty="0"/>
          </a:p>
          <a:p>
            <a:r>
              <a:rPr lang="en-US" sz="2400" dirty="0"/>
              <a:t>   from films;</a:t>
            </a:r>
          </a:p>
          <a:p>
            <a:r>
              <a:rPr lang="en-US" sz="2400" dirty="0"/>
              <a:t>   -- display a message</a:t>
            </a:r>
          </a:p>
          <a:p>
            <a:r>
              <a:rPr lang="en-US" sz="2400" dirty="0"/>
              <a:t>   raise notice 'The number of films is %', </a:t>
            </a:r>
            <a:r>
              <a:rPr lang="en-US" sz="2400" dirty="0" err="1"/>
              <a:t>film_count</a:t>
            </a:r>
            <a:r>
              <a:rPr lang="en-US" sz="2400" dirty="0"/>
              <a:t>;</a:t>
            </a:r>
          </a:p>
          <a:p>
            <a:r>
              <a:rPr lang="en-US" sz="2400" dirty="0"/>
              <a:t>end </a:t>
            </a:r>
            <a:r>
              <a:rPr lang="en-US" sz="2400" dirty="0" err="1"/>
              <a:t>first_block</a:t>
            </a:r>
            <a:r>
              <a:rPr lang="en-US" sz="2400" dirty="0"/>
              <a:t> $$;</a:t>
            </a:r>
            <a:endParaRPr lang="en-IN" sz="2400" dirty="0"/>
          </a:p>
        </p:txBody>
      </p:sp>
    </p:spTree>
    <p:extLst>
      <p:ext uri="{BB962C8B-B14F-4D97-AF65-F5344CB8AC3E}">
        <p14:creationId xmlns:p14="http://schemas.microsoft.com/office/powerpoint/2010/main" val="1465943704"/>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A6C9C-C60F-4939-A1F1-8C55CAC7D5D5}"/>
              </a:ext>
            </a:extLst>
          </p:cNvPr>
          <p:cNvSpPr>
            <a:spLocks noGrp="1"/>
          </p:cNvSpPr>
          <p:nvPr>
            <p:ph type="title"/>
          </p:nvPr>
        </p:nvSpPr>
        <p:spPr/>
        <p:txBody>
          <a:bodyPr/>
          <a:lstStyle/>
          <a:p>
            <a:r>
              <a:rPr lang="en-IN" dirty="0"/>
              <a:t>PL/</a:t>
            </a:r>
            <a:r>
              <a:rPr lang="en-IN" dirty="0" err="1"/>
              <a:t>pgSQL</a:t>
            </a:r>
            <a:r>
              <a:rPr lang="en-IN" dirty="0"/>
              <a:t> Block Structure</a:t>
            </a:r>
          </a:p>
        </p:txBody>
      </p:sp>
      <p:pic>
        <p:nvPicPr>
          <p:cNvPr id="4" name="Picture 3">
            <a:extLst>
              <a:ext uri="{FF2B5EF4-FFF2-40B4-BE49-F238E27FC236}">
                <a16:creationId xmlns:a16="http://schemas.microsoft.com/office/drawing/2014/main" id="{A1D91421-E204-4ECB-B3A8-31022751D971}"/>
              </a:ext>
            </a:extLst>
          </p:cNvPr>
          <p:cNvPicPr>
            <a:picLocks noChangeAspect="1"/>
          </p:cNvPicPr>
          <p:nvPr/>
        </p:nvPicPr>
        <p:blipFill rotWithShape="1">
          <a:blip r:embed="rId2"/>
          <a:srcRect l="24020" t="15590" r="2990" b="20630"/>
          <a:stretch/>
        </p:blipFill>
        <p:spPr>
          <a:xfrm>
            <a:off x="0" y="1609627"/>
            <a:ext cx="9144000" cy="4494506"/>
          </a:xfrm>
          <a:prstGeom prst="rect">
            <a:avLst/>
          </a:prstGeom>
        </p:spPr>
      </p:pic>
    </p:spTree>
    <p:extLst>
      <p:ext uri="{BB962C8B-B14F-4D97-AF65-F5344CB8AC3E}">
        <p14:creationId xmlns:p14="http://schemas.microsoft.com/office/powerpoint/2010/main" val="221205266"/>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63D5031-E63D-45F2-80CB-BCCA12658698}"/>
              </a:ext>
            </a:extLst>
          </p:cNvPr>
          <p:cNvSpPr>
            <a:spLocks noGrp="1"/>
          </p:cNvSpPr>
          <p:nvPr>
            <p:ph sz="quarter" idx="12"/>
          </p:nvPr>
        </p:nvSpPr>
        <p:spPr>
          <a:xfrm>
            <a:off x="457201" y="1381125"/>
            <a:ext cx="8228012" cy="2342463"/>
          </a:xfrm>
        </p:spPr>
        <p:txBody>
          <a:bodyPr/>
          <a:lstStyle/>
          <a:p>
            <a:r>
              <a:rPr lang="en-US" dirty="0"/>
              <a:t>PL/</a:t>
            </a:r>
            <a:r>
              <a:rPr lang="en-US" dirty="0" err="1"/>
              <a:t>pgSQL</a:t>
            </a:r>
            <a:r>
              <a:rPr lang="en-US" dirty="0"/>
              <a:t> allows you to place a block inside the body of another block.</a:t>
            </a:r>
          </a:p>
          <a:p>
            <a:r>
              <a:rPr lang="en-US" dirty="0"/>
              <a:t>The block nested inside another block is called a subblock. The block that contains the subblock is referred to as an outer block.</a:t>
            </a:r>
            <a:endParaRPr lang="en-IN" dirty="0"/>
          </a:p>
        </p:txBody>
      </p:sp>
      <p:sp>
        <p:nvSpPr>
          <p:cNvPr id="2" name="Title 1">
            <a:extLst>
              <a:ext uri="{FF2B5EF4-FFF2-40B4-BE49-F238E27FC236}">
                <a16:creationId xmlns:a16="http://schemas.microsoft.com/office/drawing/2014/main" id="{52DA6C9C-C60F-4939-A1F1-8C55CAC7D5D5}"/>
              </a:ext>
            </a:extLst>
          </p:cNvPr>
          <p:cNvSpPr>
            <a:spLocks noGrp="1"/>
          </p:cNvSpPr>
          <p:nvPr>
            <p:ph type="title"/>
          </p:nvPr>
        </p:nvSpPr>
        <p:spPr/>
        <p:txBody>
          <a:bodyPr/>
          <a:lstStyle/>
          <a:p>
            <a:r>
              <a:rPr lang="en-IN" dirty="0"/>
              <a:t>PL/</a:t>
            </a:r>
            <a:r>
              <a:rPr lang="en-IN" dirty="0" err="1"/>
              <a:t>pgSQL</a:t>
            </a:r>
            <a:r>
              <a:rPr lang="en-IN" dirty="0"/>
              <a:t> Subblocks</a:t>
            </a:r>
          </a:p>
        </p:txBody>
      </p:sp>
      <p:pic>
        <p:nvPicPr>
          <p:cNvPr id="1026" name="Picture 2" descr="plpgsql block structure">
            <a:extLst>
              <a:ext uri="{FF2B5EF4-FFF2-40B4-BE49-F238E27FC236}">
                <a16:creationId xmlns:a16="http://schemas.microsoft.com/office/drawing/2014/main" id="{48EFBDB5-5EDA-4B00-8B4D-282CC7084C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1331" y="3579191"/>
            <a:ext cx="3400780" cy="30195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9553272"/>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0BCE413-BAA5-40EB-ADA4-BF74E35EE3DB}"/>
              </a:ext>
            </a:extLst>
          </p:cNvPr>
          <p:cNvSpPr>
            <a:spLocks noGrp="1"/>
          </p:cNvSpPr>
          <p:nvPr>
            <p:ph sz="quarter" idx="12"/>
          </p:nvPr>
        </p:nvSpPr>
        <p:spPr/>
        <p:txBody>
          <a:bodyPr/>
          <a:lstStyle/>
          <a:p>
            <a:r>
              <a:rPr lang="en-US" dirty="0"/>
              <a:t>A variable is a meaningful name of a memory location.</a:t>
            </a:r>
          </a:p>
          <a:p>
            <a:r>
              <a:rPr lang="en-US" dirty="0"/>
              <a:t>A variable holds a value that can be changed through the block. </a:t>
            </a:r>
          </a:p>
          <a:p>
            <a:r>
              <a:rPr lang="en-US" dirty="0"/>
              <a:t>A variable is always associated with a particular data type.</a:t>
            </a:r>
          </a:p>
          <a:p>
            <a:r>
              <a:rPr lang="en-US" dirty="0" err="1"/>
              <a:t>variable_name</a:t>
            </a:r>
            <a:r>
              <a:rPr lang="en-US" dirty="0"/>
              <a:t> </a:t>
            </a:r>
            <a:r>
              <a:rPr lang="en-US" dirty="0" err="1"/>
              <a:t>data_type</a:t>
            </a:r>
            <a:r>
              <a:rPr lang="en-US" dirty="0"/>
              <a:t> [:= expression];</a:t>
            </a:r>
          </a:p>
          <a:p>
            <a:endParaRPr lang="en-IN" dirty="0"/>
          </a:p>
        </p:txBody>
      </p:sp>
      <p:sp>
        <p:nvSpPr>
          <p:cNvPr id="3" name="Title 2">
            <a:extLst>
              <a:ext uri="{FF2B5EF4-FFF2-40B4-BE49-F238E27FC236}">
                <a16:creationId xmlns:a16="http://schemas.microsoft.com/office/drawing/2014/main" id="{7E05F0CB-44F3-46FA-AEFF-6267134C73F7}"/>
              </a:ext>
            </a:extLst>
          </p:cNvPr>
          <p:cNvSpPr>
            <a:spLocks noGrp="1"/>
          </p:cNvSpPr>
          <p:nvPr>
            <p:ph type="title"/>
          </p:nvPr>
        </p:nvSpPr>
        <p:spPr/>
        <p:txBody>
          <a:bodyPr/>
          <a:lstStyle/>
          <a:p>
            <a:r>
              <a:rPr lang="en-US" dirty="0"/>
              <a:t>Introduction to variables in PL/</a:t>
            </a:r>
            <a:r>
              <a:rPr lang="en-US" dirty="0" err="1"/>
              <a:t>pgSQL</a:t>
            </a:r>
            <a:endParaRPr lang="en-IN" dirty="0"/>
          </a:p>
        </p:txBody>
      </p:sp>
    </p:spTree>
    <p:extLst>
      <p:ext uri="{BB962C8B-B14F-4D97-AF65-F5344CB8AC3E}">
        <p14:creationId xmlns:p14="http://schemas.microsoft.com/office/powerpoint/2010/main" val="355258055"/>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0BCE413-BAA5-40EB-ADA4-BF74E35EE3DB}"/>
              </a:ext>
            </a:extLst>
          </p:cNvPr>
          <p:cNvSpPr>
            <a:spLocks noGrp="1"/>
          </p:cNvSpPr>
          <p:nvPr>
            <p:ph sz="quarter" idx="12"/>
          </p:nvPr>
        </p:nvSpPr>
        <p:spPr/>
        <p:txBody>
          <a:bodyPr>
            <a:normAutofit fontScale="92500"/>
          </a:bodyPr>
          <a:lstStyle/>
          <a:p>
            <a:r>
              <a:rPr lang="en-US" dirty="0"/>
              <a:t>First, specify the name of the variable. </a:t>
            </a:r>
          </a:p>
          <a:p>
            <a:r>
              <a:rPr lang="en-US" dirty="0"/>
              <a:t>It is a good practice to assign a meaningful name to a variable. </a:t>
            </a:r>
          </a:p>
          <a:p>
            <a:r>
              <a:rPr lang="en-US" dirty="0"/>
              <a:t>For example, instead of naming a variable </a:t>
            </a:r>
            <a:r>
              <a:rPr lang="en-US" dirty="0" err="1"/>
              <a:t>i</a:t>
            </a:r>
            <a:r>
              <a:rPr lang="en-US" dirty="0"/>
              <a:t> you should use index or counter.</a:t>
            </a:r>
          </a:p>
          <a:p>
            <a:r>
              <a:rPr lang="en-US" dirty="0"/>
              <a:t>Second, associate a specific data type with the variable. </a:t>
            </a:r>
          </a:p>
          <a:p>
            <a:r>
              <a:rPr lang="en-US" dirty="0"/>
              <a:t>The data type can be any valid data type such as integer, numeric, varchar, and char.</a:t>
            </a:r>
          </a:p>
          <a:p>
            <a:r>
              <a:rPr lang="en-US" dirty="0"/>
              <a:t>Third, optionally assign a default value to a variable. If you don’t do so, the initial value of the variable is NULL.</a:t>
            </a:r>
          </a:p>
          <a:p>
            <a:endParaRPr lang="en-IN" dirty="0"/>
          </a:p>
        </p:txBody>
      </p:sp>
      <p:sp>
        <p:nvSpPr>
          <p:cNvPr id="3" name="Title 2">
            <a:extLst>
              <a:ext uri="{FF2B5EF4-FFF2-40B4-BE49-F238E27FC236}">
                <a16:creationId xmlns:a16="http://schemas.microsoft.com/office/drawing/2014/main" id="{7E05F0CB-44F3-46FA-AEFF-6267134C73F7}"/>
              </a:ext>
            </a:extLst>
          </p:cNvPr>
          <p:cNvSpPr>
            <a:spLocks noGrp="1"/>
          </p:cNvSpPr>
          <p:nvPr>
            <p:ph type="title"/>
          </p:nvPr>
        </p:nvSpPr>
        <p:spPr/>
        <p:txBody>
          <a:bodyPr/>
          <a:lstStyle/>
          <a:p>
            <a:r>
              <a:rPr lang="en-US" dirty="0"/>
              <a:t>Introduction to variables in PL/</a:t>
            </a:r>
            <a:r>
              <a:rPr lang="en-US" dirty="0" err="1"/>
              <a:t>pgSQL</a:t>
            </a:r>
            <a:endParaRPr lang="en-IN" dirty="0"/>
          </a:p>
        </p:txBody>
      </p:sp>
    </p:spTree>
    <p:extLst>
      <p:ext uri="{BB962C8B-B14F-4D97-AF65-F5344CB8AC3E}">
        <p14:creationId xmlns:p14="http://schemas.microsoft.com/office/powerpoint/2010/main" val="2037275663"/>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0BCE413-BAA5-40EB-ADA4-BF74E35EE3DB}"/>
              </a:ext>
            </a:extLst>
          </p:cNvPr>
          <p:cNvSpPr>
            <a:spLocks noGrp="1"/>
          </p:cNvSpPr>
          <p:nvPr>
            <p:ph sz="quarter" idx="12"/>
          </p:nvPr>
        </p:nvSpPr>
        <p:spPr>
          <a:xfrm>
            <a:off x="457201" y="1381125"/>
            <a:ext cx="8228012" cy="5198784"/>
          </a:xfrm>
        </p:spPr>
        <p:txBody>
          <a:bodyPr>
            <a:normAutofit fontScale="92500" lnSpcReduction="10000"/>
          </a:bodyPr>
          <a:lstStyle/>
          <a:p>
            <a:r>
              <a:rPr lang="en-US" dirty="0"/>
              <a:t>First, specify the name of the variable. </a:t>
            </a:r>
          </a:p>
          <a:p>
            <a:r>
              <a:rPr lang="en-US" dirty="0"/>
              <a:t>It is a good practice to assign a meaningful name to a variable. </a:t>
            </a:r>
          </a:p>
          <a:p>
            <a:r>
              <a:rPr lang="en-US" dirty="0"/>
              <a:t>For example, instead of naming a variable </a:t>
            </a:r>
            <a:r>
              <a:rPr lang="en-US" dirty="0" err="1"/>
              <a:t>i</a:t>
            </a:r>
            <a:r>
              <a:rPr lang="en-US" dirty="0"/>
              <a:t> you should use index or counter.</a:t>
            </a:r>
          </a:p>
          <a:p>
            <a:r>
              <a:rPr lang="en-US" dirty="0"/>
              <a:t>Second, associate a specific data type with the variable. </a:t>
            </a:r>
          </a:p>
          <a:p>
            <a:r>
              <a:rPr lang="en-US" dirty="0"/>
              <a:t>The data type can be any valid data type such as integer, numeric, varchar, and char.</a:t>
            </a:r>
          </a:p>
          <a:p>
            <a:r>
              <a:rPr lang="en-US" dirty="0"/>
              <a:t>Third, optionally assign a default value to a variable. If you don’t do so, the initial value of the variable is NULL. </a:t>
            </a:r>
          </a:p>
          <a:p>
            <a:r>
              <a:rPr lang="en-US" dirty="0"/>
              <a:t>Note that you can use either := or = assignment operator to initialize and assign a value to a variable.</a:t>
            </a:r>
          </a:p>
          <a:p>
            <a:endParaRPr lang="en-US" dirty="0"/>
          </a:p>
          <a:p>
            <a:endParaRPr lang="en-IN" dirty="0"/>
          </a:p>
        </p:txBody>
      </p:sp>
      <p:sp>
        <p:nvSpPr>
          <p:cNvPr id="3" name="Title 2">
            <a:extLst>
              <a:ext uri="{FF2B5EF4-FFF2-40B4-BE49-F238E27FC236}">
                <a16:creationId xmlns:a16="http://schemas.microsoft.com/office/drawing/2014/main" id="{7E05F0CB-44F3-46FA-AEFF-6267134C73F7}"/>
              </a:ext>
            </a:extLst>
          </p:cNvPr>
          <p:cNvSpPr>
            <a:spLocks noGrp="1"/>
          </p:cNvSpPr>
          <p:nvPr>
            <p:ph type="title"/>
          </p:nvPr>
        </p:nvSpPr>
        <p:spPr/>
        <p:txBody>
          <a:bodyPr/>
          <a:lstStyle/>
          <a:p>
            <a:r>
              <a:rPr lang="en-US" dirty="0"/>
              <a:t>Introduction to variables in PL/</a:t>
            </a:r>
            <a:r>
              <a:rPr lang="en-US" dirty="0" err="1"/>
              <a:t>pgSQL</a:t>
            </a:r>
            <a:endParaRPr lang="en-IN" dirty="0"/>
          </a:p>
        </p:txBody>
      </p:sp>
    </p:spTree>
    <p:extLst>
      <p:ext uri="{BB962C8B-B14F-4D97-AF65-F5344CB8AC3E}">
        <p14:creationId xmlns:p14="http://schemas.microsoft.com/office/powerpoint/2010/main" val="2859137541"/>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05F0CB-44F3-46FA-AEFF-6267134C73F7}"/>
              </a:ext>
            </a:extLst>
          </p:cNvPr>
          <p:cNvSpPr>
            <a:spLocks noGrp="1"/>
          </p:cNvSpPr>
          <p:nvPr>
            <p:ph type="title"/>
          </p:nvPr>
        </p:nvSpPr>
        <p:spPr/>
        <p:txBody>
          <a:bodyPr/>
          <a:lstStyle/>
          <a:p>
            <a:r>
              <a:rPr lang="en-US" dirty="0"/>
              <a:t>Introduction to variables in PL/</a:t>
            </a:r>
            <a:r>
              <a:rPr lang="en-US" dirty="0" err="1"/>
              <a:t>pgSQL</a:t>
            </a:r>
            <a:endParaRPr lang="en-IN" dirty="0"/>
          </a:p>
        </p:txBody>
      </p:sp>
      <p:sp>
        <p:nvSpPr>
          <p:cNvPr id="7" name="TextBox 6">
            <a:extLst>
              <a:ext uri="{FF2B5EF4-FFF2-40B4-BE49-F238E27FC236}">
                <a16:creationId xmlns:a16="http://schemas.microsoft.com/office/drawing/2014/main" id="{E9626B22-CDA2-42E5-B097-07A346975B22}"/>
              </a:ext>
            </a:extLst>
          </p:cNvPr>
          <p:cNvSpPr txBox="1"/>
          <p:nvPr/>
        </p:nvSpPr>
        <p:spPr>
          <a:xfrm>
            <a:off x="461035" y="1446197"/>
            <a:ext cx="8205261" cy="4893647"/>
          </a:xfrm>
          <a:prstGeom prst="rect">
            <a:avLst/>
          </a:prstGeom>
          <a:noFill/>
        </p:spPr>
        <p:txBody>
          <a:bodyPr wrap="square">
            <a:spAutoFit/>
          </a:bodyPr>
          <a:lstStyle/>
          <a:p>
            <a:r>
              <a:rPr lang="en-US" sz="2400" dirty="0"/>
              <a:t>do $$ </a:t>
            </a:r>
          </a:p>
          <a:p>
            <a:r>
              <a:rPr lang="en-US" sz="2400" dirty="0"/>
              <a:t>declare</a:t>
            </a:r>
          </a:p>
          <a:p>
            <a:r>
              <a:rPr lang="en-US" sz="2400" dirty="0"/>
              <a:t>   counter    integer := 1;</a:t>
            </a:r>
          </a:p>
          <a:p>
            <a:r>
              <a:rPr lang="en-US" sz="2400" dirty="0"/>
              <a:t>   </a:t>
            </a:r>
            <a:r>
              <a:rPr lang="en-US" sz="2400" dirty="0" err="1"/>
              <a:t>first_name</a:t>
            </a:r>
            <a:r>
              <a:rPr lang="en-US" sz="2400" dirty="0"/>
              <a:t> varchar(50) := 'John';</a:t>
            </a:r>
          </a:p>
          <a:p>
            <a:r>
              <a:rPr lang="en-US" sz="2400" dirty="0"/>
              <a:t>   </a:t>
            </a:r>
            <a:r>
              <a:rPr lang="en-US" sz="2400" dirty="0" err="1"/>
              <a:t>last_name</a:t>
            </a:r>
            <a:r>
              <a:rPr lang="en-US" sz="2400" dirty="0"/>
              <a:t>  varchar(50) := 'Doe';</a:t>
            </a:r>
          </a:p>
          <a:p>
            <a:r>
              <a:rPr lang="en-US" sz="2400" dirty="0"/>
              <a:t>   payment    numeric(11,2) := 20.5;</a:t>
            </a:r>
          </a:p>
          <a:p>
            <a:r>
              <a:rPr lang="en-US" sz="2400" dirty="0"/>
              <a:t>begin </a:t>
            </a:r>
          </a:p>
          <a:p>
            <a:r>
              <a:rPr lang="en-US" sz="2400" dirty="0"/>
              <a:t>   raise notice '% % % has been paid % USD', </a:t>
            </a:r>
          </a:p>
          <a:p>
            <a:r>
              <a:rPr lang="en-US" sz="2400" dirty="0"/>
              <a:t>       counter, </a:t>
            </a:r>
          </a:p>
          <a:p>
            <a:r>
              <a:rPr lang="en-US" sz="2400" dirty="0"/>
              <a:t>	   </a:t>
            </a:r>
            <a:r>
              <a:rPr lang="en-US" sz="2400" dirty="0" err="1"/>
              <a:t>first_name</a:t>
            </a:r>
            <a:r>
              <a:rPr lang="en-US" sz="2400" dirty="0"/>
              <a:t>, </a:t>
            </a:r>
          </a:p>
          <a:p>
            <a:r>
              <a:rPr lang="en-US" sz="2400" dirty="0"/>
              <a:t>	   </a:t>
            </a:r>
            <a:r>
              <a:rPr lang="en-US" sz="2400" dirty="0" err="1"/>
              <a:t>last_name</a:t>
            </a:r>
            <a:r>
              <a:rPr lang="en-US" sz="2400" dirty="0"/>
              <a:t>, </a:t>
            </a:r>
          </a:p>
          <a:p>
            <a:r>
              <a:rPr lang="en-US" sz="2400" dirty="0"/>
              <a:t>	   payment;</a:t>
            </a:r>
          </a:p>
          <a:p>
            <a:r>
              <a:rPr lang="en-US" sz="2400" dirty="0"/>
              <a:t>end $$;</a:t>
            </a:r>
            <a:endParaRPr lang="en-IN" sz="2400" dirty="0"/>
          </a:p>
        </p:txBody>
      </p:sp>
    </p:spTree>
    <p:extLst>
      <p:ext uri="{BB962C8B-B14F-4D97-AF65-F5344CB8AC3E}">
        <p14:creationId xmlns:p14="http://schemas.microsoft.com/office/powerpoint/2010/main" val="2049007407"/>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FFB6CFE-A9C1-47C3-889A-5682D9C7D4CC}"/>
              </a:ext>
            </a:extLst>
          </p:cNvPr>
          <p:cNvSpPr>
            <a:spLocks noGrp="1"/>
          </p:cNvSpPr>
          <p:nvPr>
            <p:ph type="title"/>
          </p:nvPr>
        </p:nvSpPr>
        <p:spPr/>
        <p:txBody>
          <a:bodyPr/>
          <a:lstStyle/>
          <a:p>
            <a:r>
              <a:rPr lang="en-IN" dirty="0"/>
              <a:t>Variable initialization timing</a:t>
            </a:r>
          </a:p>
        </p:txBody>
      </p:sp>
      <p:sp>
        <p:nvSpPr>
          <p:cNvPr id="5" name="TextBox 4">
            <a:extLst>
              <a:ext uri="{FF2B5EF4-FFF2-40B4-BE49-F238E27FC236}">
                <a16:creationId xmlns:a16="http://schemas.microsoft.com/office/drawing/2014/main" id="{29E34051-A010-4F5D-8453-58DC82A58F40}"/>
              </a:ext>
            </a:extLst>
          </p:cNvPr>
          <p:cNvSpPr txBox="1"/>
          <p:nvPr/>
        </p:nvSpPr>
        <p:spPr>
          <a:xfrm>
            <a:off x="461035" y="1640264"/>
            <a:ext cx="7947674" cy="3539430"/>
          </a:xfrm>
          <a:prstGeom prst="rect">
            <a:avLst/>
          </a:prstGeom>
          <a:noFill/>
        </p:spPr>
        <p:txBody>
          <a:bodyPr wrap="square">
            <a:spAutoFit/>
          </a:bodyPr>
          <a:lstStyle/>
          <a:p>
            <a:r>
              <a:rPr lang="en-US" sz="2800" dirty="0"/>
              <a:t>do $$ </a:t>
            </a:r>
          </a:p>
          <a:p>
            <a:r>
              <a:rPr lang="en-US" sz="2800" dirty="0"/>
              <a:t>declare</a:t>
            </a:r>
          </a:p>
          <a:p>
            <a:r>
              <a:rPr lang="en-US" sz="2800" dirty="0"/>
              <a:t>   </a:t>
            </a:r>
            <a:r>
              <a:rPr lang="en-US" sz="2800" dirty="0" err="1"/>
              <a:t>created_at</a:t>
            </a:r>
            <a:r>
              <a:rPr lang="en-US" sz="2800" dirty="0"/>
              <a:t> time := now();</a:t>
            </a:r>
          </a:p>
          <a:p>
            <a:r>
              <a:rPr lang="en-US" sz="2800" dirty="0"/>
              <a:t>begin </a:t>
            </a:r>
          </a:p>
          <a:p>
            <a:r>
              <a:rPr lang="en-US" sz="2800" dirty="0"/>
              <a:t>   raise notice '%', </a:t>
            </a:r>
            <a:r>
              <a:rPr lang="en-US" sz="2800" dirty="0" err="1"/>
              <a:t>created_at</a:t>
            </a:r>
            <a:r>
              <a:rPr lang="en-US" sz="2800" dirty="0"/>
              <a:t>;</a:t>
            </a:r>
          </a:p>
          <a:p>
            <a:r>
              <a:rPr lang="en-US" sz="2800" dirty="0"/>
              <a:t>   perform </a:t>
            </a:r>
            <a:r>
              <a:rPr lang="en-US" sz="2800" dirty="0" err="1"/>
              <a:t>pg_sleep</a:t>
            </a:r>
            <a:r>
              <a:rPr lang="en-US" sz="2800" dirty="0"/>
              <a:t>(10);</a:t>
            </a:r>
          </a:p>
          <a:p>
            <a:r>
              <a:rPr lang="en-US" sz="2800" dirty="0"/>
              <a:t>   raise notice '%', </a:t>
            </a:r>
            <a:r>
              <a:rPr lang="en-US" sz="2800" dirty="0" err="1"/>
              <a:t>created_at</a:t>
            </a:r>
            <a:r>
              <a:rPr lang="en-US" sz="2800" dirty="0"/>
              <a:t>;</a:t>
            </a:r>
          </a:p>
          <a:p>
            <a:r>
              <a:rPr lang="en-US" sz="2800" dirty="0"/>
              <a:t>end $$;</a:t>
            </a:r>
            <a:endParaRPr lang="en-IN" sz="2800" dirty="0"/>
          </a:p>
        </p:txBody>
      </p:sp>
    </p:spTree>
    <p:extLst>
      <p:ext uri="{BB962C8B-B14F-4D97-AF65-F5344CB8AC3E}">
        <p14:creationId xmlns:p14="http://schemas.microsoft.com/office/powerpoint/2010/main" val="1580965095"/>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FFB6CFE-A9C1-47C3-889A-5682D9C7D4CC}"/>
              </a:ext>
            </a:extLst>
          </p:cNvPr>
          <p:cNvSpPr>
            <a:spLocks noGrp="1"/>
          </p:cNvSpPr>
          <p:nvPr>
            <p:ph type="title"/>
          </p:nvPr>
        </p:nvSpPr>
        <p:spPr/>
        <p:txBody>
          <a:bodyPr/>
          <a:lstStyle/>
          <a:p>
            <a:r>
              <a:rPr lang="en-IN" dirty="0"/>
              <a:t>Variable initialization timing</a:t>
            </a:r>
          </a:p>
        </p:txBody>
      </p:sp>
      <p:pic>
        <p:nvPicPr>
          <p:cNvPr id="4" name="Picture 3">
            <a:extLst>
              <a:ext uri="{FF2B5EF4-FFF2-40B4-BE49-F238E27FC236}">
                <a16:creationId xmlns:a16="http://schemas.microsoft.com/office/drawing/2014/main" id="{1660FD16-07C3-43B6-90A3-B0DF3CFDB5F4}"/>
              </a:ext>
            </a:extLst>
          </p:cNvPr>
          <p:cNvPicPr>
            <a:picLocks noChangeAspect="1"/>
          </p:cNvPicPr>
          <p:nvPr/>
        </p:nvPicPr>
        <p:blipFill rotWithShape="1">
          <a:blip r:embed="rId2"/>
          <a:srcRect l="25258" t="22738" r="6186" b="20263"/>
          <a:stretch/>
        </p:blipFill>
        <p:spPr>
          <a:xfrm>
            <a:off x="222352" y="1652047"/>
            <a:ext cx="8682625" cy="4060597"/>
          </a:xfrm>
          <a:prstGeom prst="rect">
            <a:avLst/>
          </a:prstGeom>
        </p:spPr>
      </p:pic>
    </p:spTree>
    <p:extLst>
      <p:ext uri="{BB962C8B-B14F-4D97-AF65-F5344CB8AC3E}">
        <p14:creationId xmlns:p14="http://schemas.microsoft.com/office/powerpoint/2010/main" val="2406797275"/>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919F93-E8D5-4688-8C93-E5D3FB1A4713}"/>
              </a:ext>
            </a:extLst>
          </p:cNvPr>
          <p:cNvSpPr>
            <a:spLocks noGrp="1"/>
          </p:cNvSpPr>
          <p:nvPr>
            <p:ph sz="quarter" idx="12"/>
          </p:nvPr>
        </p:nvSpPr>
        <p:spPr/>
        <p:txBody>
          <a:bodyPr/>
          <a:lstStyle/>
          <a:p>
            <a:r>
              <a:rPr lang="en-US" dirty="0"/>
              <a:t>The %type provides the data type of a table column or another variable. </a:t>
            </a:r>
          </a:p>
          <a:p>
            <a:r>
              <a:rPr lang="en-US" dirty="0"/>
              <a:t>Typically, you use the %type to declare a variable that holds a value from the database or another variable.</a:t>
            </a:r>
          </a:p>
          <a:p>
            <a:pPr lvl="1"/>
            <a:r>
              <a:rPr lang="en-US" dirty="0" err="1"/>
              <a:t>variable_name</a:t>
            </a:r>
            <a:r>
              <a:rPr lang="en-US" dirty="0"/>
              <a:t> </a:t>
            </a:r>
            <a:r>
              <a:rPr lang="en-US" dirty="0" err="1"/>
              <a:t>table_name.column_name%type</a:t>
            </a:r>
            <a:r>
              <a:rPr lang="en-US" dirty="0"/>
              <a:t>;</a:t>
            </a:r>
          </a:p>
          <a:p>
            <a:r>
              <a:rPr lang="en-US" dirty="0"/>
              <a:t>And the following shows how to declare a variable with the data type of another variable:</a:t>
            </a:r>
          </a:p>
          <a:p>
            <a:pPr lvl="1"/>
            <a:r>
              <a:rPr lang="en-US" dirty="0" err="1"/>
              <a:t>variable_name</a:t>
            </a:r>
            <a:r>
              <a:rPr lang="en-US" dirty="0"/>
              <a:t> </a:t>
            </a:r>
            <a:r>
              <a:rPr lang="en-US" dirty="0" err="1"/>
              <a:t>variable%type</a:t>
            </a:r>
            <a:r>
              <a:rPr lang="en-US" dirty="0"/>
              <a:t>;</a:t>
            </a:r>
            <a:endParaRPr lang="en-IN" dirty="0"/>
          </a:p>
        </p:txBody>
      </p:sp>
      <p:sp>
        <p:nvSpPr>
          <p:cNvPr id="3" name="Title 2">
            <a:extLst>
              <a:ext uri="{FF2B5EF4-FFF2-40B4-BE49-F238E27FC236}">
                <a16:creationId xmlns:a16="http://schemas.microsoft.com/office/drawing/2014/main" id="{BF2A79D4-6719-4AF2-AFA0-73E3A8ECFC4C}"/>
              </a:ext>
            </a:extLst>
          </p:cNvPr>
          <p:cNvSpPr>
            <a:spLocks noGrp="1"/>
          </p:cNvSpPr>
          <p:nvPr>
            <p:ph type="title"/>
          </p:nvPr>
        </p:nvSpPr>
        <p:spPr/>
        <p:txBody>
          <a:bodyPr/>
          <a:lstStyle/>
          <a:p>
            <a:r>
              <a:rPr lang="en-IN" dirty="0"/>
              <a:t>Copying data types</a:t>
            </a:r>
          </a:p>
        </p:txBody>
      </p:sp>
    </p:spTree>
    <p:extLst>
      <p:ext uri="{BB962C8B-B14F-4D97-AF65-F5344CB8AC3E}">
        <p14:creationId xmlns:p14="http://schemas.microsoft.com/office/powerpoint/2010/main" val="3251546509"/>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A79D4-6719-4AF2-AFA0-73E3A8ECFC4C}"/>
              </a:ext>
            </a:extLst>
          </p:cNvPr>
          <p:cNvSpPr>
            <a:spLocks noGrp="1"/>
          </p:cNvSpPr>
          <p:nvPr>
            <p:ph type="title"/>
          </p:nvPr>
        </p:nvSpPr>
        <p:spPr/>
        <p:txBody>
          <a:bodyPr/>
          <a:lstStyle/>
          <a:p>
            <a:r>
              <a:rPr lang="en-IN" dirty="0"/>
              <a:t>Copying data types</a:t>
            </a:r>
          </a:p>
        </p:txBody>
      </p:sp>
      <p:sp>
        <p:nvSpPr>
          <p:cNvPr id="7" name="TextBox 6">
            <a:extLst>
              <a:ext uri="{FF2B5EF4-FFF2-40B4-BE49-F238E27FC236}">
                <a16:creationId xmlns:a16="http://schemas.microsoft.com/office/drawing/2014/main" id="{C45BAB66-6E15-405B-A336-002B308DBB78}"/>
              </a:ext>
            </a:extLst>
          </p:cNvPr>
          <p:cNvSpPr txBox="1"/>
          <p:nvPr/>
        </p:nvSpPr>
        <p:spPr>
          <a:xfrm>
            <a:off x="363584" y="1326549"/>
            <a:ext cx="8400161" cy="5262979"/>
          </a:xfrm>
          <a:prstGeom prst="rect">
            <a:avLst/>
          </a:prstGeom>
          <a:noFill/>
        </p:spPr>
        <p:txBody>
          <a:bodyPr wrap="square">
            <a:spAutoFit/>
          </a:bodyPr>
          <a:lstStyle/>
          <a:p>
            <a:r>
              <a:rPr lang="en-US" sz="2400" dirty="0"/>
              <a:t>do $$ </a:t>
            </a:r>
          </a:p>
          <a:p>
            <a:r>
              <a:rPr lang="en-US" sz="2400" dirty="0"/>
              <a:t>declare</a:t>
            </a:r>
          </a:p>
          <a:p>
            <a:r>
              <a:rPr lang="en-US" sz="2400" dirty="0"/>
              <a:t>   </a:t>
            </a:r>
            <a:r>
              <a:rPr lang="en-US" sz="2400" dirty="0" err="1"/>
              <a:t>film_title</a:t>
            </a:r>
            <a:r>
              <a:rPr lang="en-US" sz="2400" dirty="0"/>
              <a:t> </a:t>
            </a:r>
            <a:r>
              <a:rPr lang="en-US" sz="2400" dirty="0" err="1"/>
              <a:t>films.title%type</a:t>
            </a:r>
            <a:r>
              <a:rPr lang="en-US" sz="2400" dirty="0"/>
              <a:t>;</a:t>
            </a:r>
          </a:p>
          <a:p>
            <a:r>
              <a:rPr lang="en-US" sz="2400" dirty="0"/>
              <a:t>   </a:t>
            </a:r>
            <a:r>
              <a:rPr lang="en-US" sz="2400" dirty="0" err="1"/>
              <a:t>featured_title</a:t>
            </a:r>
            <a:r>
              <a:rPr lang="en-US" sz="2400" dirty="0"/>
              <a:t> </a:t>
            </a:r>
            <a:r>
              <a:rPr lang="en-US" sz="2400" dirty="0" err="1"/>
              <a:t>film_title%type</a:t>
            </a:r>
            <a:r>
              <a:rPr lang="en-US" sz="2400" dirty="0"/>
              <a:t>;</a:t>
            </a:r>
          </a:p>
          <a:p>
            <a:r>
              <a:rPr lang="en-US" sz="2400" dirty="0"/>
              <a:t>begin </a:t>
            </a:r>
          </a:p>
          <a:p>
            <a:r>
              <a:rPr lang="en-US" sz="2400" dirty="0"/>
              <a:t>   -- get title of the film id 100</a:t>
            </a:r>
          </a:p>
          <a:p>
            <a:r>
              <a:rPr lang="en-US" sz="2400" dirty="0"/>
              <a:t>   select title</a:t>
            </a:r>
          </a:p>
          <a:p>
            <a:r>
              <a:rPr lang="en-US" sz="2400" dirty="0"/>
              <a:t>   from films</a:t>
            </a:r>
          </a:p>
          <a:p>
            <a:r>
              <a:rPr lang="en-US" sz="2400" dirty="0"/>
              <a:t>   into </a:t>
            </a:r>
            <a:r>
              <a:rPr lang="en-US" sz="2400" dirty="0" err="1"/>
              <a:t>film_title</a:t>
            </a:r>
            <a:endParaRPr lang="en-US" sz="2400" dirty="0"/>
          </a:p>
          <a:p>
            <a:r>
              <a:rPr lang="en-US" sz="2400" dirty="0"/>
              <a:t>   where </a:t>
            </a:r>
            <a:r>
              <a:rPr lang="en-US" sz="2400" dirty="0" err="1"/>
              <a:t>film_id</a:t>
            </a:r>
            <a:r>
              <a:rPr lang="en-US" sz="2400" dirty="0"/>
              <a:t> = 1;</a:t>
            </a:r>
          </a:p>
          <a:p>
            <a:r>
              <a:rPr lang="en-US" sz="2400" dirty="0"/>
              <a:t>   </a:t>
            </a:r>
          </a:p>
          <a:p>
            <a:r>
              <a:rPr lang="en-US" sz="2400" dirty="0"/>
              <a:t>   -- show the film title</a:t>
            </a:r>
          </a:p>
          <a:p>
            <a:r>
              <a:rPr lang="en-US" sz="2400" dirty="0"/>
              <a:t>   raise notice 'Film title id 100: %s', </a:t>
            </a:r>
            <a:r>
              <a:rPr lang="en-US" sz="2400" dirty="0" err="1"/>
              <a:t>film_title</a:t>
            </a:r>
            <a:r>
              <a:rPr lang="en-US" sz="2400" dirty="0"/>
              <a:t>;</a:t>
            </a:r>
          </a:p>
          <a:p>
            <a:r>
              <a:rPr lang="en-US" sz="2400" dirty="0"/>
              <a:t>end; $$</a:t>
            </a:r>
          </a:p>
        </p:txBody>
      </p:sp>
    </p:spTree>
    <p:extLst>
      <p:ext uri="{BB962C8B-B14F-4D97-AF65-F5344CB8AC3E}">
        <p14:creationId xmlns:p14="http://schemas.microsoft.com/office/powerpoint/2010/main" val="2145574159"/>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BD1395-BFFB-4015-BBA0-1D9CEC7A2939}"/>
              </a:ext>
            </a:extLst>
          </p:cNvPr>
          <p:cNvSpPr>
            <a:spLocks noGrp="1"/>
          </p:cNvSpPr>
          <p:nvPr>
            <p:ph sz="quarter" idx="12"/>
          </p:nvPr>
        </p:nvSpPr>
        <p:spPr>
          <a:xfrm>
            <a:off x="457201" y="1183162"/>
            <a:ext cx="8228012" cy="1588318"/>
          </a:xfrm>
        </p:spPr>
        <p:txBody>
          <a:bodyPr/>
          <a:lstStyle/>
          <a:p>
            <a:r>
              <a:rPr lang="en-US" dirty="0"/>
              <a:t>When you declare a variable in a subblock which has the same name as another variable in the outer block, the variable in the outer block is hidden in the subblock.</a:t>
            </a:r>
            <a:endParaRPr lang="en-IN" dirty="0"/>
          </a:p>
        </p:txBody>
      </p:sp>
      <p:sp>
        <p:nvSpPr>
          <p:cNvPr id="3" name="Title 2">
            <a:extLst>
              <a:ext uri="{FF2B5EF4-FFF2-40B4-BE49-F238E27FC236}">
                <a16:creationId xmlns:a16="http://schemas.microsoft.com/office/drawing/2014/main" id="{920CB66D-A8BF-4D14-B4B3-C4E9F81AD62B}"/>
              </a:ext>
            </a:extLst>
          </p:cNvPr>
          <p:cNvSpPr>
            <a:spLocks noGrp="1"/>
          </p:cNvSpPr>
          <p:nvPr>
            <p:ph type="title"/>
          </p:nvPr>
        </p:nvSpPr>
        <p:spPr/>
        <p:txBody>
          <a:bodyPr/>
          <a:lstStyle/>
          <a:p>
            <a:r>
              <a:rPr lang="en-US" dirty="0"/>
              <a:t>Variables in block and subblock</a:t>
            </a:r>
            <a:endParaRPr lang="en-IN" dirty="0"/>
          </a:p>
        </p:txBody>
      </p:sp>
    </p:spTree>
    <p:extLst>
      <p:ext uri="{BB962C8B-B14F-4D97-AF65-F5344CB8AC3E}">
        <p14:creationId xmlns:p14="http://schemas.microsoft.com/office/powerpoint/2010/main" val="2143682218"/>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F7D808-6A4F-44EB-B74C-82E97AAC79B9}"/>
              </a:ext>
            </a:extLst>
          </p:cNvPr>
          <p:cNvSpPr txBox="1"/>
          <p:nvPr/>
        </p:nvSpPr>
        <p:spPr>
          <a:xfrm>
            <a:off x="1932496" y="199702"/>
            <a:ext cx="4581426" cy="6463308"/>
          </a:xfrm>
          <a:prstGeom prst="rect">
            <a:avLst/>
          </a:prstGeom>
          <a:noFill/>
        </p:spPr>
        <p:txBody>
          <a:bodyPr wrap="square">
            <a:spAutoFit/>
          </a:bodyPr>
          <a:lstStyle/>
          <a:p>
            <a:r>
              <a:rPr lang="en-US" dirty="0"/>
              <a:t>do $$ </a:t>
            </a:r>
          </a:p>
          <a:p>
            <a:r>
              <a:rPr lang="en-US" dirty="0"/>
              <a:t>&lt;&lt;</a:t>
            </a:r>
            <a:r>
              <a:rPr lang="en-US" dirty="0" err="1"/>
              <a:t>outer_block</a:t>
            </a:r>
            <a:r>
              <a:rPr lang="en-US" dirty="0"/>
              <a:t>&gt;&gt;</a:t>
            </a:r>
          </a:p>
          <a:p>
            <a:r>
              <a:rPr lang="en-US" dirty="0"/>
              <a:t>declare</a:t>
            </a:r>
          </a:p>
          <a:p>
            <a:r>
              <a:rPr lang="en-US" dirty="0"/>
              <a:t>  counter integer := 0;</a:t>
            </a:r>
          </a:p>
          <a:p>
            <a:r>
              <a:rPr lang="en-US" dirty="0"/>
              <a:t>begin</a:t>
            </a:r>
          </a:p>
          <a:p>
            <a:r>
              <a:rPr lang="en-US" dirty="0"/>
              <a:t>   counter := counter + 1;</a:t>
            </a:r>
          </a:p>
          <a:p>
            <a:r>
              <a:rPr lang="en-US" dirty="0"/>
              <a:t>   raise notice 'The current value of the counter is %', counter;</a:t>
            </a:r>
          </a:p>
          <a:p>
            <a:endParaRPr lang="en-US" dirty="0"/>
          </a:p>
          <a:p>
            <a:r>
              <a:rPr lang="en-US" dirty="0"/>
              <a:t>   declare</a:t>
            </a:r>
          </a:p>
          <a:p>
            <a:r>
              <a:rPr lang="en-US" dirty="0"/>
              <a:t>       counter integer := 0;</a:t>
            </a:r>
          </a:p>
          <a:p>
            <a:r>
              <a:rPr lang="en-US" dirty="0"/>
              <a:t>   begin</a:t>
            </a:r>
          </a:p>
          <a:p>
            <a:r>
              <a:rPr lang="en-US" dirty="0"/>
              <a:t>       counter := counter + 10;</a:t>
            </a:r>
          </a:p>
          <a:p>
            <a:r>
              <a:rPr lang="en-US" dirty="0"/>
              <a:t>       raise notice 'Counter in the subblock is %', counter;</a:t>
            </a:r>
          </a:p>
          <a:p>
            <a:r>
              <a:rPr lang="en-US" dirty="0"/>
              <a:t>       raise notice 'Counter in the outer block is %', </a:t>
            </a:r>
            <a:r>
              <a:rPr lang="en-US" dirty="0" err="1"/>
              <a:t>outer_block.counter</a:t>
            </a:r>
            <a:r>
              <a:rPr lang="en-US" dirty="0"/>
              <a:t>;</a:t>
            </a:r>
          </a:p>
          <a:p>
            <a:r>
              <a:rPr lang="en-US" dirty="0"/>
              <a:t>   end;</a:t>
            </a:r>
          </a:p>
          <a:p>
            <a:endParaRPr lang="en-US" dirty="0"/>
          </a:p>
          <a:p>
            <a:r>
              <a:rPr lang="en-US" dirty="0"/>
              <a:t>   raise notice 'Counter in the outer block is %', counter;</a:t>
            </a:r>
          </a:p>
          <a:p>
            <a:r>
              <a:rPr lang="en-US" dirty="0"/>
              <a:t>   </a:t>
            </a:r>
          </a:p>
          <a:p>
            <a:r>
              <a:rPr lang="en-US" dirty="0"/>
              <a:t>end </a:t>
            </a:r>
            <a:r>
              <a:rPr lang="en-US" dirty="0" err="1"/>
              <a:t>outer_block</a:t>
            </a:r>
            <a:r>
              <a:rPr lang="en-US" dirty="0"/>
              <a:t> $$;</a:t>
            </a:r>
            <a:endParaRPr lang="en-IN" dirty="0"/>
          </a:p>
        </p:txBody>
      </p:sp>
    </p:spTree>
    <p:extLst>
      <p:ext uri="{BB962C8B-B14F-4D97-AF65-F5344CB8AC3E}">
        <p14:creationId xmlns:p14="http://schemas.microsoft.com/office/powerpoint/2010/main" val="2156772408"/>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AB5DE-3A47-4A67-975A-5A1C2ED74315}"/>
              </a:ext>
            </a:extLst>
          </p:cNvPr>
          <p:cNvSpPr>
            <a:spLocks noGrp="1"/>
          </p:cNvSpPr>
          <p:nvPr>
            <p:ph type="title"/>
          </p:nvPr>
        </p:nvSpPr>
        <p:spPr/>
        <p:txBody>
          <a:bodyPr/>
          <a:lstStyle/>
          <a:p>
            <a:r>
              <a:rPr lang="en-US" dirty="0"/>
              <a:t>PL/</a:t>
            </a:r>
            <a:r>
              <a:rPr lang="en-US" dirty="0" err="1"/>
              <a:t>pgSQL</a:t>
            </a:r>
            <a:r>
              <a:rPr lang="en-US" dirty="0"/>
              <a:t> row types example</a:t>
            </a:r>
            <a:endParaRPr lang="en-IN" dirty="0"/>
          </a:p>
        </p:txBody>
      </p:sp>
      <p:sp>
        <p:nvSpPr>
          <p:cNvPr id="3" name="Content Placeholder 2">
            <a:extLst>
              <a:ext uri="{FF2B5EF4-FFF2-40B4-BE49-F238E27FC236}">
                <a16:creationId xmlns:a16="http://schemas.microsoft.com/office/drawing/2014/main" id="{5AC9AA32-828C-46DD-AE62-547204C6016F}"/>
              </a:ext>
            </a:extLst>
          </p:cNvPr>
          <p:cNvSpPr>
            <a:spLocks noGrp="1"/>
          </p:cNvSpPr>
          <p:nvPr>
            <p:ph sz="quarter" idx="12"/>
          </p:nvPr>
        </p:nvSpPr>
        <p:spPr>
          <a:xfrm>
            <a:off x="457201" y="1367081"/>
            <a:ext cx="8228012" cy="5231682"/>
          </a:xfrm>
        </p:spPr>
        <p:txBody>
          <a:bodyPr>
            <a:normAutofit fontScale="62500" lnSpcReduction="20000"/>
          </a:bodyPr>
          <a:lstStyle/>
          <a:p>
            <a:pPr marL="0" indent="0">
              <a:buNone/>
            </a:pPr>
            <a:r>
              <a:rPr lang="en-US" dirty="0"/>
              <a:t>do $$</a:t>
            </a:r>
          </a:p>
          <a:p>
            <a:pPr marL="0" indent="0">
              <a:buNone/>
            </a:pPr>
            <a:r>
              <a:rPr lang="en-US" dirty="0"/>
              <a:t>declare</a:t>
            </a:r>
          </a:p>
          <a:p>
            <a:pPr marL="0" indent="0">
              <a:buNone/>
            </a:pPr>
            <a:r>
              <a:rPr lang="en-US" dirty="0"/>
              <a:t>   </a:t>
            </a:r>
            <a:r>
              <a:rPr lang="en-US" dirty="0" err="1"/>
              <a:t>selected_film</a:t>
            </a:r>
            <a:r>
              <a:rPr lang="en-US" dirty="0"/>
              <a:t> </a:t>
            </a:r>
            <a:r>
              <a:rPr lang="en-US" dirty="0" err="1"/>
              <a:t>films%rowtype</a:t>
            </a:r>
            <a:r>
              <a:rPr lang="en-US" dirty="0"/>
              <a:t>;</a:t>
            </a:r>
          </a:p>
          <a:p>
            <a:pPr marL="0" indent="0">
              <a:buNone/>
            </a:pPr>
            <a:r>
              <a:rPr lang="en-US" dirty="0"/>
              <a:t>begin</a:t>
            </a:r>
          </a:p>
          <a:p>
            <a:pPr marL="0" indent="0">
              <a:buNone/>
            </a:pPr>
            <a:r>
              <a:rPr lang="en-US" dirty="0"/>
              <a:t>   -- select film with id 1   </a:t>
            </a:r>
          </a:p>
          <a:p>
            <a:pPr marL="0" indent="0">
              <a:buNone/>
            </a:pPr>
            <a:r>
              <a:rPr lang="en-US" dirty="0"/>
              <a:t>   select * </a:t>
            </a:r>
          </a:p>
          <a:p>
            <a:pPr marL="0" indent="0">
              <a:buNone/>
            </a:pPr>
            <a:r>
              <a:rPr lang="en-US" dirty="0"/>
              <a:t>   from films</a:t>
            </a:r>
          </a:p>
          <a:p>
            <a:pPr marL="0" indent="0">
              <a:buNone/>
            </a:pPr>
            <a:r>
              <a:rPr lang="en-US" dirty="0"/>
              <a:t>   into </a:t>
            </a:r>
            <a:r>
              <a:rPr lang="en-US" dirty="0" err="1"/>
              <a:t>selected_film</a:t>
            </a:r>
            <a:endParaRPr lang="en-US" dirty="0"/>
          </a:p>
          <a:p>
            <a:pPr marL="0" indent="0">
              <a:buNone/>
            </a:pPr>
            <a:r>
              <a:rPr lang="en-US" dirty="0"/>
              <a:t>   where </a:t>
            </a:r>
            <a:r>
              <a:rPr lang="en-US" dirty="0" err="1"/>
              <a:t>film_id</a:t>
            </a:r>
            <a:r>
              <a:rPr lang="en-US" dirty="0"/>
              <a:t> = 1;</a:t>
            </a:r>
          </a:p>
          <a:p>
            <a:pPr marL="0" indent="0">
              <a:buNone/>
            </a:pPr>
            <a:endParaRPr lang="en-US" dirty="0"/>
          </a:p>
          <a:p>
            <a:pPr marL="0" indent="0">
              <a:buNone/>
            </a:pPr>
            <a:r>
              <a:rPr lang="en-US" dirty="0"/>
              <a:t>   -- show the number of actor</a:t>
            </a:r>
          </a:p>
          <a:p>
            <a:pPr marL="0" indent="0">
              <a:buNone/>
            </a:pPr>
            <a:r>
              <a:rPr lang="en-US" dirty="0"/>
              <a:t>   raise notice 'The film name is % %',</a:t>
            </a:r>
          </a:p>
          <a:p>
            <a:pPr marL="0" indent="0">
              <a:buNone/>
            </a:pPr>
            <a:r>
              <a:rPr lang="en-US" dirty="0"/>
              <a:t>      </a:t>
            </a:r>
            <a:r>
              <a:rPr lang="en-US" dirty="0" err="1"/>
              <a:t>selected_film.film_id</a:t>
            </a:r>
            <a:r>
              <a:rPr lang="en-US" dirty="0"/>
              <a:t>,</a:t>
            </a:r>
          </a:p>
          <a:p>
            <a:pPr marL="0" indent="0">
              <a:buNone/>
            </a:pPr>
            <a:r>
              <a:rPr lang="en-US" dirty="0"/>
              <a:t>      </a:t>
            </a:r>
            <a:r>
              <a:rPr lang="en-US" dirty="0" err="1"/>
              <a:t>selected_film.title</a:t>
            </a:r>
            <a:r>
              <a:rPr lang="en-US" dirty="0"/>
              <a:t>;</a:t>
            </a:r>
          </a:p>
          <a:p>
            <a:pPr marL="0" indent="0">
              <a:buNone/>
            </a:pPr>
            <a:r>
              <a:rPr lang="en-US" dirty="0"/>
              <a:t>end; $$</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99593592"/>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553E53-C691-4063-9194-46E9579B8BEB}"/>
              </a:ext>
            </a:extLst>
          </p:cNvPr>
          <p:cNvSpPr>
            <a:spLocks noGrp="1"/>
          </p:cNvSpPr>
          <p:nvPr>
            <p:ph sz="quarter" idx="12"/>
          </p:nvPr>
        </p:nvSpPr>
        <p:spPr>
          <a:xfrm>
            <a:off x="457201" y="1381124"/>
            <a:ext cx="8228012" cy="5179931"/>
          </a:xfrm>
        </p:spPr>
        <p:txBody>
          <a:bodyPr>
            <a:normAutofit fontScale="62500" lnSpcReduction="20000"/>
          </a:bodyPr>
          <a:lstStyle/>
          <a:p>
            <a:pPr marL="0" indent="0">
              <a:buNone/>
            </a:pPr>
            <a:r>
              <a:rPr lang="en-US" dirty="0"/>
              <a:t>do</a:t>
            </a:r>
          </a:p>
          <a:p>
            <a:pPr marL="0" indent="0">
              <a:buNone/>
            </a:pPr>
            <a:r>
              <a:rPr lang="en-US" dirty="0"/>
              <a:t>$$</a:t>
            </a:r>
          </a:p>
          <a:p>
            <a:pPr marL="0" indent="0">
              <a:buNone/>
            </a:pPr>
            <a:r>
              <a:rPr lang="en-US" dirty="0"/>
              <a:t>declare</a:t>
            </a:r>
          </a:p>
          <a:p>
            <a:pPr marL="0" indent="0">
              <a:buNone/>
            </a:pPr>
            <a:r>
              <a:rPr lang="en-US" dirty="0"/>
              <a:t>	rec record;</a:t>
            </a:r>
          </a:p>
          <a:p>
            <a:pPr marL="0" indent="0">
              <a:buNone/>
            </a:pPr>
            <a:r>
              <a:rPr lang="en-US" dirty="0"/>
              <a:t>begin</a:t>
            </a:r>
          </a:p>
          <a:p>
            <a:pPr marL="0" indent="0">
              <a:buNone/>
            </a:pPr>
            <a:r>
              <a:rPr lang="en-US" dirty="0"/>
              <a:t>	-- select the film </a:t>
            </a:r>
          </a:p>
          <a:p>
            <a:pPr marL="0" indent="0">
              <a:buNone/>
            </a:pPr>
            <a:r>
              <a:rPr lang="en-US" dirty="0"/>
              <a:t>	select </a:t>
            </a:r>
            <a:r>
              <a:rPr lang="en-US" dirty="0" err="1"/>
              <a:t>film_id</a:t>
            </a:r>
            <a:r>
              <a:rPr lang="en-US" dirty="0"/>
              <a:t>, title</a:t>
            </a:r>
          </a:p>
          <a:p>
            <a:pPr marL="0" indent="0">
              <a:buNone/>
            </a:pPr>
            <a:r>
              <a:rPr lang="en-US" dirty="0"/>
              <a:t>	into rec</a:t>
            </a:r>
          </a:p>
          <a:p>
            <a:pPr marL="0" indent="0">
              <a:buNone/>
            </a:pPr>
            <a:r>
              <a:rPr lang="en-US" dirty="0"/>
              <a:t>	from films</a:t>
            </a:r>
          </a:p>
          <a:p>
            <a:pPr marL="0" indent="0">
              <a:buNone/>
            </a:pPr>
            <a:r>
              <a:rPr lang="en-US" dirty="0"/>
              <a:t>	where </a:t>
            </a:r>
            <a:r>
              <a:rPr lang="en-US" dirty="0" err="1"/>
              <a:t>film_id</a:t>
            </a:r>
            <a:r>
              <a:rPr lang="en-US" dirty="0"/>
              <a:t> = 1;</a:t>
            </a:r>
          </a:p>
          <a:p>
            <a:pPr marL="0" indent="0">
              <a:buNone/>
            </a:pPr>
            <a:r>
              <a:rPr lang="en-US" dirty="0"/>
              <a:t>	</a:t>
            </a:r>
          </a:p>
          <a:p>
            <a:pPr marL="0" indent="0">
              <a:buNone/>
            </a:pPr>
            <a:r>
              <a:rPr lang="en-US" dirty="0"/>
              <a:t>	raise notice '% %', </a:t>
            </a:r>
            <a:r>
              <a:rPr lang="en-US" dirty="0" err="1"/>
              <a:t>rec.film_id</a:t>
            </a:r>
            <a:r>
              <a:rPr lang="en-US" dirty="0"/>
              <a:t>, </a:t>
            </a:r>
            <a:r>
              <a:rPr lang="en-US" dirty="0" err="1"/>
              <a:t>rec.title</a:t>
            </a:r>
            <a:r>
              <a:rPr lang="en-US" dirty="0"/>
              <a:t>;  </a:t>
            </a:r>
          </a:p>
          <a:p>
            <a:pPr marL="0" indent="0">
              <a:buNone/>
            </a:pPr>
            <a:r>
              <a:rPr lang="en-US" dirty="0"/>
              <a:t>	</a:t>
            </a:r>
          </a:p>
          <a:p>
            <a:pPr marL="0" indent="0">
              <a:buNone/>
            </a:pPr>
            <a:r>
              <a:rPr lang="en-US" dirty="0"/>
              <a:t>end;</a:t>
            </a:r>
          </a:p>
          <a:p>
            <a:pPr marL="0" indent="0">
              <a:buNone/>
            </a:pPr>
            <a:r>
              <a:rPr lang="en-US" dirty="0"/>
              <a:t>$$</a:t>
            </a:r>
            <a:endParaRPr lang="en-IN" dirty="0"/>
          </a:p>
        </p:txBody>
      </p:sp>
      <p:sp>
        <p:nvSpPr>
          <p:cNvPr id="3" name="Title 2">
            <a:extLst>
              <a:ext uri="{FF2B5EF4-FFF2-40B4-BE49-F238E27FC236}">
                <a16:creationId xmlns:a16="http://schemas.microsoft.com/office/drawing/2014/main" id="{50F5EF08-41DE-4BA0-8B65-84670FA80738}"/>
              </a:ext>
            </a:extLst>
          </p:cNvPr>
          <p:cNvSpPr>
            <a:spLocks noGrp="1"/>
          </p:cNvSpPr>
          <p:nvPr>
            <p:ph type="title"/>
          </p:nvPr>
        </p:nvSpPr>
        <p:spPr/>
        <p:txBody>
          <a:bodyPr/>
          <a:lstStyle/>
          <a:p>
            <a:r>
              <a:rPr lang="en-IN" dirty="0"/>
              <a:t>PL/</a:t>
            </a:r>
            <a:r>
              <a:rPr lang="en-IN" dirty="0" err="1"/>
              <a:t>pgSQL</a:t>
            </a:r>
            <a:r>
              <a:rPr lang="en-IN" dirty="0"/>
              <a:t> Record Types</a:t>
            </a:r>
          </a:p>
        </p:txBody>
      </p:sp>
    </p:spTree>
    <p:extLst>
      <p:ext uri="{BB962C8B-B14F-4D97-AF65-F5344CB8AC3E}">
        <p14:creationId xmlns:p14="http://schemas.microsoft.com/office/powerpoint/2010/main" val="2259718371"/>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DE5C41-2559-4CCE-8E4A-F145BA20530F}"/>
              </a:ext>
            </a:extLst>
          </p:cNvPr>
          <p:cNvSpPr>
            <a:spLocks noGrp="1"/>
          </p:cNvSpPr>
          <p:nvPr>
            <p:ph sz="quarter" idx="12"/>
          </p:nvPr>
        </p:nvSpPr>
        <p:spPr/>
        <p:txBody>
          <a:bodyPr>
            <a:normAutofit fontScale="62500" lnSpcReduction="20000"/>
          </a:bodyPr>
          <a:lstStyle/>
          <a:p>
            <a:pPr marL="0" indent="0">
              <a:buNone/>
            </a:pPr>
            <a:r>
              <a:rPr lang="en-US" dirty="0"/>
              <a:t>do</a:t>
            </a:r>
          </a:p>
          <a:p>
            <a:pPr marL="0" indent="0">
              <a:buNone/>
            </a:pPr>
            <a:r>
              <a:rPr lang="en-US" dirty="0"/>
              <a:t>$$</a:t>
            </a:r>
          </a:p>
          <a:p>
            <a:pPr marL="0" indent="0">
              <a:buNone/>
            </a:pPr>
            <a:r>
              <a:rPr lang="en-US" dirty="0"/>
              <a:t>declare</a:t>
            </a:r>
          </a:p>
          <a:p>
            <a:pPr marL="0" indent="0">
              <a:buNone/>
            </a:pPr>
            <a:r>
              <a:rPr lang="en-US" dirty="0"/>
              <a:t>	rec record;</a:t>
            </a:r>
          </a:p>
          <a:p>
            <a:pPr marL="0" indent="0">
              <a:buNone/>
            </a:pPr>
            <a:r>
              <a:rPr lang="en-US" dirty="0"/>
              <a:t>begin</a:t>
            </a:r>
          </a:p>
          <a:p>
            <a:pPr marL="0" indent="0">
              <a:buNone/>
            </a:pPr>
            <a:r>
              <a:rPr lang="en-US" dirty="0"/>
              <a:t>	for rec in select title</a:t>
            </a:r>
          </a:p>
          <a:p>
            <a:pPr marL="0" indent="0">
              <a:buNone/>
            </a:pPr>
            <a:r>
              <a:rPr lang="en-US" dirty="0"/>
              <a:t>			from films </a:t>
            </a:r>
          </a:p>
          <a:p>
            <a:pPr marL="0" indent="0">
              <a:buNone/>
            </a:pPr>
            <a:r>
              <a:rPr lang="en-US" dirty="0"/>
              <a:t>			where </a:t>
            </a:r>
            <a:r>
              <a:rPr lang="en-US" dirty="0" err="1"/>
              <a:t>film_id</a:t>
            </a:r>
            <a:r>
              <a:rPr lang="en-US" dirty="0"/>
              <a:t> &gt; 0</a:t>
            </a:r>
          </a:p>
          <a:p>
            <a:pPr marL="0" indent="0">
              <a:buNone/>
            </a:pPr>
            <a:r>
              <a:rPr lang="en-US" dirty="0"/>
              <a:t>			order by title</a:t>
            </a:r>
          </a:p>
          <a:p>
            <a:pPr marL="0" indent="0">
              <a:buNone/>
            </a:pPr>
            <a:r>
              <a:rPr lang="en-US" dirty="0"/>
              <a:t>	loop</a:t>
            </a:r>
          </a:p>
          <a:p>
            <a:pPr marL="0" indent="0">
              <a:buNone/>
            </a:pPr>
            <a:r>
              <a:rPr lang="en-US" dirty="0"/>
              <a:t>		raise notice '%', </a:t>
            </a:r>
            <a:r>
              <a:rPr lang="en-US" dirty="0" err="1"/>
              <a:t>rec.title</a:t>
            </a:r>
            <a:r>
              <a:rPr lang="en-US" dirty="0"/>
              <a:t>;	</a:t>
            </a:r>
          </a:p>
          <a:p>
            <a:pPr marL="0" indent="0">
              <a:buNone/>
            </a:pPr>
            <a:r>
              <a:rPr lang="en-US" dirty="0"/>
              <a:t>	end loop;</a:t>
            </a:r>
          </a:p>
          <a:p>
            <a:pPr marL="0" indent="0">
              <a:buNone/>
            </a:pPr>
            <a:r>
              <a:rPr lang="en-US" dirty="0"/>
              <a:t>end;</a:t>
            </a:r>
          </a:p>
          <a:p>
            <a:pPr marL="0" indent="0">
              <a:buNone/>
            </a:pPr>
            <a:r>
              <a:rPr lang="en-US" dirty="0"/>
              <a:t>$$</a:t>
            </a:r>
            <a:endParaRPr lang="en-IN" dirty="0"/>
          </a:p>
        </p:txBody>
      </p:sp>
      <p:sp>
        <p:nvSpPr>
          <p:cNvPr id="3" name="Title 2">
            <a:extLst>
              <a:ext uri="{FF2B5EF4-FFF2-40B4-BE49-F238E27FC236}">
                <a16:creationId xmlns:a16="http://schemas.microsoft.com/office/drawing/2014/main" id="{CD929DEA-15DA-4AF7-9D2C-F05C91767614}"/>
              </a:ext>
            </a:extLst>
          </p:cNvPr>
          <p:cNvSpPr>
            <a:spLocks noGrp="1"/>
          </p:cNvSpPr>
          <p:nvPr>
            <p:ph type="title"/>
          </p:nvPr>
        </p:nvSpPr>
        <p:spPr/>
        <p:txBody>
          <a:bodyPr/>
          <a:lstStyle/>
          <a:p>
            <a:r>
              <a:rPr lang="en-US" dirty="0"/>
              <a:t>Using record variables in the for loop statement</a:t>
            </a:r>
            <a:endParaRPr lang="en-IN" dirty="0"/>
          </a:p>
        </p:txBody>
      </p:sp>
    </p:spTree>
    <p:extLst>
      <p:ext uri="{BB962C8B-B14F-4D97-AF65-F5344CB8AC3E}">
        <p14:creationId xmlns:p14="http://schemas.microsoft.com/office/powerpoint/2010/main" val="3840222720"/>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0BE4979-73C7-45CB-9C87-7D3EC463BF42}"/>
              </a:ext>
            </a:extLst>
          </p:cNvPr>
          <p:cNvSpPr>
            <a:spLocks noGrp="1"/>
          </p:cNvSpPr>
          <p:nvPr>
            <p:ph sz="quarter" idx="12"/>
          </p:nvPr>
        </p:nvSpPr>
        <p:spPr/>
        <p:txBody>
          <a:bodyPr/>
          <a:lstStyle/>
          <a:p>
            <a:r>
              <a:rPr lang="en-US" dirty="0"/>
              <a:t>do $$ </a:t>
            </a:r>
          </a:p>
          <a:p>
            <a:r>
              <a:rPr lang="en-US" dirty="0"/>
              <a:t>declare</a:t>
            </a:r>
          </a:p>
          <a:p>
            <a:r>
              <a:rPr lang="en-US" dirty="0"/>
              <a:t>   vat constant numeric := 0.1;</a:t>
            </a:r>
          </a:p>
          <a:p>
            <a:r>
              <a:rPr lang="en-US" dirty="0"/>
              <a:t>   </a:t>
            </a:r>
            <a:r>
              <a:rPr lang="en-US" dirty="0" err="1"/>
              <a:t>net_price</a:t>
            </a:r>
            <a:r>
              <a:rPr lang="en-US" dirty="0"/>
              <a:t>    numeric := 20.5;</a:t>
            </a:r>
          </a:p>
          <a:p>
            <a:r>
              <a:rPr lang="en-US" dirty="0"/>
              <a:t>begin</a:t>
            </a:r>
          </a:p>
          <a:p>
            <a:r>
              <a:rPr lang="en-US" dirty="0"/>
              <a:t>   raise notice 'The selling price is %', </a:t>
            </a:r>
            <a:r>
              <a:rPr lang="en-US" dirty="0" err="1"/>
              <a:t>net_price</a:t>
            </a:r>
            <a:r>
              <a:rPr lang="en-US" dirty="0"/>
              <a:t> * ( 1 + vat );</a:t>
            </a:r>
          </a:p>
          <a:p>
            <a:r>
              <a:rPr lang="en-US" dirty="0"/>
              <a:t>end $$;</a:t>
            </a:r>
            <a:endParaRPr lang="en-IN" dirty="0"/>
          </a:p>
        </p:txBody>
      </p:sp>
      <p:sp>
        <p:nvSpPr>
          <p:cNvPr id="3" name="Title 2">
            <a:extLst>
              <a:ext uri="{FF2B5EF4-FFF2-40B4-BE49-F238E27FC236}">
                <a16:creationId xmlns:a16="http://schemas.microsoft.com/office/drawing/2014/main" id="{390D2C14-30F8-4466-8537-E9742989B315}"/>
              </a:ext>
            </a:extLst>
          </p:cNvPr>
          <p:cNvSpPr>
            <a:spLocks noGrp="1"/>
          </p:cNvSpPr>
          <p:nvPr>
            <p:ph type="title"/>
          </p:nvPr>
        </p:nvSpPr>
        <p:spPr/>
        <p:txBody>
          <a:bodyPr/>
          <a:lstStyle/>
          <a:p>
            <a:r>
              <a:rPr lang="en-IN" dirty="0"/>
              <a:t>PL/</a:t>
            </a:r>
            <a:r>
              <a:rPr lang="en-IN" dirty="0" err="1"/>
              <a:t>pgSQL</a:t>
            </a:r>
            <a:r>
              <a:rPr lang="en-IN" dirty="0"/>
              <a:t> Constants</a:t>
            </a:r>
          </a:p>
        </p:txBody>
      </p:sp>
    </p:spTree>
    <p:extLst>
      <p:ext uri="{BB962C8B-B14F-4D97-AF65-F5344CB8AC3E}">
        <p14:creationId xmlns:p14="http://schemas.microsoft.com/office/powerpoint/2010/main" val="2530559330"/>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A4B667-2FD7-4BBF-BA40-7BD25EE30797}"/>
              </a:ext>
            </a:extLst>
          </p:cNvPr>
          <p:cNvSpPr>
            <a:spLocks noGrp="1"/>
          </p:cNvSpPr>
          <p:nvPr>
            <p:ph sz="quarter" idx="12"/>
          </p:nvPr>
        </p:nvSpPr>
        <p:spPr/>
        <p:txBody>
          <a:bodyPr>
            <a:normAutofit fontScale="92500" lnSpcReduction="20000"/>
          </a:bodyPr>
          <a:lstStyle/>
          <a:p>
            <a:r>
              <a:rPr lang="en-US" dirty="0"/>
              <a:t>Reporting messages</a:t>
            </a:r>
          </a:p>
          <a:p>
            <a:r>
              <a:rPr lang="en-US" dirty="0"/>
              <a:t>To raise a message, you use the raise statement as follows:</a:t>
            </a:r>
          </a:p>
          <a:p>
            <a:pPr lvl="1"/>
            <a:r>
              <a:rPr lang="en-US" dirty="0"/>
              <a:t>raise level format;</a:t>
            </a:r>
          </a:p>
          <a:p>
            <a:r>
              <a:rPr lang="en-US" dirty="0"/>
              <a:t>Following the raise statement is the level option that specifies the error severity.</a:t>
            </a:r>
          </a:p>
          <a:p>
            <a:r>
              <a:rPr lang="en-US" dirty="0"/>
              <a:t>PostgreSQL provides the following levels:</a:t>
            </a:r>
          </a:p>
          <a:p>
            <a:pPr lvl="1"/>
            <a:r>
              <a:rPr lang="en-US" dirty="0"/>
              <a:t> debug</a:t>
            </a:r>
          </a:p>
          <a:p>
            <a:pPr lvl="1"/>
            <a:r>
              <a:rPr lang="en-US" dirty="0"/>
              <a:t> log</a:t>
            </a:r>
          </a:p>
          <a:p>
            <a:pPr lvl="1"/>
            <a:r>
              <a:rPr lang="en-US" dirty="0"/>
              <a:t> notice</a:t>
            </a:r>
          </a:p>
          <a:p>
            <a:pPr lvl="1"/>
            <a:r>
              <a:rPr lang="en-US" dirty="0"/>
              <a:t> info</a:t>
            </a:r>
          </a:p>
          <a:p>
            <a:pPr lvl="1"/>
            <a:r>
              <a:rPr lang="en-US" dirty="0"/>
              <a:t> warning</a:t>
            </a:r>
          </a:p>
          <a:p>
            <a:pPr lvl="1"/>
            <a:r>
              <a:rPr lang="en-US" dirty="0"/>
              <a:t> exception</a:t>
            </a:r>
            <a:endParaRPr lang="en-IN" dirty="0"/>
          </a:p>
        </p:txBody>
      </p:sp>
      <p:sp>
        <p:nvSpPr>
          <p:cNvPr id="3" name="Title 2">
            <a:extLst>
              <a:ext uri="{FF2B5EF4-FFF2-40B4-BE49-F238E27FC236}">
                <a16:creationId xmlns:a16="http://schemas.microsoft.com/office/drawing/2014/main" id="{8687126F-9417-453D-8C0B-C7F957ADC143}"/>
              </a:ext>
            </a:extLst>
          </p:cNvPr>
          <p:cNvSpPr>
            <a:spLocks noGrp="1"/>
          </p:cNvSpPr>
          <p:nvPr>
            <p:ph type="title"/>
          </p:nvPr>
        </p:nvSpPr>
        <p:spPr/>
        <p:txBody>
          <a:bodyPr/>
          <a:lstStyle/>
          <a:p>
            <a:r>
              <a:rPr lang="en-US" dirty="0"/>
              <a:t>PL/</a:t>
            </a:r>
            <a:r>
              <a:rPr lang="en-US" dirty="0" err="1"/>
              <a:t>pgSQL</a:t>
            </a:r>
            <a:r>
              <a:rPr lang="en-US" dirty="0"/>
              <a:t> Errors and Messages</a:t>
            </a:r>
            <a:endParaRPr lang="en-IN" dirty="0"/>
          </a:p>
        </p:txBody>
      </p:sp>
    </p:spTree>
    <p:extLst>
      <p:ext uri="{BB962C8B-B14F-4D97-AF65-F5344CB8AC3E}">
        <p14:creationId xmlns:p14="http://schemas.microsoft.com/office/powerpoint/2010/main" val="3348825939"/>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FF362C-2CA1-4A8B-97FF-260BF1DE3FAB}"/>
              </a:ext>
            </a:extLst>
          </p:cNvPr>
          <p:cNvSpPr>
            <a:spLocks noGrp="1"/>
          </p:cNvSpPr>
          <p:nvPr>
            <p:ph sz="quarter" idx="12"/>
          </p:nvPr>
        </p:nvSpPr>
        <p:spPr/>
        <p:txBody>
          <a:bodyPr/>
          <a:lstStyle/>
          <a:p>
            <a:pPr marL="0" indent="0">
              <a:buNone/>
            </a:pPr>
            <a:r>
              <a:rPr lang="en-US" dirty="0"/>
              <a:t>do $$ </a:t>
            </a:r>
          </a:p>
          <a:p>
            <a:pPr marL="0" indent="0">
              <a:buNone/>
            </a:pPr>
            <a:r>
              <a:rPr lang="en-US" dirty="0"/>
              <a:t>begin </a:t>
            </a:r>
          </a:p>
          <a:p>
            <a:pPr marL="0" indent="0">
              <a:buNone/>
            </a:pPr>
            <a:r>
              <a:rPr lang="en-US" dirty="0"/>
              <a:t>  raise info 'information message %', now() ;</a:t>
            </a:r>
          </a:p>
          <a:p>
            <a:pPr marL="0" indent="0">
              <a:buNone/>
            </a:pPr>
            <a:r>
              <a:rPr lang="en-US" dirty="0"/>
              <a:t>  raise log 'log message %', now();</a:t>
            </a:r>
          </a:p>
          <a:p>
            <a:pPr marL="0" indent="0">
              <a:buNone/>
            </a:pPr>
            <a:r>
              <a:rPr lang="en-US" dirty="0"/>
              <a:t>  raise debug 'debug message %', now();</a:t>
            </a:r>
          </a:p>
          <a:p>
            <a:pPr marL="0" indent="0">
              <a:buNone/>
            </a:pPr>
            <a:r>
              <a:rPr lang="en-US" dirty="0"/>
              <a:t>  raise warning 'warning message %', now();</a:t>
            </a:r>
          </a:p>
          <a:p>
            <a:pPr marL="0" indent="0">
              <a:buNone/>
            </a:pPr>
            <a:r>
              <a:rPr lang="en-US" dirty="0"/>
              <a:t>  raise notice 'notice message %', now();</a:t>
            </a:r>
          </a:p>
          <a:p>
            <a:pPr marL="0" indent="0">
              <a:buNone/>
            </a:pPr>
            <a:r>
              <a:rPr lang="en-US" dirty="0"/>
              <a:t>end $$;</a:t>
            </a:r>
            <a:endParaRPr lang="en-IN" dirty="0"/>
          </a:p>
        </p:txBody>
      </p:sp>
      <p:sp>
        <p:nvSpPr>
          <p:cNvPr id="3" name="Title 2">
            <a:extLst>
              <a:ext uri="{FF2B5EF4-FFF2-40B4-BE49-F238E27FC236}">
                <a16:creationId xmlns:a16="http://schemas.microsoft.com/office/drawing/2014/main" id="{17658717-1C84-4966-BB71-F37C1251E857}"/>
              </a:ext>
            </a:extLst>
          </p:cNvPr>
          <p:cNvSpPr>
            <a:spLocks noGrp="1"/>
          </p:cNvSpPr>
          <p:nvPr>
            <p:ph type="title"/>
          </p:nvPr>
        </p:nvSpPr>
        <p:spPr/>
        <p:txBody>
          <a:bodyPr/>
          <a:lstStyle/>
          <a:p>
            <a:r>
              <a:rPr lang="en-IN" dirty="0"/>
              <a:t>Reporting Messages</a:t>
            </a:r>
          </a:p>
        </p:txBody>
      </p:sp>
    </p:spTree>
    <p:extLst>
      <p:ext uri="{BB962C8B-B14F-4D97-AF65-F5344CB8AC3E}">
        <p14:creationId xmlns:p14="http://schemas.microsoft.com/office/powerpoint/2010/main" val="3231889075"/>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3F9F54B-3998-42A4-9EED-D9BB5FC095B8}"/>
              </a:ext>
            </a:extLst>
          </p:cNvPr>
          <p:cNvSpPr>
            <a:spLocks noGrp="1"/>
          </p:cNvSpPr>
          <p:nvPr>
            <p:ph sz="quarter" idx="12"/>
          </p:nvPr>
        </p:nvSpPr>
        <p:spPr/>
        <p:txBody>
          <a:bodyPr/>
          <a:lstStyle/>
          <a:p>
            <a:r>
              <a:rPr lang="en-US" dirty="0"/>
              <a:t>To raise an error, you use the exception level after the raise statement. </a:t>
            </a:r>
          </a:p>
          <a:p>
            <a:r>
              <a:rPr lang="en-US" dirty="0"/>
              <a:t>Note that raise statement uses the exception level by default.</a:t>
            </a:r>
            <a:endParaRPr lang="en-IN" dirty="0"/>
          </a:p>
        </p:txBody>
      </p:sp>
      <p:sp>
        <p:nvSpPr>
          <p:cNvPr id="3" name="Title 2">
            <a:extLst>
              <a:ext uri="{FF2B5EF4-FFF2-40B4-BE49-F238E27FC236}">
                <a16:creationId xmlns:a16="http://schemas.microsoft.com/office/drawing/2014/main" id="{B297055B-D4CE-4197-9332-84928312F8BE}"/>
              </a:ext>
            </a:extLst>
          </p:cNvPr>
          <p:cNvSpPr>
            <a:spLocks noGrp="1"/>
          </p:cNvSpPr>
          <p:nvPr>
            <p:ph type="title"/>
          </p:nvPr>
        </p:nvSpPr>
        <p:spPr/>
        <p:txBody>
          <a:bodyPr/>
          <a:lstStyle/>
          <a:p>
            <a:r>
              <a:rPr lang="en-IN" dirty="0"/>
              <a:t>Raising errors</a:t>
            </a:r>
          </a:p>
        </p:txBody>
      </p:sp>
    </p:spTree>
    <p:extLst>
      <p:ext uri="{BB962C8B-B14F-4D97-AF65-F5344CB8AC3E}">
        <p14:creationId xmlns:p14="http://schemas.microsoft.com/office/powerpoint/2010/main" val="3083800988"/>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3F9F54B-3998-42A4-9EED-D9BB5FC095B8}"/>
              </a:ext>
            </a:extLst>
          </p:cNvPr>
          <p:cNvSpPr>
            <a:spLocks noGrp="1"/>
          </p:cNvSpPr>
          <p:nvPr>
            <p:ph sz="quarter" idx="12"/>
          </p:nvPr>
        </p:nvSpPr>
        <p:spPr/>
        <p:txBody>
          <a:bodyPr>
            <a:normAutofit lnSpcReduction="10000"/>
          </a:bodyPr>
          <a:lstStyle/>
          <a:p>
            <a:r>
              <a:rPr lang="en-US" dirty="0"/>
              <a:t>Besides raising an error, you can add more information by using the following additional clause:</a:t>
            </a:r>
          </a:p>
          <a:p>
            <a:r>
              <a:rPr lang="en-US" dirty="0"/>
              <a:t>using option = expression</a:t>
            </a:r>
          </a:p>
          <a:p>
            <a:r>
              <a:rPr lang="en-US" dirty="0"/>
              <a:t>The option can be:</a:t>
            </a:r>
          </a:p>
          <a:p>
            <a:pPr lvl="1"/>
            <a:r>
              <a:rPr lang="en-US" dirty="0"/>
              <a:t>message: set error message</a:t>
            </a:r>
          </a:p>
          <a:p>
            <a:pPr lvl="1"/>
            <a:r>
              <a:rPr lang="en-US" dirty="0"/>
              <a:t>hint: provide the hint message so that the root cause of the error is easier to be discovered.</a:t>
            </a:r>
          </a:p>
          <a:p>
            <a:pPr lvl="1"/>
            <a:r>
              <a:rPr lang="en-US" dirty="0"/>
              <a:t>detail:  give detailed information about the error.</a:t>
            </a:r>
          </a:p>
          <a:p>
            <a:pPr lvl="1"/>
            <a:r>
              <a:rPr lang="en-US" dirty="0" err="1"/>
              <a:t>errcode</a:t>
            </a:r>
            <a:r>
              <a:rPr lang="en-US" dirty="0"/>
              <a:t>: identify the error code, which can be either by condition name or directly five-character SQLSTATE code. Please refer to the table of error codes and condition names.</a:t>
            </a:r>
            <a:endParaRPr lang="en-IN" dirty="0"/>
          </a:p>
        </p:txBody>
      </p:sp>
      <p:sp>
        <p:nvSpPr>
          <p:cNvPr id="3" name="Title 2">
            <a:extLst>
              <a:ext uri="{FF2B5EF4-FFF2-40B4-BE49-F238E27FC236}">
                <a16:creationId xmlns:a16="http://schemas.microsoft.com/office/drawing/2014/main" id="{B297055B-D4CE-4197-9332-84928312F8BE}"/>
              </a:ext>
            </a:extLst>
          </p:cNvPr>
          <p:cNvSpPr>
            <a:spLocks noGrp="1"/>
          </p:cNvSpPr>
          <p:nvPr>
            <p:ph type="title"/>
          </p:nvPr>
        </p:nvSpPr>
        <p:spPr/>
        <p:txBody>
          <a:bodyPr/>
          <a:lstStyle/>
          <a:p>
            <a:r>
              <a:rPr lang="en-IN" dirty="0"/>
              <a:t>Raising errors</a:t>
            </a:r>
          </a:p>
        </p:txBody>
      </p:sp>
    </p:spTree>
    <p:extLst>
      <p:ext uri="{BB962C8B-B14F-4D97-AF65-F5344CB8AC3E}">
        <p14:creationId xmlns:p14="http://schemas.microsoft.com/office/powerpoint/2010/main" val="4019958377"/>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6E88E3-1527-4A61-8B45-2748CA2C6AFB}"/>
              </a:ext>
            </a:extLst>
          </p:cNvPr>
          <p:cNvSpPr>
            <a:spLocks noGrp="1"/>
          </p:cNvSpPr>
          <p:nvPr>
            <p:ph sz="quarter" idx="12"/>
          </p:nvPr>
        </p:nvSpPr>
        <p:spPr/>
        <p:txBody>
          <a:bodyPr>
            <a:normAutofit fontScale="92500" lnSpcReduction="10000"/>
          </a:bodyPr>
          <a:lstStyle/>
          <a:p>
            <a:pPr marL="0" indent="0">
              <a:buNone/>
            </a:pPr>
            <a:r>
              <a:rPr lang="en-US" dirty="0"/>
              <a:t>do $$ </a:t>
            </a:r>
          </a:p>
          <a:p>
            <a:pPr marL="0" indent="0">
              <a:buNone/>
            </a:pPr>
            <a:r>
              <a:rPr lang="en-US" dirty="0"/>
              <a:t>declare</a:t>
            </a:r>
          </a:p>
          <a:p>
            <a:pPr marL="0" indent="0">
              <a:buNone/>
            </a:pPr>
            <a:r>
              <a:rPr lang="en-US" dirty="0"/>
              <a:t>  email varchar(255) := 'info@postgresqltutorial.com';</a:t>
            </a:r>
          </a:p>
          <a:p>
            <a:pPr marL="0" indent="0">
              <a:buNone/>
            </a:pPr>
            <a:r>
              <a:rPr lang="en-US" dirty="0"/>
              <a:t>begin </a:t>
            </a:r>
          </a:p>
          <a:p>
            <a:pPr marL="0" indent="0">
              <a:buNone/>
            </a:pPr>
            <a:r>
              <a:rPr lang="en-US" dirty="0"/>
              <a:t>  -- check email for duplicate</a:t>
            </a:r>
          </a:p>
          <a:p>
            <a:pPr marL="0" indent="0">
              <a:buNone/>
            </a:pPr>
            <a:r>
              <a:rPr lang="en-US" dirty="0"/>
              <a:t>  -- ...</a:t>
            </a:r>
          </a:p>
          <a:p>
            <a:pPr marL="0" indent="0">
              <a:buNone/>
            </a:pPr>
            <a:r>
              <a:rPr lang="en-US" dirty="0"/>
              <a:t>  -- report duplicate email</a:t>
            </a:r>
          </a:p>
          <a:p>
            <a:pPr marL="0" indent="0">
              <a:buNone/>
            </a:pPr>
            <a:r>
              <a:rPr lang="en-US" dirty="0"/>
              <a:t>  raise exception 'duplicate email: %', email </a:t>
            </a:r>
          </a:p>
          <a:p>
            <a:pPr marL="0" indent="0">
              <a:buNone/>
            </a:pPr>
            <a:r>
              <a:rPr lang="en-US" dirty="0"/>
              <a:t>		using hint = 'check the email again';</a:t>
            </a:r>
          </a:p>
          <a:p>
            <a:pPr marL="0" indent="0">
              <a:buNone/>
            </a:pPr>
            <a:r>
              <a:rPr lang="en-US" dirty="0"/>
              <a:t>end $$;</a:t>
            </a:r>
            <a:endParaRPr lang="en-IN" dirty="0"/>
          </a:p>
        </p:txBody>
      </p:sp>
      <p:sp>
        <p:nvSpPr>
          <p:cNvPr id="3" name="Title 2">
            <a:extLst>
              <a:ext uri="{FF2B5EF4-FFF2-40B4-BE49-F238E27FC236}">
                <a16:creationId xmlns:a16="http://schemas.microsoft.com/office/drawing/2014/main" id="{335684E4-2273-49C6-A428-5DBE0B7E61C7}"/>
              </a:ext>
            </a:extLst>
          </p:cNvPr>
          <p:cNvSpPr>
            <a:spLocks noGrp="1"/>
          </p:cNvSpPr>
          <p:nvPr>
            <p:ph type="title"/>
          </p:nvPr>
        </p:nvSpPr>
        <p:spPr/>
        <p:txBody>
          <a:bodyPr/>
          <a:lstStyle/>
          <a:p>
            <a:r>
              <a:rPr lang="en-IN" dirty="0"/>
              <a:t>Raising Errors</a:t>
            </a:r>
          </a:p>
        </p:txBody>
      </p:sp>
    </p:spTree>
    <p:extLst>
      <p:ext uri="{BB962C8B-B14F-4D97-AF65-F5344CB8AC3E}">
        <p14:creationId xmlns:p14="http://schemas.microsoft.com/office/powerpoint/2010/main" val="280478848"/>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3F1F867-A08F-44BA-BD8D-B27FC7FF811E}"/>
              </a:ext>
            </a:extLst>
          </p:cNvPr>
          <p:cNvSpPr>
            <a:spLocks noGrp="1"/>
          </p:cNvSpPr>
          <p:nvPr>
            <p:ph sz="quarter" idx="12"/>
          </p:nvPr>
        </p:nvSpPr>
        <p:spPr/>
        <p:txBody>
          <a:bodyPr>
            <a:normAutofit fontScale="92500" lnSpcReduction="20000"/>
          </a:bodyPr>
          <a:lstStyle/>
          <a:p>
            <a:pPr marL="0" indent="0">
              <a:buNone/>
            </a:pPr>
            <a:r>
              <a:rPr lang="en-US" dirty="0"/>
              <a:t>do $$</a:t>
            </a:r>
          </a:p>
          <a:p>
            <a:pPr marL="0" indent="0">
              <a:buNone/>
            </a:pPr>
            <a:r>
              <a:rPr lang="en-US" dirty="0"/>
              <a:t>declare </a:t>
            </a:r>
          </a:p>
          <a:p>
            <a:pPr marL="0" indent="0">
              <a:buNone/>
            </a:pPr>
            <a:r>
              <a:rPr lang="en-US" dirty="0"/>
              <a:t>   </a:t>
            </a:r>
            <a:r>
              <a:rPr lang="en-US" dirty="0" err="1"/>
              <a:t>film_count</a:t>
            </a:r>
            <a:r>
              <a:rPr lang="en-US" dirty="0"/>
              <a:t> integer;</a:t>
            </a:r>
          </a:p>
          <a:p>
            <a:pPr marL="0" indent="0">
              <a:buNone/>
            </a:pPr>
            <a:r>
              <a:rPr lang="en-US" dirty="0"/>
              <a:t>begin</a:t>
            </a:r>
          </a:p>
          <a:p>
            <a:pPr marL="0" indent="0">
              <a:buNone/>
            </a:pPr>
            <a:r>
              <a:rPr lang="en-US" dirty="0"/>
              <a:t>   select count(*)</a:t>
            </a:r>
          </a:p>
          <a:p>
            <a:pPr marL="0" indent="0">
              <a:buNone/>
            </a:pPr>
            <a:r>
              <a:rPr lang="en-US" dirty="0"/>
              <a:t>   into </a:t>
            </a:r>
            <a:r>
              <a:rPr lang="en-US" dirty="0" err="1"/>
              <a:t>film_count</a:t>
            </a:r>
            <a:endParaRPr lang="en-US" dirty="0"/>
          </a:p>
          <a:p>
            <a:pPr marL="0" indent="0">
              <a:buNone/>
            </a:pPr>
            <a:r>
              <a:rPr lang="en-US" dirty="0"/>
              <a:t>   from films;</a:t>
            </a:r>
          </a:p>
          <a:p>
            <a:pPr marL="0" indent="0">
              <a:buNone/>
            </a:pPr>
            <a:r>
              <a:rPr lang="en-US" dirty="0"/>
              <a:t>   </a:t>
            </a:r>
          </a:p>
          <a:p>
            <a:pPr marL="0" indent="0">
              <a:buNone/>
            </a:pPr>
            <a:r>
              <a:rPr lang="en-US" dirty="0"/>
              <a:t>   assert </a:t>
            </a:r>
            <a:r>
              <a:rPr lang="en-US" dirty="0" err="1"/>
              <a:t>film_count</a:t>
            </a:r>
            <a:r>
              <a:rPr lang="en-US" dirty="0"/>
              <a:t> &gt; 1000, '1000 Film not found, check the film table';</a:t>
            </a:r>
          </a:p>
          <a:p>
            <a:pPr marL="0" indent="0">
              <a:buNone/>
            </a:pPr>
            <a:r>
              <a:rPr lang="en-US" dirty="0"/>
              <a:t>end$$;</a:t>
            </a:r>
            <a:endParaRPr lang="en-IN" dirty="0"/>
          </a:p>
        </p:txBody>
      </p:sp>
      <p:sp>
        <p:nvSpPr>
          <p:cNvPr id="3" name="Title 2">
            <a:extLst>
              <a:ext uri="{FF2B5EF4-FFF2-40B4-BE49-F238E27FC236}">
                <a16:creationId xmlns:a16="http://schemas.microsoft.com/office/drawing/2014/main" id="{79CA3CD3-8976-439A-A920-AFA23CCFE84C}"/>
              </a:ext>
            </a:extLst>
          </p:cNvPr>
          <p:cNvSpPr>
            <a:spLocks noGrp="1"/>
          </p:cNvSpPr>
          <p:nvPr>
            <p:ph type="title"/>
          </p:nvPr>
        </p:nvSpPr>
        <p:spPr/>
        <p:txBody>
          <a:bodyPr/>
          <a:lstStyle/>
          <a:p>
            <a:r>
              <a:rPr lang="en-IN" dirty="0"/>
              <a:t>Assert Statement</a:t>
            </a:r>
          </a:p>
        </p:txBody>
      </p:sp>
    </p:spTree>
    <p:extLst>
      <p:ext uri="{BB962C8B-B14F-4D97-AF65-F5344CB8AC3E}">
        <p14:creationId xmlns:p14="http://schemas.microsoft.com/office/powerpoint/2010/main" val="2470712155"/>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C743FB-5DB4-4917-ABDA-43C5E881F39F}"/>
              </a:ext>
            </a:extLst>
          </p:cNvPr>
          <p:cNvSpPr>
            <a:spLocks noGrp="1"/>
          </p:cNvSpPr>
          <p:nvPr>
            <p:ph sz="quarter" idx="12"/>
          </p:nvPr>
        </p:nvSpPr>
        <p:spPr/>
        <p:txBody>
          <a:bodyPr/>
          <a:lstStyle/>
          <a:p>
            <a:r>
              <a:rPr lang="en-US" dirty="0"/>
              <a:t>The if statement determines which statements to execute based on the result of a </a:t>
            </a:r>
            <a:r>
              <a:rPr lang="en-US" dirty="0" err="1"/>
              <a:t>boolean</a:t>
            </a:r>
            <a:r>
              <a:rPr lang="en-US" dirty="0"/>
              <a:t> expression.</a:t>
            </a:r>
          </a:p>
          <a:p>
            <a:r>
              <a:rPr lang="en-US" dirty="0"/>
              <a:t>PL/</a:t>
            </a:r>
            <a:r>
              <a:rPr lang="en-US" dirty="0" err="1"/>
              <a:t>pgSQL</a:t>
            </a:r>
            <a:r>
              <a:rPr lang="en-US" dirty="0"/>
              <a:t> provides you with three forms of the if statements.</a:t>
            </a:r>
          </a:p>
          <a:p>
            <a:pPr lvl="1"/>
            <a:endParaRPr lang="en-US" dirty="0"/>
          </a:p>
          <a:p>
            <a:pPr lvl="1"/>
            <a:r>
              <a:rPr lang="en-US" dirty="0"/>
              <a:t>if then</a:t>
            </a:r>
          </a:p>
          <a:p>
            <a:pPr lvl="1"/>
            <a:r>
              <a:rPr lang="en-US" dirty="0"/>
              <a:t>if then else</a:t>
            </a:r>
          </a:p>
          <a:p>
            <a:pPr lvl="1"/>
            <a:r>
              <a:rPr lang="en-US" dirty="0"/>
              <a:t>if then </a:t>
            </a:r>
            <a:r>
              <a:rPr lang="en-US" dirty="0" err="1"/>
              <a:t>elsif</a:t>
            </a:r>
            <a:endParaRPr lang="en-IN" dirty="0"/>
          </a:p>
        </p:txBody>
      </p:sp>
      <p:sp>
        <p:nvSpPr>
          <p:cNvPr id="3" name="Title 2">
            <a:extLst>
              <a:ext uri="{FF2B5EF4-FFF2-40B4-BE49-F238E27FC236}">
                <a16:creationId xmlns:a16="http://schemas.microsoft.com/office/drawing/2014/main" id="{75DDC988-9877-4939-A36E-0DB16B461D44}"/>
              </a:ext>
            </a:extLst>
          </p:cNvPr>
          <p:cNvSpPr>
            <a:spLocks noGrp="1"/>
          </p:cNvSpPr>
          <p:nvPr>
            <p:ph type="title"/>
          </p:nvPr>
        </p:nvSpPr>
        <p:spPr/>
        <p:txBody>
          <a:bodyPr/>
          <a:lstStyle/>
          <a:p>
            <a:r>
              <a:rPr lang="en-IN" dirty="0"/>
              <a:t>PL/</a:t>
            </a:r>
            <a:r>
              <a:rPr lang="en-IN" dirty="0" err="1"/>
              <a:t>pgSQL</a:t>
            </a:r>
            <a:r>
              <a:rPr lang="en-IN" dirty="0"/>
              <a:t> IF Statement</a:t>
            </a:r>
          </a:p>
        </p:txBody>
      </p:sp>
    </p:spTree>
    <p:extLst>
      <p:ext uri="{BB962C8B-B14F-4D97-AF65-F5344CB8AC3E}">
        <p14:creationId xmlns:p14="http://schemas.microsoft.com/office/powerpoint/2010/main" val="3392757483"/>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C743FB-5DB4-4917-ABDA-43C5E881F39F}"/>
              </a:ext>
            </a:extLst>
          </p:cNvPr>
          <p:cNvSpPr>
            <a:spLocks noGrp="1"/>
          </p:cNvSpPr>
          <p:nvPr>
            <p:ph sz="quarter" idx="12"/>
          </p:nvPr>
        </p:nvSpPr>
        <p:spPr/>
        <p:txBody>
          <a:bodyPr/>
          <a:lstStyle/>
          <a:p>
            <a:r>
              <a:rPr lang="en-US" dirty="0"/>
              <a:t>PL/</a:t>
            </a:r>
            <a:r>
              <a:rPr lang="en-US" dirty="0" err="1"/>
              <a:t>pgSQL</a:t>
            </a:r>
            <a:r>
              <a:rPr lang="en-US" dirty="0"/>
              <a:t> if-then statement</a:t>
            </a:r>
          </a:p>
          <a:p>
            <a:r>
              <a:rPr lang="en-US" dirty="0"/>
              <a:t>The following illustrates the simplest form of the if statement:</a:t>
            </a:r>
          </a:p>
          <a:p>
            <a:r>
              <a:rPr lang="en-US" dirty="0"/>
              <a:t>if condition then</a:t>
            </a:r>
          </a:p>
          <a:p>
            <a:r>
              <a:rPr lang="en-US" dirty="0"/>
              <a:t>   statements;</a:t>
            </a:r>
          </a:p>
          <a:p>
            <a:r>
              <a:rPr lang="en-US" dirty="0"/>
              <a:t>end if;</a:t>
            </a:r>
            <a:endParaRPr lang="en-IN" dirty="0"/>
          </a:p>
        </p:txBody>
      </p:sp>
      <p:sp>
        <p:nvSpPr>
          <p:cNvPr id="3" name="Title 2">
            <a:extLst>
              <a:ext uri="{FF2B5EF4-FFF2-40B4-BE49-F238E27FC236}">
                <a16:creationId xmlns:a16="http://schemas.microsoft.com/office/drawing/2014/main" id="{75DDC988-9877-4939-A36E-0DB16B461D44}"/>
              </a:ext>
            </a:extLst>
          </p:cNvPr>
          <p:cNvSpPr>
            <a:spLocks noGrp="1"/>
          </p:cNvSpPr>
          <p:nvPr>
            <p:ph type="title"/>
          </p:nvPr>
        </p:nvSpPr>
        <p:spPr/>
        <p:txBody>
          <a:bodyPr/>
          <a:lstStyle/>
          <a:p>
            <a:r>
              <a:rPr lang="en-IN" dirty="0"/>
              <a:t>PL/</a:t>
            </a:r>
            <a:r>
              <a:rPr lang="en-IN" dirty="0" err="1"/>
              <a:t>pgSQL</a:t>
            </a:r>
            <a:r>
              <a:rPr lang="en-IN" dirty="0"/>
              <a:t> IF Statement</a:t>
            </a:r>
          </a:p>
        </p:txBody>
      </p:sp>
    </p:spTree>
    <p:extLst>
      <p:ext uri="{BB962C8B-B14F-4D97-AF65-F5344CB8AC3E}">
        <p14:creationId xmlns:p14="http://schemas.microsoft.com/office/powerpoint/2010/main" val="3837821436"/>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C743FB-5DB4-4917-ABDA-43C5E881F39F}"/>
              </a:ext>
            </a:extLst>
          </p:cNvPr>
          <p:cNvSpPr>
            <a:spLocks noGrp="1"/>
          </p:cNvSpPr>
          <p:nvPr>
            <p:ph sz="quarter" idx="12"/>
          </p:nvPr>
        </p:nvSpPr>
        <p:spPr>
          <a:xfrm>
            <a:off x="457201" y="1381125"/>
            <a:ext cx="8228012" cy="5170504"/>
          </a:xfrm>
        </p:spPr>
        <p:txBody>
          <a:bodyPr>
            <a:noAutofit/>
          </a:bodyPr>
          <a:lstStyle/>
          <a:p>
            <a:pPr marL="0" indent="0">
              <a:buNone/>
            </a:pPr>
            <a:r>
              <a:rPr lang="en-US" sz="1600" dirty="0"/>
              <a:t>do $$</a:t>
            </a:r>
          </a:p>
          <a:p>
            <a:pPr marL="0" indent="0">
              <a:buNone/>
            </a:pPr>
            <a:r>
              <a:rPr lang="en-US" sz="1600" dirty="0"/>
              <a:t>declare</a:t>
            </a:r>
          </a:p>
          <a:p>
            <a:pPr marL="0" indent="0">
              <a:buNone/>
            </a:pPr>
            <a:r>
              <a:rPr lang="en-US" sz="1600" dirty="0"/>
              <a:t>  </a:t>
            </a:r>
            <a:r>
              <a:rPr lang="en-US" sz="1600" dirty="0" err="1"/>
              <a:t>selected_film</a:t>
            </a:r>
            <a:r>
              <a:rPr lang="en-US" sz="1600" dirty="0"/>
              <a:t> </a:t>
            </a:r>
            <a:r>
              <a:rPr lang="en-US" sz="1600" dirty="0" err="1"/>
              <a:t>films%rowtype</a:t>
            </a:r>
            <a:r>
              <a:rPr lang="en-US" sz="1600" dirty="0"/>
              <a:t>;</a:t>
            </a:r>
          </a:p>
          <a:p>
            <a:pPr marL="0" indent="0">
              <a:buNone/>
            </a:pPr>
            <a:r>
              <a:rPr lang="en-US" sz="1600" dirty="0"/>
              <a:t>  </a:t>
            </a:r>
            <a:r>
              <a:rPr lang="en-US" sz="1600" dirty="0" err="1"/>
              <a:t>input_film_id</a:t>
            </a:r>
            <a:r>
              <a:rPr lang="en-US" sz="1600" dirty="0"/>
              <a:t> </a:t>
            </a:r>
            <a:r>
              <a:rPr lang="en-US" sz="1600" dirty="0" err="1"/>
              <a:t>films.film_id%type</a:t>
            </a:r>
            <a:r>
              <a:rPr lang="en-US" sz="1600" dirty="0"/>
              <a:t> := 0;</a:t>
            </a:r>
          </a:p>
          <a:p>
            <a:pPr marL="0" indent="0">
              <a:buNone/>
            </a:pPr>
            <a:r>
              <a:rPr lang="en-US" sz="1600" dirty="0"/>
              <a:t>begin  </a:t>
            </a:r>
          </a:p>
          <a:p>
            <a:pPr marL="0" indent="0">
              <a:buNone/>
            </a:pPr>
            <a:r>
              <a:rPr lang="en-US" sz="1600" dirty="0"/>
              <a:t>  select * from films</a:t>
            </a:r>
          </a:p>
          <a:p>
            <a:pPr marL="0" indent="0">
              <a:buNone/>
            </a:pPr>
            <a:r>
              <a:rPr lang="en-US" sz="1600" dirty="0"/>
              <a:t>  into </a:t>
            </a:r>
            <a:r>
              <a:rPr lang="en-US" sz="1600" dirty="0" err="1"/>
              <a:t>selected_film</a:t>
            </a:r>
            <a:endParaRPr lang="en-US" sz="1600" dirty="0"/>
          </a:p>
          <a:p>
            <a:pPr marL="0" indent="0">
              <a:buNone/>
            </a:pPr>
            <a:r>
              <a:rPr lang="en-US" sz="1600" dirty="0"/>
              <a:t>  where </a:t>
            </a:r>
            <a:r>
              <a:rPr lang="en-US" sz="1600" dirty="0" err="1"/>
              <a:t>film_id</a:t>
            </a:r>
            <a:r>
              <a:rPr lang="en-US" sz="1600" dirty="0"/>
              <a:t> = </a:t>
            </a:r>
            <a:r>
              <a:rPr lang="en-US" sz="1600" dirty="0" err="1"/>
              <a:t>input_film_id</a:t>
            </a:r>
            <a:r>
              <a:rPr lang="en-US" sz="1600" dirty="0"/>
              <a:t>; </a:t>
            </a:r>
          </a:p>
          <a:p>
            <a:pPr marL="0" indent="0">
              <a:buNone/>
            </a:pPr>
            <a:r>
              <a:rPr lang="en-US" sz="1600" dirty="0"/>
              <a:t>  if not found then</a:t>
            </a:r>
          </a:p>
          <a:p>
            <a:pPr marL="0" indent="0">
              <a:buNone/>
            </a:pPr>
            <a:r>
              <a:rPr lang="en-US" sz="1600" dirty="0"/>
              <a:t>     raise </a:t>
            </a:r>
            <a:r>
              <a:rPr lang="en-US" sz="1600" dirty="0" err="1"/>
              <a:t>notice'The</a:t>
            </a:r>
            <a:r>
              <a:rPr lang="en-US" sz="1600" dirty="0"/>
              <a:t> film % could not be found', </a:t>
            </a:r>
          </a:p>
          <a:p>
            <a:pPr marL="0" indent="0">
              <a:buNone/>
            </a:pPr>
            <a:r>
              <a:rPr lang="en-US" sz="1600" dirty="0"/>
              <a:t>	    </a:t>
            </a:r>
            <a:r>
              <a:rPr lang="en-US" sz="1600" dirty="0" err="1"/>
              <a:t>input_film_id</a:t>
            </a:r>
            <a:r>
              <a:rPr lang="en-US" sz="1600" dirty="0"/>
              <a:t>;</a:t>
            </a:r>
          </a:p>
          <a:p>
            <a:pPr marL="0" indent="0">
              <a:buNone/>
            </a:pPr>
            <a:r>
              <a:rPr lang="en-US" sz="1600" dirty="0"/>
              <a:t>  end if;</a:t>
            </a:r>
          </a:p>
          <a:p>
            <a:pPr marL="0" indent="0">
              <a:buNone/>
            </a:pPr>
            <a:r>
              <a:rPr lang="en-US" sz="1600" dirty="0"/>
              <a:t>end $$</a:t>
            </a:r>
          </a:p>
        </p:txBody>
      </p:sp>
      <p:sp>
        <p:nvSpPr>
          <p:cNvPr id="3" name="Title 2">
            <a:extLst>
              <a:ext uri="{FF2B5EF4-FFF2-40B4-BE49-F238E27FC236}">
                <a16:creationId xmlns:a16="http://schemas.microsoft.com/office/drawing/2014/main" id="{75DDC988-9877-4939-A36E-0DB16B461D44}"/>
              </a:ext>
            </a:extLst>
          </p:cNvPr>
          <p:cNvSpPr>
            <a:spLocks noGrp="1"/>
          </p:cNvSpPr>
          <p:nvPr>
            <p:ph type="title"/>
          </p:nvPr>
        </p:nvSpPr>
        <p:spPr/>
        <p:txBody>
          <a:bodyPr/>
          <a:lstStyle/>
          <a:p>
            <a:r>
              <a:rPr lang="en-IN" dirty="0"/>
              <a:t>PL/</a:t>
            </a:r>
            <a:r>
              <a:rPr lang="en-IN" dirty="0" err="1"/>
              <a:t>pgSQL</a:t>
            </a:r>
            <a:r>
              <a:rPr lang="en-IN" dirty="0"/>
              <a:t> IF Statement</a:t>
            </a:r>
          </a:p>
        </p:txBody>
      </p:sp>
    </p:spTree>
    <p:extLst>
      <p:ext uri="{BB962C8B-B14F-4D97-AF65-F5344CB8AC3E}">
        <p14:creationId xmlns:p14="http://schemas.microsoft.com/office/powerpoint/2010/main" val="3565083036"/>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C743FB-5DB4-4917-ABDA-43C5E881F39F}"/>
              </a:ext>
            </a:extLst>
          </p:cNvPr>
          <p:cNvSpPr>
            <a:spLocks noGrp="1"/>
          </p:cNvSpPr>
          <p:nvPr>
            <p:ph sz="quarter" idx="12"/>
          </p:nvPr>
        </p:nvSpPr>
        <p:spPr>
          <a:xfrm>
            <a:off x="457201" y="1381125"/>
            <a:ext cx="8228012" cy="5170504"/>
          </a:xfrm>
        </p:spPr>
        <p:txBody>
          <a:bodyPr>
            <a:noAutofit/>
          </a:bodyPr>
          <a:lstStyle/>
          <a:p>
            <a:pPr marL="0" indent="0">
              <a:buNone/>
            </a:pPr>
            <a:r>
              <a:rPr lang="en-US" sz="1600" dirty="0"/>
              <a:t>if condition then</a:t>
            </a:r>
          </a:p>
          <a:p>
            <a:pPr marL="0" indent="0">
              <a:buNone/>
            </a:pPr>
            <a:r>
              <a:rPr lang="en-US" sz="1600" dirty="0"/>
              <a:t>  statements;</a:t>
            </a:r>
          </a:p>
          <a:p>
            <a:pPr marL="0" indent="0">
              <a:buNone/>
            </a:pPr>
            <a:r>
              <a:rPr lang="en-US" sz="1600" dirty="0"/>
              <a:t>else</a:t>
            </a:r>
          </a:p>
          <a:p>
            <a:pPr marL="0" indent="0">
              <a:buNone/>
            </a:pPr>
            <a:r>
              <a:rPr lang="en-US" sz="1600" dirty="0"/>
              <a:t>  alternative-statements;</a:t>
            </a:r>
          </a:p>
          <a:p>
            <a:pPr marL="0" indent="0">
              <a:buNone/>
            </a:pPr>
            <a:r>
              <a:rPr lang="en-US" sz="1600" dirty="0"/>
              <a:t>END if;</a:t>
            </a:r>
          </a:p>
        </p:txBody>
      </p:sp>
      <p:sp>
        <p:nvSpPr>
          <p:cNvPr id="3" name="Title 2">
            <a:extLst>
              <a:ext uri="{FF2B5EF4-FFF2-40B4-BE49-F238E27FC236}">
                <a16:creationId xmlns:a16="http://schemas.microsoft.com/office/drawing/2014/main" id="{75DDC988-9877-4939-A36E-0DB16B461D44}"/>
              </a:ext>
            </a:extLst>
          </p:cNvPr>
          <p:cNvSpPr>
            <a:spLocks noGrp="1"/>
          </p:cNvSpPr>
          <p:nvPr>
            <p:ph type="title"/>
          </p:nvPr>
        </p:nvSpPr>
        <p:spPr/>
        <p:txBody>
          <a:bodyPr/>
          <a:lstStyle/>
          <a:p>
            <a:r>
              <a:rPr lang="en-IN" dirty="0"/>
              <a:t>PL/</a:t>
            </a:r>
            <a:r>
              <a:rPr lang="en-IN" dirty="0" err="1"/>
              <a:t>pgSQL</a:t>
            </a:r>
            <a:r>
              <a:rPr lang="en-IN" dirty="0"/>
              <a:t> if-then-else statement</a:t>
            </a:r>
          </a:p>
        </p:txBody>
      </p:sp>
    </p:spTree>
    <p:extLst>
      <p:ext uri="{BB962C8B-B14F-4D97-AF65-F5344CB8AC3E}">
        <p14:creationId xmlns:p14="http://schemas.microsoft.com/office/powerpoint/2010/main" val="1513303160"/>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C743FB-5DB4-4917-ABDA-43C5E881F39F}"/>
              </a:ext>
            </a:extLst>
          </p:cNvPr>
          <p:cNvSpPr>
            <a:spLocks noGrp="1"/>
          </p:cNvSpPr>
          <p:nvPr>
            <p:ph sz="quarter" idx="12"/>
          </p:nvPr>
        </p:nvSpPr>
        <p:spPr>
          <a:xfrm>
            <a:off x="457201" y="1381125"/>
            <a:ext cx="8228012" cy="5170504"/>
          </a:xfrm>
        </p:spPr>
        <p:txBody>
          <a:bodyPr>
            <a:noAutofit/>
          </a:bodyPr>
          <a:lstStyle/>
          <a:p>
            <a:pPr marL="0" indent="0">
              <a:buNone/>
            </a:pPr>
            <a:r>
              <a:rPr lang="en-US" sz="1600" dirty="0"/>
              <a:t>if condition then</a:t>
            </a:r>
          </a:p>
          <a:p>
            <a:pPr marL="0" indent="0">
              <a:buNone/>
            </a:pPr>
            <a:r>
              <a:rPr lang="en-US" sz="1600" dirty="0"/>
              <a:t>  statements;</a:t>
            </a:r>
          </a:p>
          <a:p>
            <a:pPr marL="0" indent="0">
              <a:buNone/>
            </a:pPr>
            <a:r>
              <a:rPr lang="en-US" sz="1600" dirty="0"/>
              <a:t>else</a:t>
            </a:r>
          </a:p>
          <a:p>
            <a:pPr marL="0" indent="0">
              <a:buNone/>
            </a:pPr>
            <a:r>
              <a:rPr lang="en-US" sz="1600" dirty="0"/>
              <a:t>  alternative-statements;</a:t>
            </a:r>
          </a:p>
          <a:p>
            <a:pPr marL="0" indent="0">
              <a:buNone/>
            </a:pPr>
            <a:r>
              <a:rPr lang="en-US" sz="1600" dirty="0"/>
              <a:t>END if;</a:t>
            </a:r>
          </a:p>
        </p:txBody>
      </p:sp>
      <p:sp>
        <p:nvSpPr>
          <p:cNvPr id="3" name="Title 2">
            <a:extLst>
              <a:ext uri="{FF2B5EF4-FFF2-40B4-BE49-F238E27FC236}">
                <a16:creationId xmlns:a16="http://schemas.microsoft.com/office/drawing/2014/main" id="{75DDC988-9877-4939-A36E-0DB16B461D44}"/>
              </a:ext>
            </a:extLst>
          </p:cNvPr>
          <p:cNvSpPr>
            <a:spLocks noGrp="1"/>
          </p:cNvSpPr>
          <p:nvPr>
            <p:ph type="title"/>
          </p:nvPr>
        </p:nvSpPr>
        <p:spPr/>
        <p:txBody>
          <a:bodyPr/>
          <a:lstStyle/>
          <a:p>
            <a:r>
              <a:rPr lang="en-IN" dirty="0"/>
              <a:t>PL/</a:t>
            </a:r>
            <a:r>
              <a:rPr lang="en-IN" dirty="0" err="1"/>
              <a:t>pgSQL</a:t>
            </a:r>
            <a:r>
              <a:rPr lang="en-IN" dirty="0"/>
              <a:t> if-then-else statement</a:t>
            </a:r>
          </a:p>
        </p:txBody>
      </p:sp>
    </p:spTree>
    <p:extLst>
      <p:ext uri="{BB962C8B-B14F-4D97-AF65-F5344CB8AC3E}">
        <p14:creationId xmlns:p14="http://schemas.microsoft.com/office/powerpoint/2010/main" val="1109638509"/>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C743FB-5DB4-4917-ABDA-43C5E881F39F}"/>
              </a:ext>
            </a:extLst>
          </p:cNvPr>
          <p:cNvSpPr>
            <a:spLocks noGrp="1"/>
          </p:cNvSpPr>
          <p:nvPr>
            <p:ph sz="quarter" idx="12"/>
          </p:nvPr>
        </p:nvSpPr>
        <p:spPr>
          <a:xfrm>
            <a:off x="438284" y="1220869"/>
            <a:ext cx="8228012" cy="5811527"/>
          </a:xfrm>
        </p:spPr>
        <p:txBody>
          <a:bodyPr>
            <a:noAutofit/>
          </a:bodyPr>
          <a:lstStyle/>
          <a:p>
            <a:pPr marL="0" indent="0">
              <a:buNone/>
            </a:pPr>
            <a:r>
              <a:rPr lang="en-US" sz="1600" dirty="0"/>
              <a:t>do $$</a:t>
            </a:r>
          </a:p>
          <a:p>
            <a:pPr marL="0" indent="0">
              <a:buNone/>
            </a:pPr>
            <a:r>
              <a:rPr lang="en-US" sz="1600" dirty="0"/>
              <a:t>declare</a:t>
            </a:r>
          </a:p>
          <a:p>
            <a:pPr marL="0" indent="0">
              <a:buNone/>
            </a:pPr>
            <a:r>
              <a:rPr lang="en-US" sz="1600" dirty="0"/>
              <a:t>  </a:t>
            </a:r>
            <a:r>
              <a:rPr lang="en-US" sz="1600" dirty="0" err="1"/>
              <a:t>selected_film</a:t>
            </a:r>
            <a:r>
              <a:rPr lang="en-US" sz="1600" dirty="0"/>
              <a:t> </a:t>
            </a:r>
            <a:r>
              <a:rPr lang="en-US" sz="1600" dirty="0" err="1"/>
              <a:t>films%rowtype</a:t>
            </a:r>
            <a:r>
              <a:rPr lang="en-US" sz="1600" dirty="0"/>
              <a:t>;</a:t>
            </a:r>
          </a:p>
          <a:p>
            <a:pPr marL="0" indent="0">
              <a:buNone/>
            </a:pPr>
            <a:r>
              <a:rPr lang="en-US" sz="1600" dirty="0"/>
              <a:t>  </a:t>
            </a:r>
            <a:r>
              <a:rPr lang="en-US" sz="1600" dirty="0" err="1"/>
              <a:t>input_film_id</a:t>
            </a:r>
            <a:r>
              <a:rPr lang="en-US" sz="1600" dirty="0"/>
              <a:t> </a:t>
            </a:r>
            <a:r>
              <a:rPr lang="en-US" sz="1600" dirty="0" err="1"/>
              <a:t>films.film_id%type</a:t>
            </a:r>
            <a:r>
              <a:rPr lang="en-US" sz="1600" dirty="0"/>
              <a:t> := 100;</a:t>
            </a:r>
          </a:p>
          <a:p>
            <a:pPr marL="0" indent="0">
              <a:buNone/>
            </a:pPr>
            <a:r>
              <a:rPr lang="en-US" sz="1600" dirty="0"/>
              <a:t>begin  </a:t>
            </a:r>
          </a:p>
          <a:p>
            <a:pPr marL="0" indent="0">
              <a:buNone/>
            </a:pPr>
            <a:r>
              <a:rPr lang="en-US" sz="1600" dirty="0"/>
              <a:t>  select * from films</a:t>
            </a:r>
          </a:p>
          <a:p>
            <a:pPr marL="0" indent="0">
              <a:buNone/>
            </a:pPr>
            <a:r>
              <a:rPr lang="en-US" sz="1600" dirty="0"/>
              <a:t>  into </a:t>
            </a:r>
            <a:r>
              <a:rPr lang="en-US" sz="1600" dirty="0" err="1"/>
              <a:t>selected_film</a:t>
            </a:r>
            <a:endParaRPr lang="en-US" sz="1600" dirty="0"/>
          </a:p>
          <a:p>
            <a:pPr marL="0" indent="0">
              <a:buNone/>
            </a:pPr>
            <a:r>
              <a:rPr lang="en-US" sz="1600" dirty="0"/>
              <a:t>  where </a:t>
            </a:r>
            <a:r>
              <a:rPr lang="en-US" sz="1600" dirty="0" err="1"/>
              <a:t>film_id</a:t>
            </a:r>
            <a:r>
              <a:rPr lang="en-US" sz="1600" dirty="0"/>
              <a:t> = </a:t>
            </a:r>
            <a:r>
              <a:rPr lang="en-US" sz="1600" dirty="0" err="1"/>
              <a:t>input_film_id</a:t>
            </a:r>
            <a:r>
              <a:rPr lang="en-US" sz="1600" dirty="0"/>
              <a:t>;</a:t>
            </a:r>
          </a:p>
          <a:p>
            <a:pPr marL="0" indent="0">
              <a:buNone/>
            </a:pPr>
            <a:r>
              <a:rPr lang="en-US" sz="1600" dirty="0"/>
              <a:t>    if not found then</a:t>
            </a:r>
          </a:p>
          <a:p>
            <a:pPr marL="0" indent="0">
              <a:buNone/>
            </a:pPr>
            <a:r>
              <a:rPr lang="en-US" sz="1600" dirty="0"/>
              <a:t>     raise notice 'The film % could not be found', </a:t>
            </a:r>
          </a:p>
          <a:p>
            <a:pPr marL="0" indent="0">
              <a:buNone/>
            </a:pPr>
            <a:r>
              <a:rPr lang="en-US" sz="1600" dirty="0"/>
              <a:t>	    </a:t>
            </a:r>
            <a:r>
              <a:rPr lang="en-US" sz="1600" dirty="0" err="1"/>
              <a:t>input_film_id</a:t>
            </a:r>
            <a:r>
              <a:rPr lang="en-US" sz="1600" dirty="0"/>
              <a:t>;</a:t>
            </a:r>
          </a:p>
          <a:p>
            <a:pPr marL="0" indent="0">
              <a:buNone/>
            </a:pPr>
            <a:r>
              <a:rPr lang="en-US" sz="1600" dirty="0"/>
              <a:t>  else</a:t>
            </a:r>
          </a:p>
          <a:p>
            <a:pPr marL="0" indent="0">
              <a:buNone/>
            </a:pPr>
            <a:r>
              <a:rPr lang="en-US" sz="1600" dirty="0"/>
              <a:t>     raise notice 'The film title is %', </a:t>
            </a:r>
            <a:r>
              <a:rPr lang="en-US" sz="1600" dirty="0" err="1"/>
              <a:t>selected_film.title</a:t>
            </a:r>
            <a:r>
              <a:rPr lang="en-US" sz="1600" dirty="0"/>
              <a:t>;</a:t>
            </a:r>
          </a:p>
          <a:p>
            <a:pPr marL="0" indent="0">
              <a:buNone/>
            </a:pPr>
            <a:r>
              <a:rPr lang="en-US" sz="1600" dirty="0"/>
              <a:t>  end if;</a:t>
            </a:r>
          </a:p>
          <a:p>
            <a:pPr marL="0" indent="0">
              <a:buNone/>
            </a:pPr>
            <a:r>
              <a:rPr lang="en-US" sz="1600" dirty="0"/>
              <a:t>end $$</a:t>
            </a:r>
          </a:p>
        </p:txBody>
      </p:sp>
      <p:sp>
        <p:nvSpPr>
          <p:cNvPr id="3" name="Title 2">
            <a:extLst>
              <a:ext uri="{FF2B5EF4-FFF2-40B4-BE49-F238E27FC236}">
                <a16:creationId xmlns:a16="http://schemas.microsoft.com/office/drawing/2014/main" id="{75DDC988-9877-4939-A36E-0DB16B461D44}"/>
              </a:ext>
            </a:extLst>
          </p:cNvPr>
          <p:cNvSpPr>
            <a:spLocks noGrp="1"/>
          </p:cNvSpPr>
          <p:nvPr>
            <p:ph type="title"/>
          </p:nvPr>
        </p:nvSpPr>
        <p:spPr/>
        <p:txBody>
          <a:bodyPr/>
          <a:lstStyle/>
          <a:p>
            <a:r>
              <a:rPr lang="en-IN" dirty="0"/>
              <a:t>PL/</a:t>
            </a:r>
            <a:r>
              <a:rPr lang="en-IN" dirty="0" err="1"/>
              <a:t>pgSQL</a:t>
            </a:r>
            <a:r>
              <a:rPr lang="en-IN" dirty="0"/>
              <a:t> if-then-else statement</a:t>
            </a:r>
          </a:p>
        </p:txBody>
      </p:sp>
    </p:spTree>
    <p:extLst>
      <p:ext uri="{BB962C8B-B14F-4D97-AF65-F5344CB8AC3E}">
        <p14:creationId xmlns:p14="http://schemas.microsoft.com/office/powerpoint/2010/main" val="673731266"/>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740525-A110-4681-A007-9FD03E6DB5B5}"/>
              </a:ext>
            </a:extLst>
          </p:cNvPr>
          <p:cNvSpPr>
            <a:spLocks noGrp="1"/>
          </p:cNvSpPr>
          <p:nvPr>
            <p:ph sz="quarter" idx="12"/>
          </p:nvPr>
        </p:nvSpPr>
        <p:spPr/>
        <p:txBody>
          <a:bodyPr>
            <a:normAutofit fontScale="92500" lnSpcReduction="10000"/>
          </a:bodyPr>
          <a:lstStyle/>
          <a:p>
            <a:r>
              <a:rPr lang="en-US" dirty="0"/>
              <a:t>if condition_1 then</a:t>
            </a:r>
          </a:p>
          <a:p>
            <a:r>
              <a:rPr lang="en-US" dirty="0"/>
              <a:t>  statement_1;</a:t>
            </a:r>
          </a:p>
          <a:p>
            <a:r>
              <a:rPr lang="en-US" dirty="0" err="1"/>
              <a:t>elsif</a:t>
            </a:r>
            <a:r>
              <a:rPr lang="en-US" dirty="0"/>
              <a:t> condition_2 then</a:t>
            </a:r>
          </a:p>
          <a:p>
            <a:r>
              <a:rPr lang="en-US" dirty="0"/>
              <a:t>  statement_2</a:t>
            </a:r>
          </a:p>
          <a:p>
            <a:r>
              <a:rPr lang="en-US" dirty="0"/>
              <a:t>...</a:t>
            </a:r>
          </a:p>
          <a:p>
            <a:r>
              <a:rPr lang="en-US" dirty="0" err="1"/>
              <a:t>elsif</a:t>
            </a:r>
            <a:r>
              <a:rPr lang="en-US" dirty="0"/>
              <a:t> </a:t>
            </a:r>
            <a:r>
              <a:rPr lang="en-US" dirty="0" err="1"/>
              <a:t>condition_n</a:t>
            </a:r>
            <a:r>
              <a:rPr lang="en-US" dirty="0"/>
              <a:t> then</a:t>
            </a:r>
          </a:p>
          <a:p>
            <a:r>
              <a:rPr lang="en-US" dirty="0"/>
              <a:t>  </a:t>
            </a:r>
            <a:r>
              <a:rPr lang="en-US" dirty="0" err="1"/>
              <a:t>statement_n</a:t>
            </a:r>
            <a:r>
              <a:rPr lang="en-US" dirty="0"/>
              <a:t>;</a:t>
            </a:r>
          </a:p>
          <a:p>
            <a:r>
              <a:rPr lang="en-US" dirty="0"/>
              <a:t>else</a:t>
            </a:r>
          </a:p>
          <a:p>
            <a:r>
              <a:rPr lang="en-US" dirty="0"/>
              <a:t>  else-statement;</a:t>
            </a:r>
          </a:p>
          <a:p>
            <a:r>
              <a:rPr lang="en-US" dirty="0"/>
              <a:t>end if;</a:t>
            </a:r>
            <a:endParaRPr lang="en-IN" dirty="0"/>
          </a:p>
        </p:txBody>
      </p:sp>
      <p:sp>
        <p:nvSpPr>
          <p:cNvPr id="3" name="Title 2">
            <a:extLst>
              <a:ext uri="{FF2B5EF4-FFF2-40B4-BE49-F238E27FC236}">
                <a16:creationId xmlns:a16="http://schemas.microsoft.com/office/drawing/2014/main" id="{5134C0AA-C043-4A87-AA99-20177B0BF527}"/>
              </a:ext>
            </a:extLst>
          </p:cNvPr>
          <p:cNvSpPr>
            <a:spLocks noGrp="1"/>
          </p:cNvSpPr>
          <p:nvPr>
            <p:ph type="title"/>
          </p:nvPr>
        </p:nvSpPr>
        <p:spPr/>
        <p:txBody>
          <a:bodyPr/>
          <a:lstStyle/>
          <a:p>
            <a:r>
              <a:rPr lang="en-IN" dirty="0"/>
              <a:t>PL/</a:t>
            </a:r>
            <a:r>
              <a:rPr lang="en-IN" dirty="0" err="1"/>
              <a:t>pgSQL</a:t>
            </a:r>
            <a:r>
              <a:rPr lang="en-IN" dirty="0"/>
              <a:t> if-then-</a:t>
            </a:r>
            <a:r>
              <a:rPr lang="en-IN" dirty="0" err="1"/>
              <a:t>elsif</a:t>
            </a:r>
            <a:r>
              <a:rPr lang="en-IN" dirty="0"/>
              <a:t> Statement</a:t>
            </a:r>
          </a:p>
        </p:txBody>
      </p:sp>
    </p:spTree>
    <p:extLst>
      <p:ext uri="{BB962C8B-B14F-4D97-AF65-F5344CB8AC3E}">
        <p14:creationId xmlns:p14="http://schemas.microsoft.com/office/powerpoint/2010/main" val="1571454911"/>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34C0AA-C043-4A87-AA99-20177B0BF527}"/>
              </a:ext>
            </a:extLst>
          </p:cNvPr>
          <p:cNvSpPr>
            <a:spLocks noGrp="1"/>
          </p:cNvSpPr>
          <p:nvPr>
            <p:ph type="title"/>
          </p:nvPr>
        </p:nvSpPr>
        <p:spPr/>
        <p:txBody>
          <a:bodyPr/>
          <a:lstStyle/>
          <a:p>
            <a:r>
              <a:rPr lang="en-IN" dirty="0"/>
              <a:t>PL/</a:t>
            </a:r>
            <a:r>
              <a:rPr lang="en-IN" dirty="0" err="1"/>
              <a:t>pgSQL</a:t>
            </a:r>
            <a:r>
              <a:rPr lang="en-IN" dirty="0"/>
              <a:t> if-then-</a:t>
            </a:r>
            <a:r>
              <a:rPr lang="en-IN" dirty="0" err="1"/>
              <a:t>elsif</a:t>
            </a:r>
            <a:r>
              <a:rPr lang="en-IN" dirty="0"/>
              <a:t> Statement</a:t>
            </a:r>
          </a:p>
        </p:txBody>
      </p:sp>
      <p:sp>
        <p:nvSpPr>
          <p:cNvPr id="7" name="TextBox 6">
            <a:extLst>
              <a:ext uri="{FF2B5EF4-FFF2-40B4-BE49-F238E27FC236}">
                <a16:creationId xmlns:a16="http://schemas.microsoft.com/office/drawing/2014/main" id="{D2B248FC-5CCD-421C-AA0D-E15D24852100}"/>
              </a:ext>
            </a:extLst>
          </p:cNvPr>
          <p:cNvSpPr txBox="1"/>
          <p:nvPr/>
        </p:nvSpPr>
        <p:spPr>
          <a:xfrm>
            <a:off x="358220" y="1727590"/>
            <a:ext cx="8521830" cy="3970318"/>
          </a:xfrm>
          <a:prstGeom prst="rect">
            <a:avLst/>
          </a:prstGeom>
          <a:noFill/>
        </p:spPr>
        <p:txBody>
          <a:bodyPr wrap="square">
            <a:spAutoFit/>
          </a:bodyPr>
          <a:lstStyle/>
          <a:p>
            <a:r>
              <a:rPr lang="en-IN" dirty="0"/>
              <a:t>do $$</a:t>
            </a:r>
          </a:p>
          <a:p>
            <a:r>
              <a:rPr lang="en-IN" dirty="0"/>
              <a:t>declare</a:t>
            </a:r>
          </a:p>
          <a:p>
            <a:r>
              <a:rPr lang="en-IN" dirty="0"/>
              <a:t>   </a:t>
            </a:r>
            <a:r>
              <a:rPr lang="en-IN" dirty="0" err="1"/>
              <a:t>v_film</a:t>
            </a:r>
            <a:r>
              <a:rPr lang="en-IN" dirty="0"/>
              <a:t> </a:t>
            </a:r>
            <a:r>
              <a:rPr lang="en-IN" dirty="0" err="1"/>
              <a:t>films%rowtype</a:t>
            </a:r>
            <a:r>
              <a:rPr lang="en-IN" dirty="0"/>
              <a:t>;</a:t>
            </a:r>
          </a:p>
          <a:p>
            <a:r>
              <a:rPr lang="en-IN" dirty="0"/>
              <a:t>   </a:t>
            </a:r>
            <a:r>
              <a:rPr lang="en-IN" dirty="0" err="1"/>
              <a:t>len_description</a:t>
            </a:r>
            <a:r>
              <a:rPr lang="en-IN" dirty="0"/>
              <a:t> varchar(100);</a:t>
            </a:r>
          </a:p>
          <a:p>
            <a:r>
              <a:rPr lang="en-IN" dirty="0"/>
              <a:t>begin  </a:t>
            </a:r>
          </a:p>
          <a:p>
            <a:endParaRPr lang="en-IN" dirty="0"/>
          </a:p>
          <a:p>
            <a:r>
              <a:rPr lang="en-IN" dirty="0"/>
              <a:t>  select * from films</a:t>
            </a:r>
          </a:p>
          <a:p>
            <a:r>
              <a:rPr lang="en-IN" dirty="0"/>
              <a:t>  into </a:t>
            </a:r>
            <a:r>
              <a:rPr lang="en-IN" dirty="0" err="1"/>
              <a:t>v_film</a:t>
            </a:r>
            <a:endParaRPr lang="en-IN" dirty="0"/>
          </a:p>
          <a:p>
            <a:r>
              <a:rPr lang="en-IN" dirty="0"/>
              <a:t>  where </a:t>
            </a:r>
            <a:r>
              <a:rPr lang="en-IN" dirty="0" err="1"/>
              <a:t>film_id</a:t>
            </a:r>
            <a:r>
              <a:rPr lang="en-IN" dirty="0"/>
              <a:t> = 100;</a:t>
            </a:r>
          </a:p>
          <a:p>
            <a:r>
              <a:rPr lang="en-IN" dirty="0"/>
              <a:t>  </a:t>
            </a:r>
          </a:p>
          <a:p>
            <a:r>
              <a:rPr lang="en-IN" dirty="0"/>
              <a:t>  if not found then</a:t>
            </a:r>
          </a:p>
          <a:p>
            <a:r>
              <a:rPr lang="en-IN" dirty="0"/>
              <a:t>     raise notice 'Film not found';</a:t>
            </a:r>
          </a:p>
          <a:p>
            <a:r>
              <a:rPr lang="en-IN" dirty="0"/>
              <a:t>  else</a:t>
            </a:r>
          </a:p>
          <a:p>
            <a:endParaRPr lang="en-IN" dirty="0"/>
          </a:p>
        </p:txBody>
      </p:sp>
    </p:spTree>
    <p:extLst>
      <p:ext uri="{BB962C8B-B14F-4D97-AF65-F5344CB8AC3E}">
        <p14:creationId xmlns:p14="http://schemas.microsoft.com/office/powerpoint/2010/main" val="3390025179"/>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34C0AA-C043-4A87-AA99-20177B0BF527}"/>
              </a:ext>
            </a:extLst>
          </p:cNvPr>
          <p:cNvSpPr>
            <a:spLocks noGrp="1"/>
          </p:cNvSpPr>
          <p:nvPr>
            <p:ph type="title"/>
          </p:nvPr>
        </p:nvSpPr>
        <p:spPr/>
        <p:txBody>
          <a:bodyPr/>
          <a:lstStyle/>
          <a:p>
            <a:r>
              <a:rPr lang="en-IN" dirty="0"/>
              <a:t>PL/</a:t>
            </a:r>
            <a:r>
              <a:rPr lang="en-IN" dirty="0" err="1"/>
              <a:t>pgSQL</a:t>
            </a:r>
            <a:r>
              <a:rPr lang="en-IN" dirty="0"/>
              <a:t> if-then-</a:t>
            </a:r>
            <a:r>
              <a:rPr lang="en-IN" dirty="0" err="1"/>
              <a:t>elsif</a:t>
            </a:r>
            <a:r>
              <a:rPr lang="en-IN" dirty="0"/>
              <a:t> Statement</a:t>
            </a:r>
          </a:p>
        </p:txBody>
      </p:sp>
      <p:sp>
        <p:nvSpPr>
          <p:cNvPr id="7" name="TextBox 6">
            <a:extLst>
              <a:ext uri="{FF2B5EF4-FFF2-40B4-BE49-F238E27FC236}">
                <a16:creationId xmlns:a16="http://schemas.microsoft.com/office/drawing/2014/main" id="{D2B248FC-5CCD-421C-AA0D-E15D24852100}"/>
              </a:ext>
            </a:extLst>
          </p:cNvPr>
          <p:cNvSpPr txBox="1"/>
          <p:nvPr/>
        </p:nvSpPr>
        <p:spPr>
          <a:xfrm>
            <a:off x="358220" y="1727590"/>
            <a:ext cx="8521830" cy="4247317"/>
          </a:xfrm>
          <a:prstGeom prst="rect">
            <a:avLst/>
          </a:prstGeom>
          <a:noFill/>
        </p:spPr>
        <p:txBody>
          <a:bodyPr wrap="square">
            <a:spAutoFit/>
          </a:bodyPr>
          <a:lstStyle/>
          <a:p>
            <a:r>
              <a:rPr lang="en-IN" dirty="0"/>
              <a:t> if </a:t>
            </a:r>
            <a:r>
              <a:rPr lang="en-IN" dirty="0" err="1"/>
              <a:t>v_film.length</a:t>
            </a:r>
            <a:r>
              <a:rPr lang="en-IN" dirty="0"/>
              <a:t> &gt;0 and </a:t>
            </a:r>
            <a:r>
              <a:rPr lang="en-IN" dirty="0" err="1"/>
              <a:t>v_film.length</a:t>
            </a:r>
            <a:r>
              <a:rPr lang="en-IN" dirty="0"/>
              <a:t> &lt;= 50 then</a:t>
            </a:r>
          </a:p>
          <a:p>
            <a:r>
              <a:rPr lang="en-IN" dirty="0"/>
              <a:t>		 </a:t>
            </a:r>
            <a:r>
              <a:rPr lang="en-IN" dirty="0" err="1"/>
              <a:t>len_description</a:t>
            </a:r>
            <a:r>
              <a:rPr lang="en-IN" dirty="0"/>
              <a:t> := 'Short';</a:t>
            </a:r>
          </a:p>
          <a:p>
            <a:r>
              <a:rPr lang="en-IN" dirty="0"/>
              <a:t>	  </a:t>
            </a:r>
            <a:r>
              <a:rPr lang="en-IN" dirty="0" err="1"/>
              <a:t>elsif</a:t>
            </a:r>
            <a:r>
              <a:rPr lang="en-IN" dirty="0"/>
              <a:t> </a:t>
            </a:r>
            <a:r>
              <a:rPr lang="en-IN" dirty="0" err="1"/>
              <a:t>v_film.length</a:t>
            </a:r>
            <a:r>
              <a:rPr lang="en-IN" dirty="0"/>
              <a:t> &gt; 50 and </a:t>
            </a:r>
            <a:r>
              <a:rPr lang="en-IN" dirty="0" err="1"/>
              <a:t>v_film.length</a:t>
            </a:r>
            <a:r>
              <a:rPr lang="en-IN" dirty="0"/>
              <a:t> &lt; 120 then</a:t>
            </a:r>
          </a:p>
          <a:p>
            <a:r>
              <a:rPr lang="en-IN" dirty="0"/>
              <a:t>		 </a:t>
            </a:r>
            <a:r>
              <a:rPr lang="en-IN" dirty="0" err="1"/>
              <a:t>len_description</a:t>
            </a:r>
            <a:r>
              <a:rPr lang="en-IN" dirty="0"/>
              <a:t> := 'Medium';</a:t>
            </a:r>
          </a:p>
          <a:p>
            <a:r>
              <a:rPr lang="en-IN" dirty="0"/>
              <a:t>	  </a:t>
            </a:r>
            <a:r>
              <a:rPr lang="en-IN" dirty="0" err="1"/>
              <a:t>elsif</a:t>
            </a:r>
            <a:r>
              <a:rPr lang="en-IN" dirty="0"/>
              <a:t> </a:t>
            </a:r>
            <a:r>
              <a:rPr lang="en-IN" dirty="0" err="1"/>
              <a:t>v_film.length</a:t>
            </a:r>
            <a:r>
              <a:rPr lang="en-IN" dirty="0"/>
              <a:t> &gt; 120 then</a:t>
            </a:r>
          </a:p>
          <a:p>
            <a:r>
              <a:rPr lang="en-IN" dirty="0"/>
              <a:t>		 </a:t>
            </a:r>
            <a:r>
              <a:rPr lang="en-IN" dirty="0" err="1"/>
              <a:t>len_description</a:t>
            </a:r>
            <a:r>
              <a:rPr lang="en-IN" dirty="0"/>
              <a:t> := 'Long';</a:t>
            </a:r>
          </a:p>
          <a:p>
            <a:r>
              <a:rPr lang="en-IN" dirty="0"/>
              <a:t>	  else </a:t>
            </a:r>
          </a:p>
          <a:p>
            <a:r>
              <a:rPr lang="en-IN" dirty="0"/>
              <a:t>		 </a:t>
            </a:r>
            <a:r>
              <a:rPr lang="en-IN" dirty="0" err="1"/>
              <a:t>len_description</a:t>
            </a:r>
            <a:r>
              <a:rPr lang="en-IN" dirty="0"/>
              <a:t> := 'N/A';</a:t>
            </a:r>
          </a:p>
          <a:p>
            <a:r>
              <a:rPr lang="en-IN" dirty="0"/>
              <a:t>	  end if;</a:t>
            </a:r>
          </a:p>
          <a:p>
            <a:r>
              <a:rPr lang="en-IN" dirty="0"/>
              <a:t>    </a:t>
            </a:r>
          </a:p>
          <a:p>
            <a:r>
              <a:rPr lang="en-IN" dirty="0"/>
              <a:t>	  raise notice 'The % film is %.',</a:t>
            </a:r>
          </a:p>
          <a:p>
            <a:r>
              <a:rPr lang="en-IN" dirty="0"/>
              <a:t>	     </a:t>
            </a:r>
            <a:r>
              <a:rPr lang="en-IN" dirty="0" err="1"/>
              <a:t>v_film.title</a:t>
            </a:r>
            <a:r>
              <a:rPr lang="en-IN" dirty="0"/>
              <a:t>,  </a:t>
            </a:r>
          </a:p>
          <a:p>
            <a:r>
              <a:rPr lang="en-IN" dirty="0"/>
              <a:t>	     </a:t>
            </a:r>
            <a:r>
              <a:rPr lang="en-IN" dirty="0" err="1"/>
              <a:t>len_description</a:t>
            </a:r>
            <a:r>
              <a:rPr lang="en-IN" dirty="0"/>
              <a:t>;</a:t>
            </a:r>
          </a:p>
          <a:p>
            <a:r>
              <a:rPr lang="en-IN" dirty="0"/>
              <a:t>  end if;</a:t>
            </a:r>
          </a:p>
          <a:p>
            <a:r>
              <a:rPr lang="en-IN" dirty="0"/>
              <a:t>end $$</a:t>
            </a:r>
          </a:p>
        </p:txBody>
      </p:sp>
    </p:spTree>
    <p:extLst>
      <p:ext uri="{BB962C8B-B14F-4D97-AF65-F5344CB8AC3E}">
        <p14:creationId xmlns:p14="http://schemas.microsoft.com/office/powerpoint/2010/main" val="2448368220"/>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F8F1C8-D0C0-475C-8902-788C4F6C971F}"/>
              </a:ext>
            </a:extLst>
          </p:cNvPr>
          <p:cNvSpPr>
            <a:spLocks noGrp="1"/>
          </p:cNvSpPr>
          <p:nvPr>
            <p:ph sz="quarter" idx="12"/>
          </p:nvPr>
        </p:nvSpPr>
        <p:spPr/>
        <p:txBody>
          <a:bodyPr/>
          <a:lstStyle/>
          <a:p>
            <a:r>
              <a:rPr lang="en-US" dirty="0"/>
              <a:t>The case statement selects a when section to execute from a list of when sections based on a condition.</a:t>
            </a:r>
          </a:p>
          <a:p>
            <a:r>
              <a:rPr lang="en-US" dirty="0"/>
              <a:t>The case statement has two forms:</a:t>
            </a:r>
          </a:p>
          <a:p>
            <a:pPr lvl="1"/>
            <a:r>
              <a:rPr lang="en-US" dirty="0"/>
              <a:t>Simple case statement</a:t>
            </a:r>
          </a:p>
          <a:p>
            <a:pPr lvl="1"/>
            <a:r>
              <a:rPr lang="en-US" dirty="0"/>
              <a:t>Searched case statement</a:t>
            </a:r>
            <a:endParaRPr lang="en-IN" dirty="0"/>
          </a:p>
        </p:txBody>
      </p:sp>
      <p:sp>
        <p:nvSpPr>
          <p:cNvPr id="3" name="Title 2">
            <a:extLst>
              <a:ext uri="{FF2B5EF4-FFF2-40B4-BE49-F238E27FC236}">
                <a16:creationId xmlns:a16="http://schemas.microsoft.com/office/drawing/2014/main" id="{1425EC91-DBA0-4B0C-8111-6B513FA9A4FF}"/>
              </a:ext>
            </a:extLst>
          </p:cNvPr>
          <p:cNvSpPr>
            <a:spLocks noGrp="1"/>
          </p:cNvSpPr>
          <p:nvPr>
            <p:ph type="title"/>
          </p:nvPr>
        </p:nvSpPr>
        <p:spPr/>
        <p:txBody>
          <a:bodyPr/>
          <a:lstStyle/>
          <a:p>
            <a:r>
              <a:rPr lang="en-IN" dirty="0"/>
              <a:t>PL/</a:t>
            </a:r>
            <a:r>
              <a:rPr lang="en-IN" dirty="0" err="1"/>
              <a:t>pgSQL</a:t>
            </a:r>
            <a:r>
              <a:rPr lang="en-IN" dirty="0"/>
              <a:t> CASE Statement</a:t>
            </a:r>
          </a:p>
        </p:txBody>
      </p:sp>
    </p:spTree>
    <p:extLst>
      <p:ext uri="{BB962C8B-B14F-4D97-AF65-F5344CB8AC3E}">
        <p14:creationId xmlns:p14="http://schemas.microsoft.com/office/powerpoint/2010/main" val="4261364190"/>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11C4DC8-C437-4912-B329-D63E614ECD5A}"/>
              </a:ext>
            </a:extLst>
          </p:cNvPr>
          <p:cNvSpPr>
            <a:spLocks noGrp="1"/>
          </p:cNvSpPr>
          <p:nvPr>
            <p:ph sz="quarter" idx="12"/>
          </p:nvPr>
        </p:nvSpPr>
        <p:spPr/>
        <p:txBody>
          <a:bodyPr/>
          <a:lstStyle/>
          <a:p>
            <a:pPr marL="0" indent="0">
              <a:buNone/>
            </a:pPr>
            <a:r>
              <a:rPr lang="en-US" dirty="0"/>
              <a:t>case search-expression</a:t>
            </a:r>
          </a:p>
          <a:p>
            <a:pPr marL="0" indent="0">
              <a:buNone/>
            </a:pPr>
            <a:r>
              <a:rPr lang="en-US" dirty="0"/>
              <a:t>   when expression_1 [, expression_2, ...] then</a:t>
            </a:r>
          </a:p>
          <a:p>
            <a:pPr marL="0" indent="0">
              <a:buNone/>
            </a:pPr>
            <a:r>
              <a:rPr lang="en-US" dirty="0"/>
              <a:t>      when-statements</a:t>
            </a:r>
          </a:p>
          <a:p>
            <a:pPr marL="0" indent="0">
              <a:buNone/>
            </a:pPr>
            <a:r>
              <a:rPr lang="en-US" dirty="0"/>
              <a:t>  [ ... ]</a:t>
            </a:r>
          </a:p>
          <a:p>
            <a:pPr marL="0" indent="0">
              <a:buNone/>
            </a:pPr>
            <a:r>
              <a:rPr lang="en-US" dirty="0"/>
              <a:t>  [else</a:t>
            </a:r>
          </a:p>
          <a:p>
            <a:pPr marL="0" indent="0">
              <a:buNone/>
            </a:pPr>
            <a:r>
              <a:rPr lang="en-US" dirty="0"/>
              <a:t>      else-statements ]</a:t>
            </a:r>
          </a:p>
          <a:p>
            <a:pPr marL="0" indent="0">
              <a:buNone/>
            </a:pPr>
            <a:r>
              <a:rPr lang="en-US" dirty="0"/>
              <a:t>END case;</a:t>
            </a:r>
            <a:endParaRPr lang="en-IN" dirty="0"/>
          </a:p>
        </p:txBody>
      </p:sp>
      <p:sp>
        <p:nvSpPr>
          <p:cNvPr id="3" name="Title 2">
            <a:extLst>
              <a:ext uri="{FF2B5EF4-FFF2-40B4-BE49-F238E27FC236}">
                <a16:creationId xmlns:a16="http://schemas.microsoft.com/office/drawing/2014/main" id="{E0FF9D90-731B-4A0D-BEA1-FE7011A48C26}"/>
              </a:ext>
            </a:extLst>
          </p:cNvPr>
          <p:cNvSpPr>
            <a:spLocks noGrp="1"/>
          </p:cNvSpPr>
          <p:nvPr>
            <p:ph type="title"/>
          </p:nvPr>
        </p:nvSpPr>
        <p:spPr/>
        <p:txBody>
          <a:bodyPr/>
          <a:lstStyle/>
          <a:p>
            <a:r>
              <a:rPr lang="en-IN" dirty="0"/>
              <a:t> Simple case statement</a:t>
            </a:r>
          </a:p>
        </p:txBody>
      </p:sp>
    </p:spTree>
    <p:extLst>
      <p:ext uri="{BB962C8B-B14F-4D97-AF65-F5344CB8AC3E}">
        <p14:creationId xmlns:p14="http://schemas.microsoft.com/office/powerpoint/2010/main" val="3134635583"/>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09460FF-A870-4C34-A23D-C2E163A001D8}"/>
              </a:ext>
            </a:extLst>
          </p:cNvPr>
          <p:cNvSpPr>
            <a:spLocks noGrp="1"/>
          </p:cNvSpPr>
          <p:nvPr>
            <p:ph sz="quarter" idx="12"/>
          </p:nvPr>
        </p:nvSpPr>
        <p:spPr/>
        <p:txBody>
          <a:bodyPr/>
          <a:lstStyle/>
          <a:p>
            <a:r>
              <a:rPr lang="en-US" dirty="0"/>
              <a:t>case</a:t>
            </a:r>
          </a:p>
          <a:p>
            <a:r>
              <a:rPr lang="en-US" dirty="0"/>
              <a:t>    when boolean-expression-1 then</a:t>
            </a:r>
          </a:p>
          <a:p>
            <a:r>
              <a:rPr lang="en-US" dirty="0"/>
              <a:t>      statements</a:t>
            </a:r>
          </a:p>
          <a:p>
            <a:r>
              <a:rPr lang="en-US" dirty="0"/>
              <a:t>  [ when boolean-expression-2 then</a:t>
            </a:r>
          </a:p>
          <a:p>
            <a:r>
              <a:rPr lang="en-US" dirty="0"/>
              <a:t>      statements</a:t>
            </a:r>
          </a:p>
          <a:p>
            <a:r>
              <a:rPr lang="en-US" dirty="0"/>
              <a:t>    ... ]</a:t>
            </a:r>
          </a:p>
          <a:p>
            <a:r>
              <a:rPr lang="en-US" dirty="0"/>
              <a:t>  [ else</a:t>
            </a:r>
          </a:p>
          <a:p>
            <a:r>
              <a:rPr lang="en-US" dirty="0"/>
              <a:t>      statements ]</a:t>
            </a:r>
          </a:p>
          <a:p>
            <a:r>
              <a:rPr lang="en-US" dirty="0"/>
              <a:t>end case;</a:t>
            </a:r>
            <a:endParaRPr lang="en-IN" dirty="0"/>
          </a:p>
        </p:txBody>
      </p:sp>
      <p:sp>
        <p:nvSpPr>
          <p:cNvPr id="3" name="Title 2">
            <a:extLst>
              <a:ext uri="{FF2B5EF4-FFF2-40B4-BE49-F238E27FC236}">
                <a16:creationId xmlns:a16="http://schemas.microsoft.com/office/drawing/2014/main" id="{6A839E8D-F5CA-49F1-924C-F83971AF293C}"/>
              </a:ext>
            </a:extLst>
          </p:cNvPr>
          <p:cNvSpPr>
            <a:spLocks noGrp="1"/>
          </p:cNvSpPr>
          <p:nvPr>
            <p:ph type="title"/>
          </p:nvPr>
        </p:nvSpPr>
        <p:spPr/>
        <p:txBody>
          <a:bodyPr/>
          <a:lstStyle/>
          <a:p>
            <a:r>
              <a:rPr lang="en-IN" dirty="0"/>
              <a:t>Searched case statement</a:t>
            </a:r>
          </a:p>
        </p:txBody>
      </p:sp>
    </p:spTree>
    <p:extLst>
      <p:ext uri="{BB962C8B-B14F-4D97-AF65-F5344CB8AC3E}">
        <p14:creationId xmlns:p14="http://schemas.microsoft.com/office/powerpoint/2010/main" val="1620147432"/>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0ED57B-17D9-4E2F-9B1F-04C7481B678E}"/>
              </a:ext>
            </a:extLst>
          </p:cNvPr>
          <p:cNvSpPr>
            <a:spLocks noGrp="1"/>
          </p:cNvSpPr>
          <p:nvPr>
            <p:ph sz="quarter" idx="12"/>
          </p:nvPr>
        </p:nvSpPr>
        <p:spPr/>
        <p:txBody>
          <a:bodyPr/>
          <a:lstStyle/>
          <a:p>
            <a:r>
              <a:rPr lang="en-US" dirty="0"/>
              <a:t>do $$</a:t>
            </a:r>
          </a:p>
          <a:p>
            <a:r>
              <a:rPr lang="en-US" dirty="0"/>
              <a:t>declare </a:t>
            </a:r>
          </a:p>
          <a:p>
            <a:r>
              <a:rPr lang="en-US" dirty="0"/>
              <a:t>   counter integer := 0;</a:t>
            </a:r>
          </a:p>
          <a:p>
            <a:r>
              <a:rPr lang="en-US" dirty="0"/>
              <a:t>begin</a:t>
            </a:r>
          </a:p>
          <a:p>
            <a:r>
              <a:rPr lang="en-US" dirty="0"/>
              <a:t>   while counter &lt; 5 loop</a:t>
            </a:r>
          </a:p>
          <a:p>
            <a:r>
              <a:rPr lang="en-US" dirty="0"/>
              <a:t>      raise notice 'Counter %', counter;</a:t>
            </a:r>
          </a:p>
          <a:p>
            <a:r>
              <a:rPr lang="en-US" dirty="0"/>
              <a:t>	  counter := counter + 1;</a:t>
            </a:r>
          </a:p>
          <a:p>
            <a:r>
              <a:rPr lang="en-US" dirty="0"/>
              <a:t>   end loop;</a:t>
            </a:r>
          </a:p>
          <a:p>
            <a:r>
              <a:rPr lang="en-US" dirty="0"/>
              <a:t>end$$;</a:t>
            </a:r>
            <a:endParaRPr lang="en-IN" dirty="0"/>
          </a:p>
        </p:txBody>
      </p:sp>
      <p:sp>
        <p:nvSpPr>
          <p:cNvPr id="3" name="Title 2">
            <a:extLst>
              <a:ext uri="{FF2B5EF4-FFF2-40B4-BE49-F238E27FC236}">
                <a16:creationId xmlns:a16="http://schemas.microsoft.com/office/drawing/2014/main" id="{51EF7626-0078-428D-B9D8-A5CF52A73AA8}"/>
              </a:ext>
            </a:extLst>
          </p:cNvPr>
          <p:cNvSpPr>
            <a:spLocks noGrp="1"/>
          </p:cNvSpPr>
          <p:nvPr>
            <p:ph type="title"/>
          </p:nvPr>
        </p:nvSpPr>
        <p:spPr/>
        <p:txBody>
          <a:bodyPr/>
          <a:lstStyle/>
          <a:p>
            <a:r>
              <a:rPr lang="en-IN" dirty="0"/>
              <a:t>While Loop</a:t>
            </a:r>
          </a:p>
        </p:txBody>
      </p:sp>
    </p:spTree>
    <p:extLst>
      <p:ext uri="{BB962C8B-B14F-4D97-AF65-F5344CB8AC3E}">
        <p14:creationId xmlns:p14="http://schemas.microsoft.com/office/powerpoint/2010/main" val="148938740"/>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846146A-94EC-463A-80DF-D6F96028D31A}"/>
              </a:ext>
            </a:extLst>
          </p:cNvPr>
          <p:cNvSpPr>
            <a:spLocks noGrp="1"/>
          </p:cNvSpPr>
          <p:nvPr>
            <p:ph sz="quarter" idx="12"/>
          </p:nvPr>
        </p:nvSpPr>
        <p:spPr/>
        <p:txBody>
          <a:bodyPr/>
          <a:lstStyle/>
          <a:p>
            <a:r>
              <a:rPr lang="en-US" dirty="0"/>
              <a:t>[ &lt;&lt;label&gt;&gt; ]</a:t>
            </a:r>
          </a:p>
          <a:p>
            <a:r>
              <a:rPr lang="en-US" dirty="0"/>
              <a:t>for </a:t>
            </a:r>
            <a:r>
              <a:rPr lang="en-US" dirty="0" err="1"/>
              <a:t>loop_counter</a:t>
            </a:r>
            <a:r>
              <a:rPr lang="en-US" dirty="0"/>
              <a:t> in [ reverse ] from.. to [ by step ] loop</a:t>
            </a:r>
          </a:p>
          <a:p>
            <a:r>
              <a:rPr lang="en-US" dirty="0"/>
              <a:t>    statements</a:t>
            </a:r>
          </a:p>
          <a:p>
            <a:r>
              <a:rPr lang="en-US" dirty="0"/>
              <a:t>end loop [ label ];</a:t>
            </a:r>
            <a:endParaRPr lang="en-IN" dirty="0"/>
          </a:p>
        </p:txBody>
      </p:sp>
      <p:sp>
        <p:nvSpPr>
          <p:cNvPr id="3" name="Title 2">
            <a:extLst>
              <a:ext uri="{FF2B5EF4-FFF2-40B4-BE49-F238E27FC236}">
                <a16:creationId xmlns:a16="http://schemas.microsoft.com/office/drawing/2014/main" id="{991C7864-5DE4-49F4-93C4-FEC871764F33}"/>
              </a:ext>
            </a:extLst>
          </p:cNvPr>
          <p:cNvSpPr>
            <a:spLocks noGrp="1"/>
          </p:cNvSpPr>
          <p:nvPr>
            <p:ph type="title"/>
          </p:nvPr>
        </p:nvSpPr>
        <p:spPr/>
        <p:txBody>
          <a:bodyPr/>
          <a:lstStyle/>
          <a:p>
            <a:r>
              <a:rPr lang="en-IN" dirty="0"/>
              <a:t>For Loop</a:t>
            </a:r>
          </a:p>
        </p:txBody>
      </p:sp>
    </p:spTree>
    <p:extLst>
      <p:ext uri="{BB962C8B-B14F-4D97-AF65-F5344CB8AC3E}">
        <p14:creationId xmlns:p14="http://schemas.microsoft.com/office/powerpoint/2010/main" val="621521399"/>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0DA75DD-B9C8-42DF-B0B3-D7E122878F8D}"/>
              </a:ext>
            </a:extLst>
          </p:cNvPr>
          <p:cNvSpPr>
            <a:spLocks noGrp="1"/>
          </p:cNvSpPr>
          <p:nvPr>
            <p:ph sz="quarter" idx="12"/>
          </p:nvPr>
        </p:nvSpPr>
        <p:spPr>
          <a:xfrm>
            <a:off x="457201" y="1381124"/>
            <a:ext cx="8228012" cy="5189357"/>
          </a:xfrm>
        </p:spPr>
        <p:txBody>
          <a:bodyPr>
            <a:normAutofit fontScale="70000" lnSpcReduction="20000"/>
          </a:bodyPr>
          <a:lstStyle/>
          <a:p>
            <a:r>
              <a:rPr lang="en-US" dirty="0"/>
              <a:t>do</a:t>
            </a:r>
          </a:p>
          <a:p>
            <a:r>
              <a:rPr lang="en-US" dirty="0"/>
              <a:t>$$</a:t>
            </a:r>
          </a:p>
          <a:p>
            <a:r>
              <a:rPr lang="en-US" dirty="0"/>
              <a:t>declare</a:t>
            </a:r>
          </a:p>
          <a:p>
            <a:r>
              <a:rPr lang="en-US" dirty="0"/>
              <a:t>    f record;</a:t>
            </a:r>
          </a:p>
          <a:p>
            <a:r>
              <a:rPr lang="en-US" dirty="0"/>
              <a:t>begin</a:t>
            </a:r>
          </a:p>
          <a:p>
            <a:r>
              <a:rPr lang="en-US" dirty="0"/>
              <a:t>    for f in select title</a:t>
            </a:r>
          </a:p>
          <a:p>
            <a:r>
              <a:rPr lang="en-US" dirty="0"/>
              <a:t>	       from films </a:t>
            </a:r>
          </a:p>
          <a:p>
            <a:r>
              <a:rPr lang="en-US" dirty="0"/>
              <a:t>	       order by title</a:t>
            </a:r>
          </a:p>
          <a:p>
            <a:r>
              <a:rPr lang="en-US" dirty="0"/>
              <a:t>	       limit 10 </a:t>
            </a:r>
          </a:p>
          <a:p>
            <a:r>
              <a:rPr lang="en-US" dirty="0"/>
              <a:t>    loop </a:t>
            </a:r>
          </a:p>
          <a:p>
            <a:r>
              <a:rPr lang="en-US" dirty="0"/>
              <a:t>	raise notice ‘%', </a:t>
            </a:r>
            <a:r>
              <a:rPr lang="en-US" dirty="0" err="1"/>
              <a:t>f.title</a:t>
            </a:r>
            <a:r>
              <a:rPr lang="en-US" dirty="0"/>
              <a:t>;</a:t>
            </a:r>
          </a:p>
          <a:p>
            <a:r>
              <a:rPr lang="en-US" dirty="0"/>
              <a:t>    end loop;</a:t>
            </a:r>
          </a:p>
          <a:p>
            <a:r>
              <a:rPr lang="en-US" dirty="0"/>
              <a:t>end;</a:t>
            </a:r>
          </a:p>
          <a:p>
            <a:r>
              <a:rPr lang="en-US" dirty="0"/>
              <a:t>$$</a:t>
            </a:r>
            <a:endParaRPr lang="en-IN" dirty="0"/>
          </a:p>
        </p:txBody>
      </p:sp>
      <p:sp>
        <p:nvSpPr>
          <p:cNvPr id="3" name="Title 2">
            <a:extLst>
              <a:ext uri="{FF2B5EF4-FFF2-40B4-BE49-F238E27FC236}">
                <a16:creationId xmlns:a16="http://schemas.microsoft.com/office/drawing/2014/main" id="{7A69B42B-1BF3-48DC-A9BA-ACF12A71683D}"/>
              </a:ext>
            </a:extLst>
          </p:cNvPr>
          <p:cNvSpPr>
            <a:spLocks noGrp="1"/>
          </p:cNvSpPr>
          <p:nvPr>
            <p:ph type="title"/>
          </p:nvPr>
        </p:nvSpPr>
        <p:spPr/>
        <p:txBody>
          <a:bodyPr/>
          <a:lstStyle/>
          <a:p>
            <a:r>
              <a:rPr lang="en-IN" dirty="0"/>
              <a:t>For Loop</a:t>
            </a:r>
          </a:p>
        </p:txBody>
      </p:sp>
    </p:spTree>
    <p:extLst>
      <p:ext uri="{BB962C8B-B14F-4D97-AF65-F5344CB8AC3E}">
        <p14:creationId xmlns:p14="http://schemas.microsoft.com/office/powerpoint/2010/main" val="1224932564"/>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11BDC03-C716-405E-A8FA-5B851818A6CD}"/>
              </a:ext>
            </a:extLst>
          </p:cNvPr>
          <p:cNvSpPr>
            <a:spLocks noGrp="1"/>
          </p:cNvSpPr>
          <p:nvPr>
            <p:ph sz="quarter" idx="12"/>
          </p:nvPr>
        </p:nvSpPr>
        <p:spPr/>
        <p:txBody>
          <a:bodyPr/>
          <a:lstStyle/>
          <a:p>
            <a:r>
              <a:rPr lang="en-US" dirty="0"/>
              <a:t>create [or replace] procedure </a:t>
            </a:r>
            <a:r>
              <a:rPr lang="en-US" dirty="0" err="1"/>
              <a:t>procedure_name</a:t>
            </a:r>
            <a:r>
              <a:rPr lang="en-US" dirty="0"/>
              <a:t>(</a:t>
            </a:r>
            <a:r>
              <a:rPr lang="en-US" dirty="0" err="1"/>
              <a:t>parameter_list</a:t>
            </a:r>
            <a:r>
              <a:rPr lang="en-US" dirty="0"/>
              <a:t>)</a:t>
            </a:r>
          </a:p>
          <a:p>
            <a:r>
              <a:rPr lang="en-US" dirty="0"/>
              <a:t>language </a:t>
            </a:r>
            <a:r>
              <a:rPr lang="en-US" dirty="0" err="1"/>
              <a:t>plpgsql</a:t>
            </a:r>
            <a:endParaRPr lang="en-US" dirty="0"/>
          </a:p>
          <a:p>
            <a:r>
              <a:rPr lang="en-US" dirty="0"/>
              <a:t>as $$</a:t>
            </a:r>
          </a:p>
          <a:p>
            <a:r>
              <a:rPr lang="en-US" dirty="0"/>
              <a:t>declare</a:t>
            </a:r>
          </a:p>
          <a:p>
            <a:r>
              <a:rPr lang="en-US" dirty="0"/>
              <a:t>-- variable declaration</a:t>
            </a:r>
          </a:p>
          <a:p>
            <a:r>
              <a:rPr lang="en-US" dirty="0"/>
              <a:t>begin</a:t>
            </a:r>
          </a:p>
          <a:p>
            <a:r>
              <a:rPr lang="en-US" dirty="0"/>
              <a:t>-- stored procedure body</a:t>
            </a:r>
          </a:p>
          <a:p>
            <a:r>
              <a:rPr lang="en-US" dirty="0"/>
              <a:t>end; $$</a:t>
            </a:r>
            <a:endParaRPr lang="en-IN" dirty="0"/>
          </a:p>
        </p:txBody>
      </p:sp>
      <p:sp>
        <p:nvSpPr>
          <p:cNvPr id="3" name="Title 2">
            <a:extLst>
              <a:ext uri="{FF2B5EF4-FFF2-40B4-BE49-F238E27FC236}">
                <a16:creationId xmlns:a16="http://schemas.microsoft.com/office/drawing/2014/main" id="{8189BF75-7387-46FA-AF61-308ED32AEE15}"/>
              </a:ext>
            </a:extLst>
          </p:cNvPr>
          <p:cNvSpPr>
            <a:spLocks noGrp="1"/>
          </p:cNvSpPr>
          <p:nvPr>
            <p:ph type="title"/>
          </p:nvPr>
        </p:nvSpPr>
        <p:spPr/>
        <p:txBody>
          <a:bodyPr/>
          <a:lstStyle/>
          <a:p>
            <a:r>
              <a:rPr lang="en-US" dirty="0"/>
              <a:t>Introduction to PostgreSQL CREATE PROCEDURE statement</a:t>
            </a:r>
            <a:endParaRPr lang="en-IN" dirty="0"/>
          </a:p>
        </p:txBody>
      </p:sp>
    </p:spTree>
    <p:extLst>
      <p:ext uri="{BB962C8B-B14F-4D97-AF65-F5344CB8AC3E}">
        <p14:creationId xmlns:p14="http://schemas.microsoft.com/office/powerpoint/2010/main" val="1862756619"/>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11BDC03-C716-405E-A8FA-5B851818A6CD}"/>
              </a:ext>
            </a:extLst>
          </p:cNvPr>
          <p:cNvSpPr>
            <a:spLocks noGrp="1"/>
          </p:cNvSpPr>
          <p:nvPr>
            <p:ph sz="quarter" idx="12"/>
          </p:nvPr>
        </p:nvSpPr>
        <p:spPr/>
        <p:txBody>
          <a:bodyPr/>
          <a:lstStyle/>
          <a:p>
            <a:r>
              <a:rPr lang="en-US" dirty="0"/>
              <a:t>First, specify the name of the stored procedure after the create procedure keywords.</a:t>
            </a:r>
          </a:p>
          <a:p>
            <a:r>
              <a:rPr lang="en-US" dirty="0"/>
              <a:t>Second, define parameters for the stored procedure. A stored procedure can accept zero or more parameters.</a:t>
            </a:r>
          </a:p>
          <a:p>
            <a:r>
              <a:rPr lang="en-US" dirty="0"/>
              <a:t>Third, specify </a:t>
            </a:r>
            <a:r>
              <a:rPr lang="en-US" dirty="0" err="1"/>
              <a:t>plpgsql</a:t>
            </a:r>
            <a:r>
              <a:rPr lang="en-US" dirty="0"/>
              <a:t> as the procedural language for the stored procedure. Note that you can use other procedural languages for the stored procedure such as SQL, C, etc.</a:t>
            </a:r>
          </a:p>
          <a:p>
            <a:r>
              <a:rPr lang="en-US" dirty="0"/>
              <a:t>Finally, use the dollar-quoted string constant syntax to define the body of the stored procedure.</a:t>
            </a:r>
            <a:endParaRPr lang="en-IN" dirty="0"/>
          </a:p>
        </p:txBody>
      </p:sp>
      <p:sp>
        <p:nvSpPr>
          <p:cNvPr id="3" name="Title 2">
            <a:extLst>
              <a:ext uri="{FF2B5EF4-FFF2-40B4-BE49-F238E27FC236}">
                <a16:creationId xmlns:a16="http://schemas.microsoft.com/office/drawing/2014/main" id="{8189BF75-7387-46FA-AF61-308ED32AEE15}"/>
              </a:ext>
            </a:extLst>
          </p:cNvPr>
          <p:cNvSpPr>
            <a:spLocks noGrp="1"/>
          </p:cNvSpPr>
          <p:nvPr>
            <p:ph type="title"/>
          </p:nvPr>
        </p:nvSpPr>
        <p:spPr/>
        <p:txBody>
          <a:bodyPr/>
          <a:lstStyle/>
          <a:p>
            <a:r>
              <a:rPr lang="en-US" dirty="0"/>
              <a:t>Introduction to PostgreSQL CREATE PROCEDURE statement</a:t>
            </a:r>
            <a:endParaRPr lang="en-IN" dirty="0"/>
          </a:p>
        </p:txBody>
      </p:sp>
    </p:spTree>
    <p:extLst>
      <p:ext uri="{BB962C8B-B14F-4D97-AF65-F5344CB8AC3E}">
        <p14:creationId xmlns:p14="http://schemas.microsoft.com/office/powerpoint/2010/main" val="1817315169"/>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982C506-DBBB-4EF8-94CD-2DB3BBBADEFB}"/>
              </a:ext>
            </a:extLst>
          </p:cNvPr>
          <p:cNvSpPr>
            <a:spLocks noGrp="1"/>
          </p:cNvSpPr>
          <p:nvPr>
            <p:ph sz="quarter" idx="12"/>
          </p:nvPr>
        </p:nvSpPr>
        <p:spPr/>
        <p:txBody>
          <a:bodyPr>
            <a:normAutofit fontScale="92500" lnSpcReduction="20000"/>
          </a:bodyPr>
          <a:lstStyle/>
          <a:p>
            <a:r>
              <a:rPr lang="en-US" dirty="0"/>
              <a:t>create [or replace] function </a:t>
            </a:r>
            <a:r>
              <a:rPr lang="en-US" dirty="0" err="1"/>
              <a:t>function_name</a:t>
            </a:r>
            <a:r>
              <a:rPr lang="en-US" dirty="0"/>
              <a:t>(</a:t>
            </a:r>
            <a:r>
              <a:rPr lang="en-US" dirty="0" err="1"/>
              <a:t>param_list</a:t>
            </a:r>
            <a:r>
              <a:rPr lang="en-US" dirty="0"/>
              <a:t>)</a:t>
            </a:r>
          </a:p>
          <a:p>
            <a:r>
              <a:rPr lang="en-US" dirty="0"/>
              <a:t>   returns </a:t>
            </a:r>
            <a:r>
              <a:rPr lang="en-US" dirty="0" err="1"/>
              <a:t>return_type</a:t>
            </a:r>
            <a:r>
              <a:rPr lang="en-US" dirty="0"/>
              <a:t> </a:t>
            </a:r>
          </a:p>
          <a:p>
            <a:r>
              <a:rPr lang="en-US" dirty="0"/>
              <a:t>   language </a:t>
            </a:r>
            <a:r>
              <a:rPr lang="en-US" dirty="0" err="1"/>
              <a:t>plpgsql</a:t>
            </a:r>
            <a:endParaRPr lang="en-US" dirty="0"/>
          </a:p>
          <a:p>
            <a:r>
              <a:rPr lang="en-US" dirty="0"/>
              <a:t>  as</a:t>
            </a:r>
          </a:p>
          <a:p>
            <a:r>
              <a:rPr lang="en-US" dirty="0"/>
              <a:t>$$</a:t>
            </a:r>
          </a:p>
          <a:p>
            <a:r>
              <a:rPr lang="en-US" dirty="0"/>
              <a:t>declare </a:t>
            </a:r>
          </a:p>
          <a:p>
            <a:r>
              <a:rPr lang="en-US" dirty="0"/>
              <a:t>-- variable declaration</a:t>
            </a:r>
          </a:p>
          <a:p>
            <a:r>
              <a:rPr lang="en-US" dirty="0"/>
              <a:t>begin</a:t>
            </a:r>
          </a:p>
          <a:p>
            <a:r>
              <a:rPr lang="en-US" dirty="0"/>
              <a:t> -- logic</a:t>
            </a:r>
          </a:p>
          <a:p>
            <a:r>
              <a:rPr lang="en-US" dirty="0"/>
              <a:t>end;</a:t>
            </a:r>
          </a:p>
          <a:p>
            <a:r>
              <a:rPr lang="en-US" dirty="0"/>
              <a:t>$$</a:t>
            </a:r>
            <a:endParaRPr lang="en-IN" dirty="0"/>
          </a:p>
        </p:txBody>
      </p:sp>
      <p:sp>
        <p:nvSpPr>
          <p:cNvPr id="3" name="Title 2">
            <a:extLst>
              <a:ext uri="{FF2B5EF4-FFF2-40B4-BE49-F238E27FC236}">
                <a16:creationId xmlns:a16="http://schemas.microsoft.com/office/drawing/2014/main" id="{58CF24B9-E637-4D60-8BB3-5EE8FF559BAD}"/>
              </a:ext>
            </a:extLst>
          </p:cNvPr>
          <p:cNvSpPr>
            <a:spLocks noGrp="1"/>
          </p:cNvSpPr>
          <p:nvPr>
            <p:ph type="title"/>
          </p:nvPr>
        </p:nvSpPr>
        <p:spPr/>
        <p:txBody>
          <a:bodyPr/>
          <a:lstStyle/>
          <a:p>
            <a:r>
              <a:rPr lang="en-IN" dirty="0"/>
              <a:t>Create Function</a:t>
            </a:r>
          </a:p>
        </p:txBody>
      </p:sp>
    </p:spTree>
    <p:extLst>
      <p:ext uri="{BB962C8B-B14F-4D97-AF65-F5344CB8AC3E}">
        <p14:creationId xmlns:p14="http://schemas.microsoft.com/office/powerpoint/2010/main" val="3763181570"/>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452B66F-EAF2-4474-960C-07BDC923A016}"/>
              </a:ext>
            </a:extLst>
          </p:cNvPr>
          <p:cNvSpPr>
            <a:spLocks noGrp="1"/>
          </p:cNvSpPr>
          <p:nvPr>
            <p:ph type="title"/>
          </p:nvPr>
        </p:nvSpPr>
        <p:spPr/>
        <p:txBody>
          <a:bodyPr/>
          <a:lstStyle/>
          <a:p>
            <a:r>
              <a:rPr lang="en-US" dirty="0"/>
              <a:t>PL/</a:t>
            </a:r>
            <a:r>
              <a:rPr lang="en-US" dirty="0" err="1"/>
              <a:t>pgSQL</a:t>
            </a:r>
            <a:r>
              <a:rPr lang="en-US" dirty="0"/>
              <a:t> Function Parameter Modes: IN, OUT, INOUT</a:t>
            </a:r>
            <a:endParaRPr lang="en-IN" dirty="0"/>
          </a:p>
        </p:txBody>
      </p:sp>
      <p:graphicFrame>
        <p:nvGraphicFramePr>
          <p:cNvPr id="4" name="Table 3">
            <a:extLst>
              <a:ext uri="{FF2B5EF4-FFF2-40B4-BE49-F238E27FC236}">
                <a16:creationId xmlns:a16="http://schemas.microsoft.com/office/drawing/2014/main" id="{9CEEEA0D-7A18-403D-9648-78E2F18094FF}"/>
              </a:ext>
            </a:extLst>
          </p:cNvPr>
          <p:cNvGraphicFramePr>
            <a:graphicFrameLocks noGrp="1"/>
          </p:cNvGraphicFramePr>
          <p:nvPr/>
        </p:nvGraphicFramePr>
        <p:xfrm>
          <a:off x="527901" y="1644491"/>
          <a:ext cx="8205261" cy="4746881"/>
        </p:xfrm>
        <a:graphic>
          <a:graphicData uri="http://schemas.openxmlformats.org/drawingml/2006/table">
            <a:tbl>
              <a:tblPr/>
              <a:tblGrid>
                <a:gridCol w="2735087">
                  <a:extLst>
                    <a:ext uri="{9D8B030D-6E8A-4147-A177-3AD203B41FA5}">
                      <a16:colId xmlns:a16="http://schemas.microsoft.com/office/drawing/2014/main" val="1880518248"/>
                    </a:ext>
                  </a:extLst>
                </a:gridCol>
                <a:gridCol w="2735087">
                  <a:extLst>
                    <a:ext uri="{9D8B030D-6E8A-4147-A177-3AD203B41FA5}">
                      <a16:colId xmlns:a16="http://schemas.microsoft.com/office/drawing/2014/main" val="2372132798"/>
                    </a:ext>
                  </a:extLst>
                </a:gridCol>
                <a:gridCol w="2735087">
                  <a:extLst>
                    <a:ext uri="{9D8B030D-6E8A-4147-A177-3AD203B41FA5}">
                      <a16:colId xmlns:a16="http://schemas.microsoft.com/office/drawing/2014/main" val="273117847"/>
                    </a:ext>
                  </a:extLst>
                </a:gridCol>
              </a:tblGrid>
              <a:tr h="593360">
                <a:tc>
                  <a:txBody>
                    <a:bodyPr/>
                    <a:lstStyle/>
                    <a:p>
                      <a:pPr algn="l" fontAlgn="t"/>
                      <a:r>
                        <a:rPr lang="en-IN" b="1">
                          <a:solidFill>
                            <a:srgbClr val="333333"/>
                          </a:solidFill>
                          <a:effectLst/>
                        </a:rPr>
                        <a:t>IN</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algn="l" fontAlgn="t"/>
                      <a:r>
                        <a:rPr lang="en-IN" b="1">
                          <a:solidFill>
                            <a:srgbClr val="333333"/>
                          </a:solidFill>
                          <a:effectLst/>
                        </a:rPr>
                        <a:t>OUT</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algn="l" fontAlgn="t"/>
                      <a:r>
                        <a:rPr lang="en-IN" b="1">
                          <a:solidFill>
                            <a:srgbClr val="333333"/>
                          </a:solidFill>
                          <a:effectLst/>
                        </a:rPr>
                        <a:t>INOUT</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944147452"/>
                  </a:ext>
                </a:extLst>
              </a:tr>
              <a:tr h="593360">
                <a:tc>
                  <a:txBody>
                    <a:bodyPr/>
                    <a:lstStyle/>
                    <a:p>
                      <a:pPr algn="l" fontAlgn="t"/>
                      <a:r>
                        <a:rPr lang="en-IN">
                          <a:effectLst/>
                        </a:rPr>
                        <a:t>The default</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algn="l" fontAlgn="t"/>
                      <a:r>
                        <a:rPr lang="en-IN">
                          <a:effectLst/>
                        </a:rPr>
                        <a:t>Explicitly specified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algn="l" fontAlgn="t"/>
                      <a:r>
                        <a:rPr lang="en-IN">
                          <a:effectLst/>
                        </a:rPr>
                        <a:t>Explicitly specified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929284858"/>
                  </a:ext>
                </a:extLst>
              </a:tr>
              <a:tr h="1483401">
                <a:tc>
                  <a:txBody>
                    <a:bodyPr/>
                    <a:lstStyle/>
                    <a:p>
                      <a:pPr algn="l" fontAlgn="t"/>
                      <a:r>
                        <a:rPr lang="en-US">
                          <a:effectLst/>
                        </a:rPr>
                        <a:t>Pass a value to function</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algn="l" fontAlgn="t"/>
                      <a:r>
                        <a:rPr lang="en-US">
                          <a:effectLst/>
                        </a:rPr>
                        <a:t>Return a value from a function</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algn="l" fontAlgn="t"/>
                      <a:r>
                        <a:rPr lang="en-US">
                          <a:effectLst/>
                        </a:rPr>
                        <a:t>Pass a value to a function and return an updated value.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021451592"/>
                  </a:ext>
                </a:extLst>
              </a:tr>
              <a:tr h="1038380">
                <a:tc>
                  <a:txBody>
                    <a:bodyPr/>
                    <a:lstStyle/>
                    <a:p>
                      <a:pPr algn="l" fontAlgn="t"/>
                      <a:r>
                        <a:rPr lang="en-US">
                          <a:effectLst/>
                        </a:rPr>
                        <a:t>in parameters act like constants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algn="l" fontAlgn="t"/>
                      <a:r>
                        <a:rPr lang="en-US">
                          <a:effectLst/>
                        </a:rPr>
                        <a:t>out parameters act like uninitialized variables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algn="l" fontAlgn="t"/>
                      <a:r>
                        <a:rPr lang="en-US">
                          <a:effectLst/>
                        </a:rPr>
                        <a:t>inout parameters act like an initialized variables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049812630"/>
                  </a:ext>
                </a:extLst>
              </a:tr>
              <a:tr h="1038380">
                <a:tc>
                  <a:txBody>
                    <a:bodyPr/>
                    <a:lstStyle/>
                    <a:p>
                      <a:pPr algn="l" fontAlgn="t"/>
                      <a:r>
                        <a:rPr lang="en-US">
                          <a:effectLst/>
                        </a:rPr>
                        <a:t>Cannot be assigned a value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algn="l" fontAlgn="t"/>
                      <a:r>
                        <a:rPr lang="en-IN">
                          <a:effectLst/>
                        </a:rPr>
                        <a:t>Must assign a value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algn="l" fontAlgn="t"/>
                      <a:r>
                        <a:rPr lang="en-US" dirty="0">
                          <a:effectLst/>
                        </a:rPr>
                        <a:t>Should be assigned a value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73871101"/>
                  </a:ext>
                </a:extLst>
              </a:tr>
            </a:tbl>
          </a:graphicData>
        </a:graphic>
      </p:graphicFrame>
    </p:spTree>
    <p:extLst>
      <p:ext uri="{BB962C8B-B14F-4D97-AF65-F5344CB8AC3E}">
        <p14:creationId xmlns:p14="http://schemas.microsoft.com/office/powerpoint/2010/main" val="796165962"/>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F6791BA-A3C2-417E-89AE-88668000A0A7}"/>
              </a:ext>
            </a:extLst>
          </p:cNvPr>
          <p:cNvSpPr>
            <a:spLocks noGrp="1"/>
          </p:cNvSpPr>
          <p:nvPr>
            <p:ph sz="quarter" idx="12"/>
          </p:nvPr>
        </p:nvSpPr>
        <p:spPr/>
        <p:txBody>
          <a:bodyPr/>
          <a:lstStyle/>
          <a:p>
            <a:r>
              <a:rPr lang="en-US" dirty="0"/>
              <a:t>PostgreSQL allows multiple functions to share the same name as long as they have different arguments.</a:t>
            </a:r>
          </a:p>
          <a:p>
            <a:r>
              <a:rPr lang="en-US" dirty="0"/>
              <a:t>If two or more functions share the same name, the function names are overloaded.</a:t>
            </a:r>
          </a:p>
          <a:p>
            <a:r>
              <a:rPr lang="en-US" dirty="0"/>
              <a:t>When you can call an overloading function, PostgreSQL select the best candidate function to execute based on the </a:t>
            </a:r>
            <a:r>
              <a:rPr lang="en-US" dirty="0" err="1"/>
              <a:t>the</a:t>
            </a:r>
            <a:r>
              <a:rPr lang="en-US" dirty="0"/>
              <a:t> function argument list.</a:t>
            </a:r>
            <a:endParaRPr lang="en-IN" dirty="0"/>
          </a:p>
        </p:txBody>
      </p:sp>
      <p:sp>
        <p:nvSpPr>
          <p:cNvPr id="3" name="Title 2">
            <a:extLst>
              <a:ext uri="{FF2B5EF4-FFF2-40B4-BE49-F238E27FC236}">
                <a16:creationId xmlns:a16="http://schemas.microsoft.com/office/drawing/2014/main" id="{A23F1B16-B451-4EDC-BDFC-16AEFD4EDA3F}"/>
              </a:ext>
            </a:extLst>
          </p:cNvPr>
          <p:cNvSpPr>
            <a:spLocks noGrp="1"/>
          </p:cNvSpPr>
          <p:nvPr>
            <p:ph type="title"/>
          </p:nvPr>
        </p:nvSpPr>
        <p:spPr/>
        <p:txBody>
          <a:bodyPr/>
          <a:lstStyle/>
          <a:p>
            <a:r>
              <a:rPr lang="en-US" dirty="0"/>
              <a:t>Introduction to PL/</a:t>
            </a:r>
            <a:r>
              <a:rPr lang="en-US" dirty="0" err="1"/>
              <a:t>pgSQL</a:t>
            </a:r>
            <a:r>
              <a:rPr lang="en-US" dirty="0"/>
              <a:t> Function Overloading</a:t>
            </a:r>
            <a:endParaRPr lang="en-IN" dirty="0"/>
          </a:p>
        </p:txBody>
      </p:sp>
    </p:spTree>
    <p:extLst>
      <p:ext uri="{BB962C8B-B14F-4D97-AF65-F5344CB8AC3E}">
        <p14:creationId xmlns:p14="http://schemas.microsoft.com/office/powerpoint/2010/main" val="279449899"/>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E73D03-DF85-4EAD-B5B9-41E03F6097EA}"/>
              </a:ext>
            </a:extLst>
          </p:cNvPr>
          <p:cNvSpPr>
            <a:spLocks noGrp="1"/>
          </p:cNvSpPr>
          <p:nvPr>
            <p:ph sz="quarter" idx="12"/>
          </p:nvPr>
        </p:nvSpPr>
        <p:spPr/>
        <p:txBody>
          <a:bodyPr>
            <a:normAutofit fontScale="92500" lnSpcReduction="20000"/>
          </a:bodyPr>
          <a:lstStyle/>
          <a:p>
            <a:r>
              <a:rPr lang="en-US" dirty="0"/>
              <a:t>create or replace function </a:t>
            </a:r>
            <a:r>
              <a:rPr lang="en-US" dirty="0" err="1"/>
              <a:t>function_name</a:t>
            </a:r>
            <a:r>
              <a:rPr lang="en-US" dirty="0"/>
              <a:t> (</a:t>
            </a:r>
          </a:p>
          <a:p>
            <a:r>
              <a:rPr lang="en-US" dirty="0"/>
              <a:t>   </a:t>
            </a:r>
            <a:r>
              <a:rPr lang="en-US" dirty="0" err="1"/>
              <a:t>parameter_list</a:t>
            </a:r>
            <a:endParaRPr lang="en-US" dirty="0"/>
          </a:p>
          <a:p>
            <a:r>
              <a:rPr lang="en-US" dirty="0"/>
              <a:t>) </a:t>
            </a:r>
          </a:p>
          <a:p>
            <a:r>
              <a:rPr lang="en-US" dirty="0"/>
              <a:t>returns table ( </a:t>
            </a:r>
            <a:r>
              <a:rPr lang="en-US" dirty="0" err="1"/>
              <a:t>column_list</a:t>
            </a:r>
            <a:r>
              <a:rPr lang="en-US" dirty="0"/>
              <a:t> ) </a:t>
            </a:r>
          </a:p>
          <a:p>
            <a:r>
              <a:rPr lang="en-US" dirty="0"/>
              <a:t>language </a:t>
            </a:r>
            <a:r>
              <a:rPr lang="en-US" dirty="0" err="1"/>
              <a:t>plpgsql</a:t>
            </a:r>
            <a:endParaRPr lang="en-US" dirty="0"/>
          </a:p>
          <a:p>
            <a:r>
              <a:rPr lang="en-US" dirty="0"/>
              <a:t>as $$</a:t>
            </a:r>
          </a:p>
          <a:p>
            <a:r>
              <a:rPr lang="en-US" dirty="0"/>
              <a:t>declare </a:t>
            </a:r>
          </a:p>
          <a:p>
            <a:r>
              <a:rPr lang="en-US" dirty="0"/>
              <a:t>-- variable declaration</a:t>
            </a:r>
          </a:p>
          <a:p>
            <a:r>
              <a:rPr lang="en-US" dirty="0"/>
              <a:t>begin</a:t>
            </a:r>
          </a:p>
          <a:p>
            <a:r>
              <a:rPr lang="en-US" dirty="0"/>
              <a:t>-- body</a:t>
            </a:r>
          </a:p>
          <a:p>
            <a:r>
              <a:rPr lang="en-US" dirty="0"/>
              <a:t>end; $$</a:t>
            </a:r>
            <a:endParaRPr lang="en-IN" dirty="0"/>
          </a:p>
        </p:txBody>
      </p:sp>
      <p:sp>
        <p:nvSpPr>
          <p:cNvPr id="3" name="Title 2">
            <a:extLst>
              <a:ext uri="{FF2B5EF4-FFF2-40B4-BE49-F238E27FC236}">
                <a16:creationId xmlns:a16="http://schemas.microsoft.com/office/drawing/2014/main" id="{073D9DF5-6A7D-4AC4-A687-E9F1DD79C626}"/>
              </a:ext>
            </a:extLst>
          </p:cNvPr>
          <p:cNvSpPr>
            <a:spLocks noGrp="1"/>
          </p:cNvSpPr>
          <p:nvPr>
            <p:ph type="title"/>
          </p:nvPr>
        </p:nvSpPr>
        <p:spPr/>
        <p:txBody>
          <a:bodyPr/>
          <a:lstStyle/>
          <a:p>
            <a:r>
              <a:rPr lang="en-US" dirty="0"/>
              <a:t>How to Develop a PL/</a:t>
            </a:r>
            <a:r>
              <a:rPr lang="en-US" dirty="0" err="1"/>
              <a:t>pgSQL</a:t>
            </a:r>
            <a:r>
              <a:rPr lang="en-US" dirty="0"/>
              <a:t> Function That Returns a Table</a:t>
            </a:r>
            <a:endParaRPr lang="en-IN" dirty="0"/>
          </a:p>
        </p:txBody>
      </p:sp>
    </p:spTree>
    <p:extLst>
      <p:ext uri="{BB962C8B-B14F-4D97-AF65-F5344CB8AC3E}">
        <p14:creationId xmlns:p14="http://schemas.microsoft.com/office/powerpoint/2010/main" val="1353601666"/>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3CCD17-656A-408D-9F4A-7E1B86666429}"/>
              </a:ext>
            </a:extLst>
          </p:cNvPr>
          <p:cNvSpPr>
            <a:spLocks noGrp="1"/>
          </p:cNvSpPr>
          <p:nvPr>
            <p:ph sz="quarter" idx="12"/>
          </p:nvPr>
        </p:nvSpPr>
        <p:spPr/>
        <p:txBody>
          <a:bodyPr/>
          <a:lstStyle/>
          <a:p>
            <a:r>
              <a:rPr lang="en-US" dirty="0"/>
              <a:t>A PostgreSQL trigger is a function invoked automatically whenever an event such as insert, update, or delete occurs. </a:t>
            </a:r>
          </a:p>
          <a:p>
            <a:endParaRPr lang="en-IN" dirty="0"/>
          </a:p>
        </p:txBody>
      </p:sp>
      <p:sp>
        <p:nvSpPr>
          <p:cNvPr id="3" name="Title 2">
            <a:extLst>
              <a:ext uri="{FF2B5EF4-FFF2-40B4-BE49-F238E27FC236}">
                <a16:creationId xmlns:a16="http://schemas.microsoft.com/office/drawing/2014/main" id="{5C305082-186E-4F53-87E6-1934FB8BCD1C}"/>
              </a:ext>
            </a:extLst>
          </p:cNvPr>
          <p:cNvSpPr>
            <a:spLocks noGrp="1"/>
          </p:cNvSpPr>
          <p:nvPr>
            <p:ph type="title"/>
          </p:nvPr>
        </p:nvSpPr>
        <p:spPr/>
        <p:txBody>
          <a:bodyPr/>
          <a:lstStyle/>
          <a:p>
            <a:r>
              <a:rPr lang="en-IN" dirty="0"/>
              <a:t>Triggers</a:t>
            </a:r>
          </a:p>
        </p:txBody>
      </p:sp>
    </p:spTree>
    <p:extLst>
      <p:ext uri="{BB962C8B-B14F-4D97-AF65-F5344CB8AC3E}">
        <p14:creationId xmlns:p14="http://schemas.microsoft.com/office/powerpoint/2010/main" val="3271626489"/>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3CCD17-656A-408D-9F4A-7E1B86666429}"/>
              </a:ext>
            </a:extLst>
          </p:cNvPr>
          <p:cNvSpPr>
            <a:spLocks noGrp="1"/>
          </p:cNvSpPr>
          <p:nvPr>
            <p:ph sz="quarter" idx="12"/>
          </p:nvPr>
        </p:nvSpPr>
        <p:spPr/>
        <p:txBody>
          <a:bodyPr>
            <a:normAutofit fontScale="85000" lnSpcReduction="20000"/>
          </a:bodyPr>
          <a:lstStyle/>
          <a:p>
            <a:r>
              <a:rPr lang="en-US" dirty="0"/>
              <a:t>A PostgreSQL trigger is a function invoked automatically whenever an event associated with a table occurs. </a:t>
            </a:r>
          </a:p>
          <a:p>
            <a:r>
              <a:rPr lang="en-US" dirty="0"/>
              <a:t>An event could be any of the following: INSERT, UPDATE, DELETE or TRUNCATE.</a:t>
            </a:r>
          </a:p>
          <a:p>
            <a:r>
              <a:rPr lang="en-US" dirty="0"/>
              <a:t>A trigger is a special user-defined function associated with a table. </a:t>
            </a:r>
          </a:p>
          <a:p>
            <a:r>
              <a:rPr lang="en-US" dirty="0"/>
              <a:t>To create a new trigger, you define a trigger function first, and then bind this trigger function to a table. </a:t>
            </a:r>
          </a:p>
          <a:p>
            <a:r>
              <a:rPr lang="en-US" dirty="0"/>
              <a:t>The difference between a trigger and a user-defined function is that a trigger is automatically invoked when a triggering event occurs.</a:t>
            </a:r>
          </a:p>
          <a:p>
            <a:r>
              <a:rPr lang="en-US" dirty="0"/>
              <a:t>PostgreSQL provides two main types of triggers: row and statement-level triggers. The differences between the two kinds are how many times the trigger is invoked and at what time.</a:t>
            </a:r>
            <a:endParaRPr lang="en-IN" dirty="0"/>
          </a:p>
        </p:txBody>
      </p:sp>
      <p:sp>
        <p:nvSpPr>
          <p:cNvPr id="3" name="Title 2">
            <a:extLst>
              <a:ext uri="{FF2B5EF4-FFF2-40B4-BE49-F238E27FC236}">
                <a16:creationId xmlns:a16="http://schemas.microsoft.com/office/drawing/2014/main" id="{5C305082-186E-4F53-87E6-1934FB8BCD1C}"/>
              </a:ext>
            </a:extLst>
          </p:cNvPr>
          <p:cNvSpPr>
            <a:spLocks noGrp="1"/>
          </p:cNvSpPr>
          <p:nvPr>
            <p:ph type="title"/>
          </p:nvPr>
        </p:nvSpPr>
        <p:spPr/>
        <p:txBody>
          <a:bodyPr/>
          <a:lstStyle/>
          <a:p>
            <a:r>
              <a:rPr lang="en-IN" dirty="0"/>
              <a:t>Triggers</a:t>
            </a:r>
          </a:p>
        </p:txBody>
      </p:sp>
    </p:spTree>
    <p:extLst>
      <p:ext uri="{BB962C8B-B14F-4D97-AF65-F5344CB8AC3E}">
        <p14:creationId xmlns:p14="http://schemas.microsoft.com/office/powerpoint/2010/main" val="2600661736"/>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3CCD17-656A-408D-9F4A-7E1B86666429}"/>
              </a:ext>
            </a:extLst>
          </p:cNvPr>
          <p:cNvSpPr>
            <a:spLocks noGrp="1"/>
          </p:cNvSpPr>
          <p:nvPr>
            <p:ph sz="quarter" idx="12"/>
          </p:nvPr>
        </p:nvSpPr>
        <p:spPr/>
        <p:txBody>
          <a:bodyPr>
            <a:normAutofit/>
          </a:bodyPr>
          <a:lstStyle/>
          <a:p>
            <a:r>
              <a:rPr lang="en-US" dirty="0"/>
              <a:t>For example, if you issue an UPDATE statement that affects 20 rows, the row-level trigger will be invoked 20 times, while the statement level trigger will be invoked 1 time.</a:t>
            </a:r>
          </a:p>
          <a:p>
            <a:r>
              <a:rPr lang="en-US" dirty="0"/>
              <a:t>You can specify whether the trigger is invoked before or after an event. </a:t>
            </a:r>
          </a:p>
          <a:p>
            <a:r>
              <a:rPr lang="en-US" dirty="0"/>
              <a:t>If the trigger is invoked before an event, it can skip the operation for the current row or even change the row being updated or inserted. </a:t>
            </a:r>
          </a:p>
          <a:p>
            <a:r>
              <a:rPr lang="en-US" dirty="0"/>
              <a:t>In case the trigger is invoked after the event, all changes are available to the trigger.</a:t>
            </a:r>
            <a:endParaRPr lang="en-IN" dirty="0"/>
          </a:p>
        </p:txBody>
      </p:sp>
      <p:sp>
        <p:nvSpPr>
          <p:cNvPr id="3" name="Title 2">
            <a:extLst>
              <a:ext uri="{FF2B5EF4-FFF2-40B4-BE49-F238E27FC236}">
                <a16:creationId xmlns:a16="http://schemas.microsoft.com/office/drawing/2014/main" id="{5C305082-186E-4F53-87E6-1934FB8BCD1C}"/>
              </a:ext>
            </a:extLst>
          </p:cNvPr>
          <p:cNvSpPr>
            <a:spLocks noGrp="1"/>
          </p:cNvSpPr>
          <p:nvPr>
            <p:ph type="title"/>
          </p:nvPr>
        </p:nvSpPr>
        <p:spPr/>
        <p:txBody>
          <a:bodyPr/>
          <a:lstStyle/>
          <a:p>
            <a:r>
              <a:rPr lang="en-IN" dirty="0"/>
              <a:t>Triggers</a:t>
            </a:r>
          </a:p>
        </p:txBody>
      </p:sp>
    </p:spTree>
    <p:extLst>
      <p:ext uri="{BB962C8B-B14F-4D97-AF65-F5344CB8AC3E}">
        <p14:creationId xmlns:p14="http://schemas.microsoft.com/office/powerpoint/2010/main" val="3367534532"/>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3CCD17-656A-408D-9F4A-7E1B86666429}"/>
              </a:ext>
            </a:extLst>
          </p:cNvPr>
          <p:cNvSpPr>
            <a:spLocks noGrp="1"/>
          </p:cNvSpPr>
          <p:nvPr>
            <p:ph sz="quarter" idx="12"/>
          </p:nvPr>
        </p:nvSpPr>
        <p:spPr/>
        <p:txBody>
          <a:bodyPr>
            <a:normAutofit/>
          </a:bodyPr>
          <a:lstStyle/>
          <a:p>
            <a:r>
              <a:rPr lang="en-US" dirty="0"/>
              <a:t>Triggers are useful in case the database is accessed by various applications, and you want to keep the cross-functionality within the database that runs automatically whenever the data of the table is modified. </a:t>
            </a:r>
          </a:p>
          <a:p>
            <a:r>
              <a:rPr lang="en-US" dirty="0"/>
              <a:t>For example, if you want to keep the history of data without requiring the application to have logic to check for every event such as INSERT or UDPATE.</a:t>
            </a:r>
            <a:endParaRPr lang="en-IN" dirty="0"/>
          </a:p>
        </p:txBody>
      </p:sp>
      <p:sp>
        <p:nvSpPr>
          <p:cNvPr id="3" name="Title 2">
            <a:extLst>
              <a:ext uri="{FF2B5EF4-FFF2-40B4-BE49-F238E27FC236}">
                <a16:creationId xmlns:a16="http://schemas.microsoft.com/office/drawing/2014/main" id="{5C305082-186E-4F53-87E6-1934FB8BCD1C}"/>
              </a:ext>
            </a:extLst>
          </p:cNvPr>
          <p:cNvSpPr>
            <a:spLocks noGrp="1"/>
          </p:cNvSpPr>
          <p:nvPr>
            <p:ph type="title"/>
          </p:nvPr>
        </p:nvSpPr>
        <p:spPr/>
        <p:txBody>
          <a:bodyPr/>
          <a:lstStyle/>
          <a:p>
            <a:r>
              <a:rPr lang="en-IN" dirty="0"/>
              <a:t>Triggers</a:t>
            </a:r>
          </a:p>
        </p:txBody>
      </p:sp>
    </p:spTree>
    <p:extLst>
      <p:ext uri="{BB962C8B-B14F-4D97-AF65-F5344CB8AC3E}">
        <p14:creationId xmlns:p14="http://schemas.microsoft.com/office/powerpoint/2010/main" val="3947939598"/>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3CCD17-656A-408D-9F4A-7E1B86666429}"/>
              </a:ext>
            </a:extLst>
          </p:cNvPr>
          <p:cNvSpPr>
            <a:spLocks noGrp="1"/>
          </p:cNvSpPr>
          <p:nvPr>
            <p:ph sz="quarter" idx="12"/>
          </p:nvPr>
        </p:nvSpPr>
        <p:spPr/>
        <p:txBody>
          <a:bodyPr>
            <a:normAutofit/>
          </a:bodyPr>
          <a:lstStyle/>
          <a:p>
            <a:r>
              <a:rPr lang="en-US" dirty="0"/>
              <a:t>You can also use triggers to maintain complex data integrity rules which you cannot implement elsewhere except at the database level. </a:t>
            </a:r>
          </a:p>
          <a:p>
            <a:r>
              <a:rPr lang="en-US" dirty="0"/>
              <a:t>For example, when a new row is added into the customer table, other rows must be also created in tables of banks and credits.</a:t>
            </a:r>
            <a:endParaRPr lang="en-IN" dirty="0"/>
          </a:p>
        </p:txBody>
      </p:sp>
      <p:sp>
        <p:nvSpPr>
          <p:cNvPr id="3" name="Title 2">
            <a:extLst>
              <a:ext uri="{FF2B5EF4-FFF2-40B4-BE49-F238E27FC236}">
                <a16:creationId xmlns:a16="http://schemas.microsoft.com/office/drawing/2014/main" id="{5C305082-186E-4F53-87E6-1934FB8BCD1C}"/>
              </a:ext>
            </a:extLst>
          </p:cNvPr>
          <p:cNvSpPr>
            <a:spLocks noGrp="1"/>
          </p:cNvSpPr>
          <p:nvPr>
            <p:ph type="title"/>
          </p:nvPr>
        </p:nvSpPr>
        <p:spPr/>
        <p:txBody>
          <a:bodyPr/>
          <a:lstStyle/>
          <a:p>
            <a:r>
              <a:rPr lang="en-IN" dirty="0"/>
              <a:t>Triggers</a:t>
            </a:r>
          </a:p>
        </p:txBody>
      </p:sp>
    </p:spTree>
    <p:extLst>
      <p:ext uri="{BB962C8B-B14F-4D97-AF65-F5344CB8AC3E}">
        <p14:creationId xmlns:p14="http://schemas.microsoft.com/office/powerpoint/2010/main" val="1581320269"/>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3CCD17-656A-408D-9F4A-7E1B86666429}"/>
              </a:ext>
            </a:extLst>
          </p:cNvPr>
          <p:cNvSpPr>
            <a:spLocks noGrp="1"/>
          </p:cNvSpPr>
          <p:nvPr>
            <p:ph sz="quarter" idx="12"/>
          </p:nvPr>
        </p:nvSpPr>
        <p:spPr/>
        <p:txBody>
          <a:bodyPr>
            <a:normAutofit lnSpcReduction="10000"/>
          </a:bodyPr>
          <a:lstStyle/>
          <a:p>
            <a:r>
              <a:rPr lang="en-US" dirty="0"/>
              <a:t>The main drawback of using a trigger is that you must know the trigger exists and understand its logic to figure it out the effects when data changes.</a:t>
            </a:r>
          </a:p>
          <a:p>
            <a:r>
              <a:rPr lang="en-US" dirty="0"/>
              <a:t>Even though PostgreSQL implements SQL standard, triggers in PostgreSQL has some specific features:</a:t>
            </a:r>
          </a:p>
          <a:p>
            <a:pPr lvl="1"/>
            <a:endParaRPr lang="en-US" dirty="0"/>
          </a:p>
          <a:p>
            <a:pPr lvl="1"/>
            <a:r>
              <a:rPr lang="en-US" dirty="0"/>
              <a:t>PostgreSQL fires trigger for the  TRUNCATE event.</a:t>
            </a:r>
          </a:p>
          <a:p>
            <a:pPr lvl="1"/>
            <a:r>
              <a:rPr lang="en-US" dirty="0"/>
              <a:t>PostgreSQL allows you to define the statement-level trigger on views.</a:t>
            </a:r>
          </a:p>
          <a:p>
            <a:pPr lvl="1"/>
            <a:r>
              <a:rPr lang="en-US" dirty="0"/>
              <a:t>PostgreSQL requires you to define a user-defined function as the action of the trigger, while the SQL standard allows you to use any SQL commands.</a:t>
            </a:r>
            <a:endParaRPr lang="en-IN" dirty="0"/>
          </a:p>
        </p:txBody>
      </p:sp>
      <p:sp>
        <p:nvSpPr>
          <p:cNvPr id="3" name="Title 2">
            <a:extLst>
              <a:ext uri="{FF2B5EF4-FFF2-40B4-BE49-F238E27FC236}">
                <a16:creationId xmlns:a16="http://schemas.microsoft.com/office/drawing/2014/main" id="{5C305082-186E-4F53-87E6-1934FB8BCD1C}"/>
              </a:ext>
            </a:extLst>
          </p:cNvPr>
          <p:cNvSpPr>
            <a:spLocks noGrp="1"/>
          </p:cNvSpPr>
          <p:nvPr>
            <p:ph type="title"/>
          </p:nvPr>
        </p:nvSpPr>
        <p:spPr/>
        <p:txBody>
          <a:bodyPr/>
          <a:lstStyle/>
          <a:p>
            <a:r>
              <a:rPr lang="en-IN" dirty="0"/>
              <a:t>Triggers</a:t>
            </a:r>
          </a:p>
        </p:txBody>
      </p:sp>
    </p:spTree>
    <p:extLst>
      <p:ext uri="{BB962C8B-B14F-4D97-AF65-F5344CB8AC3E}">
        <p14:creationId xmlns:p14="http://schemas.microsoft.com/office/powerpoint/2010/main" val="438258768"/>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16404D-7944-4A67-AD1D-0F7BC8A53A03}"/>
              </a:ext>
            </a:extLst>
          </p:cNvPr>
          <p:cNvSpPr>
            <a:spLocks noGrp="1"/>
          </p:cNvSpPr>
          <p:nvPr>
            <p:ph sz="quarter" idx="12"/>
          </p:nvPr>
        </p:nvSpPr>
        <p:spPr/>
        <p:txBody>
          <a:bodyPr/>
          <a:lstStyle/>
          <a:p>
            <a:r>
              <a:rPr lang="en-US" dirty="0"/>
              <a:t>To create a new trigger in PostgreSQL, you follow these steps:</a:t>
            </a:r>
          </a:p>
          <a:p>
            <a:pPr lvl="1"/>
            <a:r>
              <a:rPr lang="en-US" dirty="0"/>
              <a:t>First, create a trigger function using CREATE FUNCTION statement.</a:t>
            </a:r>
          </a:p>
          <a:p>
            <a:pPr lvl="1"/>
            <a:r>
              <a:rPr lang="en-US" dirty="0"/>
              <a:t>Second, bind the trigger function to a table by using CREATE TRIGGER statement.</a:t>
            </a:r>
            <a:endParaRPr lang="en-IN" dirty="0"/>
          </a:p>
        </p:txBody>
      </p:sp>
      <p:sp>
        <p:nvSpPr>
          <p:cNvPr id="3" name="Title 2">
            <a:extLst>
              <a:ext uri="{FF2B5EF4-FFF2-40B4-BE49-F238E27FC236}">
                <a16:creationId xmlns:a16="http://schemas.microsoft.com/office/drawing/2014/main" id="{867780E3-51CA-42A7-A250-D439FD562721}"/>
              </a:ext>
            </a:extLst>
          </p:cNvPr>
          <p:cNvSpPr>
            <a:spLocks noGrp="1"/>
          </p:cNvSpPr>
          <p:nvPr>
            <p:ph type="title"/>
          </p:nvPr>
        </p:nvSpPr>
        <p:spPr/>
        <p:txBody>
          <a:bodyPr/>
          <a:lstStyle/>
          <a:p>
            <a:r>
              <a:rPr lang="en-IN" dirty="0"/>
              <a:t>PostgreSQL CREATE TRIGGER</a:t>
            </a:r>
          </a:p>
        </p:txBody>
      </p:sp>
    </p:spTree>
    <p:extLst>
      <p:ext uri="{BB962C8B-B14F-4D97-AF65-F5344CB8AC3E}">
        <p14:creationId xmlns:p14="http://schemas.microsoft.com/office/powerpoint/2010/main" val="3859480591"/>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16404D-7944-4A67-AD1D-0F7BC8A53A03}"/>
              </a:ext>
            </a:extLst>
          </p:cNvPr>
          <p:cNvSpPr>
            <a:spLocks noGrp="1"/>
          </p:cNvSpPr>
          <p:nvPr>
            <p:ph sz="quarter" idx="12"/>
          </p:nvPr>
        </p:nvSpPr>
        <p:spPr/>
        <p:txBody>
          <a:bodyPr/>
          <a:lstStyle/>
          <a:p>
            <a:pPr marL="0" indent="0">
              <a:buNone/>
            </a:pPr>
            <a:r>
              <a:rPr lang="en-US" dirty="0"/>
              <a:t>CREATE FUNCTION </a:t>
            </a:r>
            <a:r>
              <a:rPr lang="en-US" dirty="0" err="1"/>
              <a:t>trigger_function</a:t>
            </a:r>
            <a:r>
              <a:rPr lang="en-US" dirty="0"/>
              <a:t>() </a:t>
            </a:r>
          </a:p>
          <a:p>
            <a:pPr marL="0" indent="0">
              <a:buNone/>
            </a:pPr>
            <a:r>
              <a:rPr lang="en-US" dirty="0"/>
              <a:t>   RETURNS TRIGGER </a:t>
            </a:r>
          </a:p>
          <a:p>
            <a:pPr marL="0" indent="0">
              <a:buNone/>
            </a:pPr>
            <a:r>
              <a:rPr lang="en-US" dirty="0"/>
              <a:t>   LANGUAGE PLPGSQL</a:t>
            </a:r>
          </a:p>
          <a:p>
            <a:pPr marL="0" indent="0">
              <a:buNone/>
            </a:pPr>
            <a:r>
              <a:rPr lang="en-US" dirty="0"/>
              <a:t>AS $$</a:t>
            </a:r>
          </a:p>
          <a:p>
            <a:pPr marL="0" indent="0">
              <a:buNone/>
            </a:pPr>
            <a:r>
              <a:rPr lang="en-US" dirty="0"/>
              <a:t>BEGIN</a:t>
            </a:r>
          </a:p>
          <a:p>
            <a:pPr marL="0" indent="0">
              <a:buNone/>
            </a:pPr>
            <a:r>
              <a:rPr lang="en-US" dirty="0"/>
              <a:t>   -- trigger logic</a:t>
            </a:r>
          </a:p>
          <a:p>
            <a:pPr marL="0" indent="0">
              <a:buNone/>
            </a:pPr>
            <a:r>
              <a:rPr lang="en-US" dirty="0"/>
              <a:t>END;</a:t>
            </a:r>
          </a:p>
          <a:p>
            <a:pPr marL="0" indent="0">
              <a:buNone/>
            </a:pPr>
            <a:r>
              <a:rPr lang="en-US" dirty="0"/>
              <a:t>$$</a:t>
            </a:r>
            <a:endParaRPr lang="en-IN" dirty="0"/>
          </a:p>
        </p:txBody>
      </p:sp>
      <p:sp>
        <p:nvSpPr>
          <p:cNvPr id="3" name="Title 2">
            <a:extLst>
              <a:ext uri="{FF2B5EF4-FFF2-40B4-BE49-F238E27FC236}">
                <a16:creationId xmlns:a16="http://schemas.microsoft.com/office/drawing/2014/main" id="{867780E3-51CA-42A7-A250-D439FD562721}"/>
              </a:ext>
            </a:extLst>
          </p:cNvPr>
          <p:cNvSpPr>
            <a:spLocks noGrp="1"/>
          </p:cNvSpPr>
          <p:nvPr>
            <p:ph type="title"/>
          </p:nvPr>
        </p:nvSpPr>
        <p:spPr/>
        <p:txBody>
          <a:bodyPr/>
          <a:lstStyle/>
          <a:p>
            <a:r>
              <a:rPr lang="en-IN" dirty="0"/>
              <a:t>PostgreSQL CREATE TRIGGER</a:t>
            </a:r>
          </a:p>
        </p:txBody>
      </p:sp>
    </p:spTree>
    <p:extLst>
      <p:ext uri="{BB962C8B-B14F-4D97-AF65-F5344CB8AC3E}">
        <p14:creationId xmlns:p14="http://schemas.microsoft.com/office/powerpoint/2010/main" val="755867343"/>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202DC5-5BD3-0BA1-E3B8-99CABFE72E3A}"/>
              </a:ext>
            </a:extLst>
          </p:cNvPr>
          <p:cNvSpPr>
            <a:spLocks noGrp="1"/>
          </p:cNvSpPr>
          <p:nvPr>
            <p:ph sz="quarter" idx="12"/>
          </p:nvPr>
        </p:nvSpPr>
        <p:spPr/>
        <p:txBody>
          <a:bodyPr/>
          <a:lstStyle/>
          <a:p>
            <a:pPr marL="0" indent="0">
              <a:buNone/>
            </a:pPr>
            <a:r>
              <a:rPr lang="en-US" dirty="0"/>
              <a:t>CREATE TABLE CUSTOMERS (</a:t>
            </a:r>
          </a:p>
          <a:p>
            <a:pPr marL="0" indent="0">
              <a:buNone/>
            </a:pPr>
            <a:r>
              <a:rPr lang="en-US" dirty="0"/>
              <a:t>    name text,</a:t>
            </a:r>
          </a:p>
          <a:p>
            <a:pPr marL="0" indent="0">
              <a:buNone/>
            </a:pPr>
            <a:r>
              <a:rPr lang="en-US" dirty="0"/>
              <a:t>    age int,</a:t>
            </a:r>
          </a:p>
          <a:p>
            <a:pPr marL="0" indent="0">
              <a:buNone/>
            </a:pPr>
            <a:r>
              <a:rPr lang="en-US" dirty="0"/>
              <a:t>    address text</a:t>
            </a:r>
          </a:p>
          <a:p>
            <a:pPr marL="0" indent="0">
              <a:buNone/>
            </a:pPr>
            <a:r>
              <a:rPr lang="en-US" dirty="0"/>
              <a:t>);</a:t>
            </a:r>
          </a:p>
          <a:p>
            <a:pPr marL="0" indent="0">
              <a:buNone/>
            </a:pPr>
            <a:r>
              <a:rPr lang="en-US" dirty="0"/>
              <a:t> </a:t>
            </a:r>
          </a:p>
          <a:p>
            <a:pPr marL="0" indent="0">
              <a:buNone/>
            </a:pPr>
            <a:r>
              <a:rPr lang="en-US" dirty="0"/>
              <a:t>CREATE TABLE OFFICE_CUSTOMERS(</a:t>
            </a:r>
          </a:p>
          <a:p>
            <a:pPr marL="0" indent="0">
              <a:buNone/>
            </a:pPr>
            <a:r>
              <a:rPr lang="en-US" dirty="0"/>
              <a:t>    </a:t>
            </a:r>
            <a:r>
              <a:rPr lang="en-US" dirty="0" err="1"/>
              <a:t>office_address</a:t>
            </a:r>
            <a:r>
              <a:rPr lang="en-US" dirty="0"/>
              <a:t> text</a:t>
            </a:r>
          </a:p>
          <a:p>
            <a:pPr marL="0" indent="0">
              <a:buNone/>
            </a:pPr>
            <a:r>
              <a:rPr lang="en-US" dirty="0"/>
              <a:t>) INHERITS (customers)</a:t>
            </a:r>
            <a:endParaRPr lang="en-IN" dirty="0"/>
          </a:p>
        </p:txBody>
      </p:sp>
      <p:sp>
        <p:nvSpPr>
          <p:cNvPr id="3" name="Title 2">
            <a:extLst>
              <a:ext uri="{FF2B5EF4-FFF2-40B4-BE49-F238E27FC236}">
                <a16:creationId xmlns:a16="http://schemas.microsoft.com/office/drawing/2014/main" id="{4F185E22-DF0E-F5DF-F3F9-E1D845EB8327}"/>
              </a:ext>
            </a:extLst>
          </p:cNvPr>
          <p:cNvSpPr>
            <a:spLocks noGrp="1"/>
          </p:cNvSpPr>
          <p:nvPr>
            <p:ph type="title"/>
          </p:nvPr>
        </p:nvSpPr>
        <p:spPr/>
        <p:txBody>
          <a:bodyPr/>
          <a:lstStyle/>
          <a:p>
            <a:r>
              <a:rPr lang="en-IN" dirty="0"/>
              <a:t>Inheritance</a:t>
            </a:r>
          </a:p>
        </p:txBody>
      </p:sp>
    </p:spTree>
    <p:extLst>
      <p:ext uri="{BB962C8B-B14F-4D97-AF65-F5344CB8AC3E}">
        <p14:creationId xmlns:p14="http://schemas.microsoft.com/office/powerpoint/2010/main" val="3870403034"/>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202DC5-5BD3-0BA1-E3B8-99CABFE72E3A}"/>
              </a:ext>
            </a:extLst>
          </p:cNvPr>
          <p:cNvSpPr>
            <a:spLocks noGrp="1"/>
          </p:cNvSpPr>
          <p:nvPr>
            <p:ph sz="quarter" idx="12"/>
          </p:nvPr>
        </p:nvSpPr>
        <p:spPr/>
        <p:txBody>
          <a:bodyPr/>
          <a:lstStyle/>
          <a:p>
            <a:pPr marL="0" indent="0">
              <a:buNone/>
            </a:pPr>
            <a:r>
              <a:rPr lang="en-US" dirty="0"/>
              <a:t>INSERT INTO CUSTOMERS VALUES('ravi','32','32, head street');</a:t>
            </a:r>
          </a:p>
          <a:p>
            <a:pPr marL="0" indent="0">
              <a:buNone/>
            </a:pPr>
            <a:r>
              <a:rPr lang="en-US" dirty="0"/>
              <a:t>INSERT INTO CUSTOMERS VALUES('michael','35','56, </a:t>
            </a:r>
            <a:r>
              <a:rPr lang="en-US" dirty="0" err="1"/>
              <a:t>gotham</a:t>
            </a:r>
            <a:r>
              <a:rPr lang="en-US" dirty="0"/>
              <a:t> street');</a:t>
            </a:r>
          </a:p>
          <a:p>
            <a:pPr marL="0" indent="0">
              <a:buNone/>
            </a:pPr>
            <a:r>
              <a:rPr lang="en-US" dirty="0"/>
              <a:t>INSERT INTO OFFICE_CUSTOMERS VALUES('bane','28','56, </a:t>
            </a:r>
            <a:r>
              <a:rPr lang="en-US" dirty="0" err="1"/>
              <a:t>circadia</a:t>
            </a:r>
            <a:r>
              <a:rPr lang="en-US" dirty="0"/>
              <a:t> street','92 </a:t>
            </a:r>
            <a:r>
              <a:rPr lang="en-US" dirty="0" err="1"/>
              <a:t>homebush</a:t>
            </a:r>
            <a:r>
              <a:rPr lang="en-US" dirty="0"/>
              <a:t>');</a:t>
            </a:r>
            <a:endParaRPr lang="en-IN" dirty="0"/>
          </a:p>
        </p:txBody>
      </p:sp>
      <p:sp>
        <p:nvSpPr>
          <p:cNvPr id="3" name="Title 2">
            <a:extLst>
              <a:ext uri="{FF2B5EF4-FFF2-40B4-BE49-F238E27FC236}">
                <a16:creationId xmlns:a16="http://schemas.microsoft.com/office/drawing/2014/main" id="{4F185E22-DF0E-F5DF-F3F9-E1D845EB8327}"/>
              </a:ext>
            </a:extLst>
          </p:cNvPr>
          <p:cNvSpPr>
            <a:spLocks noGrp="1"/>
          </p:cNvSpPr>
          <p:nvPr>
            <p:ph type="title"/>
          </p:nvPr>
        </p:nvSpPr>
        <p:spPr/>
        <p:txBody>
          <a:bodyPr/>
          <a:lstStyle/>
          <a:p>
            <a:r>
              <a:rPr lang="en-IN" dirty="0"/>
              <a:t>Inheritance</a:t>
            </a:r>
          </a:p>
        </p:txBody>
      </p:sp>
    </p:spTree>
    <p:extLst>
      <p:ext uri="{BB962C8B-B14F-4D97-AF65-F5344CB8AC3E}">
        <p14:creationId xmlns:p14="http://schemas.microsoft.com/office/powerpoint/2010/main" val="310442352"/>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7113B5-2957-9041-4DA3-9ABDA141EB7C}"/>
              </a:ext>
            </a:extLst>
          </p:cNvPr>
          <p:cNvSpPr>
            <a:spLocks noGrp="1"/>
          </p:cNvSpPr>
          <p:nvPr>
            <p:ph sz="quarter" idx="12"/>
          </p:nvPr>
        </p:nvSpPr>
        <p:spPr/>
        <p:txBody>
          <a:bodyPr/>
          <a:lstStyle/>
          <a:p>
            <a:pPr marL="0" indent="0">
              <a:buNone/>
            </a:pPr>
            <a:r>
              <a:rPr lang="en-US" dirty="0"/>
              <a:t>CREATE TABLE customer (</a:t>
            </a:r>
          </a:p>
          <a:p>
            <a:pPr marL="0" indent="0">
              <a:buNone/>
            </a:pPr>
            <a:r>
              <a:rPr lang="en-US" dirty="0"/>
              <a:t>   name            text,</a:t>
            </a:r>
          </a:p>
          <a:p>
            <a:pPr marL="0" indent="0">
              <a:buNone/>
            </a:pPr>
            <a:r>
              <a:rPr lang="en-US" dirty="0"/>
              <a:t>   Address         text,</a:t>
            </a:r>
          </a:p>
          <a:p>
            <a:pPr marL="0" indent="0">
              <a:buNone/>
            </a:pPr>
            <a:r>
              <a:rPr lang="en-US" dirty="0"/>
              <a:t>   </a:t>
            </a:r>
            <a:r>
              <a:rPr lang="en-US" dirty="0" err="1"/>
              <a:t>payment_schedule</a:t>
            </a:r>
            <a:r>
              <a:rPr lang="en-US" dirty="0"/>
              <a:t>  integer[],</a:t>
            </a:r>
          </a:p>
          <a:p>
            <a:pPr marL="0" indent="0">
              <a:buNone/>
            </a:pPr>
            <a:r>
              <a:rPr lang="en-US" dirty="0"/>
              <a:t>   );</a:t>
            </a:r>
            <a:endParaRPr lang="en-IN" dirty="0"/>
          </a:p>
        </p:txBody>
      </p:sp>
      <p:sp>
        <p:nvSpPr>
          <p:cNvPr id="3" name="Title 2">
            <a:extLst>
              <a:ext uri="{FF2B5EF4-FFF2-40B4-BE49-F238E27FC236}">
                <a16:creationId xmlns:a16="http://schemas.microsoft.com/office/drawing/2014/main" id="{ED1DC5F0-97FA-9C67-C9B0-64C3B7CA99CA}"/>
              </a:ext>
            </a:extLst>
          </p:cNvPr>
          <p:cNvSpPr>
            <a:spLocks noGrp="1"/>
          </p:cNvSpPr>
          <p:nvPr>
            <p:ph type="title"/>
          </p:nvPr>
        </p:nvSpPr>
        <p:spPr/>
        <p:txBody>
          <a:bodyPr/>
          <a:lstStyle/>
          <a:p>
            <a:r>
              <a:rPr lang="en-IN" dirty="0"/>
              <a:t>Non Atomic Columns</a:t>
            </a:r>
          </a:p>
        </p:txBody>
      </p:sp>
    </p:spTree>
    <p:extLst>
      <p:ext uri="{BB962C8B-B14F-4D97-AF65-F5344CB8AC3E}">
        <p14:creationId xmlns:p14="http://schemas.microsoft.com/office/powerpoint/2010/main" val="3567079996"/>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7113B5-2957-9041-4DA3-9ABDA141EB7C}"/>
              </a:ext>
            </a:extLst>
          </p:cNvPr>
          <p:cNvSpPr>
            <a:spLocks noGrp="1"/>
          </p:cNvSpPr>
          <p:nvPr>
            <p:ph sz="quarter" idx="12"/>
          </p:nvPr>
        </p:nvSpPr>
        <p:spPr/>
        <p:txBody>
          <a:bodyPr>
            <a:normAutofit fontScale="92500" lnSpcReduction="10000"/>
          </a:bodyPr>
          <a:lstStyle/>
          <a:p>
            <a:pPr marL="0" indent="0">
              <a:buNone/>
            </a:pPr>
            <a:r>
              <a:rPr lang="en-US" dirty="0"/>
              <a:t>INSERT INTO CUSTOMER_SCHEDULE VALUES( 'jack',</a:t>
            </a:r>
          </a:p>
          <a:p>
            <a:pPr marL="0" indent="0">
              <a:buNone/>
            </a:pPr>
            <a:r>
              <a:rPr lang="en-US" dirty="0"/>
              <a:t>'Athens, </a:t>
            </a:r>
            <a:r>
              <a:rPr lang="en-US" dirty="0" err="1"/>
              <a:t>Colarado</a:t>
            </a:r>
            <a:r>
              <a:rPr lang="en-US" dirty="0"/>
              <a:t>',</a:t>
            </a:r>
          </a:p>
          <a:p>
            <a:pPr marL="0" indent="0">
              <a:buNone/>
            </a:pPr>
            <a:r>
              <a:rPr lang="en-US" dirty="0"/>
              <a:t>'{1,2,3,4}'</a:t>
            </a:r>
          </a:p>
          <a:p>
            <a:pPr marL="0" indent="0">
              <a:buNone/>
            </a:pPr>
            <a:r>
              <a:rPr lang="en-US" dirty="0"/>
              <a:t>)</a:t>
            </a:r>
          </a:p>
          <a:p>
            <a:pPr marL="0" indent="0">
              <a:buNone/>
            </a:pPr>
            <a:r>
              <a:rPr lang="en-US" dirty="0"/>
              <a:t> </a:t>
            </a:r>
          </a:p>
          <a:p>
            <a:pPr marL="0" indent="0">
              <a:buNone/>
            </a:pPr>
            <a:r>
              <a:rPr lang="en-US" dirty="0"/>
              <a:t>INSERT INTO CUSTOMER_SCHEDULE VALUES( '</a:t>
            </a:r>
            <a:r>
              <a:rPr lang="en-US" dirty="0" err="1"/>
              <a:t>jackson</a:t>
            </a:r>
            <a:r>
              <a:rPr lang="en-US" dirty="0"/>
              <a:t>',</a:t>
            </a:r>
          </a:p>
          <a:p>
            <a:pPr marL="0" indent="0">
              <a:buNone/>
            </a:pPr>
            <a:r>
              <a:rPr lang="en-US" dirty="0"/>
              <a:t>'</a:t>
            </a:r>
            <a:r>
              <a:rPr lang="en-US" dirty="0" err="1"/>
              <a:t>Tennessey</a:t>
            </a:r>
            <a:r>
              <a:rPr lang="en-US" dirty="0"/>
              <a:t>, </a:t>
            </a:r>
            <a:r>
              <a:rPr lang="en-US" dirty="0" err="1"/>
              <a:t>greece</a:t>
            </a:r>
            <a:r>
              <a:rPr lang="en-US" dirty="0"/>
              <a:t>',</a:t>
            </a:r>
          </a:p>
          <a:p>
            <a:pPr marL="0" indent="0">
              <a:buNone/>
            </a:pPr>
            <a:r>
              <a:rPr lang="en-US" dirty="0"/>
              <a:t>'{1,7,3,4}'</a:t>
            </a:r>
          </a:p>
          <a:p>
            <a:pPr marL="0" indent="0">
              <a:buNone/>
            </a:pPr>
            <a:r>
              <a:rPr lang="en-US" dirty="0"/>
              <a:t>)</a:t>
            </a:r>
            <a:endParaRPr lang="en-IN" dirty="0"/>
          </a:p>
        </p:txBody>
      </p:sp>
      <p:sp>
        <p:nvSpPr>
          <p:cNvPr id="3" name="Title 2">
            <a:extLst>
              <a:ext uri="{FF2B5EF4-FFF2-40B4-BE49-F238E27FC236}">
                <a16:creationId xmlns:a16="http://schemas.microsoft.com/office/drawing/2014/main" id="{ED1DC5F0-97FA-9C67-C9B0-64C3B7CA99CA}"/>
              </a:ext>
            </a:extLst>
          </p:cNvPr>
          <p:cNvSpPr>
            <a:spLocks noGrp="1"/>
          </p:cNvSpPr>
          <p:nvPr>
            <p:ph type="title"/>
          </p:nvPr>
        </p:nvSpPr>
        <p:spPr/>
        <p:txBody>
          <a:bodyPr/>
          <a:lstStyle/>
          <a:p>
            <a:r>
              <a:rPr lang="en-IN" dirty="0"/>
              <a:t>Non Atomic Columns</a:t>
            </a:r>
          </a:p>
        </p:txBody>
      </p:sp>
    </p:spTree>
    <p:extLst>
      <p:ext uri="{BB962C8B-B14F-4D97-AF65-F5344CB8AC3E}">
        <p14:creationId xmlns:p14="http://schemas.microsoft.com/office/powerpoint/2010/main" val="1895048706"/>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7113B5-2957-9041-4DA3-9ABDA141EB7C}"/>
              </a:ext>
            </a:extLst>
          </p:cNvPr>
          <p:cNvSpPr>
            <a:spLocks noGrp="1"/>
          </p:cNvSpPr>
          <p:nvPr>
            <p:ph sz="quarter" idx="12"/>
          </p:nvPr>
        </p:nvSpPr>
        <p:spPr/>
        <p:txBody>
          <a:bodyPr>
            <a:normAutofit/>
          </a:bodyPr>
          <a:lstStyle/>
          <a:p>
            <a:pPr marL="0" indent="0">
              <a:buNone/>
            </a:pPr>
            <a:r>
              <a:rPr lang="en-US" dirty="0"/>
              <a:t>SELECT * FROM CUSTOMER_SCHEDULE WHERE</a:t>
            </a:r>
          </a:p>
          <a:p>
            <a:pPr marL="0" indent="0">
              <a:buNone/>
            </a:pPr>
            <a:r>
              <a:rPr lang="en-US" dirty="0" err="1"/>
              <a:t>CUSTOMER_SCHEDULE.payment_schedule</a:t>
            </a:r>
            <a:r>
              <a:rPr lang="en-US" dirty="0"/>
              <a:t>[1] &lt;&gt; </a:t>
            </a:r>
            <a:r>
              <a:rPr lang="en-US" dirty="0" err="1"/>
              <a:t>CUSTOMER_SCHEDULE.payment_schedule</a:t>
            </a:r>
            <a:r>
              <a:rPr lang="en-US" dirty="0"/>
              <a:t>[2];</a:t>
            </a:r>
          </a:p>
          <a:p>
            <a:pPr marL="0" indent="0">
              <a:buNone/>
            </a:pPr>
            <a:endParaRPr lang="en-IN" dirty="0"/>
          </a:p>
        </p:txBody>
      </p:sp>
      <p:sp>
        <p:nvSpPr>
          <p:cNvPr id="3" name="Title 2">
            <a:extLst>
              <a:ext uri="{FF2B5EF4-FFF2-40B4-BE49-F238E27FC236}">
                <a16:creationId xmlns:a16="http://schemas.microsoft.com/office/drawing/2014/main" id="{ED1DC5F0-97FA-9C67-C9B0-64C3B7CA99CA}"/>
              </a:ext>
            </a:extLst>
          </p:cNvPr>
          <p:cNvSpPr>
            <a:spLocks noGrp="1"/>
          </p:cNvSpPr>
          <p:nvPr>
            <p:ph type="title"/>
          </p:nvPr>
        </p:nvSpPr>
        <p:spPr/>
        <p:txBody>
          <a:bodyPr/>
          <a:lstStyle/>
          <a:p>
            <a:r>
              <a:rPr lang="en-IN" dirty="0"/>
              <a:t>Non Atomic Columns</a:t>
            </a:r>
          </a:p>
        </p:txBody>
      </p:sp>
    </p:spTree>
    <p:extLst>
      <p:ext uri="{BB962C8B-B14F-4D97-AF65-F5344CB8AC3E}">
        <p14:creationId xmlns:p14="http://schemas.microsoft.com/office/powerpoint/2010/main" val="1580751556"/>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92AC35-4807-2ED7-F540-7EA6E3E4665C}"/>
              </a:ext>
            </a:extLst>
          </p:cNvPr>
          <p:cNvSpPr>
            <a:spLocks noGrp="1"/>
          </p:cNvSpPr>
          <p:nvPr>
            <p:ph sz="quarter" idx="12"/>
          </p:nvPr>
        </p:nvSpPr>
        <p:spPr/>
        <p:txBody>
          <a:bodyPr/>
          <a:lstStyle/>
          <a:p>
            <a:r>
              <a:rPr lang="en-IN" dirty="0"/>
              <a:t> .\initdb.exe -D e:/PostgreSQL/14/data</a:t>
            </a:r>
          </a:p>
          <a:p>
            <a:endParaRPr lang="en-IN" dirty="0"/>
          </a:p>
          <a:p>
            <a:r>
              <a:rPr lang="en-IN" dirty="0"/>
              <a:t>Change the server port in data folder config file</a:t>
            </a:r>
          </a:p>
          <a:p>
            <a:r>
              <a:rPr lang="en-IN" dirty="0"/>
              <a:t>.\pg_ctl.exe start -D e:\PostgreSQL\14\data</a:t>
            </a:r>
          </a:p>
          <a:p>
            <a:r>
              <a:rPr lang="en-IN" dirty="0"/>
              <a:t>Server started</a:t>
            </a:r>
          </a:p>
          <a:p>
            <a:endParaRPr lang="en-IN" dirty="0"/>
          </a:p>
          <a:p>
            <a:r>
              <a:rPr lang="pt-BR"/>
              <a:t>psql -h localhost -d postgres  -p 5436 -W</a:t>
            </a:r>
            <a:endParaRPr lang="en-IN" dirty="0"/>
          </a:p>
        </p:txBody>
      </p:sp>
      <p:sp>
        <p:nvSpPr>
          <p:cNvPr id="3" name="Title 2">
            <a:extLst>
              <a:ext uri="{FF2B5EF4-FFF2-40B4-BE49-F238E27FC236}">
                <a16:creationId xmlns:a16="http://schemas.microsoft.com/office/drawing/2014/main" id="{F2E4EF44-DAFD-AF7B-A802-97F94C7FF498}"/>
              </a:ext>
            </a:extLst>
          </p:cNvPr>
          <p:cNvSpPr>
            <a:spLocks noGrp="1"/>
          </p:cNvSpPr>
          <p:nvPr>
            <p:ph type="title"/>
          </p:nvPr>
        </p:nvSpPr>
        <p:spPr/>
        <p:txBody>
          <a:bodyPr/>
          <a:lstStyle/>
          <a:p>
            <a:r>
              <a:rPr lang="en-IN" dirty="0"/>
              <a:t>Postgres Cluster</a:t>
            </a:r>
          </a:p>
        </p:txBody>
      </p:sp>
    </p:spTree>
    <p:extLst>
      <p:ext uri="{BB962C8B-B14F-4D97-AF65-F5344CB8AC3E}">
        <p14:creationId xmlns:p14="http://schemas.microsoft.com/office/powerpoint/2010/main" val="209931082"/>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92AC35-4807-2ED7-F540-7EA6E3E4665C}"/>
              </a:ext>
            </a:extLst>
          </p:cNvPr>
          <p:cNvSpPr>
            <a:spLocks noGrp="1"/>
          </p:cNvSpPr>
          <p:nvPr>
            <p:ph sz="quarter" idx="12"/>
          </p:nvPr>
        </p:nvSpPr>
        <p:spPr/>
        <p:txBody>
          <a:bodyPr>
            <a:normAutofit fontScale="85000" lnSpcReduction="20000"/>
          </a:bodyPr>
          <a:lstStyle/>
          <a:p>
            <a:r>
              <a:rPr lang="en-IN" dirty="0"/>
              <a:t>#5432</a:t>
            </a:r>
          </a:p>
          <a:p>
            <a:r>
              <a:rPr lang="en-IN" dirty="0"/>
              <a:t>CREATE TABLE </a:t>
            </a:r>
            <a:r>
              <a:rPr lang="en-IN" dirty="0" err="1"/>
              <a:t>LogicalReplicationTest</a:t>
            </a:r>
            <a:r>
              <a:rPr lang="en-IN" dirty="0"/>
              <a:t> (id int PRIMARY KEY);</a:t>
            </a:r>
          </a:p>
          <a:p>
            <a:r>
              <a:rPr lang="en-IN" dirty="0"/>
              <a:t>INSERT INTO </a:t>
            </a:r>
            <a:r>
              <a:rPr lang="en-IN" dirty="0" err="1"/>
              <a:t>LogicalReplicationTest</a:t>
            </a:r>
            <a:r>
              <a:rPr lang="en-IN" dirty="0"/>
              <a:t> VALUES (</a:t>
            </a:r>
            <a:r>
              <a:rPr lang="en-IN" dirty="0" err="1"/>
              <a:t>generate_series</a:t>
            </a:r>
            <a:r>
              <a:rPr lang="en-IN" dirty="0"/>
              <a:t>(1,10000));</a:t>
            </a:r>
          </a:p>
          <a:p>
            <a:r>
              <a:rPr lang="en-IN" dirty="0"/>
              <a:t>SELECT count(*) FROM </a:t>
            </a:r>
            <a:r>
              <a:rPr lang="en-IN" dirty="0" err="1"/>
              <a:t>LogicalReplicationTest</a:t>
            </a:r>
            <a:r>
              <a:rPr lang="en-IN" dirty="0"/>
              <a:t>;</a:t>
            </a:r>
          </a:p>
          <a:p>
            <a:r>
              <a:rPr lang="en-IN" dirty="0"/>
              <a:t>CREATE PUBLICATION </a:t>
            </a:r>
            <a:r>
              <a:rPr lang="en-IN" dirty="0" err="1"/>
              <a:t>testpub</a:t>
            </a:r>
            <a:r>
              <a:rPr lang="en-IN" dirty="0"/>
              <a:t> FOR TABLE </a:t>
            </a:r>
            <a:r>
              <a:rPr lang="en-IN" dirty="0" err="1"/>
              <a:t>LogicalReplicationTest</a:t>
            </a:r>
            <a:r>
              <a:rPr lang="en-IN" dirty="0"/>
              <a:t>;</a:t>
            </a:r>
          </a:p>
          <a:p>
            <a:endParaRPr lang="en-IN" dirty="0"/>
          </a:p>
          <a:p>
            <a:r>
              <a:rPr lang="en-IN" dirty="0"/>
              <a:t>#5436</a:t>
            </a:r>
          </a:p>
          <a:p>
            <a:r>
              <a:rPr lang="en-IN" dirty="0"/>
              <a:t>CREATE TABLE </a:t>
            </a:r>
            <a:r>
              <a:rPr lang="en-IN" dirty="0" err="1"/>
              <a:t>LogicalReplicationTest</a:t>
            </a:r>
            <a:r>
              <a:rPr lang="en-IN" dirty="0"/>
              <a:t> (id int PRIMARY KEY);</a:t>
            </a:r>
          </a:p>
          <a:p>
            <a:r>
              <a:rPr lang="en-IN" dirty="0"/>
              <a:t>CREATE SUBSCRIPTION </a:t>
            </a:r>
            <a:r>
              <a:rPr lang="en-IN" dirty="0" err="1"/>
              <a:t>testsub</a:t>
            </a:r>
            <a:r>
              <a:rPr lang="en-IN" dirty="0"/>
              <a:t> CONNECTION 'host=localhost port=5432 user=</a:t>
            </a:r>
            <a:r>
              <a:rPr lang="en-IN" dirty="0" err="1"/>
              <a:t>postgres</a:t>
            </a:r>
            <a:r>
              <a:rPr lang="en-IN" dirty="0"/>
              <a:t> password=</a:t>
            </a:r>
            <a:r>
              <a:rPr lang="en-IN" dirty="0" err="1"/>
              <a:t>vignesh</a:t>
            </a:r>
            <a:r>
              <a:rPr lang="en-IN" dirty="0"/>
              <a:t> </a:t>
            </a:r>
            <a:r>
              <a:rPr lang="en-IN" dirty="0" err="1"/>
              <a:t>dbname</a:t>
            </a:r>
            <a:r>
              <a:rPr lang="en-IN" dirty="0"/>
              <a:t>=</a:t>
            </a:r>
            <a:r>
              <a:rPr lang="en-IN" dirty="0" err="1"/>
              <a:t>testdb</a:t>
            </a:r>
            <a:r>
              <a:rPr lang="en-IN" dirty="0"/>
              <a:t>' PUBLICATION </a:t>
            </a:r>
            <a:r>
              <a:rPr lang="en-IN" dirty="0" err="1"/>
              <a:t>testpub</a:t>
            </a:r>
            <a:r>
              <a:rPr lang="en-IN" dirty="0"/>
              <a:t>;</a:t>
            </a:r>
          </a:p>
        </p:txBody>
      </p:sp>
      <p:sp>
        <p:nvSpPr>
          <p:cNvPr id="3" name="Title 2">
            <a:extLst>
              <a:ext uri="{FF2B5EF4-FFF2-40B4-BE49-F238E27FC236}">
                <a16:creationId xmlns:a16="http://schemas.microsoft.com/office/drawing/2014/main" id="{F2E4EF44-DAFD-AF7B-A802-97F94C7FF498}"/>
              </a:ext>
            </a:extLst>
          </p:cNvPr>
          <p:cNvSpPr>
            <a:spLocks noGrp="1"/>
          </p:cNvSpPr>
          <p:nvPr>
            <p:ph type="title"/>
          </p:nvPr>
        </p:nvSpPr>
        <p:spPr/>
        <p:txBody>
          <a:bodyPr/>
          <a:lstStyle/>
          <a:p>
            <a:r>
              <a:rPr lang="en-IN" dirty="0"/>
              <a:t>Postgres Replication</a:t>
            </a:r>
          </a:p>
        </p:txBody>
      </p:sp>
    </p:spTree>
    <p:extLst>
      <p:ext uri="{BB962C8B-B14F-4D97-AF65-F5344CB8AC3E}">
        <p14:creationId xmlns:p14="http://schemas.microsoft.com/office/powerpoint/2010/main" val="1497191373"/>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15AD86F-E8DE-2FDE-D2D9-A0A026DC6E34}"/>
              </a:ext>
            </a:extLst>
          </p:cNvPr>
          <p:cNvSpPr>
            <a:spLocks noGrp="1"/>
          </p:cNvSpPr>
          <p:nvPr>
            <p:ph type="title"/>
          </p:nvPr>
        </p:nvSpPr>
        <p:spPr/>
        <p:txBody>
          <a:bodyPr/>
          <a:lstStyle/>
          <a:p>
            <a:r>
              <a:rPr lang="en-IN" dirty="0"/>
              <a:t>Basic Transaction Syntax:</a:t>
            </a:r>
          </a:p>
        </p:txBody>
      </p:sp>
      <p:sp>
        <p:nvSpPr>
          <p:cNvPr id="5" name="TextBox 4">
            <a:extLst>
              <a:ext uri="{FF2B5EF4-FFF2-40B4-BE49-F238E27FC236}">
                <a16:creationId xmlns:a16="http://schemas.microsoft.com/office/drawing/2014/main" id="{D9646047-3BFA-4E29-A359-4DFD81C12F37}"/>
              </a:ext>
            </a:extLst>
          </p:cNvPr>
          <p:cNvSpPr txBox="1"/>
          <p:nvPr/>
        </p:nvSpPr>
        <p:spPr>
          <a:xfrm>
            <a:off x="1183908" y="1633963"/>
            <a:ext cx="6314172" cy="1477328"/>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spAutoFit/>
          </a:bodyPr>
          <a:lstStyle/>
          <a:p>
            <a:r>
              <a:rPr lang="en-US" dirty="0"/>
              <a:t>BEGIN;</a:t>
            </a:r>
          </a:p>
          <a:p>
            <a:r>
              <a:rPr lang="en-US" dirty="0"/>
              <a:t>-- SQL operations</a:t>
            </a:r>
          </a:p>
          <a:p>
            <a:r>
              <a:rPr lang="en-US" dirty="0"/>
              <a:t>COMMIT;     -- Save changes</a:t>
            </a:r>
          </a:p>
          <a:p>
            <a:r>
              <a:rPr lang="en-US" dirty="0"/>
              <a:t>-- or</a:t>
            </a:r>
          </a:p>
          <a:p>
            <a:r>
              <a:rPr lang="en-US" dirty="0"/>
              <a:t>ROLLBACK;   -- Undo changes</a:t>
            </a:r>
          </a:p>
        </p:txBody>
      </p:sp>
      <p:sp>
        <p:nvSpPr>
          <p:cNvPr id="7" name="TextBox 6">
            <a:extLst>
              <a:ext uri="{FF2B5EF4-FFF2-40B4-BE49-F238E27FC236}">
                <a16:creationId xmlns:a16="http://schemas.microsoft.com/office/drawing/2014/main" id="{197E1DB2-AD1B-8625-B820-E08675587436}"/>
              </a:ext>
            </a:extLst>
          </p:cNvPr>
          <p:cNvSpPr txBox="1"/>
          <p:nvPr/>
        </p:nvSpPr>
        <p:spPr>
          <a:xfrm>
            <a:off x="1183908" y="3469711"/>
            <a:ext cx="7382576" cy="1754326"/>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spAutoFit/>
          </a:bodyPr>
          <a:lstStyle/>
          <a:p>
            <a:r>
              <a:rPr lang="en-US" dirty="0"/>
              <a:t>BEGIN;</a:t>
            </a:r>
          </a:p>
          <a:p>
            <a:endParaRPr lang="en-US" dirty="0"/>
          </a:p>
          <a:p>
            <a:r>
              <a:rPr lang="en-US" dirty="0"/>
              <a:t>UPDATE accounts SET balance = balance - 100 WHERE id = 1;</a:t>
            </a:r>
          </a:p>
          <a:p>
            <a:r>
              <a:rPr lang="en-US" dirty="0"/>
              <a:t>UPDATE accounts SET balance = balance + 100 WHERE id = 2;</a:t>
            </a:r>
          </a:p>
          <a:p>
            <a:endParaRPr lang="en-US" dirty="0"/>
          </a:p>
          <a:p>
            <a:r>
              <a:rPr lang="en-US" dirty="0"/>
              <a:t>COMMIT;</a:t>
            </a:r>
          </a:p>
        </p:txBody>
      </p:sp>
    </p:spTree>
    <p:extLst>
      <p:ext uri="{BB962C8B-B14F-4D97-AF65-F5344CB8AC3E}">
        <p14:creationId xmlns:p14="http://schemas.microsoft.com/office/powerpoint/2010/main" val="2843907551"/>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B7D42-0144-B324-9075-4E3CB3D01F7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56DB509-5803-8AC2-059C-FA517F9BAA34}"/>
              </a:ext>
            </a:extLst>
          </p:cNvPr>
          <p:cNvSpPr>
            <a:spLocks noGrp="1"/>
          </p:cNvSpPr>
          <p:nvPr>
            <p:ph type="title"/>
          </p:nvPr>
        </p:nvSpPr>
        <p:spPr/>
        <p:txBody>
          <a:bodyPr/>
          <a:lstStyle/>
          <a:p>
            <a:r>
              <a:rPr lang="en-IN" dirty="0"/>
              <a:t>Basic Transaction Syntax:</a:t>
            </a:r>
          </a:p>
        </p:txBody>
      </p:sp>
      <p:sp>
        <p:nvSpPr>
          <p:cNvPr id="4" name="TextBox 3">
            <a:extLst>
              <a:ext uri="{FF2B5EF4-FFF2-40B4-BE49-F238E27FC236}">
                <a16:creationId xmlns:a16="http://schemas.microsoft.com/office/drawing/2014/main" id="{623D1C1C-B453-C656-B411-D928DAEE413F}"/>
              </a:ext>
            </a:extLst>
          </p:cNvPr>
          <p:cNvSpPr txBox="1"/>
          <p:nvPr/>
        </p:nvSpPr>
        <p:spPr>
          <a:xfrm>
            <a:off x="952900" y="1700052"/>
            <a:ext cx="7713395" cy="2031325"/>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BEGIN;</a:t>
            </a:r>
          </a:p>
          <a:p>
            <a:endParaRPr lang="en-US" dirty="0"/>
          </a:p>
          <a:p>
            <a:r>
              <a:rPr lang="en-US" dirty="0"/>
              <a:t>UPDATE products SET stock = stock - 5 WHERE id = 100;</a:t>
            </a:r>
          </a:p>
          <a:p>
            <a:r>
              <a:rPr lang="en-US" dirty="0"/>
              <a:t>-- Oops: this fails due to constraint</a:t>
            </a:r>
          </a:p>
          <a:p>
            <a:r>
              <a:rPr lang="en-US" dirty="0"/>
              <a:t>INSERT INTO logs VALUES (NULL, 'bad insert');</a:t>
            </a:r>
          </a:p>
          <a:p>
            <a:endParaRPr lang="en-US" dirty="0"/>
          </a:p>
          <a:p>
            <a:r>
              <a:rPr lang="en-US" dirty="0"/>
              <a:t>ROLLBACK;  -- Reverts the stock update too</a:t>
            </a:r>
          </a:p>
        </p:txBody>
      </p:sp>
    </p:spTree>
    <p:extLst>
      <p:ext uri="{BB962C8B-B14F-4D97-AF65-F5344CB8AC3E}">
        <p14:creationId xmlns:p14="http://schemas.microsoft.com/office/powerpoint/2010/main" val="2296079484"/>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300D56-1B08-83DC-BC86-4A864E3D5E9B}"/>
              </a:ext>
            </a:extLst>
          </p:cNvPr>
          <p:cNvSpPr>
            <a:spLocks noGrp="1"/>
          </p:cNvSpPr>
          <p:nvPr>
            <p:ph type="title"/>
          </p:nvPr>
        </p:nvSpPr>
        <p:spPr/>
        <p:txBody>
          <a:bodyPr/>
          <a:lstStyle/>
          <a:p>
            <a:r>
              <a:rPr lang="en-IN" dirty="0"/>
              <a:t>Transaction Control Summary</a:t>
            </a:r>
          </a:p>
        </p:txBody>
      </p:sp>
      <p:graphicFrame>
        <p:nvGraphicFramePr>
          <p:cNvPr id="4" name="Table 3">
            <a:extLst>
              <a:ext uri="{FF2B5EF4-FFF2-40B4-BE49-F238E27FC236}">
                <a16:creationId xmlns:a16="http://schemas.microsoft.com/office/drawing/2014/main" id="{C909CF6B-6DF9-EBF5-6200-B862CB150951}"/>
              </a:ext>
            </a:extLst>
          </p:cNvPr>
          <p:cNvGraphicFramePr>
            <a:graphicFrameLocks noGrp="1"/>
          </p:cNvGraphicFramePr>
          <p:nvPr/>
        </p:nvGraphicFramePr>
        <p:xfrm>
          <a:off x="461035" y="2331720"/>
          <a:ext cx="8228012" cy="2194560"/>
        </p:xfrm>
        <a:graphic>
          <a:graphicData uri="http://schemas.openxmlformats.org/drawingml/2006/table">
            <a:tbl>
              <a:tblPr>
                <a:tableStyleId>{3C2FFA5D-87B4-456A-9821-1D502468CF0F}</a:tableStyleId>
              </a:tblPr>
              <a:tblGrid>
                <a:gridCol w="3841458">
                  <a:extLst>
                    <a:ext uri="{9D8B030D-6E8A-4147-A177-3AD203B41FA5}">
                      <a16:colId xmlns:a16="http://schemas.microsoft.com/office/drawing/2014/main" val="2023365266"/>
                    </a:ext>
                  </a:extLst>
                </a:gridCol>
                <a:gridCol w="4386554">
                  <a:extLst>
                    <a:ext uri="{9D8B030D-6E8A-4147-A177-3AD203B41FA5}">
                      <a16:colId xmlns:a16="http://schemas.microsoft.com/office/drawing/2014/main" val="1171573231"/>
                    </a:ext>
                  </a:extLst>
                </a:gridCol>
              </a:tblGrid>
              <a:tr h="365760">
                <a:tc>
                  <a:txBody>
                    <a:bodyPr/>
                    <a:lstStyle/>
                    <a:p>
                      <a:pPr>
                        <a:buNone/>
                      </a:pPr>
                      <a:r>
                        <a:rPr lang="en-IN" sz="1800"/>
                        <a:t>Command</a:t>
                      </a:r>
                    </a:p>
                  </a:txBody>
                  <a:tcPr anchor="ctr"/>
                </a:tc>
                <a:tc>
                  <a:txBody>
                    <a:bodyPr/>
                    <a:lstStyle/>
                    <a:p>
                      <a:pPr>
                        <a:buNone/>
                      </a:pPr>
                      <a:r>
                        <a:rPr lang="en-IN" sz="1800"/>
                        <a:t>Purpose</a:t>
                      </a:r>
                    </a:p>
                  </a:txBody>
                  <a:tcPr anchor="ctr"/>
                </a:tc>
                <a:extLst>
                  <a:ext uri="{0D108BD9-81ED-4DB2-BD59-A6C34878D82A}">
                    <a16:rowId xmlns:a16="http://schemas.microsoft.com/office/drawing/2014/main" val="801464061"/>
                  </a:ext>
                </a:extLst>
              </a:tr>
              <a:tr h="365760">
                <a:tc>
                  <a:txBody>
                    <a:bodyPr/>
                    <a:lstStyle/>
                    <a:p>
                      <a:pPr>
                        <a:buNone/>
                      </a:pPr>
                      <a:r>
                        <a:rPr lang="en-IN" sz="1800"/>
                        <a:t>BEGIN</a:t>
                      </a:r>
                    </a:p>
                  </a:txBody>
                  <a:tcPr anchor="ctr"/>
                </a:tc>
                <a:tc>
                  <a:txBody>
                    <a:bodyPr/>
                    <a:lstStyle/>
                    <a:p>
                      <a:pPr>
                        <a:buNone/>
                      </a:pPr>
                      <a:r>
                        <a:rPr lang="en-IN" sz="1800"/>
                        <a:t>Start transaction</a:t>
                      </a:r>
                    </a:p>
                  </a:txBody>
                  <a:tcPr anchor="ctr"/>
                </a:tc>
                <a:extLst>
                  <a:ext uri="{0D108BD9-81ED-4DB2-BD59-A6C34878D82A}">
                    <a16:rowId xmlns:a16="http://schemas.microsoft.com/office/drawing/2014/main" val="2454798716"/>
                  </a:ext>
                </a:extLst>
              </a:tr>
              <a:tr h="365760">
                <a:tc>
                  <a:txBody>
                    <a:bodyPr/>
                    <a:lstStyle/>
                    <a:p>
                      <a:pPr>
                        <a:buNone/>
                      </a:pPr>
                      <a:r>
                        <a:rPr lang="en-IN" sz="1800"/>
                        <a:t>COMMIT</a:t>
                      </a:r>
                    </a:p>
                  </a:txBody>
                  <a:tcPr anchor="ctr"/>
                </a:tc>
                <a:tc>
                  <a:txBody>
                    <a:bodyPr/>
                    <a:lstStyle/>
                    <a:p>
                      <a:pPr>
                        <a:buNone/>
                      </a:pPr>
                      <a:r>
                        <a:rPr lang="en-IN" sz="1800"/>
                        <a:t>Apply changes</a:t>
                      </a:r>
                    </a:p>
                  </a:txBody>
                  <a:tcPr anchor="ctr"/>
                </a:tc>
                <a:extLst>
                  <a:ext uri="{0D108BD9-81ED-4DB2-BD59-A6C34878D82A}">
                    <a16:rowId xmlns:a16="http://schemas.microsoft.com/office/drawing/2014/main" val="3634781789"/>
                  </a:ext>
                </a:extLst>
              </a:tr>
              <a:tr h="365760">
                <a:tc>
                  <a:txBody>
                    <a:bodyPr/>
                    <a:lstStyle/>
                    <a:p>
                      <a:pPr>
                        <a:buNone/>
                      </a:pPr>
                      <a:r>
                        <a:rPr lang="en-IN" sz="1800"/>
                        <a:t>ROLLBACK</a:t>
                      </a:r>
                    </a:p>
                  </a:txBody>
                  <a:tcPr anchor="ctr"/>
                </a:tc>
                <a:tc>
                  <a:txBody>
                    <a:bodyPr/>
                    <a:lstStyle/>
                    <a:p>
                      <a:pPr>
                        <a:buNone/>
                      </a:pPr>
                      <a:r>
                        <a:rPr lang="en-IN" sz="1800"/>
                        <a:t>Undo changes</a:t>
                      </a:r>
                    </a:p>
                  </a:txBody>
                  <a:tcPr anchor="ctr"/>
                </a:tc>
                <a:extLst>
                  <a:ext uri="{0D108BD9-81ED-4DB2-BD59-A6C34878D82A}">
                    <a16:rowId xmlns:a16="http://schemas.microsoft.com/office/drawing/2014/main" val="33381698"/>
                  </a:ext>
                </a:extLst>
              </a:tr>
              <a:tr h="365760">
                <a:tc>
                  <a:txBody>
                    <a:bodyPr/>
                    <a:lstStyle/>
                    <a:p>
                      <a:pPr>
                        <a:buNone/>
                      </a:pPr>
                      <a:r>
                        <a:rPr lang="en-IN" sz="1800"/>
                        <a:t>SAVEPOINT name</a:t>
                      </a:r>
                    </a:p>
                  </a:txBody>
                  <a:tcPr anchor="ctr"/>
                </a:tc>
                <a:tc>
                  <a:txBody>
                    <a:bodyPr/>
                    <a:lstStyle/>
                    <a:p>
                      <a:pPr>
                        <a:buNone/>
                      </a:pPr>
                      <a:r>
                        <a:rPr lang="en-IN" sz="1800"/>
                        <a:t>Set save point inside tx</a:t>
                      </a:r>
                    </a:p>
                  </a:txBody>
                  <a:tcPr anchor="ctr"/>
                </a:tc>
                <a:extLst>
                  <a:ext uri="{0D108BD9-81ED-4DB2-BD59-A6C34878D82A}">
                    <a16:rowId xmlns:a16="http://schemas.microsoft.com/office/drawing/2014/main" val="2678591902"/>
                  </a:ext>
                </a:extLst>
              </a:tr>
              <a:tr h="365760">
                <a:tc>
                  <a:txBody>
                    <a:bodyPr/>
                    <a:lstStyle/>
                    <a:p>
                      <a:pPr>
                        <a:buNone/>
                      </a:pPr>
                      <a:r>
                        <a:rPr lang="en-IN" sz="1800"/>
                        <a:t>ROLLBACK TO SAVEPOINT name</a:t>
                      </a:r>
                    </a:p>
                  </a:txBody>
                  <a:tcPr anchor="ctr"/>
                </a:tc>
                <a:tc>
                  <a:txBody>
                    <a:bodyPr/>
                    <a:lstStyle/>
                    <a:p>
                      <a:pPr>
                        <a:buNone/>
                      </a:pPr>
                      <a:r>
                        <a:rPr lang="en-IN" sz="1800" dirty="0"/>
                        <a:t>Partial rollback</a:t>
                      </a:r>
                    </a:p>
                  </a:txBody>
                  <a:tcPr anchor="ctr"/>
                </a:tc>
                <a:extLst>
                  <a:ext uri="{0D108BD9-81ED-4DB2-BD59-A6C34878D82A}">
                    <a16:rowId xmlns:a16="http://schemas.microsoft.com/office/drawing/2014/main" val="895205847"/>
                  </a:ext>
                </a:extLst>
              </a:tr>
            </a:tbl>
          </a:graphicData>
        </a:graphic>
      </p:graphicFrame>
    </p:spTree>
    <p:extLst>
      <p:ext uri="{BB962C8B-B14F-4D97-AF65-F5344CB8AC3E}">
        <p14:creationId xmlns:p14="http://schemas.microsoft.com/office/powerpoint/2010/main" val="2260699951"/>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E9FEB0-EC33-1398-34F6-5A7D158E6AB8}"/>
              </a:ext>
            </a:extLst>
          </p:cNvPr>
          <p:cNvSpPr>
            <a:spLocks noGrp="1"/>
          </p:cNvSpPr>
          <p:nvPr>
            <p:ph sz="quarter" idx="12"/>
          </p:nvPr>
        </p:nvSpPr>
        <p:spPr/>
        <p:txBody>
          <a:bodyPr>
            <a:normAutofit fontScale="92500" lnSpcReduction="10000"/>
          </a:bodyPr>
          <a:lstStyle/>
          <a:p>
            <a:r>
              <a:rPr lang="en-IN" dirty="0"/>
              <a:t>Window functions perform calculations across a set of related rows </a:t>
            </a:r>
            <a:r>
              <a:rPr lang="en-IN" b="1" dirty="0"/>
              <a:t>without collapsing the rows</a:t>
            </a:r>
            <a:r>
              <a:rPr lang="en-IN" dirty="0"/>
              <a:t> as GROUP BY does.</a:t>
            </a:r>
          </a:p>
          <a:p>
            <a:r>
              <a:rPr lang="en-IN" dirty="0"/>
              <a:t>Consider:</a:t>
            </a:r>
          </a:p>
          <a:p>
            <a:pPr marL="225425" lvl="1" indent="0">
              <a:buNone/>
            </a:pPr>
            <a:r>
              <a:rPr lang="en-IN" dirty="0"/>
              <a:t>CREATE TABLE </a:t>
            </a:r>
            <a:r>
              <a:rPr lang="en-IN" dirty="0" err="1"/>
              <a:t>vehicle_sales</a:t>
            </a:r>
            <a:r>
              <a:rPr lang="en-IN" dirty="0"/>
              <a:t> (</a:t>
            </a:r>
          </a:p>
          <a:p>
            <a:pPr marL="225425" lvl="1" indent="0">
              <a:buNone/>
            </a:pPr>
            <a:r>
              <a:rPr lang="en-IN" dirty="0"/>
              <a:t>    </a:t>
            </a:r>
            <a:r>
              <a:rPr lang="en-IN" dirty="0" err="1"/>
              <a:t>sale_id</a:t>
            </a:r>
            <a:r>
              <a:rPr lang="en-IN" dirty="0"/>
              <a:t>      INT,</a:t>
            </a:r>
          </a:p>
          <a:p>
            <a:pPr marL="225425" lvl="1" indent="0">
              <a:buNone/>
            </a:pPr>
            <a:r>
              <a:rPr lang="en-IN" dirty="0"/>
              <a:t>    model        VARCHAR(50),</a:t>
            </a:r>
          </a:p>
          <a:p>
            <a:pPr marL="225425" lvl="1" indent="0">
              <a:buNone/>
            </a:pPr>
            <a:r>
              <a:rPr lang="en-IN" dirty="0"/>
              <a:t>    city         VARCHAR(50),</a:t>
            </a:r>
          </a:p>
          <a:p>
            <a:pPr marL="225425" lvl="1" indent="0">
              <a:buNone/>
            </a:pPr>
            <a:r>
              <a:rPr lang="en-IN" dirty="0"/>
              <a:t>    </a:t>
            </a:r>
            <a:r>
              <a:rPr lang="en-IN" dirty="0" err="1"/>
              <a:t>sale_date</a:t>
            </a:r>
            <a:r>
              <a:rPr lang="en-IN" dirty="0"/>
              <a:t>    DATE,</a:t>
            </a:r>
          </a:p>
          <a:p>
            <a:pPr marL="225425" lvl="1" indent="0">
              <a:buNone/>
            </a:pPr>
            <a:r>
              <a:rPr lang="en-IN" dirty="0"/>
              <a:t>    price        NUMERIC(12,2),</a:t>
            </a:r>
          </a:p>
          <a:p>
            <a:pPr marL="225425" lvl="1" indent="0">
              <a:buNone/>
            </a:pPr>
            <a:r>
              <a:rPr lang="en-IN" dirty="0"/>
              <a:t>    quantity     INT</a:t>
            </a:r>
          </a:p>
          <a:p>
            <a:pPr marL="225425" lvl="1" indent="0">
              <a:buNone/>
            </a:pPr>
            <a:r>
              <a:rPr lang="en-IN" dirty="0"/>
              <a:t>);</a:t>
            </a:r>
          </a:p>
          <a:p>
            <a:endParaRPr lang="en-IN" dirty="0"/>
          </a:p>
        </p:txBody>
      </p:sp>
      <p:sp>
        <p:nvSpPr>
          <p:cNvPr id="3" name="Title 2">
            <a:extLst>
              <a:ext uri="{FF2B5EF4-FFF2-40B4-BE49-F238E27FC236}">
                <a16:creationId xmlns:a16="http://schemas.microsoft.com/office/drawing/2014/main" id="{C2C634EB-5917-019F-8F4B-4444A4B7618B}"/>
              </a:ext>
            </a:extLst>
          </p:cNvPr>
          <p:cNvSpPr>
            <a:spLocks noGrp="1"/>
          </p:cNvSpPr>
          <p:nvPr>
            <p:ph type="title"/>
          </p:nvPr>
        </p:nvSpPr>
        <p:spPr/>
        <p:txBody>
          <a:bodyPr/>
          <a:lstStyle/>
          <a:p>
            <a:r>
              <a:rPr lang="en-IN" dirty="0"/>
              <a:t>1. Window Functions</a:t>
            </a:r>
          </a:p>
        </p:txBody>
      </p:sp>
    </p:spTree>
    <p:extLst>
      <p:ext uri="{BB962C8B-B14F-4D97-AF65-F5344CB8AC3E}">
        <p14:creationId xmlns:p14="http://schemas.microsoft.com/office/powerpoint/2010/main" val="2233808735"/>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A81E5-E633-B4EE-F54F-7ADD938E34E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F455C67-6092-6C65-3A1F-DD2939401332}"/>
              </a:ext>
            </a:extLst>
          </p:cNvPr>
          <p:cNvSpPr>
            <a:spLocks noGrp="1"/>
          </p:cNvSpPr>
          <p:nvPr>
            <p:ph sz="quarter" idx="12"/>
          </p:nvPr>
        </p:nvSpPr>
        <p:spPr/>
        <p:txBody>
          <a:bodyPr>
            <a:normAutofit fontScale="77500" lnSpcReduction="20000"/>
          </a:bodyPr>
          <a:lstStyle/>
          <a:p>
            <a:r>
              <a:rPr lang="en-IN" dirty="0"/>
              <a:t>The general syntax is:</a:t>
            </a:r>
          </a:p>
          <a:p>
            <a:r>
              <a:rPr lang="en-IN" dirty="0" err="1"/>
              <a:t>function_name</a:t>
            </a:r>
            <a:r>
              <a:rPr lang="en-IN" dirty="0"/>
              <a:t>(...)</a:t>
            </a:r>
          </a:p>
          <a:p>
            <a:r>
              <a:rPr lang="en-IN" dirty="0"/>
              <a:t>OVER (</a:t>
            </a:r>
          </a:p>
          <a:p>
            <a:r>
              <a:rPr lang="en-IN" dirty="0"/>
              <a:t>    PARTITION BY ...</a:t>
            </a:r>
          </a:p>
          <a:p>
            <a:r>
              <a:rPr lang="en-IN" dirty="0"/>
              <a:t>    ORDER BY ...</a:t>
            </a:r>
          </a:p>
          <a:p>
            <a:r>
              <a:rPr lang="en-IN" dirty="0"/>
              <a:t>    ROWS BETWEEN ...</a:t>
            </a:r>
          </a:p>
          <a:p>
            <a:r>
              <a:rPr lang="en-IN" dirty="0"/>
              <a:t>)</a:t>
            </a:r>
          </a:p>
          <a:p>
            <a:r>
              <a:rPr lang="en-IN" dirty="0"/>
              <a:t>Think of it as:</a:t>
            </a:r>
          </a:p>
          <a:p>
            <a:r>
              <a:rPr lang="en-IN" dirty="0"/>
              <a:t>PARTITION BY → divide rows into groups</a:t>
            </a:r>
          </a:p>
          <a:p>
            <a:r>
              <a:rPr lang="en-IN" dirty="0"/>
              <a:t>ORDER BY     → arrange rows inside each group</a:t>
            </a:r>
          </a:p>
          <a:p>
            <a:r>
              <a:rPr lang="en-IN" dirty="0"/>
              <a:t>FRAME        → choose rows around current row</a:t>
            </a:r>
          </a:p>
          <a:p>
            <a:r>
              <a:rPr lang="en-IN" dirty="0"/>
              <a:t>FUNCTION     → perform calculation</a:t>
            </a:r>
          </a:p>
          <a:p>
            <a:endParaRPr lang="en-IN" dirty="0"/>
          </a:p>
        </p:txBody>
      </p:sp>
      <p:sp>
        <p:nvSpPr>
          <p:cNvPr id="3" name="Title 2">
            <a:extLst>
              <a:ext uri="{FF2B5EF4-FFF2-40B4-BE49-F238E27FC236}">
                <a16:creationId xmlns:a16="http://schemas.microsoft.com/office/drawing/2014/main" id="{029B5A7A-C20C-8D76-753B-4EE50CD3CCFA}"/>
              </a:ext>
            </a:extLst>
          </p:cNvPr>
          <p:cNvSpPr>
            <a:spLocks noGrp="1"/>
          </p:cNvSpPr>
          <p:nvPr>
            <p:ph type="title"/>
          </p:nvPr>
        </p:nvSpPr>
        <p:spPr/>
        <p:txBody>
          <a:bodyPr/>
          <a:lstStyle/>
          <a:p>
            <a:r>
              <a:rPr lang="en-IN" dirty="0"/>
              <a:t>1. Window Functions</a:t>
            </a:r>
          </a:p>
        </p:txBody>
      </p:sp>
    </p:spTree>
    <p:extLst>
      <p:ext uri="{BB962C8B-B14F-4D97-AF65-F5344CB8AC3E}">
        <p14:creationId xmlns:p14="http://schemas.microsoft.com/office/powerpoint/2010/main" val="739199503"/>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645F8-89E7-1FC1-C858-4C2D419DE1F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F0A8C9E-DFD1-BA5F-D198-7C23FAAD9D42}"/>
              </a:ext>
            </a:extLst>
          </p:cNvPr>
          <p:cNvSpPr>
            <a:spLocks noGrp="1"/>
          </p:cNvSpPr>
          <p:nvPr>
            <p:ph sz="quarter" idx="12"/>
          </p:nvPr>
        </p:nvSpPr>
        <p:spPr/>
        <p:txBody>
          <a:bodyPr>
            <a:normAutofit fontScale="92500" lnSpcReduction="10000"/>
          </a:bodyPr>
          <a:lstStyle/>
          <a:p>
            <a:r>
              <a:rPr lang="en-IN" dirty="0"/>
              <a:t>ROW_NUMBER() assigns a unique sequential number.</a:t>
            </a:r>
          </a:p>
          <a:p>
            <a:pPr marL="0" indent="0">
              <a:buNone/>
            </a:pPr>
            <a:r>
              <a:rPr lang="en-IN" dirty="0"/>
              <a:t>SELECT</a:t>
            </a:r>
          </a:p>
          <a:p>
            <a:pPr marL="0" indent="0">
              <a:buNone/>
            </a:pPr>
            <a:r>
              <a:rPr lang="en-IN" dirty="0"/>
              <a:t>    city,</a:t>
            </a:r>
          </a:p>
          <a:p>
            <a:pPr marL="0" indent="0">
              <a:buNone/>
            </a:pPr>
            <a:r>
              <a:rPr lang="en-IN" dirty="0"/>
              <a:t>    model,</a:t>
            </a:r>
          </a:p>
          <a:p>
            <a:pPr marL="0" indent="0">
              <a:buNone/>
            </a:pPr>
            <a:r>
              <a:rPr lang="en-IN" dirty="0"/>
              <a:t>    price,</a:t>
            </a:r>
          </a:p>
          <a:p>
            <a:pPr marL="0" indent="0">
              <a:buNone/>
            </a:pPr>
            <a:r>
              <a:rPr lang="en-IN" dirty="0"/>
              <a:t>    ROW_NUMBER() OVER (</a:t>
            </a:r>
          </a:p>
          <a:p>
            <a:pPr marL="0" indent="0">
              <a:buNone/>
            </a:pPr>
            <a:r>
              <a:rPr lang="en-IN" dirty="0"/>
              <a:t>        PARTITION BY city</a:t>
            </a:r>
          </a:p>
          <a:p>
            <a:pPr marL="0" indent="0">
              <a:buNone/>
            </a:pPr>
            <a:r>
              <a:rPr lang="en-IN" dirty="0"/>
              <a:t>        ORDER BY price DESC</a:t>
            </a:r>
          </a:p>
          <a:p>
            <a:pPr marL="0" indent="0">
              <a:buNone/>
            </a:pPr>
            <a:r>
              <a:rPr lang="en-IN" dirty="0"/>
              <a:t>    ) AS </a:t>
            </a:r>
            <a:r>
              <a:rPr lang="en-IN" dirty="0" err="1"/>
              <a:t>row_num</a:t>
            </a:r>
            <a:endParaRPr lang="en-IN" dirty="0"/>
          </a:p>
          <a:p>
            <a:pPr marL="0" indent="0">
              <a:buNone/>
            </a:pPr>
            <a:r>
              <a:rPr lang="en-IN" dirty="0"/>
              <a:t>FROM </a:t>
            </a:r>
            <a:r>
              <a:rPr lang="en-IN" dirty="0" err="1"/>
              <a:t>vehicle_sales</a:t>
            </a:r>
            <a:r>
              <a:rPr lang="en-IN" dirty="0"/>
              <a:t>;</a:t>
            </a:r>
          </a:p>
          <a:p>
            <a:endParaRPr lang="en-IN" dirty="0"/>
          </a:p>
        </p:txBody>
      </p:sp>
      <p:sp>
        <p:nvSpPr>
          <p:cNvPr id="3" name="Title 2">
            <a:extLst>
              <a:ext uri="{FF2B5EF4-FFF2-40B4-BE49-F238E27FC236}">
                <a16:creationId xmlns:a16="http://schemas.microsoft.com/office/drawing/2014/main" id="{A8603378-0CA1-247B-2105-3D74313DE304}"/>
              </a:ext>
            </a:extLst>
          </p:cNvPr>
          <p:cNvSpPr>
            <a:spLocks noGrp="1"/>
          </p:cNvSpPr>
          <p:nvPr>
            <p:ph type="title"/>
          </p:nvPr>
        </p:nvSpPr>
        <p:spPr/>
        <p:txBody>
          <a:bodyPr/>
          <a:lstStyle/>
          <a:p>
            <a:r>
              <a:rPr lang="en-IN" dirty="0"/>
              <a:t>2. ROW_NUMBER()</a:t>
            </a:r>
          </a:p>
        </p:txBody>
      </p:sp>
    </p:spTree>
    <p:extLst>
      <p:ext uri="{BB962C8B-B14F-4D97-AF65-F5344CB8AC3E}">
        <p14:creationId xmlns:p14="http://schemas.microsoft.com/office/powerpoint/2010/main" val="618128619"/>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41003-8ABF-18F1-E33E-E66F6264D3F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02EFE8-8D39-CC14-2044-D13CDA5EB4FE}"/>
              </a:ext>
            </a:extLst>
          </p:cNvPr>
          <p:cNvSpPr>
            <a:spLocks noGrp="1"/>
          </p:cNvSpPr>
          <p:nvPr>
            <p:ph sz="quarter" idx="12"/>
          </p:nvPr>
        </p:nvSpPr>
        <p:spPr/>
        <p:txBody>
          <a:bodyPr>
            <a:normAutofit fontScale="77500" lnSpcReduction="20000"/>
          </a:bodyPr>
          <a:lstStyle/>
          <a:p>
            <a:r>
              <a:rPr lang="en-IN" b="1" dirty="0"/>
              <a:t>Top 3 models per city</a:t>
            </a:r>
          </a:p>
          <a:p>
            <a:pPr marL="0" indent="0">
              <a:buNone/>
            </a:pPr>
            <a:r>
              <a:rPr lang="en-IN" dirty="0"/>
              <a:t>WITH </a:t>
            </a:r>
            <a:r>
              <a:rPr lang="en-IN" dirty="0" err="1"/>
              <a:t>ranked_sales</a:t>
            </a:r>
            <a:r>
              <a:rPr lang="en-IN" dirty="0"/>
              <a:t> AS (</a:t>
            </a:r>
          </a:p>
          <a:p>
            <a:pPr marL="0" indent="0">
              <a:buNone/>
            </a:pPr>
            <a:r>
              <a:rPr lang="en-IN" dirty="0"/>
              <a:t>    SELECT</a:t>
            </a:r>
          </a:p>
          <a:p>
            <a:pPr marL="0" indent="0">
              <a:buNone/>
            </a:pPr>
            <a:r>
              <a:rPr lang="en-IN" dirty="0"/>
              <a:t>        city,</a:t>
            </a:r>
          </a:p>
          <a:p>
            <a:pPr marL="0" indent="0">
              <a:buNone/>
            </a:pPr>
            <a:r>
              <a:rPr lang="en-IN" dirty="0"/>
              <a:t>        model,</a:t>
            </a:r>
          </a:p>
          <a:p>
            <a:pPr marL="0" indent="0">
              <a:buNone/>
            </a:pPr>
            <a:r>
              <a:rPr lang="en-IN" dirty="0"/>
              <a:t>        price,</a:t>
            </a:r>
          </a:p>
          <a:p>
            <a:pPr marL="0" indent="0">
              <a:buNone/>
            </a:pPr>
            <a:r>
              <a:rPr lang="en-IN" dirty="0"/>
              <a:t>        ROW_NUMBER() OVER (</a:t>
            </a:r>
          </a:p>
          <a:p>
            <a:pPr marL="0" indent="0">
              <a:buNone/>
            </a:pPr>
            <a:r>
              <a:rPr lang="en-IN" dirty="0"/>
              <a:t>            PARTITION BY city</a:t>
            </a:r>
          </a:p>
          <a:p>
            <a:pPr marL="0" indent="0">
              <a:buNone/>
            </a:pPr>
            <a:r>
              <a:rPr lang="en-IN" dirty="0"/>
              <a:t>            ORDER BY price DESC</a:t>
            </a:r>
          </a:p>
          <a:p>
            <a:pPr marL="0" indent="0">
              <a:buNone/>
            </a:pPr>
            <a:r>
              <a:rPr lang="en-IN" dirty="0"/>
              <a:t>        ) AS </a:t>
            </a:r>
            <a:r>
              <a:rPr lang="en-IN" dirty="0" err="1"/>
              <a:t>rn</a:t>
            </a:r>
            <a:endParaRPr lang="en-IN" dirty="0"/>
          </a:p>
          <a:p>
            <a:pPr marL="0" indent="0">
              <a:buNone/>
            </a:pPr>
            <a:r>
              <a:rPr lang="en-IN" dirty="0"/>
              <a:t>    FROM </a:t>
            </a:r>
            <a:r>
              <a:rPr lang="en-IN" dirty="0" err="1"/>
              <a:t>vehicle_sales</a:t>
            </a:r>
            <a:endParaRPr lang="en-IN" dirty="0"/>
          </a:p>
          <a:p>
            <a:pPr marL="0" indent="0">
              <a:buNone/>
            </a:pPr>
            <a:r>
              <a:rPr lang="en-IN" dirty="0"/>
              <a:t>)</a:t>
            </a:r>
          </a:p>
          <a:p>
            <a:endParaRPr lang="en-IN" dirty="0"/>
          </a:p>
        </p:txBody>
      </p:sp>
      <p:sp>
        <p:nvSpPr>
          <p:cNvPr id="3" name="Title 2">
            <a:extLst>
              <a:ext uri="{FF2B5EF4-FFF2-40B4-BE49-F238E27FC236}">
                <a16:creationId xmlns:a16="http://schemas.microsoft.com/office/drawing/2014/main" id="{6E8D794B-27B1-131D-E1FA-900B67B93D0D}"/>
              </a:ext>
            </a:extLst>
          </p:cNvPr>
          <p:cNvSpPr>
            <a:spLocks noGrp="1"/>
          </p:cNvSpPr>
          <p:nvPr>
            <p:ph type="title"/>
          </p:nvPr>
        </p:nvSpPr>
        <p:spPr/>
        <p:txBody>
          <a:bodyPr/>
          <a:lstStyle/>
          <a:p>
            <a:r>
              <a:rPr lang="en-IN" dirty="0"/>
              <a:t>2. ROW_NUMBER()</a:t>
            </a:r>
          </a:p>
        </p:txBody>
      </p:sp>
    </p:spTree>
    <p:extLst>
      <p:ext uri="{BB962C8B-B14F-4D97-AF65-F5344CB8AC3E}">
        <p14:creationId xmlns:p14="http://schemas.microsoft.com/office/powerpoint/2010/main" val="85239412"/>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8D51E-601C-4018-E8B8-1885AC5CBF5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BFC8E4-1A8A-58D3-A50C-47FDD293A843}"/>
              </a:ext>
            </a:extLst>
          </p:cNvPr>
          <p:cNvSpPr>
            <a:spLocks noGrp="1"/>
          </p:cNvSpPr>
          <p:nvPr>
            <p:ph sz="quarter" idx="12"/>
          </p:nvPr>
        </p:nvSpPr>
        <p:spPr/>
        <p:txBody>
          <a:bodyPr>
            <a:normAutofit/>
          </a:bodyPr>
          <a:lstStyle/>
          <a:p>
            <a:r>
              <a:rPr lang="en-IN" dirty="0"/>
              <a:t>SELECT *</a:t>
            </a:r>
          </a:p>
          <a:p>
            <a:r>
              <a:rPr lang="en-IN" dirty="0"/>
              <a:t>FROM </a:t>
            </a:r>
            <a:r>
              <a:rPr lang="en-IN" dirty="0" err="1"/>
              <a:t>ranked_sales</a:t>
            </a:r>
            <a:endParaRPr lang="en-IN" dirty="0"/>
          </a:p>
          <a:p>
            <a:r>
              <a:rPr lang="en-IN" dirty="0"/>
              <a:t>WHERE </a:t>
            </a:r>
            <a:r>
              <a:rPr lang="en-IN" dirty="0" err="1"/>
              <a:t>rn</a:t>
            </a:r>
            <a:r>
              <a:rPr lang="en-IN" dirty="0"/>
              <a:t> &lt;= 3;</a:t>
            </a:r>
          </a:p>
          <a:p>
            <a:r>
              <a:rPr lang="en-IN" dirty="0"/>
              <a:t>This combination of </a:t>
            </a:r>
            <a:r>
              <a:rPr lang="en-IN" b="1" dirty="0"/>
              <a:t>CTE + window function</a:t>
            </a:r>
            <a:r>
              <a:rPr lang="en-IN" dirty="0"/>
              <a:t> is extremely common.</a:t>
            </a:r>
          </a:p>
          <a:p>
            <a:endParaRPr lang="en-IN" dirty="0"/>
          </a:p>
        </p:txBody>
      </p:sp>
      <p:sp>
        <p:nvSpPr>
          <p:cNvPr id="3" name="Title 2">
            <a:extLst>
              <a:ext uri="{FF2B5EF4-FFF2-40B4-BE49-F238E27FC236}">
                <a16:creationId xmlns:a16="http://schemas.microsoft.com/office/drawing/2014/main" id="{E3471C13-589E-30C2-C096-2AF3C941B9DE}"/>
              </a:ext>
            </a:extLst>
          </p:cNvPr>
          <p:cNvSpPr>
            <a:spLocks noGrp="1"/>
          </p:cNvSpPr>
          <p:nvPr>
            <p:ph type="title"/>
          </p:nvPr>
        </p:nvSpPr>
        <p:spPr/>
        <p:txBody>
          <a:bodyPr/>
          <a:lstStyle/>
          <a:p>
            <a:r>
              <a:rPr lang="en-IN" dirty="0"/>
              <a:t>2. ROW_NUMBER()</a:t>
            </a:r>
          </a:p>
        </p:txBody>
      </p:sp>
    </p:spTree>
    <p:extLst>
      <p:ext uri="{BB962C8B-B14F-4D97-AF65-F5344CB8AC3E}">
        <p14:creationId xmlns:p14="http://schemas.microsoft.com/office/powerpoint/2010/main" val="3946070508"/>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59CFEF6-F8CD-03FA-66B4-A889E2AE280F}"/>
              </a:ext>
            </a:extLst>
          </p:cNvPr>
          <p:cNvSpPr>
            <a:spLocks noGrp="1"/>
          </p:cNvSpPr>
          <p:nvPr>
            <p:ph sz="quarter" idx="12"/>
          </p:nvPr>
        </p:nvSpPr>
        <p:spPr/>
        <p:txBody>
          <a:bodyPr>
            <a:normAutofit/>
          </a:bodyPr>
          <a:lstStyle/>
          <a:p>
            <a:r>
              <a:rPr lang="en-IN" dirty="0"/>
              <a:t>Suppose prices are:</a:t>
            </a:r>
          </a:p>
          <a:p>
            <a:r>
              <a:rPr lang="en-IN" dirty="0"/>
              <a:t>Model   Price</a:t>
            </a:r>
          </a:p>
          <a:p>
            <a:r>
              <a:rPr lang="en-IN" dirty="0"/>
              <a:t>-------------</a:t>
            </a:r>
          </a:p>
          <a:p>
            <a:r>
              <a:rPr lang="en-IN" dirty="0"/>
              <a:t>i7      100</a:t>
            </a:r>
          </a:p>
          <a:p>
            <a:r>
              <a:rPr lang="en-IN" dirty="0"/>
              <a:t>X7       90</a:t>
            </a:r>
          </a:p>
          <a:p>
            <a:r>
              <a:rPr lang="en-IN" dirty="0"/>
              <a:t>X5       90</a:t>
            </a:r>
          </a:p>
          <a:p>
            <a:r>
              <a:rPr lang="en-IN" dirty="0" err="1"/>
              <a:t>iX</a:t>
            </a:r>
            <a:r>
              <a:rPr lang="en-IN" dirty="0"/>
              <a:t>       80</a:t>
            </a:r>
          </a:p>
          <a:p>
            <a:endParaRPr lang="en-IN" dirty="0"/>
          </a:p>
        </p:txBody>
      </p:sp>
      <p:sp>
        <p:nvSpPr>
          <p:cNvPr id="3" name="Title 2">
            <a:extLst>
              <a:ext uri="{FF2B5EF4-FFF2-40B4-BE49-F238E27FC236}">
                <a16:creationId xmlns:a16="http://schemas.microsoft.com/office/drawing/2014/main" id="{E2228A5A-E3DC-B4F8-9E08-FF18B3CA2554}"/>
              </a:ext>
            </a:extLst>
          </p:cNvPr>
          <p:cNvSpPr>
            <a:spLocks noGrp="1"/>
          </p:cNvSpPr>
          <p:nvPr>
            <p:ph type="title"/>
          </p:nvPr>
        </p:nvSpPr>
        <p:spPr/>
        <p:txBody>
          <a:bodyPr/>
          <a:lstStyle/>
          <a:p>
            <a:r>
              <a:rPr lang="en-IN" dirty="0"/>
              <a:t>3. RANK vs DENSE_RANK vs ROW_NUMBER</a:t>
            </a:r>
          </a:p>
        </p:txBody>
      </p:sp>
    </p:spTree>
    <p:extLst>
      <p:ext uri="{BB962C8B-B14F-4D97-AF65-F5344CB8AC3E}">
        <p14:creationId xmlns:p14="http://schemas.microsoft.com/office/powerpoint/2010/main" val="301792918"/>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DB56D-B4C6-AF9D-97C8-A923AE426C7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AC5CF2C-2261-FFDB-503C-19F6215940EE}"/>
              </a:ext>
            </a:extLst>
          </p:cNvPr>
          <p:cNvSpPr>
            <a:spLocks noGrp="1"/>
          </p:cNvSpPr>
          <p:nvPr>
            <p:ph sz="quarter" idx="12"/>
          </p:nvPr>
        </p:nvSpPr>
        <p:spPr>
          <a:xfrm>
            <a:off x="457201" y="1381124"/>
            <a:ext cx="8228012" cy="5172075"/>
          </a:xfrm>
        </p:spPr>
        <p:txBody>
          <a:bodyPr>
            <a:normAutofit fontScale="92500" lnSpcReduction="20000"/>
          </a:bodyPr>
          <a:lstStyle/>
          <a:p>
            <a:r>
              <a:rPr lang="en-IN" dirty="0"/>
              <a:t>Query:</a:t>
            </a:r>
          </a:p>
          <a:p>
            <a:pPr marL="225425" lvl="1" indent="0">
              <a:buNone/>
            </a:pPr>
            <a:r>
              <a:rPr lang="en-IN" dirty="0"/>
              <a:t>SELECT</a:t>
            </a:r>
          </a:p>
          <a:p>
            <a:pPr marL="225425" lvl="1" indent="0">
              <a:buNone/>
            </a:pPr>
            <a:r>
              <a:rPr lang="en-IN" dirty="0"/>
              <a:t>    model,</a:t>
            </a:r>
          </a:p>
          <a:p>
            <a:pPr marL="225425" lvl="1" indent="0">
              <a:buNone/>
            </a:pPr>
            <a:r>
              <a:rPr lang="en-IN" dirty="0"/>
              <a:t>    price,</a:t>
            </a:r>
          </a:p>
          <a:p>
            <a:pPr marL="225425" lvl="1" indent="0">
              <a:buNone/>
            </a:pPr>
            <a:r>
              <a:rPr lang="en-IN" dirty="0"/>
              <a:t>    ROW_NUMBER() OVER (</a:t>
            </a:r>
          </a:p>
          <a:p>
            <a:pPr marL="225425" lvl="1" indent="0">
              <a:buNone/>
            </a:pPr>
            <a:r>
              <a:rPr lang="en-IN" dirty="0"/>
              <a:t>        ORDER BY price DESC</a:t>
            </a:r>
          </a:p>
          <a:p>
            <a:pPr marL="225425" lvl="1" indent="0">
              <a:buNone/>
            </a:pPr>
            <a:r>
              <a:rPr lang="en-IN" dirty="0"/>
              <a:t>    ) AS </a:t>
            </a:r>
            <a:r>
              <a:rPr lang="en-IN" dirty="0" err="1"/>
              <a:t>row_number</a:t>
            </a:r>
            <a:r>
              <a:rPr lang="en-IN" dirty="0"/>
              <a:t>, </a:t>
            </a:r>
          </a:p>
          <a:p>
            <a:pPr marL="225425" lvl="1" indent="0">
              <a:buNone/>
            </a:pPr>
            <a:r>
              <a:rPr lang="en-IN" dirty="0"/>
              <a:t>    RANK() OVER (</a:t>
            </a:r>
          </a:p>
          <a:p>
            <a:pPr marL="225425" lvl="1" indent="0">
              <a:buNone/>
            </a:pPr>
            <a:r>
              <a:rPr lang="en-IN" dirty="0"/>
              <a:t>        ORDER BY price DESC</a:t>
            </a:r>
          </a:p>
          <a:p>
            <a:pPr marL="225425" lvl="1" indent="0">
              <a:buNone/>
            </a:pPr>
            <a:r>
              <a:rPr lang="en-IN" dirty="0"/>
              <a:t>    ) AS rank,</a:t>
            </a:r>
          </a:p>
          <a:p>
            <a:pPr marL="225425" lvl="1" indent="0">
              <a:buNone/>
            </a:pPr>
            <a:r>
              <a:rPr lang="en-IN" dirty="0"/>
              <a:t>    DENSE_RANK() OVER (</a:t>
            </a:r>
          </a:p>
          <a:p>
            <a:pPr marL="225425" lvl="1" indent="0">
              <a:buNone/>
            </a:pPr>
            <a:r>
              <a:rPr lang="en-IN" dirty="0"/>
              <a:t>        ORDER BY price DESC</a:t>
            </a:r>
          </a:p>
          <a:p>
            <a:pPr marL="225425" lvl="1" indent="0">
              <a:buNone/>
            </a:pPr>
            <a:r>
              <a:rPr lang="en-IN" dirty="0"/>
              <a:t>    ) AS </a:t>
            </a:r>
            <a:r>
              <a:rPr lang="en-IN" dirty="0" err="1"/>
              <a:t>dense_rank</a:t>
            </a:r>
            <a:r>
              <a:rPr lang="en-IN" dirty="0"/>
              <a:t> </a:t>
            </a:r>
          </a:p>
          <a:p>
            <a:pPr marL="225425" lvl="1" indent="0">
              <a:buNone/>
            </a:pPr>
            <a:r>
              <a:rPr lang="en-IN" dirty="0"/>
              <a:t>FROM </a:t>
            </a:r>
            <a:r>
              <a:rPr lang="en-IN" dirty="0" err="1"/>
              <a:t>vehicle_sales</a:t>
            </a:r>
            <a:r>
              <a:rPr lang="en-IN" dirty="0"/>
              <a:t>;</a:t>
            </a:r>
          </a:p>
          <a:p>
            <a:endParaRPr lang="en-IN" dirty="0"/>
          </a:p>
        </p:txBody>
      </p:sp>
      <p:sp>
        <p:nvSpPr>
          <p:cNvPr id="3" name="Title 2">
            <a:extLst>
              <a:ext uri="{FF2B5EF4-FFF2-40B4-BE49-F238E27FC236}">
                <a16:creationId xmlns:a16="http://schemas.microsoft.com/office/drawing/2014/main" id="{85F8E0B1-7C08-C642-2DDF-B6F8ABF1DCCC}"/>
              </a:ext>
            </a:extLst>
          </p:cNvPr>
          <p:cNvSpPr>
            <a:spLocks noGrp="1"/>
          </p:cNvSpPr>
          <p:nvPr>
            <p:ph type="title"/>
          </p:nvPr>
        </p:nvSpPr>
        <p:spPr/>
        <p:txBody>
          <a:bodyPr/>
          <a:lstStyle/>
          <a:p>
            <a:r>
              <a:rPr lang="en-IN" dirty="0"/>
              <a:t>3. RANK vs DENSE_RANK vs ROW_NUMBER</a:t>
            </a:r>
          </a:p>
        </p:txBody>
      </p:sp>
    </p:spTree>
    <p:extLst>
      <p:ext uri="{BB962C8B-B14F-4D97-AF65-F5344CB8AC3E}">
        <p14:creationId xmlns:p14="http://schemas.microsoft.com/office/powerpoint/2010/main" val="1160512266"/>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832A3-4E5F-C56D-892F-E20036AAEEB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31757DE-6FB0-E2FD-A988-30EA8FDECEBA}"/>
              </a:ext>
            </a:extLst>
          </p:cNvPr>
          <p:cNvSpPr>
            <a:spLocks noGrp="1"/>
          </p:cNvSpPr>
          <p:nvPr>
            <p:ph type="title"/>
          </p:nvPr>
        </p:nvSpPr>
        <p:spPr/>
        <p:txBody>
          <a:bodyPr/>
          <a:lstStyle/>
          <a:p>
            <a:r>
              <a:rPr lang="en-IN" dirty="0"/>
              <a:t>3. RANK vs DENSE_RANK vs ROW_NUMBER</a:t>
            </a:r>
          </a:p>
        </p:txBody>
      </p:sp>
      <p:graphicFrame>
        <p:nvGraphicFramePr>
          <p:cNvPr id="6" name="Table 5">
            <a:extLst>
              <a:ext uri="{FF2B5EF4-FFF2-40B4-BE49-F238E27FC236}">
                <a16:creationId xmlns:a16="http://schemas.microsoft.com/office/drawing/2014/main" id="{60547B18-4170-C175-9E51-56093CE1FDE7}"/>
              </a:ext>
            </a:extLst>
          </p:cNvPr>
          <p:cNvGraphicFramePr>
            <a:graphicFrameLocks noGrp="1"/>
          </p:cNvGraphicFramePr>
          <p:nvPr>
            <p:extLst>
              <p:ext uri="{D42A27DB-BD31-4B8C-83A1-F6EECF244321}">
                <p14:modId xmlns:p14="http://schemas.microsoft.com/office/powerpoint/2010/main" val="3245221101"/>
              </p:ext>
            </p:extLst>
          </p:nvPr>
        </p:nvGraphicFramePr>
        <p:xfrm>
          <a:off x="457199" y="2377440"/>
          <a:ext cx="8228015" cy="2103120"/>
        </p:xfrm>
        <a:graphic>
          <a:graphicData uri="http://schemas.openxmlformats.org/drawingml/2006/table">
            <a:tbl>
              <a:tblPr>
                <a:tableStyleId>{B301B821-A1FF-4177-AEE7-76D212191A09}</a:tableStyleId>
              </a:tblPr>
              <a:tblGrid>
                <a:gridCol w="1645603">
                  <a:extLst>
                    <a:ext uri="{9D8B030D-6E8A-4147-A177-3AD203B41FA5}">
                      <a16:colId xmlns:a16="http://schemas.microsoft.com/office/drawing/2014/main" val="3445013748"/>
                    </a:ext>
                  </a:extLst>
                </a:gridCol>
                <a:gridCol w="1645603">
                  <a:extLst>
                    <a:ext uri="{9D8B030D-6E8A-4147-A177-3AD203B41FA5}">
                      <a16:colId xmlns:a16="http://schemas.microsoft.com/office/drawing/2014/main" val="828537352"/>
                    </a:ext>
                  </a:extLst>
                </a:gridCol>
                <a:gridCol w="1645603">
                  <a:extLst>
                    <a:ext uri="{9D8B030D-6E8A-4147-A177-3AD203B41FA5}">
                      <a16:colId xmlns:a16="http://schemas.microsoft.com/office/drawing/2014/main" val="3601861717"/>
                    </a:ext>
                  </a:extLst>
                </a:gridCol>
                <a:gridCol w="1645603">
                  <a:extLst>
                    <a:ext uri="{9D8B030D-6E8A-4147-A177-3AD203B41FA5}">
                      <a16:colId xmlns:a16="http://schemas.microsoft.com/office/drawing/2014/main" val="653762241"/>
                    </a:ext>
                  </a:extLst>
                </a:gridCol>
                <a:gridCol w="1645603">
                  <a:extLst>
                    <a:ext uri="{9D8B030D-6E8A-4147-A177-3AD203B41FA5}">
                      <a16:colId xmlns:a16="http://schemas.microsoft.com/office/drawing/2014/main" val="2694085609"/>
                    </a:ext>
                  </a:extLst>
                </a:gridCol>
              </a:tblGrid>
              <a:tr h="640080">
                <a:tc>
                  <a:txBody>
                    <a:bodyPr/>
                    <a:lstStyle/>
                    <a:p>
                      <a:pPr>
                        <a:buNone/>
                      </a:pPr>
                      <a:r>
                        <a:rPr lang="en-IN" sz="1800"/>
                        <a:t>Model</a:t>
                      </a:r>
                    </a:p>
                  </a:txBody>
                  <a:tcPr anchor="ctr"/>
                </a:tc>
                <a:tc>
                  <a:txBody>
                    <a:bodyPr/>
                    <a:lstStyle/>
                    <a:p>
                      <a:pPr algn="r">
                        <a:buNone/>
                      </a:pPr>
                      <a:r>
                        <a:rPr lang="en-IN" sz="1800"/>
                        <a:t>Price</a:t>
                      </a:r>
                    </a:p>
                  </a:txBody>
                  <a:tcPr anchor="ctr"/>
                </a:tc>
                <a:tc>
                  <a:txBody>
                    <a:bodyPr/>
                    <a:lstStyle/>
                    <a:p>
                      <a:pPr algn="r">
                        <a:buNone/>
                      </a:pPr>
                      <a:r>
                        <a:rPr lang="en-IN" sz="1800"/>
                        <a:t>ROW_NUMBER</a:t>
                      </a:r>
                    </a:p>
                  </a:txBody>
                  <a:tcPr anchor="ctr"/>
                </a:tc>
                <a:tc>
                  <a:txBody>
                    <a:bodyPr/>
                    <a:lstStyle/>
                    <a:p>
                      <a:pPr algn="r">
                        <a:buNone/>
                      </a:pPr>
                      <a:r>
                        <a:rPr lang="en-IN" sz="1800"/>
                        <a:t>RANK</a:t>
                      </a:r>
                    </a:p>
                  </a:txBody>
                  <a:tcPr anchor="ctr"/>
                </a:tc>
                <a:tc>
                  <a:txBody>
                    <a:bodyPr/>
                    <a:lstStyle/>
                    <a:p>
                      <a:pPr algn="r">
                        <a:buNone/>
                      </a:pPr>
                      <a:r>
                        <a:rPr lang="en-IN" sz="1800"/>
                        <a:t>DENSE_RANK</a:t>
                      </a:r>
                    </a:p>
                  </a:txBody>
                  <a:tcPr anchor="ctr"/>
                </a:tc>
                <a:extLst>
                  <a:ext uri="{0D108BD9-81ED-4DB2-BD59-A6C34878D82A}">
                    <a16:rowId xmlns:a16="http://schemas.microsoft.com/office/drawing/2014/main" val="719966624"/>
                  </a:ext>
                </a:extLst>
              </a:tr>
              <a:tr h="365760">
                <a:tc>
                  <a:txBody>
                    <a:bodyPr/>
                    <a:lstStyle/>
                    <a:p>
                      <a:pPr>
                        <a:buNone/>
                      </a:pPr>
                      <a:r>
                        <a:rPr lang="en-IN" sz="1800"/>
                        <a:t>i7</a:t>
                      </a:r>
                    </a:p>
                  </a:txBody>
                  <a:tcPr anchor="ctr"/>
                </a:tc>
                <a:tc>
                  <a:txBody>
                    <a:bodyPr/>
                    <a:lstStyle/>
                    <a:p>
                      <a:pPr algn="r">
                        <a:buNone/>
                      </a:pPr>
                      <a:r>
                        <a:rPr lang="en-IN" sz="1800"/>
                        <a:t>100</a:t>
                      </a:r>
                    </a:p>
                  </a:txBody>
                  <a:tcPr anchor="ctr"/>
                </a:tc>
                <a:tc>
                  <a:txBody>
                    <a:bodyPr/>
                    <a:lstStyle/>
                    <a:p>
                      <a:pPr algn="r">
                        <a:buNone/>
                      </a:pPr>
                      <a:r>
                        <a:rPr lang="en-IN" sz="1800"/>
                        <a:t>1</a:t>
                      </a:r>
                    </a:p>
                  </a:txBody>
                  <a:tcPr anchor="ctr"/>
                </a:tc>
                <a:tc>
                  <a:txBody>
                    <a:bodyPr/>
                    <a:lstStyle/>
                    <a:p>
                      <a:pPr algn="r">
                        <a:buNone/>
                      </a:pPr>
                      <a:r>
                        <a:rPr lang="en-IN" sz="1800"/>
                        <a:t>1</a:t>
                      </a:r>
                    </a:p>
                  </a:txBody>
                  <a:tcPr anchor="ctr"/>
                </a:tc>
                <a:tc>
                  <a:txBody>
                    <a:bodyPr/>
                    <a:lstStyle/>
                    <a:p>
                      <a:pPr algn="r">
                        <a:buNone/>
                      </a:pPr>
                      <a:r>
                        <a:rPr lang="en-IN" sz="1800"/>
                        <a:t>1</a:t>
                      </a:r>
                    </a:p>
                  </a:txBody>
                  <a:tcPr anchor="ctr"/>
                </a:tc>
                <a:extLst>
                  <a:ext uri="{0D108BD9-81ED-4DB2-BD59-A6C34878D82A}">
                    <a16:rowId xmlns:a16="http://schemas.microsoft.com/office/drawing/2014/main" val="2715892220"/>
                  </a:ext>
                </a:extLst>
              </a:tr>
              <a:tr h="365760">
                <a:tc>
                  <a:txBody>
                    <a:bodyPr/>
                    <a:lstStyle/>
                    <a:p>
                      <a:pPr>
                        <a:buNone/>
                      </a:pPr>
                      <a:r>
                        <a:rPr lang="en-IN" sz="1800"/>
                        <a:t>X7</a:t>
                      </a:r>
                    </a:p>
                  </a:txBody>
                  <a:tcPr anchor="ctr"/>
                </a:tc>
                <a:tc>
                  <a:txBody>
                    <a:bodyPr/>
                    <a:lstStyle/>
                    <a:p>
                      <a:pPr algn="r">
                        <a:buNone/>
                      </a:pPr>
                      <a:r>
                        <a:rPr lang="en-IN" sz="1800"/>
                        <a:t>90</a:t>
                      </a:r>
                    </a:p>
                  </a:txBody>
                  <a:tcPr anchor="ctr"/>
                </a:tc>
                <a:tc>
                  <a:txBody>
                    <a:bodyPr/>
                    <a:lstStyle/>
                    <a:p>
                      <a:pPr algn="r">
                        <a:buNone/>
                      </a:pPr>
                      <a:r>
                        <a:rPr lang="en-IN" sz="1800"/>
                        <a:t>2</a:t>
                      </a:r>
                    </a:p>
                  </a:txBody>
                  <a:tcPr anchor="ctr"/>
                </a:tc>
                <a:tc>
                  <a:txBody>
                    <a:bodyPr/>
                    <a:lstStyle/>
                    <a:p>
                      <a:pPr algn="r">
                        <a:buNone/>
                      </a:pPr>
                      <a:r>
                        <a:rPr lang="en-IN" sz="1800"/>
                        <a:t>2</a:t>
                      </a:r>
                    </a:p>
                  </a:txBody>
                  <a:tcPr anchor="ctr"/>
                </a:tc>
                <a:tc>
                  <a:txBody>
                    <a:bodyPr/>
                    <a:lstStyle/>
                    <a:p>
                      <a:pPr algn="r">
                        <a:buNone/>
                      </a:pPr>
                      <a:r>
                        <a:rPr lang="en-IN" sz="1800"/>
                        <a:t>2</a:t>
                      </a:r>
                    </a:p>
                  </a:txBody>
                  <a:tcPr anchor="ctr"/>
                </a:tc>
                <a:extLst>
                  <a:ext uri="{0D108BD9-81ED-4DB2-BD59-A6C34878D82A}">
                    <a16:rowId xmlns:a16="http://schemas.microsoft.com/office/drawing/2014/main" val="1462365010"/>
                  </a:ext>
                </a:extLst>
              </a:tr>
              <a:tr h="365760">
                <a:tc>
                  <a:txBody>
                    <a:bodyPr/>
                    <a:lstStyle/>
                    <a:p>
                      <a:pPr>
                        <a:buNone/>
                      </a:pPr>
                      <a:r>
                        <a:rPr lang="en-IN" sz="1800"/>
                        <a:t>X5</a:t>
                      </a:r>
                    </a:p>
                  </a:txBody>
                  <a:tcPr anchor="ctr"/>
                </a:tc>
                <a:tc>
                  <a:txBody>
                    <a:bodyPr/>
                    <a:lstStyle/>
                    <a:p>
                      <a:pPr algn="r">
                        <a:buNone/>
                      </a:pPr>
                      <a:r>
                        <a:rPr lang="en-IN" sz="1800"/>
                        <a:t>90</a:t>
                      </a:r>
                    </a:p>
                  </a:txBody>
                  <a:tcPr anchor="ctr"/>
                </a:tc>
                <a:tc>
                  <a:txBody>
                    <a:bodyPr/>
                    <a:lstStyle/>
                    <a:p>
                      <a:pPr algn="r">
                        <a:buNone/>
                      </a:pPr>
                      <a:r>
                        <a:rPr lang="en-IN" sz="1800"/>
                        <a:t>3</a:t>
                      </a:r>
                    </a:p>
                  </a:txBody>
                  <a:tcPr anchor="ctr"/>
                </a:tc>
                <a:tc>
                  <a:txBody>
                    <a:bodyPr/>
                    <a:lstStyle/>
                    <a:p>
                      <a:pPr algn="r">
                        <a:buNone/>
                      </a:pPr>
                      <a:r>
                        <a:rPr lang="en-IN" sz="1800"/>
                        <a:t>2</a:t>
                      </a:r>
                    </a:p>
                  </a:txBody>
                  <a:tcPr anchor="ctr"/>
                </a:tc>
                <a:tc>
                  <a:txBody>
                    <a:bodyPr/>
                    <a:lstStyle/>
                    <a:p>
                      <a:pPr algn="r">
                        <a:buNone/>
                      </a:pPr>
                      <a:r>
                        <a:rPr lang="en-IN" sz="1800"/>
                        <a:t>2</a:t>
                      </a:r>
                    </a:p>
                  </a:txBody>
                  <a:tcPr anchor="ctr"/>
                </a:tc>
                <a:extLst>
                  <a:ext uri="{0D108BD9-81ED-4DB2-BD59-A6C34878D82A}">
                    <a16:rowId xmlns:a16="http://schemas.microsoft.com/office/drawing/2014/main" val="3444142114"/>
                  </a:ext>
                </a:extLst>
              </a:tr>
              <a:tr h="365760">
                <a:tc>
                  <a:txBody>
                    <a:bodyPr/>
                    <a:lstStyle/>
                    <a:p>
                      <a:pPr>
                        <a:buNone/>
                      </a:pPr>
                      <a:r>
                        <a:rPr lang="en-IN" sz="1800"/>
                        <a:t>iX</a:t>
                      </a:r>
                    </a:p>
                  </a:txBody>
                  <a:tcPr anchor="ctr"/>
                </a:tc>
                <a:tc>
                  <a:txBody>
                    <a:bodyPr/>
                    <a:lstStyle/>
                    <a:p>
                      <a:pPr algn="r">
                        <a:buNone/>
                      </a:pPr>
                      <a:r>
                        <a:rPr lang="en-IN" sz="1800"/>
                        <a:t>80</a:t>
                      </a:r>
                    </a:p>
                  </a:txBody>
                  <a:tcPr anchor="ctr"/>
                </a:tc>
                <a:tc>
                  <a:txBody>
                    <a:bodyPr/>
                    <a:lstStyle/>
                    <a:p>
                      <a:pPr algn="r">
                        <a:buNone/>
                      </a:pPr>
                      <a:r>
                        <a:rPr lang="en-IN" sz="1800"/>
                        <a:t>4</a:t>
                      </a:r>
                    </a:p>
                  </a:txBody>
                  <a:tcPr anchor="ctr"/>
                </a:tc>
                <a:tc>
                  <a:txBody>
                    <a:bodyPr/>
                    <a:lstStyle/>
                    <a:p>
                      <a:pPr algn="r">
                        <a:buNone/>
                      </a:pPr>
                      <a:r>
                        <a:rPr lang="en-IN" sz="1800"/>
                        <a:t>4</a:t>
                      </a:r>
                    </a:p>
                  </a:txBody>
                  <a:tcPr anchor="ctr"/>
                </a:tc>
                <a:tc>
                  <a:txBody>
                    <a:bodyPr/>
                    <a:lstStyle/>
                    <a:p>
                      <a:pPr algn="r">
                        <a:buNone/>
                      </a:pPr>
                      <a:r>
                        <a:rPr lang="en-IN" sz="1800" dirty="0"/>
                        <a:t>3</a:t>
                      </a:r>
                    </a:p>
                  </a:txBody>
                  <a:tcPr anchor="ctr"/>
                </a:tc>
                <a:extLst>
                  <a:ext uri="{0D108BD9-81ED-4DB2-BD59-A6C34878D82A}">
                    <a16:rowId xmlns:a16="http://schemas.microsoft.com/office/drawing/2014/main" val="1445773173"/>
                  </a:ext>
                </a:extLst>
              </a:tr>
            </a:tbl>
          </a:graphicData>
        </a:graphic>
      </p:graphicFrame>
    </p:spTree>
    <p:extLst>
      <p:ext uri="{BB962C8B-B14F-4D97-AF65-F5344CB8AC3E}">
        <p14:creationId xmlns:p14="http://schemas.microsoft.com/office/powerpoint/2010/main" val="1971737517"/>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07A17-E552-C2B1-0FF2-ED84616C221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496DDF-C7DE-144B-7411-8EBE3EA4B519}"/>
              </a:ext>
            </a:extLst>
          </p:cNvPr>
          <p:cNvSpPr>
            <a:spLocks noGrp="1"/>
          </p:cNvSpPr>
          <p:nvPr>
            <p:ph sz="quarter" idx="12"/>
          </p:nvPr>
        </p:nvSpPr>
        <p:spPr/>
        <p:txBody>
          <a:bodyPr>
            <a:normAutofit fontScale="92500" lnSpcReduction="20000"/>
          </a:bodyPr>
          <a:lstStyle/>
          <a:p>
            <a:r>
              <a:rPr lang="en-IN" dirty="0"/>
              <a:t>NTILE(n) divides ordered data into approximately equal groups.</a:t>
            </a:r>
          </a:p>
          <a:p>
            <a:pPr marL="225425" lvl="1" indent="0">
              <a:buNone/>
            </a:pPr>
            <a:r>
              <a:rPr lang="en-IN" dirty="0"/>
              <a:t>SELECT</a:t>
            </a:r>
          </a:p>
          <a:p>
            <a:pPr marL="225425" lvl="1" indent="0">
              <a:buNone/>
            </a:pPr>
            <a:r>
              <a:rPr lang="en-IN" dirty="0"/>
              <a:t>    model,</a:t>
            </a:r>
          </a:p>
          <a:p>
            <a:pPr marL="225425" lvl="1" indent="0">
              <a:buNone/>
            </a:pPr>
            <a:r>
              <a:rPr lang="en-IN" dirty="0"/>
              <a:t>    price,</a:t>
            </a:r>
          </a:p>
          <a:p>
            <a:pPr marL="225425" lvl="1" indent="0">
              <a:buNone/>
            </a:pPr>
            <a:r>
              <a:rPr lang="en-IN" dirty="0"/>
              <a:t>    NTILE(4) OVER (</a:t>
            </a:r>
          </a:p>
          <a:p>
            <a:pPr marL="225425" lvl="1" indent="0">
              <a:buNone/>
            </a:pPr>
            <a:r>
              <a:rPr lang="en-IN" dirty="0"/>
              <a:t>        ORDER BY price DESC</a:t>
            </a:r>
          </a:p>
          <a:p>
            <a:pPr marL="225425" lvl="1" indent="0">
              <a:buNone/>
            </a:pPr>
            <a:r>
              <a:rPr lang="en-IN" dirty="0"/>
              <a:t>    ) AS quartile FROM </a:t>
            </a:r>
            <a:r>
              <a:rPr lang="en-IN" dirty="0" err="1"/>
              <a:t>vehicle_sales</a:t>
            </a:r>
            <a:r>
              <a:rPr lang="en-IN" dirty="0"/>
              <a:t>;</a:t>
            </a:r>
          </a:p>
          <a:p>
            <a:r>
              <a:rPr lang="en-IN" dirty="0"/>
              <a:t>NTILE(4) creates four groups:</a:t>
            </a:r>
          </a:p>
          <a:p>
            <a:pPr lvl="1"/>
            <a:r>
              <a:rPr lang="en-IN" dirty="0"/>
              <a:t>1 → Top 25%</a:t>
            </a:r>
          </a:p>
          <a:p>
            <a:pPr lvl="1"/>
            <a:r>
              <a:rPr lang="en-IN" dirty="0"/>
              <a:t>2 → Next 25%</a:t>
            </a:r>
          </a:p>
          <a:p>
            <a:pPr lvl="1"/>
            <a:r>
              <a:rPr lang="en-IN" dirty="0"/>
              <a:t>3 → Next 25%</a:t>
            </a:r>
          </a:p>
          <a:p>
            <a:pPr lvl="1"/>
            <a:r>
              <a:rPr lang="en-IN" dirty="0"/>
              <a:t>4 → Bottom 25%</a:t>
            </a:r>
          </a:p>
          <a:p>
            <a:endParaRPr lang="en-IN" dirty="0"/>
          </a:p>
        </p:txBody>
      </p:sp>
      <p:sp>
        <p:nvSpPr>
          <p:cNvPr id="3" name="Title 2">
            <a:extLst>
              <a:ext uri="{FF2B5EF4-FFF2-40B4-BE49-F238E27FC236}">
                <a16:creationId xmlns:a16="http://schemas.microsoft.com/office/drawing/2014/main" id="{BA3AE736-5F8F-4570-19F8-7E59C7ADAA41}"/>
              </a:ext>
            </a:extLst>
          </p:cNvPr>
          <p:cNvSpPr>
            <a:spLocks noGrp="1"/>
          </p:cNvSpPr>
          <p:nvPr>
            <p:ph type="title"/>
          </p:nvPr>
        </p:nvSpPr>
        <p:spPr/>
        <p:txBody>
          <a:bodyPr/>
          <a:lstStyle/>
          <a:p>
            <a:r>
              <a:rPr lang="en-IN" dirty="0"/>
              <a:t>4. NTILE()</a:t>
            </a:r>
          </a:p>
        </p:txBody>
      </p:sp>
    </p:spTree>
    <p:extLst>
      <p:ext uri="{BB962C8B-B14F-4D97-AF65-F5344CB8AC3E}">
        <p14:creationId xmlns:p14="http://schemas.microsoft.com/office/powerpoint/2010/main" val="3343508553"/>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E6E2C-07A0-065C-5A9A-ADFDE63D21A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A54EB3B-D7E8-1ABD-64ED-8860DFEAE6F7}"/>
              </a:ext>
            </a:extLst>
          </p:cNvPr>
          <p:cNvSpPr>
            <a:spLocks noGrp="1"/>
          </p:cNvSpPr>
          <p:nvPr>
            <p:ph sz="quarter" idx="12"/>
          </p:nvPr>
        </p:nvSpPr>
        <p:spPr/>
        <p:txBody>
          <a:bodyPr>
            <a:normAutofit/>
          </a:bodyPr>
          <a:lstStyle/>
          <a:p>
            <a:r>
              <a:rPr lang="en-IN" dirty="0"/>
              <a:t>Example:</a:t>
            </a:r>
          </a:p>
          <a:p>
            <a:r>
              <a:rPr lang="en-IN" dirty="0"/>
              <a:t>SELECT</a:t>
            </a:r>
          </a:p>
          <a:p>
            <a:r>
              <a:rPr lang="en-IN" dirty="0"/>
              <a:t>    </a:t>
            </a:r>
            <a:r>
              <a:rPr lang="en-IN" dirty="0" err="1"/>
              <a:t>customer_id</a:t>
            </a:r>
            <a:r>
              <a:rPr lang="en-IN" dirty="0"/>
              <a:t>,</a:t>
            </a:r>
          </a:p>
          <a:p>
            <a:r>
              <a:rPr lang="en-IN" dirty="0"/>
              <a:t>    </a:t>
            </a:r>
            <a:r>
              <a:rPr lang="en-IN" dirty="0" err="1"/>
              <a:t>total_purchase</a:t>
            </a:r>
            <a:r>
              <a:rPr lang="en-IN" dirty="0"/>
              <a:t>,</a:t>
            </a:r>
          </a:p>
          <a:p>
            <a:r>
              <a:rPr lang="en-IN" dirty="0"/>
              <a:t>    NTILE(10) OVER (</a:t>
            </a:r>
          </a:p>
          <a:p>
            <a:r>
              <a:rPr lang="en-IN" dirty="0"/>
              <a:t>        ORDER BY </a:t>
            </a:r>
            <a:r>
              <a:rPr lang="en-IN" dirty="0" err="1"/>
              <a:t>total_purchase</a:t>
            </a:r>
            <a:r>
              <a:rPr lang="en-IN" dirty="0"/>
              <a:t> DESC</a:t>
            </a:r>
          </a:p>
          <a:p>
            <a:r>
              <a:rPr lang="en-IN" dirty="0"/>
              <a:t>    ) AS </a:t>
            </a:r>
            <a:r>
              <a:rPr lang="en-IN" dirty="0" err="1"/>
              <a:t>customer_decile</a:t>
            </a:r>
            <a:endParaRPr lang="en-IN" dirty="0"/>
          </a:p>
          <a:p>
            <a:r>
              <a:rPr lang="en-IN" dirty="0"/>
              <a:t>FROM </a:t>
            </a:r>
            <a:r>
              <a:rPr lang="en-IN" dirty="0" err="1"/>
              <a:t>customer_sales</a:t>
            </a:r>
            <a:r>
              <a:rPr lang="en-IN" dirty="0"/>
              <a:t>;</a:t>
            </a:r>
          </a:p>
          <a:p>
            <a:r>
              <a:rPr lang="en-IN" dirty="0"/>
              <a:t>NTILE(10) creates ten approximately equal buckets.</a:t>
            </a:r>
          </a:p>
          <a:p>
            <a:endParaRPr lang="en-IN" dirty="0"/>
          </a:p>
        </p:txBody>
      </p:sp>
      <p:sp>
        <p:nvSpPr>
          <p:cNvPr id="3" name="Title 2">
            <a:extLst>
              <a:ext uri="{FF2B5EF4-FFF2-40B4-BE49-F238E27FC236}">
                <a16:creationId xmlns:a16="http://schemas.microsoft.com/office/drawing/2014/main" id="{A89E7C98-392D-232E-5300-56141A8FEA15}"/>
              </a:ext>
            </a:extLst>
          </p:cNvPr>
          <p:cNvSpPr>
            <a:spLocks noGrp="1"/>
          </p:cNvSpPr>
          <p:nvPr>
            <p:ph type="title"/>
          </p:nvPr>
        </p:nvSpPr>
        <p:spPr/>
        <p:txBody>
          <a:bodyPr/>
          <a:lstStyle/>
          <a:p>
            <a:r>
              <a:rPr lang="en-IN" dirty="0"/>
              <a:t>4. NTILE()</a:t>
            </a:r>
          </a:p>
        </p:txBody>
      </p:sp>
    </p:spTree>
    <p:extLst>
      <p:ext uri="{BB962C8B-B14F-4D97-AF65-F5344CB8AC3E}">
        <p14:creationId xmlns:p14="http://schemas.microsoft.com/office/powerpoint/2010/main" val="1175002845"/>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471DB-159B-18C6-CDA2-4E3B432BB1E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E152EB4-A705-7E86-6687-FED2C37B2D80}"/>
              </a:ext>
            </a:extLst>
          </p:cNvPr>
          <p:cNvSpPr>
            <a:spLocks noGrp="1"/>
          </p:cNvSpPr>
          <p:nvPr>
            <p:ph sz="quarter" idx="12"/>
          </p:nvPr>
        </p:nvSpPr>
        <p:spPr/>
        <p:txBody>
          <a:bodyPr>
            <a:normAutofit/>
          </a:bodyPr>
          <a:lstStyle/>
          <a:p>
            <a:r>
              <a:rPr lang="en-IN" dirty="0"/>
              <a:t>LAG() accesses a previous row.</a:t>
            </a:r>
          </a:p>
          <a:p>
            <a:r>
              <a:rPr lang="en-IN" dirty="0"/>
              <a:t>Suppose:</a:t>
            </a:r>
          </a:p>
          <a:p>
            <a:r>
              <a:rPr lang="en-IN" dirty="0"/>
              <a:t>Date        Revenue</a:t>
            </a:r>
          </a:p>
          <a:p>
            <a:r>
              <a:rPr lang="en-IN" dirty="0"/>
              <a:t>--------------------</a:t>
            </a:r>
          </a:p>
          <a:p>
            <a:r>
              <a:rPr lang="en-IN" dirty="0"/>
              <a:t>2026-01-01    100</a:t>
            </a:r>
          </a:p>
          <a:p>
            <a:r>
              <a:rPr lang="en-IN" dirty="0"/>
              <a:t>2026-01-02    120</a:t>
            </a:r>
          </a:p>
          <a:p>
            <a:r>
              <a:rPr lang="en-IN" dirty="0"/>
              <a:t>2026-01-03    150</a:t>
            </a:r>
          </a:p>
          <a:p>
            <a:endParaRPr lang="en-IN" dirty="0"/>
          </a:p>
        </p:txBody>
      </p:sp>
      <p:sp>
        <p:nvSpPr>
          <p:cNvPr id="3" name="Title 2">
            <a:extLst>
              <a:ext uri="{FF2B5EF4-FFF2-40B4-BE49-F238E27FC236}">
                <a16:creationId xmlns:a16="http://schemas.microsoft.com/office/drawing/2014/main" id="{5DAA626B-99B2-25C7-E2D7-151C5D8A0DF5}"/>
              </a:ext>
            </a:extLst>
          </p:cNvPr>
          <p:cNvSpPr>
            <a:spLocks noGrp="1"/>
          </p:cNvSpPr>
          <p:nvPr>
            <p:ph type="title"/>
          </p:nvPr>
        </p:nvSpPr>
        <p:spPr/>
        <p:txBody>
          <a:bodyPr/>
          <a:lstStyle/>
          <a:p>
            <a:r>
              <a:rPr lang="en-IN" dirty="0"/>
              <a:t>5. LAG()</a:t>
            </a:r>
          </a:p>
        </p:txBody>
      </p:sp>
    </p:spTree>
    <p:extLst>
      <p:ext uri="{BB962C8B-B14F-4D97-AF65-F5344CB8AC3E}">
        <p14:creationId xmlns:p14="http://schemas.microsoft.com/office/powerpoint/2010/main" val="2529636238"/>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851FC-93CB-B960-0B19-4FA4AAC6185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9A29154-EC14-82C8-6F7C-00C52CE38DFA}"/>
              </a:ext>
            </a:extLst>
          </p:cNvPr>
          <p:cNvSpPr>
            <a:spLocks noGrp="1"/>
          </p:cNvSpPr>
          <p:nvPr>
            <p:ph sz="quarter" idx="12"/>
          </p:nvPr>
        </p:nvSpPr>
        <p:spPr/>
        <p:txBody>
          <a:bodyPr>
            <a:normAutofit/>
          </a:bodyPr>
          <a:lstStyle/>
          <a:p>
            <a:r>
              <a:rPr lang="en-IN" dirty="0"/>
              <a:t>SELECT</a:t>
            </a:r>
          </a:p>
          <a:p>
            <a:r>
              <a:rPr lang="en-IN" dirty="0"/>
              <a:t>    </a:t>
            </a:r>
            <a:r>
              <a:rPr lang="en-IN" dirty="0" err="1"/>
              <a:t>sale_date</a:t>
            </a:r>
            <a:r>
              <a:rPr lang="en-IN" dirty="0"/>
              <a:t>,</a:t>
            </a:r>
          </a:p>
          <a:p>
            <a:r>
              <a:rPr lang="en-IN" dirty="0"/>
              <a:t>    revenue,</a:t>
            </a:r>
          </a:p>
          <a:p>
            <a:r>
              <a:rPr lang="en-IN" dirty="0"/>
              <a:t>    LAG(revenue) OVER (</a:t>
            </a:r>
          </a:p>
          <a:p>
            <a:r>
              <a:rPr lang="en-IN" dirty="0"/>
              <a:t>        ORDER BY </a:t>
            </a:r>
            <a:r>
              <a:rPr lang="en-IN" dirty="0" err="1"/>
              <a:t>sale_date</a:t>
            </a:r>
            <a:endParaRPr lang="en-IN" dirty="0"/>
          </a:p>
          <a:p>
            <a:r>
              <a:rPr lang="en-IN" dirty="0"/>
              <a:t>    ) AS </a:t>
            </a:r>
            <a:r>
              <a:rPr lang="en-IN" dirty="0" err="1"/>
              <a:t>previous_revenue</a:t>
            </a:r>
            <a:endParaRPr lang="en-IN" dirty="0"/>
          </a:p>
          <a:p>
            <a:r>
              <a:rPr lang="en-IN" dirty="0"/>
              <a:t>FROM </a:t>
            </a:r>
            <a:r>
              <a:rPr lang="en-IN" dirty="0" err="1"/>
              <a:t>daily_sales</a:t>
            </a:r>
            <a:r>
              <a:rPr lang="en-IN" dirty="0"/>
              <a:t>;</a:t>
            </a:r>
          </a:p>
          <a:p>
            <a:endParaRPr lang="en-IN" dirty="0"/>
          </a:p>
        </p:txBody>
      </p:sp>
      <p:sp>
        <p:nvSpPr>
          <p:cNvPr id="3" name="Title 2">
            <a:extLst>
              <a:ext uri="{FF2B5EF4-FFF2-40B4-BE49-F238E27FC236}">
                <a16:creationId xmlns:a16="http://schemas.microsoft.com/office/drawing/2014/main" id="{4AD27913-3292-FAC5-81EE-F2DBE07C5EE2}"/>
              </a:ext>
            </a:extLst>
          </p:cNvPr>
          <p:cNvSpPr>
            <a:spLocks noGrp="1"/>
          </p:cNvSpPr>
          <p:nvPr>
            <p:ph type="title"/>
          </p:nvPr>
        </p:nvSpPr>
        <p:spPr/>
        <p:txBody>
          <a:bodyPr/>
          <a:lstStyle/>
          <a:p>
            <a:r>
              <a:rPr lang="en-IN" dirty="0"/>
              <a:t>5. LAG()</a:t>
            </a:r>
          </a:p>
        </p:txBody>
      </p:sp>
    </p:spTree>
    <p:extLst>
      <p:ext uri="{BB962C8B-B14F-4D97-AF65-F5344CB8AC3E}">
        <p14:creationId xmlns:p14="http://schemas.microsoft.com/office/powerpoint/2010/main" val="4027046430"/>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1A99A-A6BD-0455-21A5-84EEB39857B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1F6ACF5-BA76-2D24-9D55-4D3F6CEDB10E}"/>
              </a:ext>
            </a:extLst>
          </p:cNvPr>
          <p:cNvSpPr>
            <a:spLocks noGrp="1"/>
          </p:cNvSpPr>
          <p:nvPr>
            <p:ph type="title"/>
          </p:nvPr>
        </p:nvSpPr>
        <p:spPr/>
        <p:txBody>
          <a:bodyPr/>
          <a:lstStyle/>
          <a:p>
            <a:r>
              <a:rPr lang="en-IN" dirty="0"/>
              <a:t>5. LAG()</a:t>
            </a:r>
          </a:p>
        </p:txBody>
      </p:sp>
      <p:sp>
        <p:nvSpPr>
          <p:cNvPr id="7" name="TextBox 6">
            <a:extLst>
              <a:ext uri="{FF2B5EF4-FFF2-40B4-BE49-F238E27FC236}">
                <a16:creationId xmlns:a16="http://schemas.microsoft.com/office/drawing/2014/main" id="{9EEE3C79-BFD2-0B5B-F466-4A2DEB3BA5D1}"/>
              </a:ext>
            </a:extLst>
          </p:cNvPr>
          <p:cNvSpPr txBox="1"/>
          <p:nvPr/>
        </p:nvSpPr>
        <p:spPr>
          <a:xfrm>
            <a:off x="1752600" y="1828800"/>
            <a:ext cx="5181600" cy="1477328"/>
          </a:xfrm>
          <a:prstGeom prst="rect">
            <a:avLst/>
          </a:prstGeom>
          <a:noFill/>
        </p:spPr>
        <p:txBody>
          <a:bodyPr wrap="square">
            <a:spAutoFit/>
          </a:bodyPr>
          <a:lstStyle/>
          <a:p>
            <a:r>
              <a:rPr lang="en-US" dirty="0"/>
              <a:t>Date        Revenue    Previous</a:t>
            </a:r>
          </a:p>
          <a:p>
            <a:r>
              <a:rPr lang="en-US" dirty="0"/>
              <a:t>-------------------------------</a:t>
            </a:r>
          </a:p>
          <a:p>
            <a:r>
              <a:rPr lang="en-US" dirty="0"/>
              <a:t>Jan 1       100        NULL</a:t>
            </a:r>
          </a:p>
          <a:p>
            <a:r>
              <a:rPr lang="en-US" dirty="0"/>
              <a:t>Jan 2       120        100</a:t>
            </a:r>
          </a:p>
          <a:p>
            <a:r>
              <a:rPr lang="en-US" dirty="0"/>
              <a:t>Jan 3       150        120</a:t>
            </a:r>
            <a:endParaRPr lang="en-IN" dirty="0"/>
          </a:p>
        </p:txBody>
      </p:sp>
    </p:spTree>
    <p:extLst>
      <p:ext uri="{BB962C8B-B14F-4D97-AF65-F5344CB8AC3E}">
        <p14:creationId xmlns:p14="http://schemas.microsoft.com/office/powerpoint/2010/main" val="544326217"/>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6760E-E6DB-FA07-BC03-89ADABB7B08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B8CD398-D85C-219E-5394-8108D3F47743}"/>
              </a:ext>
            </a:extLst>
          </p:cNvPr>
          <p:cNvSpPr>
            <a:spLocks noGrp="1"/>
          </p:cNvSpPr>
          <p:nvPr>
            <p:ph sz="quarter" idx="12"/>
          </p:nvPr>
        </p:nvSpPr>
        <p:spPr/>
        <p:txBody>
          <a:bodyPr>
            <a:normAutofit fontScale="77500" lnSpcReduction="20000"/>
          </a:bodyPr>
          <a:lstStyle/>
          <a:p>
            <a:r>
              <a:rPr lang="en-IN" dirty="0"/>
              <a:t>LEAD() does the opposite of LAG().</a:t>
            </a:r>
          </a:p>
          <a:p>
            <a:r>
              <a:rPr lang="en-IN" dirty="0"/>
              <a:t>SELECT </a:t>
            </a:r>
          </a:p>
          <a:p>
            <a:r>
              <a:rPr lang="en-IN" dirty="0"/>
              <a:t>    </a:t>
            </a:r>
            <a:r>
              <a:rPr lang="en-IN" dirty="0" err="1"/>
              <a:t>sale_date</a:t>
            </a:r>
            <a:r>
              <a:rPr lang="en-IN" dirty="0"/>
              <a:t>,    revenue, </a:t>
            </a:r>
          </a:p>
          <a:p>
            <a:r>
              <a:rPr lang="en-IN" dirty="0"/>
              <a:t>    LEAD(revenue) OVER (</a:t>
            </a:r>
          </a:p>
          <a:p>
            <a:r>
              <a:rPr lang="en-IN" dirty="0"/>
              <a:t>        ORDER BY </a:t>
            </a:r>
            <a:r>
              <a:rPr lang="en-IN" dirty="0" err="1"/>
              <a:t>sale_date</a:t>
            </a:r>
            <a:endParaRPr lang="en-IN" dirty="0"/>
          </a:p>
          <a:p>
            <a:r>
              <a:rPr lang="en-IN" dirty="0"/>
              <a:t>    ) AS </a:t>
            </a:r>
            <a:r>
              <a:rPr lang="en-IN" dirty="0" err="1"/>
              <a:t>next_revenue</a:t>
            </a:r>
            <a:r>
              <a:rPr lang="en-IN" dirty="0"/>
              <a:t> </a:t>
            </a:r>
          </a:p>
          <a:p>
            <a:r>
              <a:rPr lang="en-IN" dirty="0"/>
              <a:t>FROM </a:t>
            </a:r>
            <a:r>
              <a:rPr lang="en-IN" dirty="0" err="1"/>
              <a:t>daily_sales</a:t>
            </a:r>
            <a:r>
              <a:rPr lang="en-IN" dirty="0"/>
              <a:t>;</a:t>
            </a:r>
          </a:p>
          <a:p>
            <a:r>
              <a:rPr lang="en-IN" dirty="0"/>
              <a:t>Conceptually:</a:t>
            </a:r>
          </a:p>
          <a:p>
            <a:r>
              <a:rPr lang="en-IN" dirty="0"/>
              <a:t>Current   LAG     LEAD</a:t>
            </a:r>
          </a:p>
          <a:p>
            <a:r>
              <a:rPr lang="en-IN" dirty="0"/>
              <a:t>100       NULL    120</a:t>
            </a:r>
          </a:p>
          <a:p>
            <a:r>
              <a:rPr lang="en-IN" dirty="0"/>
              <a:t>120       100     150</a:t>
            </a:r>
          </a:p>
          <a:p>
            <a:r>
              <a:rPr lang="en-IN" dirty="0"/>
              <a:t>150       120     NULL</a:t>
            </a:r>
          </a:p>
          <a:p>
            <a:endParaRPr lang="en-IN" dirty="0"/>
          </a:p>
        </p:txBody>
      </p:sp>
      <p:sp>
        <p:nvSpPr>
          <p:cNvPr id="3" name="Title 2">
            <a:extLst>
              <a:ext uri="{FF2B5EF4-FFF2-40B4-BE49-F238E27FC236}">
                <a16:creationId xmlns:a16="http://schemas.microsoft.com/office/drawing/2014/main" id="{D79264FB-D064-B7E0-3583-9970C47F64C6}"/>
              </a:ext>
            </a:extLst>
          </p:cNvPr>
          <p:cNvSpPr>
            <a:spLocks noGrp="1"/>
          </p:cNvSpPr>
          <p:nvPr>
            <p:ph type="title"/>
          </p:nvPr>
        </p:nvSpPr>
        <p:spPr/>
        <p:txBody>
          <a:bodyPr/>
          <a:lstStyle/>
          <a:p>
            <a:r>
              <a:rPr lang="en-IN" dirty="0"/>
              <a:t>6. LEAD()</a:t>
            </a:r>
          </a:p>
        </p:txBody>
      </p:sp>
    </p:spTree>
    <p:extLst>
      <p:ext uri="{BB962C8B-B14F-4D97-AF65-F5344CB8AC3E}">
        <p14:creationId xmlns:p14="http://schemas.microsoft.com/office/powerpoint/2010/main" val="2656361568"/>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4D659-369B-6620-D0DB-E3DB47AF07C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61F4BD-2FB9-B5E9-4D13-D23AEBC2562C}"/>
              </a:ext>
            </a:extLst>
          </p:cNvPr>
          <p:cNvSpPr>
            <a:spLocks noGrp="1"/>
          </p:cNvSpPr>
          <p:nvPr>
            <p:ph sz="quarter" idx="12"/>
          </p:nvPr>
        </p:nvSpPr>
        <p:spPr>
          <a:xfrm>
            <a:off x="457201" y="1381124"/>
            <a:ext cx="8228012" cy="5172075"/>
          </a:xfrm>
        </p:spPr>
        <p:txBody>
          <a:bodyPr>
            <a:normAutofit fontScale="92500" lnSpcReduction="20000"/>
          </a:bodyPr>
          <a:lstStyle/>
          <a:p>
            <a:r>
              <a:rPr lang="en-IN" dirty="0"/>
              <a:t>Returns the first value within the window.</a:t>
            </a:r>
          </a:p>
          <a:p>
            <a:r>
              <a:rPr lang="en-IN" dirty="0"/>
              <a:t>SELECT</a:t>
            </a:r>
          </a:p>
          <a:p>
            <a:r>
              <a:rPr lang="en-IN" dirty="0"/>
              <a:t>    city,</a:t>
            </a:r>
          </a:p>
          <a:p>
            <a:r>
              <a:rPr lang="en-IN" dirty="0"/>
              <a:t>    model,</a:t>
            </a:r>
          </a:p>
          <a:p>
            <a:r>
              <a:rPr lang="en-IN" dirty="0"/>
              <a:t>    price,</a:t>
            </a:r>
          </a:p>
          <a:p>
            <a:r>
              <a:rPr lang="en-IN" dirty="0"/>
              <a:t>    FIRST_VALUE(model) OVER (</a:t>
            </a:r>
          </a:p>
          <a:p>
            <a:r>
              <a:rPr lang="en-IN" dirty="0"/>
              <a:t>        PARTITION BY city</a:t>
            </a:r>
          </a:p>
          <a:p>
            <a:r>
              <a:rPr lang="en-IN" dirty="0"/>
              <a:t>        ORDER BY price DESC</a:t>
            </a:r>
          </a:p>
          <a:p>
            <a:r>
              <a:rPr lang="en-IN" dirty="0"/>
              <a:t>    ) AS </a:t>
            </a:r>
            <a:r>
              <a:rPr lang="en-IN" dirty="0" err="1"/>
              <a:t>most_expensive_model</a:t>
            </a:r>
            <a:endParaRPr lang="en-IN" dirty="0"/>
          </a:p>
          <a:p>
            <a:r>
              <a:rPr lang="en-IN" dirty="0"/>
              <a:t>FROM </a:t>
            </a:r>
            <a:r>
              <a:rPr lang="en-IN" dirty="0" err="1"/>
              <a:t>vehicle_sales</a:t>
            </a:r>
            <a:r>
              <a:rPr lang="en-IN" dirty="0"/>
              <a:t>;</a:t>
            </a:r>
          </a:p>
          <a:p>
            <a:r>
              <a:rPr lang="en-IN" dirty="0"/>
              <a:t>Every row in each city can display the highest-priced model.</a:t>
            </a:r>
          </a:p>
          <a:p>
            <a:endParaRPr lang="en-IN" dirty="0"/>
          </a:p>
        </p:txBody>
      </p:sp>
      <p:sp>
        <p:nvSpPr>
          <p:cNvPr id="3" name="Title 2">
            <a:extLst>
              <a:ext uri="{FF2B5EF4-FFF2-40B4-BE49-F238E27FC236}">
                <a16:creationId xmlns:a16="http://schemas.microsoft.com/office/drawing/2014/main" id="{F9103082-52DA-AC58-7569-B79B7759A226}"/>
              </a:ext>
            </a:extLst>
          </p:cNvPr>
          <p:cNvSpPr>
            <a:spLocks noGrp="1"/>
          </p:cNvSpPr>
          <p:nvPr>
            <p:ph type="title"/>
          </p:nvPr>
        </p:nvSpPr>
        <p:spPr/>
        <p:txBody>
          <a:bodyPr/>
          <a:lstStyle/>
          <a:p>
            <a:r>
              <a:rPr lang="en-IN" dirty="0"/>
              <a:t>7. FIRST_VALUE()</a:t>
            </a:r>
          </a:p>
        </p:txBody>
      </p:sp>
    </p:spTree>
    <p:extLst>
      <p:ext uri="{BB962C8B-B14F-4D97-AF65-F5344CB8AC3E}">
        <p14:creationId xmlns:p14="http://schemas.microsoft.com/office/powerpoint/2010/main" val="1760036313"/>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A3535-2FE3-5372-F1A0-45BD7E694B8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A8ACC3-EAB7-B5F3-73F7-112671F57688}"/>
              </a:ext>
            </a:extLst>
          </p:cNvPr>
          <p:cNvSpPr>
            <a:spLocks noGrp="1"/>
          </p:cNvSpPr>
          <p:nvPr>
            <p:ph sz="quarter" idx="12"/>
          </p:nvPr>
        </p:nvSpPr>
        <p:spPr>
          <a:xfrm>
            <a:off x="457201" y="1381124"/>
            <a:ext cx="8228012" cy="5172075"/>
          </a:xfrm>
        </p:spPr>
        <p:txBody>
          <a:bodyPr>
            <a:normAutofit/>
          </a:bodyPr>
          <a:lstStyle/>
          <a:p>
            <a:r>
              <a:rPr lang="en-IN" dirty="0"/>
              <a:t>LAST_VALUE() has an important trap.</a:t>
            </a:r>
          </a:p>
          <a:p>
            <a:r>
              <a:rPr lang="en-IN" dirty="0"/>
              <a:t>This query may not produce what beginners expect:</a:t>
            </a:r>
          </a:p>
          <a:p>
            <a:r>
              <a:rPr lang="en-IN" dirty="0"/>
              <a:t>LAST_VALUE(price) OVER (</a:t>
            </a:r>
          </a:p>
          <a:p>
            <a:r>
              <a:rPr lang="en-IN" dirty="0"/>
              <a:t>    PARTITION BY city</a:t>
            </a:r>
          </a:p>
          <a:p>
            <a:r>
              <a:rPr lang="en-IN" dirty="0"/>
              <a:t>    ORDER BY price</a:t>
            </a:r>
          </a:p>
          <a:p>
            <a:r>
              <a:rPr lang="en-IN" dirty="0"/>
              <a:t>)</a:t>
            </a:r>
          </a:p>
          <a:p>
            <a:endParaRPr lang="en-IN" dirty="0"/>
          </a:p>
        </p:txBody>
      </p:sp>
      <p:sp>
        <p:nvSpPr>
          <p:cNvPr id="3" name="Title 2">
            <a:extLst>
              <a:ext uri="{FF2B5EF4-FFF2-40B4-BE49-F238E27FC236}">
                <a16:creationId xmlns:a16="http://schemas.microsoft.com/office/drawing/2014/main" id="{75CB418F-F635-17DF-4F26-3D8B33CB3293}"/>
              </a:ext>
            </a:extLst>
          </p:cNvPr>
          <p:cNvSpPr>
            <a:spLocks noGrp="1"/>
          </p:cNvSpPr>
          <p:nvPr>
            <p:ph type="title"/>
          </p:nvPr>
        </p:nvSpPr>
        <p:spPr/>
        <p:txBody>
          <a:bodyPr/>
          <a:lstStyle/>
          <a:p>
            <a:r>
              <a:rPr lang="en-IN" dirty="0"/>
              <a:t>8. LAST_VALUE()</a:t>
            </a:r>
          </a:p>
        </p:txBody>
      </p:sp>
    </p:spTree>
    <p:extLst>
      <p:ext uri="{BB962C8B-B14F-4D97-AF65-F5344CB8AC3E}">
        <p14:creationId xmlns:p14="http://schemas.microsoft.com/office/powerpoint/2010/main" val="3465763279"/>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5E094-735A-BFE1-B4EC-460D93DD6D1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889AE29-D175-CDCF-7CF5-8C7027C637B8}"/>
              </a:ext>
            </a:extLst>
          </p:cNvPr>
          <p:cNvSpPr>
            <a:spLocks noGrp="1"/>
          </p:cNvSpPr>
          <p:nvPr>
            <p:ph sz="quarter" idx="12"/>
          </p:nvPr>
        </p:nvSpPr>
        <p:spPr>
          <a:xfrm>
            <a:off x="457201" y="1381124"/>
            <a:ext cx="8228012" cy="5172075"/>
          </a:xfrm>
        </p:spPr>
        <p:txBody>
          <a:bodyPr>
            <a:normAutofit/>
          </a:bodyPr>
          <a:lstStyle/>
          <a:p>
            <a:r>
              <a:rPr lang="en-IN" dirty="0"/>
              <a:t>SELECT city, model, price, SUM(price) OVER ( PARTITION BY city ) AS </a:t>
            </a:r>
            <a:r>
              <a:rPr lang="en-IN" dirty="0" err="1"/>
              <a:t>city_total</a:t>
            </a:r>
            <a:r>
              <a:rPr lang="en-IN" dirty="0"/>
              <a:t> FROM </a:t>
            </a:r>
            <a:r>
              <a:rPr lang="en-IN" dirty="0" err="1"/>
              <a:t>vehicle_sales</a:t>
            </a:r>
            <a:r>
              <a:rPr lang="en-IN" dirty="0"/>
              <a:t>;</a:t>
            </a:r>
          </a:p>
        </p:txBody>
      </p:sp>
      <p:sp>
        <p:nvSpPr>
          <p:cNvPr id="3" name="Title 2">
            <a:extLst>
              <a:ext uri="{FF2B5EF4-FFF2-40B4-BE49-F238E27FC236}">
                <a16:creationId xmlns:a16="http://schemas.microsoft.com/office/drawing/2014/main" id="{95897155-A7E9-C71E-7D31-7992089B329E}"/>
              </a:ext>
            </a:extLst>
          </p:cNvPr>
          <p:cNvSpPr>
            <a:spLocks noGrp="1"/>
          </p:cNvSpPr>
          <p:nvPr>
            <p:ph type="title"/>
          </p:nvPr>
        </p:nvSpPr>
        <p:spPr/>
        <p:txBody>
          <a:bodyPr/>
          <a:lstStyle/>
          <a:p>
            <a:r>
              <a:rPr lang="en-IN" dirty="0"/>
              <a:t>9. PARTITION BY</a:t>
            </a:r>
          </a:p>
        </p:txBody>
      </p:sp>
    </p:spTree>
    <p:extLst>
      <p:ext uri="{BB962C8B-B14F-4D97-AF65-F5344CB8AC3E}">
        <p14:creationId xmlns:p14="http://schemas.microsoft.com/office/powerpoint/2010/main" val="876948438"/>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6EB4A-D87E-13E7-691C-3A7D9304DD3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B754961-2B7B-16B8-2143-695503859747}"/>
              </a:ext>
            </a:extLst>
          </p:cNvPr>
          <p:cNvSpPr>
            <a:spLocks noGrp="1"/>
          </p:cNvSpPr>
          <p:nvPr>
            <p:ph sz="quarter" idx="12"/>
          </p:nvPr>
        </p:nvSpPr>
        <p:spPr>
          <a:xfrm>
            <a:off x="457201" y="1381124"/>
            <a:ext cx="8228012" cy="5172075"/>
          </a:xfrm>
        </p:spPr>
        <p:txBody>
          <a:bodyPr>
            <a:normAutofit fontScale="92500" lnSpcReduction="20000"/>
          </a:bodyPr>
          <a:lstStyle/>
          <a:p>
            <a:r>
              <a:rPr lang="en-IN" dirty="0"/>
              <a:t>The ORDER BY inside OVER() is different from the final query's ORDER BY.</a:t>
            </a:r>
          </a:p>
          <a:p>
            <a:r>
              <a:rPr lang="en-IN" dirty="0"/>
              <a:t>SELECT</a:t>
            </a:r>
          </a:p>
          <a:p>
            <a:r>
              <a:rPr lang="en-IN" dirty="0"/>
              <a:t>    city,</a:t>
            </a:r>
          </a:p>
          <a:p>
            <a:r>
              <a:rPr lang="en-IN" dirty="0"/>
              <a:t>    model,</a:t>
            </a:r>
          </a:p>
          <a:p>
            <a:r>
              <a:rPr lang="en-IN" dirty="0"/>
              <a:t>    price,</a:t>
            </a:r>
          </a:p>
          <a:p>
            <a:r>
              <a:rPr lang="en-IN" dirty="0"/>
              <a:t>    ROW_NUMBER() OVER (</a:t>
            </a:r>
          </a:p>
          <a:p>
            <a:r>
              <a:rPr lang="en-IN" dirty="0"/>
              <a:t>        PARTITION BY city</a:t>
            </a:r>
          </a:p>
          <a:p>
            <a:r>
              <a:rPr lang="en-IN" dirty="0"/>
              <a:t>        ORDER BY price DESC</a:t>
            </a:r>
          </a:p>
          <a:p>
            <a:r>
              <a:rPr lang="en-IN" dirty="0"/>
              <a:t>    ) AS </a:t>
            </a:r>
            <a:r>
              <a:rPr lang="en-IN" dirty="0" err="1"/>
              <a:t>rank_number</a:t>
            </a:r>
            <a:r>
              <a:rPr lang="en-IN" dirty="0"/>
              <a:t> </a:t>
            </a:r>
          </a:p>
          <a:p>
            <a:r>
              <a:rPr lang="en-IN" dirty="0"/>
              <a:t>FROM </a:t>
            </a:r>
            <a:r>
              <a:rPr lang="en-IN" dirty="0" err="1"/>
              <a:t>vehicle_sales</a:t>
            </a:r>
            <a:r>
              <a:rPr lang="en-IN" dirty="0"/>
              <a:t> </a:t>
            </a:r>
          </a:p>
          <a:p>
            <a:r>
              <a:rPr lang="en-IN" dirty="0"/>
              <a:t>ORDER BY city;</a:t>
            </a:r>
          </a:p>
        </p:txBody>
      </p:sp>
      <p:sp>
        <p:nvSpPr>
          <p:cNvPr id="3" name="Title 2">
            <a:extLst>
              <a:ext uri="{FF2B5EF4-FFF2-40B4-BE49-F238E27FC236}">
                <a16:creationId xmlns:a16="http://schemas.microsoft.com/office/drawing/2014/main" id="{FF98604C-6BA6-2312-5BF1-44EA27E2DD1E}"/>
              </a:ext>
            </a:extLst>
          </p:cNvPr>
          <p:cNvSpPr>
            <a:spLocks noGrp="1"/>
          </p:cNvSpPr>
          <p:nvPr>
            <p:ph type="title"/>
          </p:nvPr>
        </p:nvSpPr>
        <p:spPr/>
        <p:txBody>
          <a:bodyPr/>
          <a:lstStyle/>
          <a:p>
            <a:r>
              <a:rPr lang="en-IN" dirty="0"/>
              <a:t>10. ORDER BY Inside Window</a:t>
            </a:r>
          </a:p>
        </p:txBody>
      </p:sp>
    </p:spTree>
    <p:extLst>
      <p:ext uri="{BB962C8B-B14F-4D97-AF65-F5344CB8AC3E}">
        <p14:creationId xmlns:p14="http://schemas.microsoft.com/office/powerpoint/2010/main" val="293976673"/>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1158ED2-52BF-B953-697A-7FA31FDE5031}"/>
              </a:ext>
            </a:extLst>
          </p:cNvPr>
          <p:cNvSpPr>
            <a:spLocks noGrp="1"/>
          </p:cNvSpPr>
          <p:nvPr>
            <p:ph sz="quarter" idx="12"/>
          </p:nvPr>
        </p:nvSpPr>
        <p:spPr>
          <a:xfrm>
            <a:off x="457201" y="1381124"/>
            <a:ext cx="8228012" cy="5095875"/>
          </a:xfrm>
        </p:spPr>
        <p:txBody>
          <a:bodyPr>
            <a:normAutofit/>
          </a:bodyPr>
          <a:lstStyle/>
          <a:p>
            <a:r>
              <a:rPr lang="en-IN" dirty="0"/>
              <a:t>A </a:t>
            </a:r>
            <a:r>
              <a:rPr lang="en-IN" b="1" dirty="0"/>
              <a:t>CTE (Common Table Expression)</a:t>
            </a:r>
            <a:r>
              <a:rPr lang="en-IN" dirty="0"/>
              <a:t> is a temporary named result set defined using the WITH clause. It exists only for the duration of the SQL statement.</a:t>
            </a:r>
          </a:p>
          <a:p>
            <a:r>
              <a:rPr lang="en-IN" b="1" dirty="0"/>
              <a:t>Basic syntax</a:t>
            </a:r>
          </a:p>
          <a:p>
            <a:pPr marL="225425" lvl="1" indent="0">
              <a:buNone/>
            </a:pPr>
            <a:r>
              <a:rPr lang="en-IN" dirty="0"/>
              <a:t>WITH </a:t>
            </a:r>
            <a:r>
              <a:rPr lang="en-IN" dirty="0" err="1"/>
              <a:t>cte_name</a:t>
            </a:r>
            <a:r>
              <a:rPr lang="en-IN" dirty="0"/>
              <a:t> AS (</a:t>
            </a:r>
          </a:p>
          <a:p>
            <a:pPr marL="225425" lvl="1" indent="0">
              <a:buNone/>
            </a:pPr>
            <a:r>
              <a:rPr lang="en-IN" dirty="0"/>
              <a:t>    SELECT column1, column2</a:t>
            </a:r>
          </a:p>
          <a:p>
            <a:pPr marL="225425" lvl="1" indent="0">
              <a:buNone/>
            </a:pPr>
            <a:r>
              <a:rPr lang="en-IN" dirty="0"/>
              <a:t>    FROM </a:t>
            </a:r>
            <a:r>
              <a:rPr lang="en-IN" dirty="0" err="1"/>
              <a:t>table_name</a:t>
            </a:r>
            <a:endParaRPr lang="en-IN" dirty="0"/>
          </a:p>
          <a:p>
            <a:pPr marL="225425" lvl="1" indent="0">
              <a:buNone/>
            </a:pPr>
            <a:r>
              <a:rPr lang="en-IN" dirty="0"/>
              <a:t>    WHERE condition</a:t>
            </a:r>
          </a:p>
          <a:p>
            <a:pPr marL="225425" lvl="1" indent="0">
              <a:buNone/>
            </a:pPr>
            <a:r>
              <a:rPr lang="en-IN" dirty="0"/>
              <a:t>)</a:t>
            </a:r>
          </a:p>
          <a:p>
            <a:pPr marL="225425" lvl="1" indent="0">
              <a:buNone/>
            </a:pPr>
            <a:r>
              <a:rPr lang="en-IN" dirty="0"/>
              <a:t>SELECT *</a:t>
            </a:r>
          </a:p>
          <a:p>
            <a:pPr marL="225425" lvl="1" indent="0">
              <a:buNone/>
            </a:pPr>
            <a:r>
              <a:rPr lang="en-IN" dirty="0"/>
              <a:t>FROM </a:t>
            </a:r>
            <a:r>
              <a:rPr lang="en-IN" dirty="0" err="1"/>
              <a:t>cte_name</a:t>
            </a:r>
            <a:r>
              <a:rPr lang="en-IN" dirty="0"/>
              <a:t>;</a:t>
            </a:r>
          </a:p>
          <a:p>
            <a:endParaRPr lang="en-IN" dirty="0"/>
          </a:p>
        </p:txBody>
      </p:sp>
      <p:sp>
        <p:nvSpPr>
          <p:cNvPr id="3" name="Title 2">
            <a:extLst>
              <a:ext uri="{FF2B5EF4-FFF2-40B4-BE49-F238E27FC236}">
                <a16:creationId xmlns:a16="http://schemas.microsoft.com/office/drawing/2014/main" id="{4AE4F907-2909-6576-57AB-3CBC281AB774}"/>
              </a:ext>
            </a:extLst>
          </p:cNvPr>
          <p:cNvSpPr>
            <a:spLocks noGrp="1"/>
          </p:cNvSpPr>
          <p:nvPr>
            <p:ph type="title"/>
          </p:nvPr>
        </p:nvSpPr>
        <p:spPr/>
        <p:txBody>
          <a:bodyPr/>
          <a:lstStyle/>
          <a:p>
            <a:r>
              <a:rPr lang="en-IN" dirty="0"/>
              <a:t>CTEs — Common Table Expressions</a:t>
            </a:r>
          </a:p>
        </p:txBody>
      </p:sp>
    </p:spTree>
    <p:extLst>
      <p:ext uri="{BB962C8B-B14F-4D97-AF65-F5344CB8AC3E}">
        <p14:creationId xmlns:p14="http://schemas.microsoft.com/office/powerpoint/2010/main" val="3363958100"/>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5B4AB-C2D0-D1D4-4938-3A2284804FB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7526FCD-CEFC-528E-0B64-3BA28508ED68}"/>
              </a:ext>
            </a:extLst>
          </p:cNvPr>
          <p:cNvSpPr>
            <a:spLocks noGrp="1"/>
          </p:cNvSpPr>
          <p:nvPr>
            <p:ph sz="quarter" idx="12"/>
          </p:nvPr>
        </p:nvSpPr>
        <p:spPr>
          <a:xfrm>
            <a:off x="457201" y="1381124"/>
            <a:ext cx="8228012" cy="5095875"/>
          </a:xfrm>
        </p:spPr>
        <p:txBody>
          <a:bodyPr>
            <a:normAutofit fontScale="92500" lnSpcReduction="20000"/>
          </a:bodyPr>
          <a:lstStyle/>
          <a:p>
            <a:r>
              <a:rPr lang="en-US" dirty="0"/>
              <a:t>WITH </a:t>
            </a:r>
            <a:r>
              <a:rPr lang="en-US" dirty="0" err="1"/>
              <a:t>electric_sales</a:t>
            </a:r>
            <a:r>
              <a:rPr lang="en-US" dirty="0"/>
              <a:t> AS (</a:t>
            </a:r>
          </a:p>
          <a:p>
            <a:r>
              <a:rPr lang="en-US" dirty="0"/>
              <a:t>    SELECT</a:t>
            </a:r>
          </a:p>
          <a:p>
            <a:r>
              <a:rPr lang="en-US" dirty="0"/>
              <a:t>        model,</a:t>
            </a:r>
          </a:p>
          <a:p>
            <a:r>
              <a:rPr lang="en-US" dirty="0"/>
              <a:t>        city,</a:t>
            </a:r>
          </a:p>
          <a:p>
            <a:r>
              <a:rPr lang="en-US" dirty="0"/>
              <a:t>        price,</a:t>
            </a:r>
          </a:p>
          <a:p>
            <a:r>
              <a:rPr lang="en-US" dirty="0"/>
              <a:t>        quantity</a:t>
            </a:r>
          </a:p>
          <a:p>
            <a:r>
              <a:rPr lang="en-US" dirty="0"/>
              <a:t>    FROM </a:t>
            </a:r>
            <a:r>
              <a:rPr lang="en-US" dirty="0" err="1"/>
              <a:t>vehicle_sales</a:t>
            </a:r>
            <a:endParaRPr lang="en-US" dirty="0"/>
          </a:p>
          <a:p>
            <a:r>
              <a:rPr lang="en-US" dirty="0"/>
              <a:t>    WHERE </a:t>
            </a:r>
            <a:r>
              <a:rPr lang="en-US" dirty="0" err="1"/>
              <a:t>fuel_type</a:t>
            </a:r>
            <a:r>
              <a:rPr lang="en-US" dirty="0"/>
              <a:t> = 'Electric'</a:t>
            </a:r>
          </a:p>
          <a:p>
            <a:r>
              <a:rPr lang="en-US" dirty="0"/>
              <a:t>)</a:t>
            </a:r>
          </a:p>
          <a:p>
            <a:r>
              <a:rPr lang="en-US" dirty="0"/>
              <a:t>SELECT *</a:t>
            </a:r>
          </a:p>
          <a:p>
            <a:r>
              <a:rPr lang="en-US" dirty="0"/>
              <a:t>FROM </a:t>
            </a:r>
            <a:r>
              <a:rPr lang="en-US" dirty="0" err="1"/>
              <a:t>electric_sales</a:t>
            </a:r>
            <a:r>
              <a:rPr lang="en-US" dirty="0"/>
              <a:t>;</a:t>
            </a:r>
            <a:endParaRPr lang="en-IN" dirty="0"/>
          </a:p>
        </p:txBody>
      </p:sp>
      <p:sp>
        <p:nvSpPr>
          <p:cNvPr id="3" name="Title 2">
            <a:extLst>
              <a:ext uri="{FF2B5EF4-FFF2-40B4-BE49-F238E27FC236}">
                <a16:creationId xmlns:a16="http://schemas.microsoft.com/office/drawing/2014/main" id="{B7E65DCF-7264-695B-65C7-16D05F3AB4E1}"/>
              </a:ext>
            </a:extLst>
          </p:cNvPr>
          <p:cNvSpPr>
            <a:spLocks noGrp="1"/>
          </p:cNvSpPr>
          <p:nvPr>
            <p:ph type="title"/>
          </p:nvPr>
        </p:nvSpPr>
        <p:spPr/>
        <p:txBody>
          <a:bodyPr/>
          <a:lstStyle/>
          <a:p>
            <a:r>
              <a:rPr lang="en-IN" dirty="0"/>
              <a:t>CTEs — Common Table Expressions</a:t>
            </a:r>
          </a:p>
        </p:txBody>
      </p:sp>
    </p:spTree>
    <p:extLst>
      <p:ext uri="{BB962C8B-B14F-4D97-AF65-F5344CB8AC3E}">
        <p14:creationId xmlns:p14="http://schemas.microsoft.com/office/powerpoint/2010/main" val="1210854617"/>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E8886-3D74-1690-2DE2-72DA3B96AD5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0E4D9F6-FB1F-CC05-A5F9-F31E96EAD941}"/>
              </a:ext>
            </a:extLst>
          </p:cNvPr>
          <p:cNvSpPr>
            <a:spLocks noGrp="1"/>
          </p:cNvSpPr>
          <p:nvPr>
            <p:ph sz="quarter" idx="12"/>
          </p:nvPr>
        </p:nvSpPr>
        <p:spPr>
          <a:xfrm>
            <a:off x="457201" y="1381124"/>
            <a:ext cx="8228012" cy="5095875"/>
          </a:xfrm>
        </p:spPr>
        <p:txBody>
          <a:bodyPr>
            <a:normAutofit lnSpcReduction="10000"/>
          </a:bodyPr>
          <a:lstStyle/>
          <a:p>
            <a:r>
              <a:rPr lang="en-US" dirty="0"/>
              <a:t>WITH </a:t>
            </a:r>
            <a:r>
              <a:rPr lang="en-US" dirty="0" err="1"/>
              <a:t>city_revenue</a:t>
            </a:r>
            <a:r>
              <a:rPr lang="en-US" dirty="0"/>
              <a:t> AS (</a:t>
            </a:r>
          </a:p>
          <a:p>
            <a:r>
              <a:rPr lang="en-US" dirty="0"/>
              <a:t>    SELECT</a:t>
            </a:r>
          </a:p>
          <a:p>
            <a:r>
              <a:rPr lang="en-US" dirty="0"/>
              <a:t>        city,</a:t>
            </a:r>
          </a:p>
          <a:p>
            <a:r>
              <a:rPr lang="en-US" dirty="0"/>
              <a:t>        SUM(price * quantity) AS </a:t>
            </a:r>
            <a:r>
              <a:rPr lang="en-US" dirty="0" err="1"/>
              <a:t>total_revenue</a:t>
            </a:r>
            <a:endParaRPr lang="en-US" dirty="0"/>
          </a:p>
          <a:p>
            <a:r>
              <a:rPr lang="en-US" dirty="0"/>
              <a:t>    FROM </a:t>
            </a:r>
            <a:r>
              <a:rPr lang="en-US" dirty="0" err="1"/>
              <a:t>vehicle_sales</a:t>
            </a:r>
            <a:endParaRPr lang="en-US" dirty="0"/>
          </a:p>
          <a:p>
            <a:r>
              <a:rPr lang="en-US" dirty="0"/>
              <a:t>    GROUP BY city</a:t>
            </a:r>
          </a:p>
          <a:p>
            <a:r>
              <a:rPr lang="en-US" dirty="0"/>
              <a:t>)</a:t>
            </a:r>
          </a:p>
          <a:p>
            <a:r>
              <a:rPr lang="en-US" dirty="0"/>
              <a:t>SELECT *</a:t>
            </a:r>
          </a:p>
          <a:p>
            <a:r>
              <a:rPr lang="en-US" dirty="0"/>
              <a:t>FROM </a:t>
            </a:r>
            <a:r>
              <a:rPr lang="en-US" dirty="0" err="1"/>
              <a:t>city_revenue</a:t>
            </a:r>
            <a:endParaRPr lang="en-US" dirty="0"/>
          </a:p>
          <a:p>
            <a:r>
              <a:rPr lang="en-US" dirty="0"/>
              <a:t>WHERE </a:t>
            </a:r>
            <a:r>
              <a:rPr lang="en-US" dirty="0" err="1"/>
              <a:t>total_revenue</a:t>
            </a:r>
            <a:r>
              <a:rPr lang="en-US" dirty="0"/>
              <a:t> &gt; 10000000;</a:t>
            </a:r>
            <a:endParaRPr lang="en-IN" dirty="0"/>
          </a:p>
        </p:txBody>
      </p:sp>
      <p:sp>
        <p:nvSpPr>
          <p:cNvPr id="3" name="Title 2">
            <a:extLst>
              <a:ext uri="{FF2B5EF4-FFF2-40B4-BE49-F238E27FC236}">
                <a16:creationId xmlns:a16="http://schemas.microsoft.com/office/drawing/2014/main" id="{A1D545D5-D16E-453B-63E3-F338366DC4E0}"/>
              </a:ext>
            </a:extLst>
          </p:cNvPr>
          <p:cNvSpPr>
            <a:spLocks noGrp="1"/>
          </p:cNvSpPr>
          <p:nvPr>
            <p:ph type="title"/>
          </p:nvPr>
        </p:nvSpPr>
        <p:spPr/>
        <p:txBody>
          <a:bodyPr/>
          <a:lstStyle/>
          <a:p>
            <a:r>
              <a:rPr lang="en-IN" dirty="0"/>
              <a:t>CTEs — Common Table Expressions</a:t>
            </a:r>
          </a:p>
        </p:txBody>
      </p:sp>
    </p:spTree>
    <p:extLst>
      <p:ext uri="{BB962C8B-B14F-4D97-AF65-F5344CB8AC3E}">
        <p14:creationId xmlns:p14="http://schemas.microsoft.com/office/powerpoint/2010/main" val="1726753529"/>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C1419-CE62-1782-6E63-A0695787E6F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102AE37-4A31-6415-502B-77C518950F6F}"/>
              </a:ext>
            </a:extLst>
          </p:cNvPr>
          <p:cNvSpPr>
            <a:spLocks noGrp="1"/>
          </p:cNvSpPr>
          <p:nvPr>
            <p:ph sz="quarter" idx="12"/>
          </p:nvPr>
        </p:nvSpPr>
        <p:spPr>
          <a:xfrm>
            <a:off x="457201" y="1381124"/>
            <a:ext cx="8228012" cy="5095875"/>
          </a:xfrm>
        </p:spPr>
        <p:txBody>
          <a:bodyPr>
            <a:normAutofit fontScale="62500" lnSpcReduction="20000"/>
          </a:bodyPr>
          <a:lstStyle/>
          <a:p>
            <a:r>
              <a:rPr lang="en-US" dirty="0"/>
              <a:t>WITH </a:t>
            </a:r>
            <a:r>
              <a:rPr lang="en-US" dirty="0" err="1"/>
              <a:t>electric_sales</a:t>
            </a:r>
            <a:r>
              <a:rPr lang="en-US" dirty="0"/>
              <a:t> AS (</a:t>
            </a:r>
          </a:p>
          <a:p>
            <a:r>
              <a:rPr lang="en-US" dirty="0"/>
              <a:t>    SELECT *</a:t>
            </a:r>
          </a:p>
          <a:p>
            <a:r>
              <a:rPr lang="en-US" dirty="0"/>
              <a:t>    FROM </a:t>
            </a:r>
            <a:r>
              <a:rPr lang="en-US" dirty="0" err="1"/>
              <a:t>vehicle_sales</a:t>
            </a:r>
            <a:endParaRPr lang="en-US" dirty="0"/>
          </a:p>
          <a:p>
            <a:r>
              <a:rPr lang="en-US" dirty="0"/>
              <a:t>    WHERE </a:t>
            </a:r>
            <a:r>
              <a:rPr lang="en-US" dirty="0" err="1"/>
              <a:t>fuel_type</a:t>
            </a:r>
            <a:r>
              <a:rPr lang="en-US" dirty="0"/>
              <a:t> = 'Electric'</a:t>
            </a:r>
          </a:p>
          <a:p>
            <a:r>
              <a:rPr lang="en-US" dirty="0"/>
              <a:t>),</a:t>
            </a:r>
          </a:p>
          <a:p>
            <a:r>
              <a:rPr lang="en-US" dirty="0" err="1"/>
              <a:t>city_summary</a:t>
            </a:r>
            <a:r>
              <a:rPr lang="en-US" dirty="0"/>
              <a:t> AS (</a:t>
            </a:r>
          </a:p>
          <a:p>
            <a:r>
              <a:rPr lang="en-US" dirty="0"/>
              <a:t>    SELECT</a:t>
            </a:r>
          </a:p>
          <a:p>
            <a:r>
              <a:rPr lang="en-US" dirty="0"/>
              <a:t>        city,</a:t>
            </a:r>
          </a:p>
          <a:p>
            <a:r>
              <a:rPr lang="en-US" dirty="0"/>
              <a:t>        SUM(price * quantity) AS revenue</a:t>
            </a:r>
          </a:p>
          <a:p>
            <a:r>
              <a:rPr lang="en-US" dirty="0"/>
              <a:t>    FROM </a:t>
            </a:r>
            <a:r>
              <a:rPr lang="en-US" dirty="0" err="1"/>
              <a:t>electric_sales</a:t>
            </a:r>
            <a:endParaRPr lang="en-US" dirty="0"/>
          </a:p>
          <a:p>
            <a:r>
              <a:rPr lang="en-US" dirty="0"/>
              <a:t>    GROUP BY city</a:t>
            </a:r>
          </a:p>
          <a:p>
            <a:r>
              <a:rPr lang="en-US" dirty="0"/>
              <a:t>)</a:t>
            </a:r>
          </a:p>
          <a:p>
            <a:r>
              <a:rPr lang="en-US" dirty="0"/>
              <a:t>SELECT *</a:t>
            </a:r>
          </a:p>
          <a:p>
            <a:r>
              <a:rPr lang="en-US" dirty="0"/>
              <a:t>FROM </a:t>
            </a:r>
            <a:r>
              <a:rPr lang="en-US" dirty="0" err="1"/>
              <a:t>city_summary</a:t>
            </a:r>
            <a:endParaRPr lang="en-US" dirty="0"/>
          </a:p>
          <a:p>
            <a:r>
              <a:rPr lang="en-US" dirty="0"/>
              <a:t>ORDER BY revenue DESC;</a:t>
            </a:r>
            <a:endParaRPr lang="en-IN" dirty="0"/>
          </a:p>
        </p:txBody>
      </p:sp>
      <p:sp>
        <p:nvSpPr>
          <p:cNvPr id="3" name="Title 2">
            <a:extLst>
              <a:ext uri="{FF2B5EF4-FFF2-40B4-BE49-F238E27FC236}">
                <a16:creationId xmlns:a16="http://schemas.microsoft.com/office/drawing/2014/main" id="{C7D29BED-A66A-063E-47DF-E179B195C462}"/>
              </a:ext>
            </a:extLst>
          </p:cNvPr>
          <p:cNvSpPr>
            <a:spLocks noGrp="1"/>
          </p:cNvSpPr>
          <p:nvPr>
            <p:ph type="title"/>
          </p:nvPr>
        </p:nvSpPr>
        <p:spPr/>
        <p:txBody>
          <a:bodyPr/>
          <a:lstStyle/>
          <a:p>
            <a:r>
              <a:rPr lang="en-IN" dirty="0"/>
              <a:t>Multiple CTEs — Common Table Expressions</a:t>
            </a:r>
          </a:p>
        </p:txBody>
      </p:sp>
    </p:spTree>
    <p:extLst>
      <p:ext uri="{BB962C8B-B14F-4D97-AF65-F5344CB8AC3E}">
        <p14:creationId xmlns:p14="http://schemas.microsoft.com/office/powerpoint/2010/main" val="1318596804"/>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EAF629-CD63-DADE-7AB9-C3FB8A0A4D41}"/>
              </a:ext>
            </a:extLst>
          </p:cNvPr>
          <p:cNvSpPr>
            <a:spLocks noGrp="1"/>
          </p:cNvSpPr>
          <p:nvPr>
            <p:ph sz="quarter" idx="12"/>
          </p:nvPr>
        </p:nvSpPr>
        <p:spPr/>
        <p:txBody>
          <a:bodyPr>
            <a:normAutofit fontScale="85000" lnSpcReduction="20000"/>
          </a:bodyPr>
          <a:lstStyle/>
          <a:p>
            <a:r>
              <a:rPr lang="en-US" dirty="0"/>
              <a:t>WITH </a:t>
            </a:r>
            <a:r>
              <a:rPr lang="en-US" dirty="0" err="1"/>
              <a:t>ranked_sales</a:t>
            </a:r>
            <a:r>
              <a:rPr lang="en-US" dirty="0"/>
              <a:t> AS (</a:t>
            </a:r>
          </a:p>
          <a:p>
            <a:r>
              <a:rPr lang="en-US" dirty="0"/>
              <a:t>    SELECT</a:t>
            </a:r>
          </a:p>
          <a:p>
            <a:r>
              <a:rPr lang="en-US" dirty="0"/>
              <a:t>        city,</a:t>
            </a:r>
          </a:p>
          <a:p>
            <a:r>
              <a:rPr lang="en-US" dirty="0"/>
              <a:t>        model,</a:t>
            </a:r>
          </a:p>
          <a:p>
            <a:r>
              <a:rPr lang="en-US" dirty="0"/>
              <a:t>        price,</a:t>
            </a:r>
          </a:p>
          <a:p>
            <a:r>
              <a:rPr lang="en-US" dirty="0"/>
              <a:t>        ROW_NUMBER() OVER (</a:t>
            </a:r>
          </a:p>
          <a:p>
            <a:r>
              <a:rPr lang="en-US" dirty="0"/>
              <a:t>            PARTITION BY city</a:t>
            </a:r>
          </a:p>
          <a:p>
            <a:r>
              <a:rPr lang="en-US" dirty="0"/>
              <a:t>            ORDER BY price DESC</a:t>
            </a:r>
          </a:p>
          <a:p>
            <a:r>
              <a:rPr lang="en-US" dirty="0"/>
              <a:t>        ) AS </a:t>
            </a:r>
            <a:r>
              <a:rPr lang="en-US" dirty="0" err="1"/>
              <a:t>rn</a:t>
            </a:r>
            <a:endParaRPr lang="en-US" dirty="0"/>
          </a:p>
          <a:p>
            <a:r>
              <a:rPr lang="en-US" dirty="0"/>
              <a:t>    FROM </a:t>
            </a:r>
            <a:r>
              <a:rPr lang="en-US" dirty="0" err="1"/>
              <a:t>vehicle_sales</a:t>
            </a:r>
            <a:endParaRPr lang="en-US" dirty="0"/>
          </a:p>
          <a:p>
            <a:r>
              <a:rPr lang="en-US" dirty="0"/>
              <a:t>)</a:t>
            </a:r>
          </a:p>
          <a:p>
            <a:endParaRPr lang="en-IN" dirty="0"/>
          </a:p>
        </p:txBody>
      </p:sp>
      <p:sp>
        <p:nvSpPr>
          <p:cNvPr id="3" name="Title 2">
            <a:extLst>
              <a:ext uri="{FF2B5EF4-FFF2-40B4-BE49-F238E27FC236}">
                <a16:creationId xmlns:a16="http://schemas.microsoft.com/office/drawing/2014/main" id="{96BE36F3-A0FB-7FAE-8ECA-19D37E7E9CFA}"/>
              </a:ext>
            </a:extLst>
          </p:cNvPr>
          <p:cNvSpPr>
            <a:spLocks noGrp="1"/>
          </p:cNvSpPr>
          <p:nvPr>
            <p:ph type="title"/>
          </p:nvPr>
        </p:nvSpPr>
        <p:spPr/>
        <p:txBody>
          <a:bodyPr/>
          <a:lstStyle/>
          <a:p>
            <a:r>
              <a:rPr lang="en-IN" dirty="0"/>
              <a:t>CTE with Window Function</a:t>
            </a:r>
          </a:p>
        </p:txBody>
      </p:sp>
    </p:spTree>
    <p:extLst>
      <p:ext uri="{BB962C8B-B14F-4D97-AF65-F5344CB8AC3E}">
        <p14:creationId xmlns:p14="http://schemas.microsoft.com/office/powerpoint/2010/main" val="1839459944"/>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D58EA-7D8B-A891-398C-E5EA873138C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B46C2E-EA2E-AC99-F3BB-BA4C04A9F232}"/>
              </a:ext>
            </a:extLst>
          </p:cNvPr>
          <p:cNvSpPr>
            <a:spLocks noGrp="1"/>
          </p:cNvSpPr>
          <p:nvPr>
            <p:ph sz="quarter" idx="12"/>
          </p:nvPr>
        </p:nvSpPr>
        <p:spPr/>
        <p:txBody>
          <a:bodyPr>
            <a:normAutofit/>
          </a:bodyPr>
          <a:lstStyle/>
          <a:p>
            <a:r>
              <a:rPr lang="en-US" dirty="0"/>
              <a:t>SELECT</a:t>
            </a:r>
          </a:p>
          <a:p>
            <a:r>
              <a:rPr lang="en-US" dirty="0"/>
              <a:t>    city,</a:t>
            </a:r>
          </a:p>
          <a:p>
            <a:r>
              <a:rPr lang="en-US" dirty="0"/>
              <a:t>    model,</a:t>
            </a:r>
          </a:p>
          <a:p>
            <a:r>
              <a:rPr lang="en-US" dirty="0"/>
              <a:t>    price</a:t>
            </a:r>
          </a:p>
          <a:p>
            <a:r>
              <a:rPr lang="en-US" dirty="0"/>
              <a:t>FROM </a:t>
            </a:r>
            <a:r>
              <a:rPr lang="en-US" dirty="0" err="1"/>
              <a:t>ranked_sales</a:t>
            </a:r>
            <a:endParaRPr lang="en-US" dirty="0"/>
          </a:p>
          <a:p>
            <a:r>
              <a:rPr lang="en-US" dirty="0"/>
              <a:t>WHERE </a:t>
            </a:r>
            <a:r>
              <a:rPr lang="en-US" dirty="0" err="1"/>
              <a:t>rn</a:t>
            </a:r>
            <a:r>
              <a:rPr lang="en-US" dirty="0"/>
              <a:t> = 1;</a:t>
            </a:r>
            <a:endParaRPr lang="en-IN" dirty="0"/>
          </a:p>
        </p:txBody>
      </p:sp>
      <p:sp>
        <p:nvSpPr>
          <p:cNvPr id="3" name="Title 2">
            <a:extLst>
              <a:ext uri="{FF2B5EF4-FFF2-40B4-BE49-F238E27FC236}">
                <a16:creationId xmlns:a16="http://schemas.microsoft.com/office/drawing/2014/main" id="{E465AFD3-836E-1B0D-89D1-C8F1CD5E1236}"/>
              </a:ext>
            </a:extLst>
          </p:cNvPr>
          <p:cNvSpPr>
            <a:spLocks noGrp="1"/>
          </p:cNvSpPr>
          <p:nvPr>
            <p:ph type="title"/>
          </p:nvPr>
        </p:nvSpPr>
        <p:spPr/>
        <p:txBody>
          <a:bodyPr/>
          <a:lstStyle/>
          <a:p>
            <a:r>
              <a:rPr lang="en-IN" dirty="0"/>
              <a:t>CTE with Window Function</a:t>
            </a:r>
          </a:p>
        </p:txBody>
      </p:sp>
    </p:spTree>
    <p:extLst>
      <p:ext uri="{BB962C8B-B14F-4D97-AF65-F5344CB8AC3E}">
        <p14:creationId xmlns:p14="http://schemas.microsoft.com/office/powerpoint/2010/main" val="209220018"/>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5984191-6B30-2FAF-034A-21205A1F1B64}"/>
              </a:ext>
            </a:extLst>
          </p:cNvPr>
          <p:cNvSpPr>
            <a:spLocks noGrp="1"/>
          </p:cNvSpPr>
          <p:nvPr>
            <p:ph type="title"/>
          </p:nvPr>
        </p:nvSpPr>
        <p:spPr/>
        <p:txBody>
          <a:bodyPr/>
          <a:lstStyle/>
          <a:p>
            <a:r>
              <a:rPr lang="en-IN" dirty="0"/>
              <a:t>CTE vs </a:t>
            </a:r>
            <a:r>
              <a:rPr lang="en-IN" dirty="0" err="1"/>
              <a:t>SubQuery</a:t>
            </a:r>
            <a:endParaRPr lang="en-IN" dirty="0"/>
          </a:p>
        </p:txBody>
      </p:sp>
      <p:graphicFrame>
        <p:nvGraphicFramePr>
          <p:cNvPr id="4" name="Table 3">
            <a:extLst>
              <a:ext uri="{FF2B5EF4-FFF2-40B4-BE49-F238E27FC236}">
                <a16:creationId xmlns:a16="http://schemas.microsoft.com/office/drawing/2014/main" id="{41F1446F-A87C-F828-0D5D-E6F86B3FE303}"/>
              </a:ext>
            </a:extLst>
          </p:cNvPr>
          <p:cNvGraphicFramePr>
            <a:graphicFrameLocks noGrp="1"/>
          </p:cNvGraphicFramePr>
          <p:nvPr/>
        </p:nvGraphicFramePr>
        <p:xfrm>
          <a:off x="457200" y="2101691"/>
          <a:ext cx="8228013" cy="3383280"/>
        </p:xfrm>
        <a:graphic>
          <a:graphicData uri="http://schemas.openxmlformats.org/drawingml/2006/table">
            <a:tbl>
              <a:tblPr>
                <a:tableStyleId>{B301B821-A1FF-4177-AEE7-76D212191A09}</a:tableStyleId>
              </a:tblPr>
              <a:tblGrid>
                <a:gridCol w="2742671">
                  <a:extLst>
                    <a:ext uri="{9D8B030D-6E8A-4147-A177-3AD203B41FA5}">
                      <a16:colId xmlns:a16="http://schemas.microsoft.com/office/drawing/2014/main" val="842788424"/>
                    </a:ext>
                  </a:extLst>
                </a:gridCol>
                <a:gridCol w="2742671">
                  <a:extLst>
                    <a:ext uri="{9D8B030D-6E8A-4147-A177-3AD203B41FA5}">
                      <a16:colId xmlns:a16="http://schemas.microsoft.com/office/drawing/2014/main" val="3705498462"/>
                    </a:ext>
                  </a:extLst>
                </a:gridCol>
                <a:gridCol w="2742671">
                  <a:extLst>
                    <a:ext uri="{9D8B030D-6E8A-4147-A177-3AD203B41FA5}">
                      <a16:colId xmlns:a16="http://schemas.microsoft.com/office/drawing/2014/main" val="2374426706"/>
                    </a:ext>
                  </a:extLst>
                </a:gridCol>
              </a:tblGrid>
              <a:tr h="0">
                <a:tc>
                  <a:txBody>
                    <a:bodyPr/>
                    <a:lstStyle/>
                    <a:p>
                      <a:pPr>
                        <a:buNone/>
                      </a:pPr>
                      <a:r>
                        <a:rPr lang="en-IN"/>
                        <a:t>Feature</a:t>
                      </a:r>
                    </a:p>
                  </a:txBody>
                  <a:tcPr anchor="ctr"/>
                </a:tc>
                <a:tc>
                  <a:txBody>
                    <a:bodyPr/>
                    <a:lstStyle/>
                    <a:p>
                      <a:pPr>
                        <a:buNone/>
                      </a:pPr>
                      <a:r>
                        <a:rPr lang="en-IN"/>
                        <a:t>CTE</a:t>
                      </a:r>
                    </a:p>
                  </a:txBody>
                  <a:tcPr anchor="ctr"/>
                </a:tc>
                <a:tc>
                  <a:txBody>
                    <a:bodyPr/>
                    <a:lstStyle/>
                    <a:p>
                      <a:pPr>
                        <a:buNone/>
                      </a:pPr>
                      <a:r>
                        <a:rPr lang="en-IN"/>
                        <a:t>Subquery</a:t>
                      </a:r>
                    </a:p>
                  </a:txBody>
                  <a:tcPr anchor="ctr"/>
                </a:tc>
                <a:extLst>
                  <a:ext uri="{0D108BD9-81ED-4DB2-BD59-A6C34878D82A}">
                    <a16:rowId xmlns:a16="http://schemas.microsoft.com/office/drawing/2014/main" val="1733458918"/>
                  </a:ext>
                </a:extLst>
              </a:tr>
              <a:tr h="0">
                <a:tc>
                  <a:txBody>
                    <a:bodyPr/>
                    <a:lstStyle/>
                    <a:p>
                      <a:pPr>
                        <a:buNone/>
                      </a:pPr>
                      <a:r>
                        <a:rPr lang="en-IN"/>
                        <a:t>Syntax</a:t>
                      </a:r>
                    </a:p>
                  </a:txBody>
                  <a:tcPr anchor="ctr"/>
                </a:tc>
                <a:tc>
                  <a:txBody>
                    <a:bodyPr/>
                    <a:lstStyle/>
                    <a:p>
                      <a:pPr>
                        <a:buNone/>
                      </a:pPr>
                      <a:r>
                        <a:rPr lang="en-IN"/>
                        <a:t>WITH name AS (...)</a:t>
                      </a:r>
                    </a:p>
                  </a:txBody>
                  <a:tcPr anchor="ctr"/>
                </a:tc>
                <a:tc>
                  <a:txBody>
                    <a:bodyPr/>
                    <a:lstStyle/>
                    <a:p>
                      <a:pPr>
                        <a:buNone/>
                      </a:pPr>
                      <a:r>
                        <a:rPr lang="en-IN"/>
                        <a:t>(SELECT ...)</a:t>
                      </a:r>
                    </a:p>
                  </a:txBody>
                  <a:tcPr anchor="ctr"/>
                </a:tc>
                <a:extLst>
                  <a:ext uri="{0D108BD9-81ED-4DB2-BD59-A6C34878D82A}">
                    <a16:rowId xmlns:a16="http://schemas.microsoft.com/office/drawing/2014/main" val="1405051927"/>
                  </a:ext>
                </a:extLst>
              </a:tr>
              <a:tr h="0">
                <a:tc>
                  <a:txBody>
                    <a:bodyPr/>
                    <a:lstStyle/>
                    <a:p>
                      <a:pPr>
                        <a:buNone/>
                      </a:pPr>
                      <a:r>
                        <a:rPr lang="en-IN"/>
                        <a:t>Readability</a:t>
                      </a:r>
                    </a:p>
                  </a:txBody>
                  <a:tcPr anchor="ctr"/>
                </a:tc>
                <a:tc>
                  <a:txBody>
                    <a:bodyPr/>
                    <a:lstStyle/>
                    <a:p>
                      <a:pPr>
                        <a:buNone/>
                      </a:pPr>
                      <a:r>
                        <a:rPr lang="en-IN"/>
                        <a:t>Excellent for complex queries</a:t>
                      </a:r>
                    </a:p>
                  </a:txBody>
                  <a:tcPr anchor="ctr"/>
                </a:tc>
                <a:tc>
                  <a:txBody>
                    <a:bodyPr/>
                    <a:lstStyle/>
                    <a:p>
                      <a:pPr>
                        <a:buNone/>
                      </a:pPr>
                      <a:r>
                        <a:rPr lang="en-IN"/>
                        <a:t>Good for small queries</a:t>
                      </a:r>
                    </a:p>
                  </a:txBody>
                  <a:tcPr anchor="ctr"/>
                </a:tc>
                <a:extLst>
                  <a:ext uri="{0D108BD9-81ED-4DB2-BD59-A6C34878D82A}">
                    <a16:rowId xmlns:a16="http://schemas.microsoft.com/office/drawing/2014/main" val="3336572858"/>
                  </a:ext>
                </a:extLst>
              </a:tr>
              <a:tr h="0">
                <a:tc>
                  <a:txBody>
                    <a:bodyPr/>
                    <a:lstStyle/>
                    <a:p>
                      <a:pPr>
                        <a:buNone/>
                      </a:pPr>
                      <a:r>
                        <a:rPr lang="en-IN"/>
                        <a:t>Can reference earlier result</a:t>
                      </a:r>
                    </a:p>
                  </a:txBody>
                  <a:tcPr anchor="ctr"/>
                </a:tc>
                <a:tc>
                  <a:txBody>
                    <a:bodyPr/>
                    <a:lstStyle/>
                    <a:p>
                      <a:pPr>
                        <a:buNone/>
                      </a:pPr>
                      <a:r>
                        <a:rPr lang="en-IN"/>
                        <a:t>Yes</a:t>
                      </a:r>
                    </a:p>
                  </a:txBody>
                  <a:tcPr anchor="ctr"/>
                </a:tc>
                <a:tc>
                  <a:txBody>
                    <a:bodyPr/>
                    <a:lstStyle/>
                    <a:p>
                      <a:pPr>
                        <a:buNone/>
                      </a:pPr>
                      <a:r>
                        <a:rPr lang="en-IN"/>
                        <a:t>Less convenient</a:t>
                      </a:r>
                    </a:p>
                  </a:txBody>
                  <a:tcPr anchor="ctr"/>
                </a:tc>
                <a:extLst>
                  <a:ext uri="{0D108BD9-81ED-4DB2-BD59-A6C34878D82A}">
                    <a16:rowId xmlns:a16="http://schemas.microsoft.com/office/drawing/2014/main" val="3470299980"/>
                  </a:ext>
                </a:extLst>
              </a:tr>
              <a:tr h="0">
                <a:tc>
                  <a:txBody>
                    <a:bodyPr/>
                    <a:lstStyle/>
                    <a:p>
                      <a:pPr>
                        <a:buNone/>
                      </a:pPr>
                      <a:r>
                        <a:rPr lang="en-IN"/>
                        <a:t>Recursive queries</a:t>
                      </a:r>
                    </a:p>
                  </a:txBody>
                  <a:tcPr anchor="ctr"/>
                </a:tc>
                <a:tc>
                  <a:txBody>
                    <a:bodyPr/>
                    <a:lstStyle/>
                    <a:p>
                      <a:pPr>
                        <a:buNone/>
                      </a:pPr>
                      <a:r>
                        <a:rPr lang="en-IN"/>
                        <a:t>Yes</a:t>
                      </a:r>
                    </a:p>
                  </a:txBody>
                  <a:tcPr anchor="ctr"/>
                </a:tc>
                <a:tc>
                  <a:txBody>
                    <a:bodyPr/>
                    <a:lstStyle/>
                    <a:p>
                      <a:pPr>
                        <a:buNone/>
                      </a:pPr>
                      <a:r>
                        <a:rPr lang="en-IN"/>
                        <a:t>Normally no</a:t>
                      </a:r>
                    </a:p>
                  </a:txBody>
                  <a:tcPr anchor="ctr"/>
                </a:tc>
                <a:extLst>
                  <a:ext uri="{0D108BD9-81ED-4DB2-BD59-A6C34878D82A}">
                    <a16:rowId xmlns:a16="http://schemas.microsoft.com/office/drawing/2014/main" val="476335591"/>
                  </a:ext>
                </a:extLst>
              </a:tr>
              <a:tr h="0">
                <a:tc>
                  <a:txBody>
                    <a:bodyPr/>
                    <a:lstStyle/>
                    <a:p>
                      <a:pPr>
                        <a:buNone/>
                      </a:pPr>
                      <a:r>
                        <a:rPr lang="en-IN"/>
                        <a:t>Exists permanently</a:t>
                      </a:r>
                    </a:p>
                  </a:txBody>
                  <a:tcPr anchor="ctr"/>
                </a:tc>
                <a:tc>
                  <a:txBody>
                    <a:bodyPr/>
                    <a:lstStyle/>
                    <a:p>
                      <a:pPr>
                        <a:buNone/>
                      </a:pPr>
                      <a:r>
                        <a:rPr lang="en-IN"/>
                        <a:t>No</a:t>
                      </a:r>
                    </a:p>
                  </a:txBody>
                  <a:tcPr anchor="ctr"/>
                </a:tc>
                <a:tc>
                  <a:txBody>
                    <a:bodyPr/>
                    <a:lstStyle/>
                    <a:p>
                      <a:pPr>
                        <a:buNone/>
                      </a:pPr>
                      <a:r>
                        <a:rPr lang="en-IN"/>
                        <a:t>No</a:t>
                      </a:r>
                    </a:p>
                  </a:txBody>
                  <a:tcPr anchor="ctr"/>
                </a:tc>
                <a:extLst>
                  <a:ext uri="{0D108BD9-81ED-4DB2-BD59-A6C34878D82A}">
                    <a16:rowId xmlns:a16="http://schemas.microsoft.com/office/drawing/2014/main" val="2088091223"/>
                  </a:ext>
                </a:extLst>
              </a:tr>
              <a:tr h="0">
                <a:tc>
                  <a:txBody>
                    <a:bodyPr/>
                    <a:lstStyle/>
                    <a:p>
                      <a:pPr>
                        <a:buNone/>
                      </a:pPr>
                      <a:r>
                        <a:rPr lang="en-IN"/>
                        <a:t>Useful with window functions</a:t>
                      </a:r>
                    </a:p>
                  </a:txBody>
                  <a:tcPr anchor="ctr"/>
                </a:tc>
                <a:tc>
                  <a:txBody>
                    <a:bodyPr/>
                    <a:lstStyle/>
                    <a:p>
                      <a:pPr>
                        <a:buNone/>
                      </a:pPr>
                      <a:r>
                        <a:rPr lang="en-IN"/>
                        <a:t>Excellent</a:t>
                      </a:r>
                    </a:p>
                  </a:txBody>
                  <a:tcPr anchor="ctr"/>
                </a:tc>
                <a:tc>
                  <a:txBody>
                    <a:bodyPr/>
                    <a:lstStyle/>
                    <a:p>
                      <a:pPr>
                        <a:buNone/>
                      </a:pPr>
                      <a:r>
                        <a:rPr lang="en-IN" dirty="0"/>
                        <a:t>Possible but less readable</a:t>
                      </a:r>
                    </a:p>
                  </a:txBody>
                  <a:tcPr anchor="ctr"/>
                </a:tc>
                <a:extLst>
                  <a:ext uri="{0D108BD9-81ED-4DB2-BD59-A6C34878D82A}">
                    <a16:rowId xmlns:a16="http://schemas.microsoft.com/office/drawing/2014/main" val="408605534"/>
                  </a:ext>
                </a:extLst>
              </a:tr>
            </a:tbl>
          </a:graphicData>
        </a:graphic>
      </p:graphicFrame>
    </p:spTree>
    <p:extLst>
      <p:ext uri="{BB962C8B-B14F-4D97-AF65-F5344CB8AC3E}">
        <p14:creationId xmlns:p14="http://schemas.microsoft.com/office/powerpoint/2010/main" val="42080696"/>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0A0A1AEE-88C7-6761-19BA-02DE46B8D8B8}"/>
              </a:ext>
            </a:extLst>
          </p:cNvPr>
          <p:cNvSpPr>
            <a:spLocks noGrp="1"/>
          </p:cNvSpPr>
          <p:nvPr>
            <p:ph sz="quarter" idx="12"/>
          </p:nvPr>
        </p:nvSpPr>
        <p:spPr>
          <a:xfrm>
            <a:off x="457201" y="1381124"/>
            <a:ext cx="8228012" cy="5202555"/>
          </a:xfrm>
        </p:spPr>
        <p:txBody>
          <a:bodyPr>
            <a:normAutofit/>
          </a:bodyPr>
          <a:lstStyle/>
          <a:p>
            <a:r>
              <a:rPr lang="en-IN" dirty="0"/>
              <a:t>🔐 1. </a:t>
            </a:r>
            <a:r>
              <a:rPr lang="en-IN" dirty="0" err="1"/>
              <a:t>AuthenticationControls</a:t>
            </a:r>
            <a:r>
              <a:rPr lang="en-IN" dirty="0"/>
              <a:t> who can connect to the database.</a:t>
            </a:r>
          </a:p>
          <a:p>
            <a:r>
              <a:rPr lang="en-IN" dirty="0"/>
              <a:t>Configured in </a:t>
            </a:r>
            <a:r>
              <a:rPr lang="en-IN" dirty="0" err="1"/>
              <a:t>pg_hba.conf</a:t>
            </a:r>
            <a:r>
              <a:rPr lang="en-IN" dirty="0"/>
              <a:t> (Host-Based Authentication)</a:t>
            </a:r>
          </a:p>
          <a:p>
            <a:r>
              <a:rPr lang="en-IN" dirty="0"/>
              <a:t>Common methods:</a:t>
            </a:r>
          </a:p>
          <a:p>
            <a:pPr lvl="1"/>
            <a:r>
              <a:rPr lang="en-IN" dirty="0"/>
              <a:t>trust: No password (not recommended for production)</a:t>
            </a:r>
          </a:p>
          <a:p>
            <a:pPr lvl="1"/>
            <a:r>
              <a:rPr lang="en-IN" dirty="0"/>
              <a:t>md5 / scram-sha-256: Password-based (md5 deprecated gradually)</a:t>
            </a:r>
          </a:p>
          <a:p>
            <a:pPr lvl="1"/>
            <a:r>
              <a:rPr lang="en-IN" dirty="0"/>
              <a:t>peer: OS user must match database user (local Unix)</a:t>
            </a:r>
          </a:p>
          <a:p>
            <a:pPr lvl="1"/>
            <a:r>
              <a:rPr lang="en-IN" dirty="0"/>
              <a:t>cert: SSL certificate authentication</a:t>
            </a:r>
          </a:p>
          <a:p>
            <a:pPr lvl="1"/>
            <a:r>
              <a:rPr lang="en-IN" dirty="0" err="1"/>
              <a:t>ldap</a:t>
            </a:r>
            <a:r>
              <a:rPr lang="en-IN" dirty="0"/>
              <a:t>, </a:t>
            </a:r>
            <a:r>
              <a:rPr lang="en-IN" dirty="0" err="1"/>
              <a:t>gss</a:t>
            </a:r>
            <a:r>
              <a:rPr lang="en-IN" dirty="0"/>
              <a:t>, </a:t>
            </a:r>
            <a:r>
              <a:rPr lang="en-IN" dirty="0" err="1"/>
              <a:t>kerberos</a:t>
            </a:r>
            <a:r>
              <a:rPr lang="en-IN" dirty="0"/>
              <a:t>, pam, radius: External systems</a:t>
            </a:r>
          </a:p>
        </p:txBody>
      </p:sp>
      <p:sp>
        <p:nvSpPr>
          <p:cNvPr id="3" name="Title 2">
            <a:extLst>
              <a:ext uri="{FF2B5EF4-FFF2-40B4-BE49-F238E27FC236}">
                <a16:creationId xmlns:a16="http://schemas.microsoft.com/office/drawing/2014/main" id="{A3150145-DD2A-BE64-4B52-1C426A4A67FC}"/>
              </a:ext>
            </a:extLst>
          </p:cNvPr>
          <p:cNvSpPr>
            <a:spLocks noGrp="1"/>
          </p:cNvSpPr>
          <p:nvPr>
            <p:ph type="title"/>
          </p:nvPr>
        </p:nvSpPr>
        <p:spPr/>
        <p:txBody>
          <a:bodyPr/>
          <a:lstStyle/>
          <a:p>
            <a:r>
              <a:rPr lang="en-IN" dirty="0"/>
              <a:t>Postgres Security</a:t>
            </a:r>
          </a:p>
        </p:txBody>
      </p:sp>
    </p:spTree>
    <p:extLst>
      <p:ext uri="{BB962C8B-B14F-4D97-AF65-F5344CB8AC3E}">
        <p14:creationId xmlns:p14="http://schemas.microsoft.com/office/powerpoint/2010/main" val="1770916482"/>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DD153B1-9840-59ED-445F-8AE4E0DE5E59}"/>
              </a:ext>
            </a:extLst>
          </p:cNvPr>
          <p:cNvSpPr>
            <a:spLocks noGrp="1"/>
          </p:cNvSpPr>
          <p:nvPr>
            <p:ph sz="quarter" idx="12"/>
          </p:nvPr>
        </p:nvSpPr>
        <p:spPr>
          <a:xfrm>
            <a:off x="457201" y="1381125"/>
            <a:ext cx="8228012" cy="457300"/>
          </a:xfrm>
        </p:spPr>
        <p:txBody>
          <a:bodyPr/>
          <a:lstStyle/>
          <a:p>
            <a:r>
              <a:rPr lang="en-IN" dirty="0"/>
              <a:t>Select </a:t>
            </a:r>
            <a:r>
              <a:rPr lang="en-IN" dirty="0" err="1"/>
              <a:t>name,setting</a:t>
            </a:r>
            <a:r>
              <a:rPr lang="en-IN" dirty="0"/>
              <a:t> from </a:t>
            </a:r>
            <a:r>
              <a:rPr lang="en-IN" dirty="0" err="1"/>
              <a:t>pg_settings</a:t>
            </a:r>
            <a:r>
              <a:rPr lang="en-IN" dirty="0"/>
              <a:t>;</a:t>
            </a:r>
          </a:p>
        </p:txBody>
      </p:sp>
      <p:sp>
        <p:nvSpPr>
          <p:cNvPr id="3" name="Title 2">
            <a:extLst>
              <a:ext uri="{FF2B5EF4-FFF2-40B4-BE49-F238E27FC236}">
                <a16:creationId xmlns:a16="http://schemas.microsoft.com/office/drawing/2014/main" id="{78CDDA4C-3C71-649E-622F-C3F0654D3AAB}"/>
              </a:ext>
            </a:extLst>
          </p:cNvPr>
          <p:cNvSpPr>
            <a:spLocks noGrp="1"/>
          </p:cNvSpPr>
          <p:nvPr>
            <p:ph type="title"/>
          </p:nvPr>
        </p:nvSpPr>
        <p:spPr/>
        <p:txBody>
          <a:bodyPr/>
          <a:lstStyle/>
          <a:p>
            <a:r>
              <a:rPr lang="en-IN" dirty="0"/>
              <a:t>Postgres Security</a:t>
            </a:r>
          </a:p>
        </p:txBody>
      </p:sp>
      <p:pic>
        <p:nvPicPr>
          <p:cNvPr id="5" name="Picture 4">
            <a:extLst>
              <a:ext uri="{FF2B5EF4-FFF2-40B4-BE49-F238E27FC236}">
                <a16:creationId xmlns:a16="http://schemas.microsoft.com/office/drawing/2014/main" id="{5C106BD0-CEF1-23B4-F853-8798637064A0}"/>
              </a:ext>
            </a:extLst>
          </p:cNvPr>
          <p:cNvPicPr>
            <a:picLocks noChangeAspect="1"/>
          </p:cNvPicPr>
          <p:nvPr/>
        </p:nvPicPr>
        <p:blipFill>
          <a:blip r:embed="rId2"/>
          <a:stretch>
            <a:fillRect/>
          </a:stretch>
        </p:blipFill>
        <p:spPr>
          <a:xfrm>
            <a:off x="624184" y="1838425"/>
            <a:ext cx="7529871" cy="4849454"/>
          </a:xfrm>
          <a:prstGeom prst="rect">
            <a:avLst/>
          </a:prstGeom>
        </p:spPr>
      </p:pic>
    </p:spTree>
    <p:extLst>
      <p:ext uri="{BB962C8B-B14F-4D97-AF65-F5344CB8AC3E}">
        <p14:creationId xmlns:p14="http://schemas.microsoft.com/office/powerpoint/2010/main" val="3293881001"/>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27254-4EBF-7C04-E475-E52061189A45}"/>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846E13C-E553-E767-7ADD-927643FA889D}"/>
              </a:ext>
            </a:extLst>
          </p:cNvPr>
          <p:cNvSpPr>
            <a:spLocks noGrp="1"/>
          </p:cNvSpPr>
          <p:nvPr>
            <p:ph sz="quarter" idx="12"/>
          </p:nvPr>
        </p:nvSpPr>
        <p:spPr>
          <a:xfrm>
            <a:off x="457201" y="1381125"/>
            <a:ext cx="8228012" cy="3065748"/>
          </a:xfrm>
        </p:spPr>
        <p:txBody>
          <a:bodyPr>
            <a:normAutofit/>
          </a:bodyPr>
          <a:lstStyle/>
          <a:p>
            <a:r>
              <a:rPr lang="en-US" dirty="0"/>
              <a:t>🔒 2. </a:t>
            </a:r>
            <a:r>
              <a:rPr lang="en-US" b="1" dirty="0"/>
              <a:t>Authorization (Roles &amp; Privileges)</a:t>
            </a:r>
          </a:p>
          <a:p>
            <a:r>
              <a:rPr lang="en-US" dirty="0"/>
              <a:t>Controls what a user can do.</a:t>
            </a:r>
          </a:p>
          <a:p>
            <a:r>
              <a:rPr lang="en-US" dirty="0"/>
              <a:t>✅ Roles</a:t>
            </a:r>
          </a:p>
          <a:p>
            <a:pPr lvl="1"/>
            <a:r>
              <a:rPr lang="en-US" dirty="0"/>
              <a:t>Superusers (CREATE ROLE </a:t>
            </a:r>
            <a:r>
              <a:rPr lang="en-US" dirty="0" err="1"/>
              <a:t>myuser</a:t>
            </a:r>
            <a:r>
              <a:rPr lang="en-US" dirty="0"/>
              <a:t> SUPERUSER)</a:t>
            </a:r>
          </a:p>
          <a:p>
            <a:pPr lvl="1"/>
            <a:r>
              <a:rPr lang="en-US" dirty="0"/>
              <a:t>Normal users (LOGIN privilege)</a:t>
            </a:r>
          </a:p>
          <a:p>
            <a:pPr lvl="1"/>
            <a:r>
              <a:rPr lang="en-US" dirty="0"/>
              <a:t>Can be granted or revoked:</a:t>
            </a:r>
            <a:endParaRPr lang="en-IN" dirty="0"/>
          </a:p>
        </p:txBody>
      </p:sp>
      <p:sp>
        <p:nvSpPr>
          <p:cNvPr id="3" name="Title 2">
            <a:extLst>
              <a:ext uri="{FF2B5EF4-FFF2-40B4-BE49-F238E27FC236}">
                <a16:creationId xmlns:a16="http://schemas.microsoft.com/office/drawing/2014/main" id="{480E2579-3A8B-675D-48E5-1CE35FAAFAD3}"/>
              </a:ext>
            </a:extLst>
          </p:cNvPr>
          <p:cNvSpPr>
            <a:spLocks noGrp="1"/>
          </p:cNvSpPr>
          <p:nvPr>
            <p:ph type="title"/>
          </p:nvPr>
        </p:nvSpPr>
        <p:spPr/>
        <p:txBody>
          <a:bodyPr/>
          <a:lstStyle/>
          <a:p>
            <a:r>
              <a:rPr lang="en-IN" dirty="0"/>
              <a:t>Postgres Security</a:t>
            </a:r>
          </a:p>
        </p:txBody>
      </p:sp>
      <p:sp>
        <p:nvSpPr>
          <p:cNvPr id="5" name="TextBox 4">
            <a:extLst>
              <a:ext uri="{FF2B5EF4-FFF2-40B4-BE49-F238E27FC236}">
                <a16:creationId xmlns:a16="http://schemas.microsoft.com/office/drawing/2014/main" id="{7050C2EB-B8CF-38A0-A47F-E5D0ED6B5335}"/>
              </a:ext>
            </a:extLst>
          </p:cNvPr>
          <p:cNvSpPr txBox="1"/>
          <p:nvPr/>
        </p:nvSpPr>
        <p:spPr>
          <a:xfrm>
            <a:off x="721895" y="4446873"/>
            <a:ext cx="7526956" cy="1200329"/>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spAutoFit/>
          </a:bodyPr>
          <a:lstStyle/>
          <a:p>
            <a:r>
              <a:rPr lang="en-US" dirty="0"/>
              <a:t>CREATE ROLE </a:t>
            </a:r>
            <a:r>
              <a:rPr lang="en-US" dirty="0" err="1"/>
              <a:t>readonly</a:t>
            </a:r>
            <a:r>
              <a:rPr lang="en-US" dirty="0"/>
              <a:t>;</a:t>
            </a:r>
          </a:p>
          <a:p>
            <a:r>
              <a:rPr lang="en-US" dirty="0"/>
              <a:t>GRANT CONNECT ON DATABASE </a:t>
            </a:r>
            <a:r>
              <a:rPr lang="en-US" dirty="0" err="1"/>
              <a:t>mydb</a:t>
            </a:r>
            <a:r>
              <a:rPr lang="en-US" dirty="0"/>
              <a:t> TO </a:t>
            </a:r>
            <a:r>
              <a:rPr lang="en-US" dirty="0" err="1"/>
              <a:t>readonly</a:t>
            </a:r>
            <a:r>
              <a:rPr lang="en-US" dirty="0"/>
              <a:t>;</a:t>
            </a:r>
          </a:p>
          <a:p>
            <a:r>
              <a:rPr lang="en-US" dirty="0"/>
              <a:t>GRANT USAGE ON SCHEMA public TO </a:t>
            </a:r>
            <a:r>
              <a:rPr lang="en-US" dirty="0" err="1"/>
              <a:t>readonly</a:t>
            </a:r>
            <a:r>
              <a:rPr lang="en-US" dirty="0"/>
              <a:t>;</a:t>
            </a:r>
          </a:p>
          <a:p>
            <a:r>
              <a:rPr lang="en-US" dirty="0"/>
              <a:t>GRANT SELECT ON ALL TABLES IN SCHEMA public TO </a:t>
            </a:r>
            <a:r>
              <a:rPr lang="en-US" dirty="0" err="1"/>
              <a:t>readonly</a:t>
            </a:r>
            <a:r>
              <a:rPr lang="en-US" dirty="0"/>
              <a:t>;</a:t>
            </a:r>
          </a:p>
        </p:txBody>
      </p:sp>
    </p:spTree>
    <p:extLst>
      <p:ext uri="{BB962C8B-B14F-4D97-AF65-F5344CB8AC3E}">
        <p14:creationId xmlns:p14="http://schemas.microsoft.com/office/powerpoint/2010/main" val="2376124104"/>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53F77-5801-F9AC-99F3-81030AD8C71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C8B6E41-BD0D-62DB-9389-D30DF47481CE}"/>
              </a:ext>
            </a:extLst>
          </p:cNvPr>
          <p:cNvSpPr>
            <a:spLocks noGrp="1"/>
          </p:cNvSpPr>
          <p:nvPr>
            <p:ph type="title"/>
          </p:nvPr>
        </p:nvSpPr>
        <p:spPr/>
        <p:txBody>
          <a:bodyPr/>
          <a:lstStyle/>
          <a:p>
            <a:r>
              <a:rPr lang="en-IN" dirty="0"/>
              <a:t>Postgres Security</a:t>
            </a:r>
          </a:p>
        </p:txBody>
      </p:sp>
      <p:sp>
        <p:nvSpPr>
          <p:cNvPr id="6" name="TextBox 5">
            <a:extLst>
              <a:ext uri="{FF2B5EF4-FFF2-40B4-BE49-F238E27FC236}">
                <a16:creationId xmlns:a16="http://schemas.microsoft.com/office/drawing/2014/main" id="{403DB6C3-41B4-F06C-E32C-11A8EEA51CBF}"/>
              </a:ext>
            </a:extLst>
          </p:cNvPr>
          <p:cNvSpPr txBox="1"/>
          <p:nvPr/>
        </p:nvSpPr>
        <p:spPr>
          <a:xfrm>
            <a:off x="943275" y="1749467"/>
            <a:ext cx="6910939" cy="9233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spAutoFit/>
          </a:bodyPr>
          <a:lstStyle/>
          <a:p>
            <a:r>
              <a:rPr lang="en-IN" dirty="0"/>
              <a:t>CREATE ROLE </a:t>
            </a:r>
            <a:r>
              <a:rPr lang="en-IN" dirty="0" err="1"/>
              <a:t>appuser</a:t>
            </a:r>
            <a:r>
              <a:rPr lang="en-IN" dirty="0"/>
              <a:t> LOGIN PASSWORD 'secret'</a:t>
            </a:r>
          </a:p>
          <a:p>
            <a:r>
              <a:rPr lang="en-IN" dirty="0"/>
              <a:t>    NOSUPERUSER NOCREATEDB NOCREATEROLE NOINHERIT NOREPLICATION;</a:t>
            </a:r>
          </a:p>
        </p:txBody>
      </p:sp>
      <p:graphicFrame>
        <p:nvGraphicFramePr>
          <p:cNvPr id="7" name="Table 6">
            <a:extLst>
              <a:ext uri="{FF2B5EF4-FFF2-40B4-BE49-F238E27FC236}">
                <a16:creationId xmlns:a16="http://schemas.microsoft.com/office/drawing/2014/main" id="{C3CFEAE0-AE6C-08DD-5D4A-F2A7F498E335}"/>
              </a:ext>
            </a:extLst>
          </p:cNvPr>
          <p:cNvGraphicFramePr>
            <a:graphicFrameLocks noGrp="1"/>
          </p:cNvGraphicFramePr>
          <p:nvPr/>
        </p:nvGraphicFramePr>
        <p:xfrm>
          <a:off x="461035" y="3429000"/>
          <a:ext cx="8228012" cy="2377440"/>
        </p:xfrm>
        <a:graphic>
          <a:graphicData uri="http://schemas.openxmlformats.org/drawingml/2006/table">
            <a:tbl>
              <a:tblPr>
                <a:tableStyleId>{3C2FFA5D-87B4-456A-9821-1D502468CF0F}</a:tableStyleId>
              </a:tblPr>
              <a:tblGrid>
                <a:gridCol w="2426544">
                  <a:extLst>
                    <a:ext uri="{9D8B030D-6E8A-4147-A177-3AD203B41FA5}">
                      <a16:colId xmlns:a16="http://schemas.microsoft.com/office/drawing/2014/main" val="4121839412"/>
                    </a:ext>
                  </a:extLst>
                </a:gridCol>
                <a:gridCol w="5801468">
                  <a:extLst>
                    <a:ext uri="{9D8B030D-6E8A-4147-A177-3AD203B41FA5}">
                      <a16:colId xmlns:a16="http://schemas.microsoft.com/office/drawing/2014/main" val="3941951590"/>
                    </a:ext>
                  </a:extLst>
                </a:gridCol>
              </a:tblGrid>
              <a:tr h="365760">
                <a:tc>
                  <a:txBody>
                    <a:bodyPr/>
                    <a:lstStyle/>
                    <a:p>
                      <a:pPr>
                        <a:buNone/>
                      </a:pPr>
                      <a:r>
                        <a:rPr lang="en-IN" sz="1800"/>
                        <a:t>Object</a:t>
                      </a:r>
                    </a:p>
                  </a:txBody>
                  <a:tcPr anchor="ctr"/>
                </a:tc>
                <a:tc>
                  <a:txBody>
                    <a:bodyPr/>
                    <a:lstStyle/>
                    <a:p>
                      <a:pPr>
                        <a:buNone/>
                      </a:pPr>
                      <a:r>
                        <a:rPr lang="en-IN" sz="1800"/>
                        <a:t>Privileges</a:t>
                      </a:r>
                    </a:p>
                  </a:txBody>
                  <a:tcPr anchor="ctr"/>
                </a:tc>
                <a:extLst>
                  <a:ext uri="{0D108BD9-81ED-4DB2-BD59-A6C34878D82A}">
                    <a16:rowId xmlns:a16="http://schemas.microsoft.com/office/drawing/2014/main" val="1303171274"/>
                  </a:ext>
                </a:extLst>
              </a:tr>
              <a:tr h="914400">
                <a:tc>
                  <a:txBody>
                    <a:bodyPr/>
                    <a:lstStyle/>
                    <a:p>
                      <a:pPr>
                        <a:buNone/>
                      </a:pPr>
                      <a:r>
                        <a:rPr lang="en-IN" sz="1800"/>
                        <a:t>Table</a:t>
                      </a:r>
                    </a:p>
                  </a:txBody>
                  <a:tcPr anchor="ctr"/>
                </a:tc>
                <a:tc>
                  <a:txBody>
                    <a:bodyPr/>
                    <a:lstStyle/>
                    <a:p>
                      <a:pPr>
                        <a:buNone/>
                      </a:pPr>
                      <a:r>
                        <a:rPr lang="en-IN" sz="1800"/>
                        <a:t>SELECT, INSERT, UPDATE, DELETE, TRUNCATE, REFERENCES, TRIGGER</a:t>
                      </a:r>
                    </a:p>
                  </a:txBody>
                  <a:tcPr anchor="ctr"/>
                </a:tc>
                <a:extLst>
                  <a:ext uri="{0D108BD9-81ED-4DB2-BD59-A6C34878D82A}">
                    <a16:rowId xmlns:a16="http://schemas.microsoft.com/office/drawing/2014/main" val="1671498153"/>
                  </a:ext>
                </a:extLst>
              </a:tr>
              <a:tr h="365760">
                <a:tc>
                  <a:txBody>
                    <a:bodyPr/>
                    <a:lstStyle/>
                    <a:p>
                      <a:pPr>
                        <a:buNone/>
                      </a:pPr>
                      <a:r>
                        <a:rPr lang="en-IN" sz="1800"/>
                        <a:t>Database</a:t>
                      </a:r>
                    </a:p>
                  </a:txBody>
                  <a:tcPr anchor="ctr"/>
                </a:tc>
                <a:tc>
                  <a:txBody>
                    <a:bodyPr/>
                    <a:lstStyle/>
                    <a:p>
                      <a:pPr>
                        <a:buNone/>
                      </a:pPr>
                      <a:r>
                        <a:rPr lang="en-IN" sz="1800"/>
                        <a:t>CONNECT, TEMP</a:t>
                      </a:r>
                    </a:p>
                  </a:txBody>
                  <a:tcPr anchor="ctr"/>
                </a:tc>
                <a:extLst>
                  <a:ext uri="{0D108BD9-81ED-4DB2-BD59-A6C34878D82A}">
                    <a16:rowId xmlns:a16="http://schemas.microsoft.com/office/drawing/2014/main" val="164337428"/>
                  </a:ext>
                </a:extLst>
              </a:tr>
              <a:tr h="365760">
                <a:tc>
                  <a:txBody>
                    <a:bodyPr/>
                    <a:lstStyle/>
                    <a:p>
                      <a:pPr>
                        <a:buNone/>
                      </a:pPr>
                      <a:r>
                        <a:rPr lang="en-IN" sz="1800"/>
                        <a:t>Schema</a:t>
                      </a:r>
                    </a:p>
                  </a:txBody>
                  <a:tcPr anchor="ctr"/>
                </a:tc>
                <a:tc>
                  <a:txBody>
                    <a:bodyPr/>
                    <a:lstStyle/>
                    <a:p>
                      <a:pPr>
                        <a:buNone/>
                      </a:pPr>
                      <a:r>
                        <a:rPr lang="en-IN" sz="1800"/>
                        <a:t>USAGE, CREATE</a:t>
                      </a:r>
                    </a:p>
                  </a:txBody>
                  <a:tcPr anchor="ctr"/>
                </a:tc>
                <a:extLst>
                  <a:ext uri="{0D108BD9-81ED-4DB2-BD59-A6C34878D82A}">
                    <a16:rowId xmlns:a16="http://schemas.microsoft.com/office/drawing/2014/main" val="300911077"/>
                  </a:ext>
                </a:extLst>
              </a:tr>
              <a:tr h="365760">
                <a:tc>
                  <a:txBody>
                    <a:bodyPr/>
                    <a:lstStyle/>
                    <a:p>
                      <a:pPr>
                        <a:buNone/>
                      </a:pPr>
                      <a:r>
                        <a:rPr lang="en-IN" sz="1800"/>
                        <a:t>Function</a:t>
                      </a:r>
                    </a:p>
                  </a:txBody>
                  <a:tcPr anchor="ctr"/>
                </a:tc>
                <a:tc>
                  <a:txBody>
                    <a:bodyPr/>
                    <a:lstStyle/>
                    <a:p>
                      <a:pPr>
                        <a:buNone/>
                      </a:pPr>
                      <a:r>
                        <a:rPr lang="en-IN" sz="1800" dirty="0"/>
                        <a:t>EXECUTE</a:t>
                      </a:r>
                    </a:p>
                  </a:txBody>
                  <a:tcPr anchor="ctr"/>
                </a:tc>
                <a:extLst>
                  <a:ext uri="{0D108BD9-81ED-4DB2-BD59-A6C34878D82A}">
                    <a16:rowId xmlns:a16="http://schemas.microsoft.com/office/drawing/2014/main" val="1371453810"/>
                  </a:ext>
                </a:extLst>
              </a:tr>
            </a:tbl>
          </a:graphicData>
        </a:graphic>
      </p:graphicFrame>
    </p:spTree>
    <p:extLst>
      <p:ext uri="{BB962C8B-B14F-4D97-AF65-F5344CB8AC3E}">
        <p14:creationId xmlns:p14="http://schemas.microsoft.com/office/powerpoint/2010/main" val="1187501723"/>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4B56A-D9C7-DB82-8EF6-DBDEDCB3E28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772B95A-2197-1C87-6052-439895366A82}"/>
              </a:ext>
            </a:extLst>
          </p:cNvPr>
          <p:cNvSpPr>
            <a:spLocks noGrp="1"/>
          </p:cNvSpPr>
          <p:nvPr>
            <p:ph type="title"/>
          </p:nvPr>
        </p:nvSpPr>
        <p:spPr/>
        <p:txBody>
          <a:bodyPr/>
          <a:lstStyle/>
          <a:p>
            <a:r>
              <a:rPr lang="en-IN" dirty="0"/>
              <a:t>Postgres Security Object Level Permission</a:t>
            </a:r>
          </a:p>
        </p:txBody>
      </p:sp>
      <p:graphicFrame>
        <p:nvGraphicFramePr>
          <p:cNvPr id="7" name="Table 6">
            <a:extLst>
              <a:ext uri="{FF2B5EF4-FFF2-40B4-BE49-F238E27FC236}">
                <a16:creationId xmlns:a16="http://schemas.microsoft.com/office/drawing/2014/main" id="{BB8FFE69-92E1-7F5B-3C58-CF6C92D9D186}"/>
              </a:ext>
            </a:extLst>
          </p:cNvPr>
          <p:cNvGraphicFramePr>
            <a:graphicFrameLocks noGrp="1"/>
          </p:cNvGraphicFramePr>
          <p:nvPr/>
        </p:nvGraphicFramePr>
        <p:xfrm>
          <a:off x="461035" y="3429000"/>
          <a:ext cx="8228012" cy="2377440"/>
        </p:xfrm>
        <a:graphic>
          <a:graphicData uri="http://schemas.openxmlformats.org/drawingml/2006/table">
            <a:tbl>
              <a:tblPr>
                <a:tableStyleId>{3C2FFA5D-87B4-456A-9821-1D502468CF0F}</a:tableStyleId>
              </a:tblPr>
              <a:tblGrid>
                <a:gridCol w="2426544">
                  <a:extLst>
                    <a:ext uri="{9D8B030D-6E8A-4147-A177-3AD203B41FA5}">
                      <a16:colId xmlns:a16="http://schemas.microsoft.com/office/drawing/2014/main" val="4121839412"/>
                    </a:ext>
                  </a:extLst>
                </a:gridCol>
                <a:gridCol w="5801468">
                  <a:extLst>
                    <a:ext uri="{9D8B030D-6E8A-4147-A177-3AD203B41FA5}">
                      <a16:colId xmlns:a16="http://schemas.microsoft.com/office/drawing/2014/main" val="3941951590"/>
                    </a:ext>
                  </a:extLst>
                </a:gridCol>
              </a:tblGrid>
              <a:tr h="365760">
                <a:tc>
                  <a:txBody>
                    <a:bodyPr/>
                    <a:lstStyle/>
                    <a:p>
                      <a:pPr>
                        <a:buNone/>
                      </a:pPr>
                      <a:r>
                        <a:rPr lang="en-IN" sz="1800"/>
                        <a:t>Object</a:t>
                      </a:r>
                    </a:p>
                  </a:txBody>
                  <a:tcPr anchor="ctr"/>
                </a:tc>
                <a:tc>
                  <a:txBody>
                    <a:bodyPr/>
                    <a:lstStyle/>
                    <a:p>
                      <a:pPr>
                        <a:buNone/>
                      </a:pPr>
                      <a:r>
                        <a:rPr lang="en-IN" sz="1800"/>
                        <a:t>Privileges</a:t>
                      </a:r>
                    </a:p>
                  </a:txBody>
                  <a:tcPr anchor="ctr"/>
                </a:tc>
                <a:extLst>
                  <a:ext uri="{0D108BD9-81ED-4DB2-BD59-A6C34878D82A}">
                    <a16:rowId xmlns:a16="http://schemas.microsoft.com/office/drawing/2014/main" val="1303171274"/>
                  </a:ext>
                </a:extLst>
              </a:tr>
              <a:tr h="914400">
                <a:tc>
                  <a:txBody>
                    <a:bodyPr/>
                    <a:lstStyle/>
                    <a:p>
                      <a:pPr>
                        <a:buNone/>
                      </a:pPr>
                      <a:r>
                        <a:rPr lang="en-IN" sz="1800"/>
                        <a:t>Table</a:t>
                      </a:r>
                    </a:p>
                  </a:txBody>
                  <a:tcPr anchor="ctr"/>
                </a:tc>
                <a:tc>
                  <a:txBody>
                    <a:bodyPr/>
                    <a:lstStyle/>
                    <a:p>
                      <a:pPr>
                        <a:buNone/>
                      </a:pPr>
                      <a:r>
                        <a:rPr lang="en-IN" sz="1800"/>
                        <a:t>SELECT, INSERT, UPDATE, DELETE, TRUNCATE, REFERENCES, TRIGGER</a:t>
                      </a:r>
                    </a:p>
                  </a:txBody>
                  <a:tcPr anchor="ctr"/>
                </a:tc>
                <a:extLst>
                  <a:ext uri="{0D108BD9-81ED-4DB2-BD59-A6C34878D82A}">
                    <a16:rowId xmlns:a16="http://schemas.microsoft.com/office/drawing/2014/main" val="1671498153"/>
                  </a:ext>
                </a:extLst>
              </a:tr>
              <a:tr h="365760">
                <a:tc>
                  <a:txBody>
                    <a:bodyPr/>
                    <a:lstStyle/>
                    <a:p>
                      <a:pPr>
                        <a:buNone/>
                      </a:pPr>
                      <a:r>
                        <a:rPr lang="en-IN" sz="1800"/>
                        <a:t>Database</a:t>
                      </a:r>
                    </a:p>
                  </a:txBody>
                  <a:tcPr anchor="ctr"/>
                </a:tc>
                <a:tc>
                  <a:txBody>
                    <a:bodyPr/>
                    <a:lstStyle/>
                    <a:p>
                      <a:pPr>
                        <a:buNone/>
                      </a:pPr>
                      <a:r>
                        <a:rPr lang="en-IN" sz="1800"/>
                        <a:t>CONNECT, TEMP</a:t>
                      </a:r>
                    </a:p>
                  </a:txBody>
                  <a:tcPr anchor="ctr"/>
                </a:tc>
                <a:extLst>
                  <a:ext uri="{0D108BD9-81ED-4DB2-BD59-A6C34878D82A}">
                    <a16:rowId xmlns:a16="http://schemas.microsoft.com/office/drawing/2014/main" val="164337428"/>
                  </a:ext>
                </a:extLst>
              </a:tr>
              <a:tr h="365760">
                <a:tc>
                  <a:txBody>
                    <a:bodyPr/>
                    <a:lstStyle/>
                    <a:p>
                      <a:pPr>
                        <a:buNone/>
                      </a:pPr>
                      <a:r>
                        <a:rPr lang="en-IN" sz="1800"/>
                        <a:t>Schema</a:t>
                      </a:r>
                    </a:p>
                  </a:txBody>
                  <a:tcPr anchor="ctr"/>
                </a:tc>
                <a:tc>
                  <a:txBody>
                    <a:bodyPr/>
                    <a:lstStyle/>
                    <a:p>
                      <a:pPr>
                        <a:buNone/>
                      </a:pPr>
                      <a:r>
                        <a:rPr lang="en-IN" sz="1800"/>
                        <a:t>USAGE, CREATE</a:t>
                      </a:r>
                    </a:p>
                  </a:txBody>
                  <a:tcPr anchor="ctr"/>
                </a:tc>
                <a:extLst>
                  <a:ext uri="{0D108BD9-81ED-4DB2-BD59-A6C34878D82A}">
                    <a16:rowId xmlns:a16="http://schemas.microsoft.com/office/drawing/2014/main" val="300911077"/>
                  </a:ext>
                </a:extLst>
              </a:tr>
              <a:tr h="365760">
                <a:tc>
                  <a:txBody>
                    <a:bodyPr/>
                    <a:lstStyle/>
                    <a:p>
                      <a:pPr>
                        <a:buNone/>
                      </a:pPr>
                      <a:r>
                        <a:rPr lang="en-IN" sz="1800"/>
                        <a:t>Function</a:t>
                      </a:r>
                    </a:p>
                  </a:txBody>
                  <a:tcPr anchor="ctr"/>
                </a:tc>
                <a:tc>
                  <a:txBody>
                    <a:bodyPr/>
                    <a:lstStyle/>
                    <a:p>
                      <a:pPr>
                        <a:buNone/>
                      </a:pPr>
                      <a:r>
                        <a:rPr lang="en-IN" sz="1800" dirty="0"/>
                        <a:t>EXECUTE</a:t>
                      </a:r>
                    </a:p>
                  </a:txBody>
                  <a:tcPr anchor="ctr"/>
                </a:tc>
                <a:extLst>
                  <a:ext uri="{0D108BD9-81ED-4DB2-BD59-A6C34878D82A}">
                    <a16:rowId xmlns:a16="http://schemas.microsoft.com/office/drawing/2014/main" val="1371453810"/>
                  </a:ext>
                </a:extLst>
              </a:tr>
            </a:tbl>
          </a:graphicData>
        </a:graphic>
      </p:graphicFrame>
      <p:sp>
        <p:nvSpPr>
          <p:cNvPr id="4" name="TextBox 3">
            <a:extLst>
              <a:ext uri="{FF2B5EF4-FFF2-40B4-BE49-F238E27FC236}">
                <a16:creationId xmlns:a16="http://schemas.microsoft.com/office/drawing/2014/main" id="{4D36ADD9-46D8-A6C2-B364-FC3F506ABA08}"/>
              </a:ext>
            </a:extLst>
          </p:cNvPr>
          <p:cNvSpPr txBox="1"/>
          <p:nvPr/>
        </p:nvSpPr>
        <p:spPr>
          <a:xfrm>
            <a:off x="943275" y="1592173"/>
            <a:ext cx="6574055" cy="646331"/>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spAutoFit/>
          </a:bodyPr>
          <a:lstStyle/>
          <a:p>
            <a:r>
              <a:rPr lang="en-US" dirty="0"/>
              <a:t>GRANT SELECT ON employees TO </a:t>
            </a:r>
            <a:r>
              <a:rPr lang="en-US" dirty="0" err="1"/>
              <a:t>readonly</a:t>
            </a:r>
            <a:r>
              <a:rPr lang="en-US" dirty="0"/>
              <a:t>;</a:t>
            </a:r>
          </a:p>
          <a:p>
            <a:r>
              <a:rPr lang="en-US" dirty="0"/>
              <a:t>REVOKE DELETE ON employees FROM </a:t>
            </a:r>
            <a:r>
              <a:rPr lang="en-US" dirty="0" err="1"/>
              <a:t>appuser</a:t>
            </a:r>
            <a:r>
              <a:rPr lang="en-US" dirty="0"/>
              <a:t>;</a:t>
            </a:r>
          </a:p>
        </p:txBody>
      </p:sp>
    </p:spTree>
    <p:extLst>
      <p:ext uri="{BB962C8B-B14F-4D97-AF65-F5344CB8AC3E}">
        <p14:creationId xmlns:p14="http://schemas.microsoft.com/office/powerpoint/2010/main" val="1438222129"/>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383C6-31B1-59EF-76C7-DE9E476E213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95A13F9-5E43-D462-574E-752320CD0ECB}"/>
              </a:ext>
            </a:extLst>
          </p:cNvPr>
          <p:cNvSpPr>
            <a:spLocks noGrp="1"/>
          </p:cNvSpPr>
          <p:nvPr>
            <p:ph type="title"/>
          </p:nvPr>
        </p:nvSpPr>
        <p:spPr/>
        <p:txBody>
          <a:bodyPr/>
          <a:lstStyle/>
          <a:p>
            <a:r>
              <a:rPr lang="en-IN" dirty="0"/>
              <a:t>Postgres Security Row-Level Security (RLS)</a:t>
            </a:r>
          </a:p>
        </p:txBody>
      </p:sp>
      <p:sp>
        <p:nvSpPr>
          <p:cNvPr id="5" name="TextBox 4">
            <a:extLst>
              <a:ext uri="{FF2B5EF4-FFF2-40B4-BE49-F238E27FC236}">
                <a16:creationId xmlns:a16="http://schemas.microsoft.com/office/drawing/2014/main" id="{778FBE49-9CD8-EA0A-63A9-9F677B6881CB}"/>
              </a:ext>
            </a:extLst>
          </p:cNvPr>
          <p:cNvSpPr txBox="1"/>
          <p:nvPr/>
        </p:nvSpPr>
        <p:spPr>
          <a:xfrm>
            <a:off x="461036" y="1988486"/>
            <a:ext cx="8086198" cy="1477328"/>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spAutoFit/>
          </a:bodyPr>
          <a:lstStyle/>
          <a:p>
            <a:r>
              <a:rPr lang="en-US" dirty="0"/>
              <a:t>ALTER TABLE employees ENABLE ROW LEVEL SECURITY;</a:t>
            </a:r>
          </a:p>
          <a:p>
            <a:r>
              <a:rPr lang="en-US" dirty="0"/>
              <a:t>CREATE POLICY </a:t>
            </a:r>
            <a:r>
              <a:rPr lang="en-US" dirty="0" err="1"/>
              <a:t>hr_policy</a:t>
            </a:r>
            <a:endParaRPr lang="en-US" dirty="0"/>
          </a:p>
          <a:p>
            <a:r>
              <a:rPr lang="en-US" dirty="0"/>
              <a:t>  ON employees</a:t>
            </a:r>
          </a:p>
          <a:p>
            <a:r>
              <a:rPr lang="en-US" dirty="0"/>
              <a:t>  USING (department = </a:t>
            </a:r>
            <a:r>
              <a:rPr lang="en-US" dirty="0" err="1"/>
              <a:t>current_setting</a:t>
            </a:r>
            <a:r>
              <a:rPr lang="en-US" dirty="0"/>
              <a:t>('</a:t>
            </a:r>
            <a:r>
              <a:rPr lang="en-US" dirty="0" err="1"/>
              <a:t>app.current_department</a:t>
            </a:r>
            <a:r>
              <a:rPr lang="en-US" dirty="0"/>
              <a:t>'));</a:t>
            </a:r>
          </a:p>
          <a:p>
            <a:r>
              <a:rPr lang="en-US" dirty="0"/>
              <a:t>ALTER TABLE employees ENABLE POLICY </a:t>
            </a:r>
            <a:r>
              <a:rPr lang="en-US" dirty="0" err="1"/>
              <a:t>hr_policy</a:t>
            </a:r>
            <a:r>
              <a:rPr lang="en-US" dirty="0"/>
              <a:t>;</a:t>
            </a:r>
          </a:p>
        </p:txBody>
      </p:sp>
      <p:sp>
        <p:nvSpPr>
          <p:cNvPr id="9" name="TextBox 8">
            <a:extLst>
              <a:ext uri="{FF2B5EF4-FFF2-40B4-BE49-F238E27FC236}">
                <a16:creationId xmlns:a16="http://schemas.microsoft.com/office/drawing/2014/main" id="{B9E4A6A9-7ADA-D028-8353-98EF8E60E07D}"/>
              </a:ext>
            </a:extLst>
          </p:cNvPr>
          <p:cNvSpPr txBox="1"/>
          <p:nvPr/>
        </p:nvSpPr>
        <p:spPr>
          <a:xfrm>
            <a:off x="548640" y="3880451"/>
            <a:ext cx="7998593" cy="36933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spAutoFit/>
          </a:bodyPr>
          <a:lstStyle/>
          <a:p>
            <a:r>
              <a:rPr lang="en-US" dirty="0"/>
              <a:t>Use SET </a:t>
            </a:r>
            <a:r>
              <a:rPr lang="en-US" dirty="0" err="1"/>
              <a:t>app.current_department</a:t>
            </a:r>
            <a:r>
              <a:rPr lang="en-US" dirty="0"/>
              <a:t> = 'HR'; at session level.</a:t>
            </a:r>
            <a:endParaRPr lang="en-IN" dirty="0"/>
          </a:p>
        </p:txBody>
      </p:sp>
    </p:spTree>
    <p:extLst>
      <p:ext uri="{BB962C8B-B14F-4D97-AF65-F5344CB8AC3E}">
        <p14:creationId xmlns:p14="http://schemas.microsoft.com/office/powerpoint/2010/main" val="16688923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1"/>
</p:tagLst>
</file>

<file path=ppt/theme/theme1.xml><?xml version="1.0" encoding="utf-8"?>
<a:theme xmlns:a="http://schemas.openxmlformats.org/drawingml/2006/main" name="Pencils_02_2012">
  <a:themeElements>
    <a:clrScheme name="SWF Template">
      <a:dk1>
        <a:srgbClr val="000000"/>
      </a:dk1>
      <a:lt1>
        <a:sysClr val="window" lastClr="FFFFFF"/>
      </a:lt1>
      <a:dk2>
        <a:srgbClr val="002266"/>
      </a:dk2>
      <a:lt2>
        <a:srgbClr val="BBBB00"/>
      </a:lt2>
      <a:accent1>
        <a:srgbClr val="00BBEE"/>
      </a:accent1>
      <a:accent2>
        <a:srgbClr val="FF9900"/>
      </a:accent2>
      <a:accent3>
        <a:srgbClr val="BBBB00"/>
      </a:accent3>
      <a:accent4>
        <a:srgbClr val="002266"/>
      </a:accent4>
      <a:accent5>
        <a:srgbClr val="DD4411"/>
      </a:accent5>
      <a:accent6>
        <a:srgbClr val="E1DD00"/>
      </a:accent6>
      <a:hlink>
        <a:srgbClr val="FF9900"/>
      </a:hlink>
      <a:folHlink>
        <a:srgbClr val="002266"/>
      </a:folHlink>
    </a:clrScheme>
    <a:fontScheme name="Accentur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104DE32136F4D4F8B91DE44C434FF89" ma:contentTypeVersion="0" ma:contentTypeDescription="Create a new document." ma:contentTypeScope="" ma:versionID="51781ce6f9edcc76a54a87506d8d8857">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1C72F5-E8DF-4294-BFF4-1725915F864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4514F291-B47C-48A1-B199-EBD0A7B4E780}">
  <ds:schemaRefs>
    <ds:schemaRef ds:uri="http://schemas.microsoft.com/office/infopath/2007/PartnerControls"/>
    <ds:schemaRef ds:uri="http://purl.org/dc/elements/1.1/"/>
    <ds:schemaRef ds:uri="http://purl.org/dc/dcmitype/"/>
    <ds:schemaRef ds:uri="http://schemas.microsoft.com/office/2006/documentManagement/types"/>
    <ds:schemaRef ds:uri="http://schemas.openxmlformats.org/package/2006/metadata/core-properties"/>
    <ds:schemaRef ds:uri="http://purl.org/dc/term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69A6220E-5020-4ACE-A33D-0A412E4F470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15095</TotalTime>
  <Words>16949</Words>
  <Application>Microsoft Office PowerPoint</Application>
  <PresentationFormat>On-screen Show (4:3)</PresentationFormat>
  <Paragraphs>2369</Paragraphs>
  <Slides>326</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326</vt:i4>
      </vt:variant>
    </vt:vector>
  </HeadingPairs>
  <TitlesOfParts>
    <vt:vector size="330" baseType="lpstr">
      <vt:lpstr>Arial</vt:lpstr>
      <vt:lpstr>Calibri</vt:lpstr>
      <vt:lpstr>SFMono-Regular</vt:lpstr>
      <vt:lpstr>Pencils_02_2012</vt:lpstr>
      <vt:lpstr>PowerPoint Presentation</vt:lpstr>
      <vt:lpstr>Goals</vt:lpstr>
      <vt:lpstr>Goals</vt:lpstr>
      <vt:lpstr>Goals</vt:lpstr>
      <vt:lpstr>Goals</vt:lpstr>
      <vt:lpstr>Goals</vt:lpstr>
      <vt:lpstr>Goals</vt:lpstr>
      <vt:lpstr>Goals</vt:lpstr>
      <vt:lpstr>Goals</vt:lpstr>
      <vt:lpstr>Goals</vt:lpstr>
      <vt:lpstr>Goals</vt:lpstr>
      <vt:lpstr>Goals</vt:lpstr>
      <vt:lpstr>Goals</vt:lpstr>
      <vt:lpstr>Goals</vt:lpstr>
      <vt:lpstr>Goals</vt:lpstr>
      <vt:lpstr>Goals</vt:lpstr>
      <vt:lpstr>Goals</vt:lpstr>
      <vt:lpstr>Goals</vt:lpstr>
      <vt:lpstr>Goals</vt:lpstr>
      <vt:lpstr>Goals</vt:lpstr>
      <vt:lpstr>Postgres Client in VSCode</vt:lpstr>
      <vt:lpstr>PostgreSQL Strengths</vt:lpstr>
      <vt:lpstr>When to Choose What?</vt:lpstr>
      <vt:lpstr> Security &amp; Role Management</vt:lpstr>
      <vt:lpstr>Key Features of PostgreSQL</vt:lpstr>
      <vt:lpstr>Key Features of PostgreSQL</vt:lpstr>
      <vt:lpstr>Key Features of PostgreSQL</vt:lpstr>
      <vt:lpstr>Key Features of PostgreSQL</vt:lpstr>
      <vt:lpstr>Key Features of PostgreSQL</vt:lpstr>
      <vt:lpstr>Key Features of PostgreSQL</vt:lpstr>
      <vt:lpstr>Key Features of PostgreSQL</vt:lpstr>
      <vt:lpstr>Key Features of PostgreSQL</vt:lpstr>
      <vt:lpstr>Key Features of PostgreSQL</vt:lpstr>
      <vt:lpstr>Key Features of PostgreSQL</vt:lpstr>
      <vt:lpstr>Key Features of PostgreSQL</vt:lpstr>
      <vt:lpstr>Writing Simple Queries</vt:lpstr>
      <vt:lpstr>Writing Simple Queries</vt:lpstr>
      <vt:lpstr>Writing Simple Queries</vt:lpstr>
      <vt:lpstr>Data Types</vt:lpstr>
      <vt:lpstr>Data Types</vt:lpstr>
      <vt:lpstr>Data Types</vt:lpstr>
      <vt:lpstr>Numeric Types</vt:lpstr>
      <vt:lpstr>Monetary Types</vt:lpstr>
      <vt:lpstr>Binary Input Type</vt:lpstr>
      <vt:lpstr>Character Types</vt:lpstr>
      <vt:lpstr>Boolean Type</vt:lpstr>
      <vt:lpstr>Date/Time Types</vt:lpstr>
      <vt:lpstr>Date/Time Types</vt:lpstr>
      <vt:lpstr>Time Input</vt:lpstr>
      <vt:lpstr>Oracle Data Types vs Postgre Data Types</vt:lpstr>
      <vt:lpstr>Oracle Data Types vs Postgre Data Types</vt:lpstr>
      <vt:lpstr>Enumerated Type</vt:lpstr>
      <vt:lpstr>Geometric Types</vt:lpstr>
      <vt:lpstr>Geometric Types</vt:lpstr>
      <vt:lpstr>Network Address Types</vt:lpstr>
      <vt:lpstr>Network Address Types</vt:lpstr>
      <vt:lpstr>cidr Type Input</vt:lpstr>
      <vt:lpstr>Bit String Types</vt:lpstr>
      <vt:lpstr>Bit String Types</vt:lpstr>
      <vt:lpstr>UUID Type</vt:lpstr>
      <vt:lpstr>UUID Type</vt:lpstr>
      <vt:lpstr>UUID Type</vt:lpstr>
      <vt:lpstr>UUID Type</vt:lpstr>
      <vt:lpstr>UUID Type</vt:lpstr>
      <vt:lpstr>XML Type</vt:lpstr>
      <vt:lpstr>XML Type</vt:lpstr>
      <vt:lpstr>XML Type</vt:lpstr>
      <vt:lpstr>Xml Type</vt:lpstr>
      <vt:lpstr>JSON Types</vt:lpstr>
      <vt:lpstr>JSON Types</vt:lpstr>
      <vt:lpstr>JSON Types</vt:lpstr>
      <vt:lpstr>JSON Types</vt:lpstr>
      <vt:lpstr>Arrays</vt:lpstr>
      <vt:lpstr>Sequence</vt:lpstr>
      <vt:lpstr>Sequence Parameters</vt:lpstr>
      <vt:lpstr>Sequence Parameters</vt:lpstr>
      <vt:lpstr>Sequence Parameters</vt:lpstr>
      <vt:lpstr>Arrays</vt:lpstr>
      <vt:lpstr>Accessing Arrays</vt:lpstr>
      <vt:lpstr>Accessing Arrays</vt:lpstr>
      <vt:lpstr>Accessing Arrays</vt:lpstr>
      <vt:lpstr>Modifying Arrays</vt:lpstr>
      <vt:lpstr>Modifying Arrays</vt:lpstr>
      <vt:lpstr>Modifying Arrays</vt:lpstr>
      <vt:lpstr>Searching in Arrays</vt:lpstr>
      <vt:lpstr>Searching in Arrays</vt:lpstr>
      <vt:lpstr>Composite Types</vt:lpstr>
      <vt:lpstr>Declaration of Composite Types</vt:lpstr>
      <vt:lpstr>Constructing Composite Values</vt:lpstr>
      <vt:lpstr>Constructing Composite Values</vt:lpstr>
      <vt:lpstr>Accessing Composite Types</vt:lpstr>
      <vt:lpstr>Built in Range Types</vt:lpstr>
      <vt:lpstr>Built in Range Types</vt:lpstr>
      <vt:lpstr>PostgreSQL Full Text Search Entities</vt:lpstr>
      <vt:lpstr>PostgreSQL Full Text Search Entities</vt:lpstr>
      <vt:lpstr>to_tsvector</vt:lpstr>
      <vt:lpstr>to_tsquery</vt:lpstr>
      <vt:lpstr>Searching</vt:lpstr>
      <vt:lpstr>The SQL Language</vt:lpstr>
      <vt:lpstr>Populating a Table With Rows</vt:lpstr>
      <vt:lpstr>What is Normalization?</vt:lpstr>
      <vt:lpstr>Goals of Normalization</vt:lpstr>
      <vt:lpstr>Normal Forms (NF)</vt:lpstr>
      <vt:lpstr>Normal Forms (NF)</vt:lpstr>
      <vt:lpstr>First Normal Form</vt:lpstr>
      <vt:lpstr>2. Second Normal Form (2NF)</vt:lpstr>
      <vt:lpstr>Third Normal Form (3NF)</vt:lpstr>
      <vt:lpstr> Boyce-Codd Normal Form (BCNF)</vt:lpstr>
      <vt:lpstr>Example That Is in 3NF but Not in BCNF</vt:lpstr>
      <vt:lpstr>Functional Dependencies (FDs):</vt:lpstr>
      <vt:lpstr>Why It's in 3NF but Not in BCNF?</vt:lpstr>
      <vt:lpstr>Fix: Decompose into BCNF</vt:lpstr>
      <vt:lpstr>Fix: Decompose into BCNF</vt:lpstr>
      <vt:lpstr>Higher Normal Forms (4NF, 5NF)</vt:lpstr>
      <vt:lpstr>Example: Joining employee and department tables</vt:lpstr>
      <vt:lpstr>Example: Joining employee and department tables</vt:lpstr>
      <vt:lpstr>Create Tables with Constraints</vt:lpstr>
      <vt:lpstr>Create .sql file</vt:lpstr>
      <vt:lpstr>Describe Table</vt:lpstr>
      <vt:lpstr>Insert into table</vt:lpstr>
      <vt:lpstr>Joins</vt:lpstr>
      <vt:lpstr>Joins</vt:lpstr>
      <vt:lpstr>Joins</vt:lpstr>
      <vt:lpstr>Joins</vt:lpstr>
      <vt:lpstr>Joins</vt:lpstr>
      <vt:lpstr>Joins – Self Join</vt:lpstr>
      <vt:lpstr>Joins – Self Join</vt:lpstr>
      <vt:lpstr>Joins – Self Join</vt:lpstr>
      <vt:lpstr>Joins</vt:lpstr>
      <vt:lpstr>Join with subquery</vt:lpstr>
      <vt:lpstr>Joins Summary</vt:lpstr>
      <vt:lpstr>Views</vt:lpstr>
      <vt:lpstr>Views</vt:lpstr>
      <vt:lpstr>Clear the screen</vt:lpstr>
      <vt:lpstr>EXPLAIN – See the Query Plan</vt:lpstr>
      <vt:lpstr>EXPLAIN ANALYZE – Run the Query and Show Actual Execution Details</vt:lpstr>
      <vt:lpstr>Key Terms Explained:</vt:lpstr>
      <vt:lpstr>Best Practices</vt:lpstr>
      <vt:lpstr>Normal View vs Materialized View</vt:lpstr>
      <vt:lpstr>Materialized View</vt:lpstr>
      <vt:lpstr>Materialized View</vt:lpstr>
      <vt:lpstr>Refreshing a Materialized View</vt:lpstr>
      <vt:lpstr>Concurrent refresh</vt:lpstr>
      <vt:lpstr>When should you use one?</vt:lpstr>
      <vt:lpstr>Explain and Analyze</vt:lpstr>
      <vt:lpstr>Materialized View</vt:lpstr>
      <vt:lpstr>Refreshing a MATERIALIZED VIEW</vt:lpstr>
      <vt:lpstr>Postgres  Index</vt:lpstr>
      <vt:lpstr>Postgres  Index</vt:lpstr>
      <vt:lpstr>Postgres  Index</vt:lpstr>
      <vt:lpstr>B-tree index </vt:lpstr>
      <vt:lpstr>B-tree index </vt:lpstr>
      <vt:lpstr>B-tree index </vt:lpstr>
      <vt:lpstr>List indexes</vt:lpstr>
      <vt:lpstr>List indexes</vt:lpstr>
      <vt:lpstr>B-Tree Index</vt:lpstr>
      <vt:lpstr>B-Tree Index</vt:lpstr>
      <vt:lpstr>B-Tree Index</vt:lpstr>
      <vt:lpstr>B-Tree Index</vt:lpstr>
      <vt:lpstr>Hash index</vt:lpstr>
      <vt:lpstr>Hash index</vt:lpstr>
      <vt:lpstr>Hash index</vt:lpstr>
      <vt:lpstr>Bitmap index</vt:lpstr>
      <vt:lpstr>Bitmap index</vt:lpstr>
      <vt:lpstr>Bitmap index</vt:lpstr>
      <vt:lpstr>GiST index (Generalized Search Tree index) </vt:lpstr>
      <vt:lpstr>GiST index (Generalized Search Tree index) </vt:lpstr>
      <vt:lpstr>GiST index (Generalized Search Tree index) </vt:lpstr>
      <vt:lpstr>SP-GiST (Space-Partitioned GiST) </vt:lpstr>
      <vt:lpstr>GIN (Generalized Inverted Index)</vt:lpstr>
      <vt:lpstr>BRIN (Block Range index)</vt:lpstr>
      <vt:lpstr>BRIN (Block Range index)</vt:lpstr>
      <vt:lpstr>BRIN (Block Range index)</vt:lpstr>
      <vt:lpstr>BRIN (Block Range index)</vt:lpstr>
      <vt:lpstr>BRIN (Block Range index)</vt:lpstr>
      <vt:lpstr>Partial Index</vt:lpstr>
      <vt:lpstr>Partial Index</vt:lpstr>
      <vt:lpstr>Built-In Functions- String</vt:lpstr>
      <vt:lpstr>Built-In Functions- String</vt:lpstr>
      <vt:lpstr>Built-In Functions- String</vt:lpstr>
      <vt:lpstr>Built in Date Functions</vt:lpstr>
      <vt:lpstr>Built in Date Functions</vt:lpstr>
      <vt:lpstr>Date Functions</vt:lpstr>
      <vt:lpstr>Date Functions</vt:lpstr>
      <vt:lpstr>Built-in Functions - JSON/JSONB Functions in PostgreSQL</vt:lpstr>
      <vt:lpstr>Built-in Functions - JSON/JSONB Functions in PostgreSQL</vt:lpstr>
      <vt:lpstr>Built-in Functions - JSON/JSONB Functions in PostgreSQL</vt:lpstr>
      <vt:lpstr>Built-in Functions - JSON/JSONB Functions in PostgreSQL</vt:lpstr>
      <vt:lpstr>Moving Data the Copy command</vt:lpstr>
      <vt:lpstr>Moving Data the Copy command</vt:lpstr>
      <vt:lpstr>Moving Data the Copy command</vt:lpstr>
      <vt:lpstr>Importing from a psql prompt</vt:lpstr>
      <vt:lpstr>Importing from a psql prompt</vt:lpstr>
      <vt:lpstr>Importing from a psql prompt</vt:lpstr>
      <vt:lpstr>Exporting data to a .csv file</vt:lpstr>
      <vt:lpstr>Understanding And Reading the PostgreSQL System Catalog (Meta Data)</vt:lpstr>
      <vt:lpstr>Understanding And Reading the PostgreSQL System Catalog (Meta Data)</vt:lpstr>
      <vt:lpstr>Understanding And Reading the PostgreSQL System Catalog (Meta Data)</vt:lpstr>
      <vt:lpstr>Understanding And Reading the PostgreSQL System Catalog (Meta Data)</vt:lpstr>
      <vt:lpstr>Understanding And Reading the PostgreSQL System Catalog (Meta Data)</vt:lpstr>
      <vt:lpstr>Understanding And Reading the PostgreSQL System Catalog (Meta Data)</vt:lpstr>
      <vt:lpstr>Understanding And Reading the PostgreSQL System Catalog (Meta Data)</vt:lpstr>
      <vt:lpstr>How to use table partitioning to scale PostgreSQL</vt:lpstr>
      <vt:lpstr>Partitioning</vt:lpstr>
      <vt:lpstr>Benefits of Partitioning</vt:lpstr>
      <vt:lpstr>When to use partitioning </vt:lpstr>
      <vt:lpstr>How to use partitioning </vt:lpstr>
      <vt:lpstr>LIST PARTITION </vt:lpstr>
      <vt:lpstr>RANGE PARTITION </vt:lpstr>
      <vt:lpstr>RANGE PARTITION </vt:lpstr>
      <vt:lpstr>HASH PARTITION </vt:lpstr>
      <vt:lpstr>HASH PARTITION </vt:lpstr>
      <vt:lpstr>MULTILEVEL PARTITION </vt:lpstr>
      <vt:lpstr>MULTILEVEL PARTITION </vt:lpstr>
      <vt:lpstr>MULTILEVEL PARTITION </vt:lpstr>
      <vt:lpstr>MULTILEVEL PARTITION </vt:lpstr>
      <vt:lpstr>PL/PGSQL</vt:lpstr>
      <vt:lpstr>PL/PGSQL</vt:lpstr>
      <vt:lpstr>PL/PGSQL</vt:lpstr>
      <vt:lpstr>Advantages of using PL/pgSQL</vt:lpstr>
      <vt:lpstr>Advantages of using PL/pgSQL</vt:lpstr>
      <vt:lpstr>PostgreSQL PL/pgSQL disadvantages</vt:lpstr>
      <vt:lpstr>Dollar-Quoted String Constants</vt:lpstr>
      <vt:lpstr>Dollar-Quoted String Constants</vt:lpstr>
      <vt:lpstr>Dollar-Quoted String Constants</vt:lpstr>
      <vt:lpstr>Using dollar-quoted string constant in anonymous blocks</vt:lpstr>
      <vt:lpstr>Using dollar-quoted string constant in anonymous blocks</vt:lpstr>
      <vt:lpstr>Using dollar-quoted string constant in anonymous blocks</vt:lpstr>
      <vt:lpstr>Using dollar-quoted string constants in functions</vt:lpstr>
      <vt:lpstr>Using dollar-quoted string constants in functions</vt:lpstr>
      <vt:lpstr>PL/pgSQL Block Structure</vt:lpstr>
      <vt:lpstr>PL/pgSQL Block Structure</vt:lpstr>
      <vt:lpstr>PL/pgSQL Block Structure</vt:lpstr>
      <vt:lpstr>PL/pgSQL Block Structure</vt:lpstr>
      <vt:lpstr>PL/pgSQL Block Structure</vt:lpstr>
      <vt:lpstr>PL/pgSQL Subblocks</vt:lpstr>
      <vt:lpstr>Introduction to variables in PL/pgSQL</vt:lpstr>
      <vt:lpstr>Introduction to variables in PL/pgSQL</vt:lpstr>
      <vt:lpstr>Introduction to variables in PL/pgSQL</vt:lpstr>
      <vt:lpstr>Introduction to variables in PL/pgSQL</vt:lpstr>
      <vt:lpstr>Variable initialization timing</vt:lpstr>
      <vt:lpstr>Variable initialization timing</vt:lpstr>
      <vt:lpstr>Copying data types</vt:lpstr>
      <vt:lpstr>Copying data types</vt:lpstr>
      <vt:lpstr>Variables in block and subblock</vt:lpstr>
      <vt:lpstr>PowerPoint Presentation</vt:lpstr>
      <vt:lpstr>PL/pgSQL row types example</vt:lpstr>
      <vt:lpstr>PL/pgSQL Record Types</vt:lpstr>
      <vt:lpstr>Using record variables in the for loop statement</vt:lpstr>
      <vt:lpstr>PL/pgSQL Constants</vt:lpstr>
      <vt:lpstr>PL/pgSQL Errors and Messages</vt:lpstr>
      <vt:lpstr>Reporting Messages</vt:lpstr>
      <vt:lpstr>Raising errors</vt:lpstr>
      <vt:lpstr>Raising errors</vt:lpstr>
      <vt:lpstr>Raising Errors</vt:lpstr>
      <vt:lpstr>Assert Statement</vt:lpstr>
      <vt:lpstr>PL/pgSQL IF Statement</vt:lpstr>
      <vt:lpstr>PL/pgSQL IF Statement</vt:lpstr>
      <vt:lpstr>PL/pgSQL IF Statement</vt:lpstr>
      <vt:lpstr>PL/pgSQL if-then-else statement</vt:lpstr>
      <vt:lpstr>PL/pgSQL if-then-else statement</vt:lpstr>
      <vt:lpstr>PL/pgSQL if-then-else statement</vt:lpstr>
      <vt:lpstr>PL/pgSQL if-then-elsif Statement</vt:lpstr>
      <vt:lpstr>PL/pgSQL if-then-elsif Statement</vt:lpstr>
      <vt:lpstr>PL/pgSQL if-then-elsif Statement</vt:lpstr>
      <vt:lpstr>PL/pgSQL CASE Statement</vt:lpstr>
      <vt:lpstr> Simple case statement</vt:lpstr>
      <vt:lpstr>Searched case statement</vt:lpstr>
      <vt:lpstr>While Loop</vt:lpstr>
      <vt:lpstr>For Loop</vt:lpstr>
      <vt:lpstr>For Loop</vt:lpstr>
      <vt:lpstr>Introduction to PostgreSQL CREATE PROCEDURE statement</vt:lpstr>
      <vt:lpstr>Introduction to PostgreSQL CREATE PROCEDURE statement</vt:lpstr>
      <vt:lpstr>Create Function</vt:lpstr>
      <vt:lpstr>PL/pgSQL Function Parameter Modes: IN, OUT, INOUT</vt:lpstr>
      <vt:lpstr>Introduction to PL/pgSQL Function Overloading</vt:lpstr>
      <vt:lpstr>How to Develop a PL/pgSQL Function That Returns a Table</vt:lpstr>
      <vt:lpstr>Triggers</vt:lpstr>
      <vt:lpstr>Triggers</vt:lpstr>
      <vt:lpstr>Triggers</vt:lpstr>
      <vt:lpstr>Triggers</vt:lpstr>
      <vt:lpstr>Triggers</vt:lpstr>
      <vt:lpstr>Triggers</vt:lpstr>
      <vt:lpstr>PostgreSQL CREATE TRIGGER</vt:lpstr>
      <vt:lpstr>PostgreSQL CREATE TRIGGER</vt:lpstr>
      <vt:lpstr>Inheritance</vt:lpstr>
      <vt:lpstr>Inheritance</vt:lpstr>
      <vt:lpstr>Non Atomic Columns</vt:lpstr>
      <vt:lpstr>Non Atomic Columns</vt:lpstr>
      <vt:lpstr>Non Atomic Columns</vt:lpstr>
      <vt:lpstr>Postgres Cluster</vt:lpstr>
      <vt:lpstr>Postgres Replication</vt:lpstr>
      <vt:lpstr>Basic Transaction Syntax:</vt:lpstr>
      <vt:lpstr>Basic Transaction Syntax:</vt:lpstr>
      <vt:lpstr>Transaction Control Summary</vt:lpstr>
      <vt:lpstr>1. Window Functions</vt:lpstr>
      <vt:lpstr>1. Window Functions</vt:lpstr>
      <vt:lpstr>2. ROW_NUMBER()</vt:lpstr>
      <vt:lpstr>2. ROW_NUMBER()</vt:lpstr>
      <vt:lpstr>2. ROW_NUMBER()</vt:lpstr>
      <vt:lpstr>3. RANK vs DENSE_RANK vs ROW_NUMBER</vt:lpstr>
      <vt:lpstr>3. RANK vs DENSE_RANK vs ROW_NUMBER</vt:lpstr>
      <vt:lpstr>3. RANK vs DENSE_RANK vs ROW_NUMBER</vt:lpstr>
      <vt:lpstr>4. NTILE()</vt:lpstr>
      <vt:lpstr>4. NTILE()</vt:lpstr>
      <vt:lpstr>5. LAG()</vt:lpstr>
      <vt:lpstr>5. LAG()</vt:lpstr>
      <vt:lpstr>5. LAG()</vt:lpstr>
      <vt:lpstr>6. LEAD()</vt:lpstr>
      <vt:lpstr>7. FIRST_VALUE()</vt:lpstr>
      <vt:lpstr>8. LAST_VALUE()</vt:lpstr>
      <vt:lpstr>9. PARTITION BY</vt:lpstr>
      <vt:lpstr>10. ORDER BY Inside Window</vt:lpstr>
      <vt:lpstr>CTEs — Common Table Expressions</vt:lpstr>
      <vt:lpstr>CTEs — Common Table Expressions</vt:lpstr>
      <vt:lpstr>CTEs — Common Table Expressions</vt:lpstr>
      <vt:lpstr>Multiple CTEs — Common Table Expressions</vt:lpstr>
      <vt:lpstr>CTE with Window Function</vt:lpstr>
      <vt:lpstr>CTE with Window Function</vt:lpstr>
      <vt:lpstr>CTE vs SubQuery</vt:lpstr>
      <vt:lpstr>Postgres Security</vt:lpstr>
      <vt:lpstr>Postgres Security</vt:lpstr>
      <vt:lpstr>Postgres Security</vt:lpstr>
      <vt:lpstr>Postgres Security</vt:lpstr>
      <vt:lpstr>Postgres Security Object Level Permission</vt:lpstr>
      <vt:lpstr>Postgres Security Row-Level Security (RLS)</vt:lpstr>
    </vt:vector>
  </TitlesOfParts>
  <Company>Accenture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erica.l.moeser</dc:creator>
  <dc:description/>
  <cp:lastModifiedBy>parameswari bala</cp:lastModifiedBy>
  <cp:revision>2126</cp:revision>
  <dcterms:created xsi:type="dcterms:W3CDTF">2012-03-13T15:47:14Z</dcterms:created>
  <dcterms:modified xsi:type="dcterms:W3CDTF">2026-08-27T17:23:25Z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UseProject">
    <vt:lpwstr>1</vt:lpwstr>
  </property>
  <property fmtid="{D5CDD505-2E9C-101B-9397-08002B2CF9AE}" pid="3" name="ArticulatePath">
    <vt:lpwstr>DH_PPT_012012_LEO</vt:lpwstr>
  </property>
  <property fmtid="{D5CDD505-2E9C-101B-9397-08002B2CF9AE}" pid="4" name="ArticulateGUID">
    <vt:lpwstr>AAA9661D-BB09-40B4-9621-E5DD34F7073B</vt:lpwstr>
  </property>
  <property fmtid="{D5CDD505-2E9C-101B-9397-08002B2CF9AE}" pid="5" name="ArticulateProjectFull">
    <vt:lpwstr>F:\PROJECTS\JohnsonBeesley\Accenture\Accenture_PPT_020412_LEO.ppta</vt:lpwstr>
  </property>
  <property fmtid="{D5CDD505-2E9C-101B-9397-08002B2CF9AE}" pid="6" name="ContentTypeId">
    <vt:lpwstr>0x0101003104DE32136F4D4F8B91DE44C434FF89</vt:lpwstr>
  </property>
</Properties>
</file>